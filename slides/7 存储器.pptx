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sldIdLst>
    <p:sldId id="256" r:id="rId4"/>
    <p:sldId id="2058" r:id="rId6"/>
    <p:sldId id="2061" r:id="rId7"/>
    <p:sldId id="2065" r:id="rId8"/>
    <p:sldId id="2066" r:id="rId9"/>
    <p:sldId id="2067" r:id="rId10"/>
    <p:sldId id="2068" r:id="rId11"/>
    <p:sldId id="2173" r:id="rId12"/>
    <p:sldId id="2174" r:id="rId13"/>
    <p:sldId id="2175" r:id="rId14"/>
    <p:sldId id="2176" r:id="rId15"/>
    <p:sldId id="2072" r:id="rId16"/>
    <p:sldId id="465" r:id="rId17"/>
    <p:sldId id="1558" r:id="rId18"/>
    <p:sldId id="1562" r:id="rId19"/>
    <p:sldId id="1563" r:id="rId20"/>
    <p:sldId id="1557" r:id="rId21"/>
    <p:sldId id="1581" r:id="rId22"/>
    <p:sldId id="1437" r:id="rId23"/>
    <p:sldId id="1564" r:id="rId24"/>
    <p:sldId id="437" r:id="rId25"/>
    <p:sldId id="1565" r:id="rId26"/>
    <p:sldId id="1566" r:id="rId27"/>
    <p:sldId id="1567" r:id="rId28"/>
    <p:sldId id="1582" r:id="rId29"/>
    <p:sldId id="1583" r:id="rId30"/>
    <p:sldId id="1568" r:id="rId31"/>
    <p:sldId id="1569" r:id="rId32"/>
    <p:sldId id="1927" r:id="rId33"/>
    <p:sldId id="1570" r:id="rId34"/>
    <p:sldId id="1572" r:id="rId35"/>
    <p:sldId id="1573" r:id="rId36"/>
    <p:sldId id="1574" r:id="rId37"/>
    <p:sldId id="1577" r:id="rId38"/>
    <p:sldId id="1576" r:id="rId39"/>
    <p:sldId id="1575" r:id="rId40"/>
    <p:sldId id="1578" r:id="rId41"/>
    <p:sldId id="1584" r:id="rId42"/>
    <p:sldId id="1585" r:id="rId43"/>
    <p:sldId id="1580" r:id="rId44"/>
    <p:sldId id="1587" r:id="rId45"/>
    <p:sldId id="1588" r:id="rId46"/>
    <p:sldId id="1586" r:id="rId47"/>
    <p:sldId id="1589" r:id="rId48"/>
    <p:sldId id="1590" r:id="rId49"/>
    <p:sldId id="1591" r:id="rId50"/>
    <p:sldId id="1592" r:id="rId51"/>
    <p:sldId id="1593" r:id="rId52"/>
    <p:sldId id="1594" r:id="rId53"/>
    <p:sldId id="1595" r:id="rId54"/>
    <p:sldId id="1596" r:id="rId55"/>
    <p:sldId id="1597" r:id="rId56"/>
    <p:sldId id="1598" r:id="rId57"/>
    <p:sldId id="1599" r:id="rId58"/>
    <p:sldId id="1618" r:id="rId59"/>
    <p:sldId id="1619" r:id="rId60"/>
    <p:sldId id="1621" r:id="rId61"/>
    <p:sldId id="1620" r:id="rId62"/>
    <p:sldId id="1622" r:id="rId63"/>
    <p:sldId id="1602" r:id="rId64"/>
    <p:sldId id="1822" r:id="rId65"/>
    <p:sldId id="1823" r:id="rId66"/>
    <p:sldId id="1603" r:id="rId67"/>
    <p:sldId id="1605" r:id="rId68"/>
    <p:sldId id="1607" r:id="rId69"/>
    <p:sldId id="1833" r:id="rId70"/>
    <p:sldId id="1609" r:id="rId71"/>
    <p:sldId id="1610" r:id="rId72"/>
    <p:sldId id="1834" r:id="rId73"/>
    <p:sldId id="1611" r:id="rId74"/>
    <p:sldId id="1612" r:id="rId75"/>
    <p:sldId id="1835" r:id="rId76"/>
    <p:sldId id="1613" r:id="rId77"/>
    <p:sldId id="1615" r:id="rId78"/>
    <p:sldId id="1836" r:id="rId79"/>
    <p:sldId id="1828" r:id="rId80"/>
    <p:sldId id="1829" r:id="rId81"/>
    <p:sldId id="1830" r:id="rId82"/>
    <p:sldId id="1831" r:id="rId83"/>
    <p:sldId id="1623" r:id="rId84"/>
    <p:sldId id="1624" r:id="rId85"/>
    <p:sldId id="1626" r:id="rId86"/>
    <p:sldId id="1625" r:id="rId87"/>
    <p:sldId id="1627" r:id="rId88"/>
    <p:sldId id="1628" r:id="rId89"/>
    <p:sldId id="2177" r:id="rId90"/>
    <p:sldId id="2178" r:id="rId91"/>
    <p:sldId id="1629" r:id="rId92"/>
    <p:sldId id="1617" r:id="rId93"/>
    <p:sldId id="1631" r:id="rId94"/>
    <p:sldId id="1633" r:id="rId95"/>
    <p:sldId id="1634" r:id="rId96"/>
    <p:sldId id="1636" r:id="rId97"/>
    <p:sldId id="1637" r:id="rId98"/>
    <p:sldId id="1638" r:id="rId99"/>
    <p:sldId id="1837" r:id="rId100"/>
    <p:sldId id="2170" r:id="rId101"/>
    <p:sldId id="2171" r:id="rId102"/>
    <p:sldId id="2172" r:id="rId103"/>
    <p:sldId id="1838" r:id="rId104"/>
    <p:sldId id="1839" r:id="rId10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259" userDrawn="1">
          <p15:clr>
            <a:srgbClr val="A4A3A4"/>
          </p15:clr>
        </p15:guide>
        <p15:guide id="2" pos="395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 嘉铭" initials="杨" lastIdx="1" clrIdx="0"/>
  <p:cmAuthor id="2" name="chenwei Tang" initials="cT"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0000FF"/>
    <a:srgbClr val="2F5597"/>
    <a:srgbClr val="000066"/>
    <a:srgbClr val="00322B"/>
    <a:srgbClr val="820000"/>
    <a:srgbClr val="FFCCCC"/>
    <a:srgbClr val="F1A7A7"/>
    <a:srgbClr val="BA7EB1"/>
    <a:srgbClr val="E94B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31" autoAdjust="0"/>
    <p:restoredTop sz="96013" autoAdjust="0"/>
  </p:normalViewPr>
  <p:slideViewPr>
    <p:cSldViewPr snapToGrid="0">
      <p:cViewPr varScale="1">
        <p:scale>
          <a:sx n="106" d="100"/>
          <a:sy n="106" d="100"/>
        </p:scale>
        <p:origin x="1746" y="102"/>
      </p:cViewPr>
      <p:guideLst>
        <p:guide orient="horz" pos="4259"/>
        <p:guide pos="3956"/>
      </p:guideLst>
    </p:cSldViewPr>
  </p:slideViewPr>
  <p:outlineViewPr>
    <p:cViewPr>
      <p:scale>
        <a:sx n="33" d="100"/>
        <a:sy n="33" d="100"/>
      </p:scale>
      <p:origin x="0" y="-205206"/>
    </p:cViewPr>
  </p:outlineViewPr>
  <p:notesTextViewPr>
    <p:cViewPr>
      <p:scale>
        <a:sx n="1" d="1"/>
        <a:sy n="1" d="1"/>
      </p:scale>
      <p:origin x="0" y="0"/>
    </p:cViewPr>
  </p:notesTextViewPr>
  <p:notesViewPr>
    <p:cSldViewPr snapToGrid="0">
      <p:cViewPr varScale="1">
        <p:scale>
          <a:sx n="89" d="100"/>
          <a:sy n="89" d="100"/>
        </p:scale>
        <p:origin x="4186" y="82"/>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3.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9" Type="http://schemas.openxmlformats.org/officeDocument/2006/relationships/commentAuthors" Target="commentAuthors.xml"/><Relationship Id="rId108" Type="http://schemas.openxmlformats.org/officeDocument/2006/relationships/tableStyles" Target="tableStyles.xml"/><Relationship Id="rId107" Type="http://schemas.openxmlformats.org/officeDocument/2006/relationships/viewProps" Target="viewProps.xml"/><Relationship Id="rId106" Type="http://schemas.openxmlformats.org/officeDocument/2006/relationships/presProps" Target="presProps.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3FE7EAE-E9CB-4EE2-AA8C-AC263A452EBE}" type="doc">
      <dgm:prSet loTypeId="urn:microsoft.com/office/officeart/2005/8/layout/cycle3#1" loCatId="cycle" qsTypeId="urn:microsoft.com/office/officeart/2005/8/quickstyle/simple1#9" qsCatId="simple" csTypeId="urn:microsoft.com/office/officeart/2005/8/colors/accent1_2#9" csCatId="accent1" phldr="1"/>
      <dgm:spPr/>
      <dgm:t>
        <a:bodyPr/>
        <a:lstStyle/>
        <a:p>
          <a:endParaRPr lang="zh-CN" altLang="en-US"/>
        </a:p>
      </dgm:t>
    </dgm:pt>
    <dgm:pt modelId="{C400EFE3-FEAF-4868-B6DB-07A16368DF6E}">
      <dgm:prSet phldrT="[文本]" phldr="0" custT="1"/>
      <dgm:spPr>
        <a:solidFill>
          <a:srgbClr val="009FC6"/>
        </a:solidFill>
        <a:ln w="38100">
          <a:solidFill>
            <a:srgbClr val="009FC6"/>
          </a:solidFill>
        </a:ln>
      </dgm:spPr>
      <dgm:t>
        <a:bodyPr vert="horz" wrap="square"/>
        <a:p>
          <a:pPr algn="ctr">
            <a:lnSpc>
              <a:spcPct val="100000"/>
            </a:lnSpc>
            <a:spcBef>
              <a:spcPct val="0"/>
            </a:spcBef>
            <a:spcAft>
              <a:spcPct val="35000"/>
            </a:spcAft>
          </a:pPr>
          <a:r>
            <a:rPr lang="zh-CN" altLang="en-US" sz="24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处理机管理</a:t>
          </a:r>
          <a:r>
            <a:rPr lang="zh-CN" altLang="en-US" sz="24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
          </a:r>
          <a:endParaRPr lang="zh-CN" altLang="en-US" sz="24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endParaRPr>
        </a:p>
      </dgm:t>
    </dgm:pt>
    <dgm:pt modelId="{7F479ACF-B7CB-4AEC-86D2-284E98B37CF8}" cxnId="{274E090B-52E6-4FB5-88BF-718636E823BF}" type="parTrans">
      <dgm:prSet/>
      <dgm:spPr/>
      <dgm:t>
        <a:bodyPr/>
        <a:lstStyle/>
        <a:p>
          <a:endParaRPr lang="zh-CN" altLang="en-US" sz="2400" b="1"/>
        </a:p>
      </dgm:t>
    </dgm:pt>
    <dgm:pt modelId="{92E1A22B-97A1-4CED-ACF2-C0A86CE6DB03}" cxnId="{274E090B-52E6-4FB5-88BF-718636E823BF}" type="sibTrans">
      <dgm:prSet/>
      <dgm:spPr/>
      <dgm:t>
        <a:bodyPr/>
        <a:lstStyle/>
        <a:p>
          <a:endParaRPr lang="zh-CN" altLang="en-US" sz="2400" b="1"/>
        </a:p>
      </dgm:t>
    </dgm:pt>
    <dgm:pt modelId="{0D967309-1517-4B36-944E-20B3101E197B}">
      <dgm:prSet phldrT="[文本]" custT="1"/>
      <dgm:spPr>
        <a:solidFill>
          <a:srgbClr val="9CCF32"/>
        </a:solidFill>
        <a:ln w="38100">
          <a:solidFill>
            <a:srgbClr val="9CCF32"/>
          </a:solidFill>
        </a:ln>
      </dgm:spPr>
      <dgm:t>
        <a:bodyPr/>
        <a:lstStyle/>
        <a:p>
          <a:pPr algn="ct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存储器管理</a:t>
          </a:r>
        </a:p>
      </dgm:t>
    </dgm:pt>
    <dgm:pt modelId="{427501A7-9FF2-469A-B87D-2CB30751C484}" cxnId="{DC0B4EF8-60BC-4DA3-BD44-E4E25E787944}" type="parTrans">
      <dgm:prSet/>
      <dgm:spPr/>
      <dgm:t>
        <a:bodyPr/>
        <a:lstStyle/>
        <a:p>
          <a:endParaRPr lang="zh-CN" altLang="en-US" sz="2400" b="1"/>
        </a:p>
      </dgm:t>
    </dgm:pt>
    <dgm:pt modelId="{6185FBEF-9BB5-414B-AD11-E817F32FDFD8}" cxnId="{DC0B4EF8-60BC-4DA3-BD44-E4E25E787944}" type="sibTrans">
      <dgm:prSet/>
      <dgm:spPr/>
      <dgm:t>
        <a:bodyPr/>
        <a:lstStyle/>
        <a:p>
          <a:endParaRPr lang="zh-CN" altLang="en-US" sz="2400" b="1"/>
        </a:p>
      </dgm:t>
    </dgm:pt>
    <dgm:pt modelId="{DC26A3AE-B44B-4025-A1E0-D6A59E397B41}">
      <dgm:prSet phldrT="[文本]" custT="1"/>
      <dgm:spPr>
        <a:solidFill>
          <a:srgbClr val="E54C4E"/>
        </a:solidFill>
        <a:ln w="38100">
          <a:solidFill>
            <a:srgbClr val="E54C4E"/>
          </a:solidFill>
        </a:ln>
      </dgm:spPr>
      <dgm:t>
        <a:bodyPr/>
        <a:lstStyle/>
        <a:p>
          <a:pPr algn="ctr"/>
          <a:r>
            <a:rPr lang="zh-CN" altLang="en-US" sz="2400" b="1">
              <a:latin typeface="Times New Roman" panose="02020503050405090304" pitchFamily="18" charset="0"/>
              <a:ea typeface="微软雅黑" panose="020B0503020204020204" pitchFamily="34" charset="-122"/>
              <a:cs typeface="Times New Roman" panose="02020503050405090304" pitchFamily="18" charset="0"/>
            </a:rPr>
            <a:t>设备管理</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dgm:t>
    </dgm:pt>
    <dgm:pt modelId="{3E74EE3E-2C30-4B50-903F-6ED98B5FE83A}" cxnId="{12BC0C06-8BFB-4224-9DC2-14DAF55B175E}" type="parTrans">
      <dgm:prSet/>
      <dgm:spPr/>
      <dgm:t>
        <a:bodyPr/>
        <a:lstStyle/>
        <a:p>
          <a:endParaRPr lang="zh-CN" altLang="en-US" sz="2400" b="1"/>
        </a:p>
      </dgm:t>
    </dgm:pt>
    <dgm:pt modelId="{44A7F821-3591-4020-BA16-CFF03CE69179}" cxnId="{12BC0C06-8BFB-4224-9DC2-14DAF55B175E}" type="sibTrans">
      <dgm:prSet/>
      <dgm:spPr/>
      <dgm:t>
        <a:bodyPr/>
        <a:lstStyle/>
        <a:p>
          <a:endParaRPr lang="zh-CN" altLang="en-US" sz="2400" b="1"/>
        </a:p>
      </dgm:t>
    </dgm:pt>
    <dgm:pt modelId="{970B557E-ED66-4CBA-AABA-A38C31ADA281}">
      <dgm:prSet phldrT="[文本]" custT="1"/>
      <dgm:spPr>
        <a:solidFill>
          <a:srgbClr val="BA7FAF"/>
        </a:solidFill>
        <a:ln w="38100">
          <a:solidFill>
            <a:srgbClr val="BA7FAF"/>
          </a:solidFill>
        </a:ln>
      </dgm:spPr>
      <dgm:t>
        <a:bodyPr/>
        <a:lstStyle/>
        <a:p>
          <a:pPr algn="ct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文件管理</a:t>
          </a:r>
        </a:p>
      </dgm:t>
    </dgm:pt>
    <dgm:pt modelId="{97138834-48AA-4DA2-A779-BA4E85D1FBB3}" cxnId="{AFF46086-7023-40EF-AEFA-528C4A047A45}" type="parTrans">
      <dgm:prSet/>
      <dgm:spPr/>
      <dgm:t>
        <a:bodyPr/>
        <a:lstStyle/>
        <a:p>
          <a:endParaRPr lang="zh-CN" altLang="en-US" sz="2400" b="1"/>
        </a:p>
      </dgm:t>
    </dgm:pt>
    <dgm:pt modelId="{378BF847-3C92-47EA-B5EE-87F882770562}" cxnId="{AFF46086-7023-40EF-AEFA-528C4A047A45}" type="sibTrans">
      <dgm:prSet/>
      <dgm:spPr/>
      <dgm:t>
        <a:bodyPr/>
        <a:lstStyle/>
        <a:p>
          <a:endParaRPr lang="zh-CN" altLang="en-US" sz="2400" b="1"/>
        </a:p>
      </dgm:t>
    </dgm:pt>
    <dgm:pt modelId="{49A06A13-8CB5-48D0-BA4B-BCBDC3717B27}">
      <dgm:prSet phldrT="[文本]" custT="1"/>
      <dgm:spPr>
        <a:solidFill>
          <a:srgbClr val="FEBF3C"/>
        </a:solidFill>
        <a:ln w="38100">
          <a:solidFill>
            <a:srgbClr val="FEBF3C"/>
          </a:solidFill>
        </a:ln>
      </dgm:spPr>
      <dgm:t>
        <a:bodyPr/>
        <a:lstStyle/>
        <a:p>
          <a:pPr algn="ct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用户接口</a:t>
          </a:r>
        </a:p>
      </dgm:t>
    </dgm:pt>
    <dgm:pt modelId="{BADBE39A-93C2-4EB6-A1B4-2AD772C13564}" cxnId="{52412BC2-8576-40BB-9878-F181EA23A4B5}" type="parTrans">
      <dgm:prSet/>
      <dgm:spPr/>
      <dgm:t>
        <a:bodyPr/>
        <a:lstStyle/>
        <a:p>
          <a:endParaRPr lang="zh-CN" altLang="en-US" sz="2400" b="1"/>
        </a:p>
      </dgm:t>
    </dgm:pt>
    <dgm:pt modelId="{B93A0A11-12A9-4D4D-8BD8-AB58A404AA95}" cxnId="{52412BC2-8576-40BB-9878-F181EA23A4B5}" type="sibTrans">
      <dgm:prSet/>
      <dgm:spPr/>
      <dgm:t>
        <a:bodyPr/>
        <a:lstStyle/>
        <a:p>
          <a:endParaRPr lang="zh-CN" altLang="en-US" sz="2400" b="1"/>
        </a:p>
      </dgm:t>
    </dgm:pt>
    <dgm:pt modelId="{F3B5805E-EB8B-49A1-AFC2-22AB2E4FA70D}" type="pres">
      <dgm:prSet presAssocID="{B3FE7EAE-E9CB-4EE2-AA8C-AC263A452EBE}" presName="Name0" presStyleCnt="0">
        <dgm:presLayoutVars>
          <dgm:dir/>
          <dgm:resizeHandles val="exact"/>
        </dgm:presLayoutVars>
      </dgm:prSet>
      <dgm:spPr/>
    </dgm:pt>
    <dgm:pt modelId="{A0481D11-6520-4CAA-987F-8DC1463514DD}" type="pres">
      <dgm:prSet presAssocID="{B3FE7EAE-E9CB-4EE2-AA8C-AC263A452EBE}" presName="cycle" presStyleCnt="0"/>
      <dgm:spPr/>
    </dgm:pt>
    <dgm:pt modelId="{02D41582-0476-4063-AB2E-F1E5ECFFFA6C}" type="pres">
      <dgm:prSet presAssocID="{C400EFE3-FEAF-4868-B6DB-07A16368DF6E}" presName="nodeFirstNode" presStyleLbl="node1" presStyleIdx="0" presStyleCnt="5">
        <dgm:presLayoutVars>
          <dgm:bulletEnabled val="1"/>
        </dgm:presLayoutVars>
      </dgm:prSet>
      <dgm:spPr/>
    </dgm:pt>
    <dgm:pt modelId="{4B986D21-757C-4E79-A42F-5F003B5A352C}" type="pres">
      <dgm:prSet presAssocID="{92E1A22B-97A1-4CED-ACF2-C0A86CE6DB03}" presName="sibTransFirstNode" presStyleLbl="bgShp" presStyleIdx="0" presStyleCnt="1"/>
      <dgm:spPr/>
    </dgm:pt>
    <dgm:pt modelId="{E1A52243-BFF5-4272-AFBD-B58320990C0D}" type="pres">
      <dgm:prSet presAssocID="{0D967309-1517-4B36-944E-20B3101E197B}" presName="nodeFollowingNodes" presStyleLbl="node1" presStyleIdx="1" presStyleCnt="5">
        <dgm:presLayoutVars>
          <dgm:bulletEnabled val="1"/>
        </dgm:presLayoutVars>
      </dgm:prSet>
      <dgm:spPr/>
    </dgm:pt>
    <dgm:pt modelId="{DC91EE01-EDDF-4CFB-9B10-52B5FFF317A2}" type="pres">
      <dgm:prSet presAssocID="{DC26A3AE-B44B-4025-A1E0-D6A59E397B41}" presName="nodeFollowingNodes" presStyleLbl="node1" presStyleIdx="2" presStyleCnt="5">
        <dgm:presLayoutVars>
          <dgm:bulletEnabled val="1"/>
        </dgm:presLayoutVars>
      </dgm:prSet>
      <dgm:spPr/>
    </dgm:pt>
    <dgm:pt modelId="{14C047DA-3638-4A6A-9B71-58729EB3173E}" type="pres">
      <dgm:prSet presAssocID="{970B557E-ED66-4CBA-AABA-A38C31ADA281}" presName="nodeFollowingNodes" presStyleLbl="node1" presStyleIdx="3" presStyleCnt="5">
        <dgm:presLayoutVars>
          <dgm:bulletEnabled val="1"/>
        </dgm:presLayoutVars>
      </dgm:prSet>
      <dgm:spPr/>
    </dgm:pt>
    <dgm:pt modelId="{2E55E3DE-9006-465A-B67E-F3BC1BCDEEE8}" type="pres">
      <dgm:prSet presAssocID="{49A06A13-8CB5-48D0-BA4B-BCBDC3717B27}" presName="nodeFollowingNodes" presStyleLbl="node1" presStyleIdx="4" presStyleCnt="5">
        <dgm:presLayoutVars>
          <dgm:bulletEnabled val="1"/>
        </dgm:presLayoutVars>
      </dgm:prSet>
      <dgm:spPr/>
    </dgm:pt>
  </dgm:ptLst>
  <dgm:cxnLst>
    <dgm:cxn modelId="{274E090B-52E6-4FB5-88BF-718636E823BF}" srcId="{B3FE7EAE-E9CB-4EE2-AA8C-AC263A452EBE}" destId="{C400EFE3-FEAF-4868-B6DB-07A16368DF6E}" srcOrd="0" destOrd="0" parTransId="{7F479ACF-B7CB-4AEC-86D2-284E98B37CF8}" sibTransId="{92E1A22B-97A1-4CED-ACF2-C0A86CE6DB03}"/>
    <dgm:cxn modelId="{DC0B4EF8-60BC-4DA3-BD44-E4E25E787944}" srcId="{B3FE7EAE-E9CB-4EE2-AA8C-AC263A452EBE}" destId="{0D967309-1517-4B36-944E-20B3101E197B}" srcOrd="1" destOrd="0" parTransId="{427501A7-9FF2-469A-B87D-2CB30751C484}" sibTransId="{6185FBEF-9BB5-414B-AD11-E817F32FDFD8}"/>
    <dgm:cxn modelId="{12BC0C06-8BFB-4224-9DC2-14DAF55B175E}" srcId="{B3FE7EAE-E9CB-4EE2-AA8C-AC263A452EBE}" destId="{DC26A3AE-B44B-4025-A1E0-D6A59E397B41}" srcOrd="2" destOrd="0" parTransId="{3E74EE3E-2C30-4B50-903F-6ED98B5FE83A}" sibTransId="{44A7F821-3591-4020-BA16-CFF03CE69179}"/>
    <dgm:cxn modelId="{AFF46086-7023-40EF-AEFA-528C4A047A45}" srcId="{B3FE7EAE-E9CB-4EE2-AA8C-AC263A452EBE}" destId="{970B557E-ED66-4CBA-AABA-A38C31ADA281}" srcOrd="3" destOrd="0" parTransId="{97138834-48AA-4DA2-A779-BA4E85D1FBB3}" sibTransId="{378BF847-3C92-47EA-B5EE-87F882770562}"/>
    <dgm:cxn modelId="{52412BC2-8576-40BB-9878-F181EA23A4B5}" srcId="{B3FE7EAE-E9CB-4EE2-AA8C-AC263A452EBE}" destId="{49A06A13-8CB5-48D0-BA4B-BCBDC3717B27}" srcOrd="4" destOrd="0" parTransId="{BADBE39A-93C2-4EB6-A1B4-2AD772C13564}" sibTransId="{B93A0A11-12A9-4D4D-8BD8-AB58A404AA95}"/>
    <dgm:cxn modelId="{2ED4884F-E437-4EC8-AE5F-D8BD97FAFB67}" type="presOf" srcId="{B3FE7EAE-E9CB-4EE2-AA8C-AC263A452EBE}" destId="{F3B5805E-EB8B-49A1-AFC2-22AB2E4FA70D}" srcOrd="0" destOrd="0" presId="urn:microsoft.com/office/officeart/2005/8/layout/cycle3#1"/>
    <dgm:cxn modelId="{0031C61B-C920-42A9-8339-236AC090A103}" type="presParOf" srcId="{F3B5805E-EB8B-49A1-AFC2-22AB2E4FA70D}" destId="{A0481D11-6520-4CAA-987F-8DC1463514DD}" srcOrd="0" destOrd="0" presId="urn:microsoft.com/office/officeart/2005/8/layout/cycle3#1"/>
    <dgm:cxn modelId="{393730F5-19F0-4EF0-B5F7-7FD8D583F691}" type="presParOf" srcId="{A0481D11-6520-4CAA-987F-8DC1463514DD}" destId="{02D41582-0476-4063-AB2E-F1E5ECFFFA6C}" srcOrd="0" destOrd="0" presId="urn:microsoft.com/office/officeart/2005/8/layout/cycle3#1"/>
    <dgm:cxn modelId="{87BA5597-EF64-4674-B51A-77B2EDB876DB}" type="presOf" srcId="{C400EFE3-FEAF-4868-B6DB-07A16368DF6E}" destId="{02D41582-0476-4063-AB2E-F1E5ECFFFA6C}" srcOrd="0" destOrd="0" presId="urn:microsoft.com/office/officeart/2005/8/layout/cycle3#1"/>
    <dgm:cxn modelId="{DBFE6FD4-4062-4BD2-81C4-2279E46014AC}" type="presParOf" srcId="{A0481D11-6520-4CAA-987F-8DC1463514DD}" destId="{4B986D21-757C-4E79-A42F-5F003B5A352C}" srcOrd="1" destOrd="0" presId="urn:microsoft.com/office/officeart/2005/8/layout/cycle3#1"/>
    <dgm:cxn modelId="{A5129CF0-74C2-4962-8127-C8EE8EE49783}" type="presOf" srcId="{92E1A22B-97A1-4CED-ACF2-C0A86CE6DB03}" destId="{4B986D21-757C-4E79-A42F-5F003B5A352C}" srcOrd="0" destOrd="0" presId="urn:microsoft.com/office/officeart/2005/8/layout/cycle3#1"/>
    <dgm:cxn modelId="{115E5D7A-B5A1-4B9F-AD86-CE4E0D9E6904}" type="presParOf" srcId="{A0481D11-6520-4CAA-987F-8DC1463514DD}" destId="{E1A52243-BFF5-4272-AFBD-B58320990C0D}" srcOrd="2" destOrd="0" presId="urn:microsoft.com/office/officeart/2005/8/layout/cycle3#1"/>
    <dgm:cxn modelId="{06FC8B22-0C9C-425E-AACA-D9CE07D31042}" type="presOf" srcId="{0D967309-1517-4B36-944E-20B3101E197B}" destId="{E1A52243-BFF5-4272-AFBD-B58320990C0D}" srcOrd="0" destOrd="0" presId="urn:microsoft.com/office/officeart/2005/8/layout/cycle3#1"/>
    <dgm:cxn modelId="{9EA346CC-0C0F-457D-8538-F164A9204A1A}" type="presParOf" srcId="{A0481D11-6520-4CAA-987F-8DC1463514DD}" destId="{DC91EE01-EDDF-4CFB-9B10-52B5FFF317A2}" srcOrd="3" destOrd="0" presId="urn:microsoft.com/office/officeart/2005/8/layout/cycle3#1"/>
    <dgm:cxn modelId="{37DF4DC0-9ED8-4667-A810-41B675A00B14}" type="presOf" srcId="{DC26A3AE-B44B-4025-A1E0-D6A59E397B41}" destId="{DC91EE01-EDDF-4CFB-9B10-52B5FFF317A2}" srcOrd="0" destOrd="0" presId="urn:microsoft.com/office/officeart/2005/8/layout/cycle3#1"/>
    <dgm:cxn modelId="{0E741710-0267-4940-AB98-1ABEE276DBDC}" type="presParOf" srcId="{A0481D11-6520-4CAA-987F-8DC1463514DD}" destId="{14C047DA-3638-4A6A-9B71-58729EB3173E}" srcOrd="4" destOrd="0" presId="urn:microsoft.com/office/officeart/2005/8/layout/cycle3#1"/>
    <dgm:cxn modelId="{47BD4053-9FA7-44E9-9E35-46101FE5CD0A}" type="presOf" srcId="{970B557E-ED66-4CBA-AABA-A38C31ADA281}" destId="{14C047DA-3638-4A6A-9B71-58729EB3173E}" srcOrd="0" destOrd="0" presId="urn:microsoft.com/office/officeart/2005/8/layout/cycle3#1"/>
    <dgm:cxn modelId="{BF6A39EB-4190-48BA-8CC2-933E39EFCDA4}" type="presParOf" srcId="{A0481D11-6520-4CAA-987F-8DC1463514DD}" destId="{2E55E3DE-9006-465A-B67E-F3BC1BCDEEE8}" srcOrd="5" destOrd="0" presId="urn:microsoft.com/office/officeart/2005/8/layout/cycle3#1"/>
    <dgm:cxn modelId="{8CED429D-6283-47D6-B3AB-C8A90F9020ED}" type="presOf" srcId="{49A06A13-8CB5-48D0-BA4B-BCBDC3717B27}" destId="{2E55E3DE-9006-465A-B67E-F3BC1BCDEEE8}" srcOrd="0" destOrd="0" presId="urn:microsoft.com/office/officeart/2005/8/layout/cycle3#1"/>
  </dgm:cxnLst>
  <dgm:bg/>
  <dgm:whole>
    <a:ln w="38100"/>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478015-E4AE-4E80-AF24-A2D21EDBC337}" type="doc">
      <dgm:prSet loTypeId="urn:microsoft.com/office/officeart/2005/8/layout/vList2#3" loCatId="list" qsTypeId="urn:microsoft.com/office/officeart/2005/8/quickstyle/simple1#9" qsCatId="simple" csTypeId="urn:microsoft.com/office/officeart/2005/8/colors/colorful1" csCatId="colorful" phldr="1"/>
      <dgm:spPr/>
      <dgm:t>
        <a:bodyPr/>
        <a:lstStyle/>
        <a:p>
          <a:endParaRPr lang="zh-CN" altLang="en-US"/>
        </a:p>
      </dgm:t>
    </dgm:pt>
    <dgm:pt modelId="{1AD147BB-ECCD-4AD6-B446-86EACD600D49}">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程序的装入和链接</a:t>
          </a:r>
        </a:p>
      </dgm:t>
    </dgm:pt>
    <dgm:pt modelId="{24B51315-1B0B-4F79-AF5C-142DDE53554B}" cxnId="{5F278370-DC1B-43BD-9892-81A65D94011D}" type="parTrans">
      <dgm:prSet/>
      <dgm:spPr/>
      <dgm:t>
        <a:bodyPr/>
        <a:lstStyle/>
        <a:p>
          <a:endParaRPr lang="zh-CN" altLang="en-US"/>
        </a:p>
      </dgm:t>
    </dgm:pt>
    <dgm:pt modelId="{5B4E2F5C-B8A9-4CD3-A569-5BD69BDDBC7C}" cxnId="{5F278370-DC1B-43BD-9892-81A65D94011D}" type="sibTrans">
      <dgm:prSet/>
      <dgm:spPr/>
      <dgm:t>
        <a:bodyPr/>
        <a:lstStyle/>
        <a:p>
          <a:endParaRPr lang="zh-CN" altLang="en-US"/>
        </a:p>
      </dgm:t>
    </dgm:pt>
    <dgm:pt modelId="{FB4DF201-843C-4B73-8F0D-51E31B0DA051}">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连续分配存储管理方式</a:t>
          </a:r>
        </a:p>
      </dgm:t>
    </dgm:pt>
    <dgm:pt modelId="{A92B47A3-4B1B-4DBF-9C8F-53BB89C57576}" cxnId="{3A912073-6D15-4AEB-8B4D-8AF24F204D31}" type="parTrans">
      <dgm:prSet/>
      <dgm:spPr/>
      <dgm:t>
        <a:bodyPr/>
        <a:lstStyle/>
        <a:p>
          <a:endParaRPr lang="zh-CN" altLang="en-US"/>
        </a:p>
      </dgm:t>
    </dgm:pt>
    <dgm:pt modelId="{2F98E893-B11C-4A3D-8B25-F80E13394A80}" cxnId="{3A912073-6D15-4AEB-8B4D-8AF24F204D31}" type="sibTrans">
      <dgm:prSet/>
      <dgm:spPr/>
      <dgm:t>
        <a:bodyPr/>
        <a:lstStyle/>
        <a:p>
          <a:endParaRPr lang="zh-CN" altLang="en-US"/>
        </a:p>
      </dgm:t>
    </dgm:pt>
    <dgm:pt modelId="{431842DA-C10C-4F00-A8FF-38F36FAA3318}">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对换（</a:t>
          </a:r>
          <a:r>
            <a:rPr lang="en-US" altLang="zh-CN" sz="3200" b="1" kern="1200" dirty="0">
              <a:latin typeface="微软雅黑" panose="020B0503020204020204" pitchFamily="34" charset="-122"/>
              <a:ea typeface="微软雅黑" panose="020B0503020204020204" pitchFamily="34" charset="-122"/>
              <a:cs typeface="+mn-cs"/>
            </a:rPr>
            <a:t>Swapping</a:t>
          </a:r>
          <a:r>
            <a:rPr lang="zh-CN" altLang="en-US" sz="3200" b="1" kern="1200" dirty="0">
              <a:latin typeface="微软雅黑" panose="020B0503020204020204" pitchFamily="34" charset="-122"/>
              <a:ea typeface="微软雅黑" panose="020B0503020204020204" pitchFamily="34" charset="-122"/>
              <a:cs typeface="+mn-cs"/>
            </a:rPr>
            <a:t>）</a:t>
          </a:r>
        </a:p>
      </dgm:t>
    </dgm:pt>
    <dgm:pt modelId="{BE0C0096-21E5-4052-9490-5A12F6133583}" cxnId="{B259F718-CCD2-4763-8869-C91BB99F2806}" type="parTrans">
      <dgm:prSet/>
      <dgm:spPr/>
      <dgm:t>
        <a:bodyPr/>
        <a:lstStyle/>
        <a:p>
          <a:endParaRPr lang="zh-CN" altLang="en-US"/>
        </a:p>
      </dgm:t>
    </dgm:pt>
    <dgm:pt modelId="{E216F8AC-76D1-45A8-B317-CA0BB7ACCF2F}" cxnId="{B259F718-CCD2-4763-8869-C91BB99F2806}" type="sibTrans">
      <dgm:prSet/>
      <dgm:spPr/>
      <dgm:t>
        <a:bodyPr/>
        <a:lstStyle/>
        <a:p>
          <a:endParaRPr lang="zh-CN" altLang="en-US"/>
        </a:p>
      </dgm:t>
    </dgm:pt>
    <dgm:pt modelId="{C73CA419-B308-4FEC-BB9F-9EA192EABD32}">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分页存储管理方式</a:t>
          </a:r>
        </a:p>
      </dgm:t>
    </dgm:pt>
    <dgm:pt modelId="{65E10C13-A8E5-4B34-A00E-314FD6825CE3}" cxnId="{C3B1DB02-AF7B-46ED-88D3-4391098D3645}" type="parTrans">
      <dgm:prSet/>
      <dgm:spPr/>
      <dgm:t>
        <a:bodyPr/>
        <a:lstStyle/>
        <a:p>
          <a:endParaRPr lang="zh-CN" altLang="en-US"/>
        </a:p>
      </dgm:t>
    </dgm:pt>
    <dgm:pt modelId="{2A989A88-5D37-47D6-AA7A-31CB121F721E}" cxnId="{C3B1DB02-AF7B-46ED-88D3-4391098D3645}" type="sibTrans">
      <dgm:prSet/>
      <dgm:spPr/>
      <dgm:t>
        <a:bodyPr/>
        <a:lstStyle/>
        <a:p>
          <a:endParaRPr lang="zh-CN" altLang="en-US"/>
        </a:p>
      </dgm:t>
    </dgm:pt>
    <dgm:pt modelId="{D33436B3-0B13-4F32-9190-BCCD9B53E797}">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分段存储管理方式</a:t>
          </a:r>
        </a:p>
      </dgm:t>
    </dgm:pt>
    <dgm:pt modelId="{AC01A53B-906E-4AA6-8ADB-FD0A506CF275}" cxnId="{745844F4-E7BF-49A0-BF39-85F379FE92AE}" type="parTrans">
      <dgm:prSet/>
      <dgm:spPr/>
      <dgm:t>
        <a:bodyPr/>
        <a:lstStyle/>
        <a:p>
          <a:endParaRPr lang="zh-CN" altLang="en-US"/>
        </a:p>
      </dgm:t>
    </dgm:pt>
    <dgm:pt modelId="{F66FA5A6-3FD2-4AA2-B7BC-F2DBFF7EAEEC}" cxnId="{745844F4-E7BF-49A0-BF39-85F379FE92AE}" type="sibTrans">
      <dgm:prSet/>
      <dgm:spPr/>
      <dgm:t>
        <a:bodyPr/>
        <a:lstStyle/>
        <a:p>
          <a:endParaRPr lang="zh-CN" altLang="en-US"/>
        </a:p>
      </dgm:t>
    </dgm:pt>
    <dgm:pt modelId="{35EEBC4D-253C-40B6-A38D-5C4AE37EE567}">
      <dgm:prSet phldrT="[文本]" custT="1"/>
      <dgm:spPr>
        <a:solidFill>
          <a:schemeClr val="accent1">
            <a:lumMod val="75000"/>
          </a:schemeClr>
        </a:solidFill>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存储器的层次结构</a:t>
          </a:r>
        </a:p>
      </dgm:t>
    </dgm:pt>
    <dgm:pt modelId="{0DB1FB0F-E3E4-4EE8-BE91-04D430FB4DFF}" cxnId="{9856D63F-2B56-415E-A2DB-CDD8C4B129D4}" type="parTrans">
      <dgm:prSet/>
      <dgm:spPr/>
      <dgm:t>
        <a:bodyPr/>
        <a:lstStyle/>
        <a:p>
          <a:endParaRPr lang="zh-CN" altLang="en-US"/>
        </a:p>
      </dgm:t>
    </dgm:pt>
    <dgm:pt modelId="{B0B98F56-42B7-4EC3-89A0-35E375E90921}" cxnId="{9856D63F-2B56-415E-A2DB-CDD8C4B129D4}" type="sibTrans">
      <dgm:prSet/>
      <dgm:spPr/>
      <dgm:t>
        <a:bodyPr/>
        <a:lstStyle/>
        <a:p>
          <a:endParaRPr lang="zh-CN" altLang="en-US"/>
        </a:p>
      </dgm:t>
    </dgm:pt>
    <dgm:pt modelId="{CAF4CC0F-3782-4F8A-B74F-8D8B3539C608}" type="pres">
      <dgm:prSet presAssocID="{FD478015-E4AE-4E80-AF24-A2D21EDBC337}" presName="linear" presStyleCnt="0">
        <dgm:presLayoutVars>
          <dgm:animLvl val="lvl"/>
          <dgm:resizeHandles val="exact"/>
        </dgm:presLayoutVars>
      </dgm:prSet>
      <dgm:spPr/>
    </dgm:pt>
    <dgm:pt modelId="{D2030072-27AD-406A-84AE-0966EE003465}" type="pres">
      <dgm:prSet presAssocID="{35EEBC4D-253C-40B6-A38D-5C4AE37EE567}" presName="parentText" presStyleLbl="node1" presStyleIdx="0" presStyleCnt="6" custLinFactNeighborX="302">
        <dgm:presLayoutVars>
          <dgm:chMax val="0"/>
          <dgm:bulletEnabled val="1"/>
        </dgm:presLayoutVars>
      </dgm:prSet>
      <dgm:spPr>
        <a:prstGeom prst="roundRect">
          <a:avLst/>
        </a:prstGeom>
      </dgm:spPr>
    </dgm:pt>
    <dgm:pt modelId="{33C3C1E0-101A-4178-BBFF-A4AEF9F3C3AF}" type="pres">
      <dgm:prSet presAssocID="{B0B98F56-42B7-4EC3-89A0-35E375E90921}" presName="spacer" presStyleCnt="0"/>
      <dgm:spPr/>
    </dgm:pt>
    <dgm:pt modelId="{9D955F22-870E-4516-9F36-BFA399447422}" type="pres">
      <dgm:prSet presAssocID="{1AD147BB-ECCD-4AD6-B446-86EACD600D49}" presName="parentText" presStyleLbl="node1" presStyleIdx="1" presStyleCnt="6">
        <dgm:presLayoutVars>
          <dgm:chMax val="0"/>
          <dgm:bulletEnabled val="1"/>
        </dgm:presLayoutVars>
      </dgm:prSet>
      <dgm:spPr/>
    </dgm:pt>
    <dgm:pt modelId="{2FE02930-3677-461D-B85E-26435DB47E7B}" type="pres">
      <dgm:prSet presAssocID="{5B4E2F5C-B8A9-4CD3-A569-5BD69BDDBC7C}" presName="spacer" presStyleCnt="0"/>
      <dgm:spPr/>
    </dgm:pt>
    <dgm:pt modelId="{6F219609-DD04-44CD-8464-34C16D707E20}" type="pres">
      <dgm:prSet presAssocID="{FB4DF201-843C-4B73-8F0D-51E31B0DA051}" presName="parentText" presStyleLbl="node1" presStyleIdx="2" presStyleCnt="6">
        <dgm:presLayoutVars>
          <dgm:chMax val="0"/>
          <dgm:bulletEnabled val="1"/>
        </dgm:presLayoutVars>
      </dgm:prSet>
      <dgm:spPr/>
    </dgm:pt>
    <dgm:pt modelId="{9272CB60-3011-4C5D-858C-13AA8841EE96}" type="pres">
      <dgm:prSet presAssocID="{2F98E893-B11C-4A3D-8B25-F80E13394A80}" presName="spacer" presStyleCnt="0"/>
      <dgm:spPr/>
    </dgm:pt>
    <dgm:pt modelId="{E55D7849-AFAE-4859-9368-B9591CC879BF}" type="pres">
      <dgm:prSet presAssocID="{431842DA-C10C-4F00-A8FF-38F36FAA3318}" presName="parentText" presStyleLbl="node1" presStyleIdx="3" presStyleCnt="6">
        <dgm:presLayoutVars>
          <dgm:chMax val="0"/>
          <dgm:bulletEnabled val="1"/>
        </dgm:presLayoutVars>
      </dgm:prSet>
      <dgm:spPr/>
    </dgm:pt>
    <dgm:pt modelId="{5328934A-E02D-471D-B63A-84F222434C14}" type="pres">
      <dgm:prSet presAssocID="{E216F8AC-76D1-45A8-B317-CA0BB7ACCF2F}" presName="spacer" presStyleCnt="0"/>
      <dgm:spPr/>
    </dgm:pt>
    <dgm:pt modelId="{232815BA-619A-4614-9627-2F42AED66E49}" type="pres">
      <dgm:prSet presAssocID="{C73CA419-B308-4FEC-BB9F-9EA192EABD32}" presName="parentText" presStyleLbl="node1" presStyleIdx="4" presStyleCnt="6">
        <dgm:presLayoutVars>
          <dgm:chMax val="0"/>
          <dgm:bulletEnabled val="1"/>
        </dgm:presLayoutVars>
      </dgm:prSet>
      <dgm:spPr/>
    </dgm:pt>
    <dgm:pt modelId="{83DB15C9-6AFA-448B-B9A6-828601D1C86B}" type="pres">
      <dgm:prSet presAssocID="{2A989A88-5D37-47D6-AA7A-31CB121F721E}" presName="spacer" presStyleCnt="0"/>
      <dgm:spPr/>
    </dgm:pt>
    <dgm:pt modelId="{E0DD0EBA-5357-496A-800C-A32E8C411ACA}" type="pres">
      <dgm:prSet presAssocID="{D33436B3-0B13-4F32-9190-BCCD9B53E797}" presName="parentText" presStyleLbl="node1" presStyleIdx="5" presStyleCnt="6">
        <dgm:presLayoutVars>
          <dgm:chMax val="0"/>
          <dgm:bulletEnabled val="1"/>
        </dgm:presLayoutVars>
      </dgm:prSet>
      <dgm:spPr/>
    </dgm:pt>
  </dgm:ptLst>
  <dgm:cxnLst>
    <dgm:cxn modelId="{C3B1DB02-AF7B-46ED-88D3-4391098D3645}" srcId="{FD478015-E4AE-4E80-AF24-A2D21EDBC337}" destId="{C73CA419-B308-4FEC-BB9F-9EA192EABD32}" srcOrd="4" destOrd="0" parTransId="{65E10C13-A8E5-4B34-A00E-314FD6825CE3}" sibTransId="{2A989A88-5D37-47D6-AA7A-31CB121F721E}"/>
    <dgm:cxn modelId="{B259F718-CCD2-4763-8869-C91BB99F2806}" srcId="{FD478015-E4AE-4E80-AF24-A2D21EDBC337}" destId="{431842DA-C10C-4F00-A8FF-38F36FAA3318}" srcOrd="3" destOrd="0" parTransId="{BE0C0096-21E5-4052-9490-5A12F6133583}" sibTransId="{E216F8AC-76D1-45A8-B317-CA0BB7ACCF2F}"/>
    <dgm:cxn modelId="{F6093220-A59C-4747-94B3-D08D43D6DC4F}" type="presOf" srcId="{C73CA419-B308-4FEC-BB9F-9EA192EABD32}" destId="{232815BA-619A-4614-9627-2F42AED66E49}" srcOrd="0" destOrd="0" presId="urn:microsoft.com/office/officeart/2005/8/layout/vList2#3"/>
    <dgm:cxn modelId="{9856D63F-2B56-415E-A2DB-CDD8C4B129D4}" srcId="{FD478015-E4AE-4E80-AF24-A2D21EDBC337}" destId="{35EEBC4D-253C-40B6-A38D-5C4AE37EE567}" srcOrd="0" destOrd="0" parTransId="{0DB1FB0F-E3E4-4EE8-BE91-04D430FB4DFF}" sibTransId="{B0B98F56-42B7-4EC3-89A0-35E375E90921}"/>
    <dgm:cxn modelId="{47913864-5C95-4FF0-B0F7-9073254BD915}" type="presOf" srcId="{D33436B3-0B13-4F32-9190-BCCD9B53E797}" destId="{E0DD0EBA-5357-496A-800C-A32E8C411ACA}" srcOrd="0" destOrd="0" presId="urn:microsoft.com/office/officeart/2005/8/layout/vList2#3"/>
    <dgm:cxn modelId="{5F278370-DC1B-43BD-9892-81A65D94011D}" srcId="{FD478015-E4AE-4E80-AF24-A2D21EDBC337}" destId="{1AD147BB-ECCD-4AD6-B446-86EACD600D49}" srcOrd="1" destOrd="0" parTransId="{24B51315-1B0B-4F79-AF5C-142DDE53554B}" sibTransId="{5B4E2F5C-B8A9-4CD3-A569-5BD69BDDBC7C}"/>
    <dgm:cxn modelId="{3A912073-6D15-4AEB-8B4D-8AF24F204D31}" srcId="{FD478015-E4AE-4E80-AF24-A2D21EDBC337}" destId="{FB4DF201-843C-4B73-8F0D-51E31B0DA051}" srcOrd="2" destOrd="0" parTransId="{A92B47A3-4B1B-4DBF-9C8F-53BB89C57576}" sibTransId="{2F98E893-B11C-4A3D-8B25-F80E13394A80}"/>
    <dgm:cxn modelId="{0EE7279D-E2D8-4B05-B360-85836C646924}" type="presOf" srcId="{FB4DF201-843C-4B73-8F0D-51E31B0DA051}" destId="{6F219609-DD04-44CD-8464-34C16D707E20}" srcOrd="0" destOrd="0" presId="urn:microsoft.com/office/officeart/2005/8/layout/vList2#3"/>
    <dgm:cxn modelId="{0C1117A7-0AC5-4EAB-B05D-7173F3A0BDCC}" type="presOf" srcId="{431842DA-C10C-4F00-A8FF-38F36FAA3318}" destId="{E55D7849-AFAE-4859-9368-B9591CC879BF}" srcOrd="0" destOrd="0" presId="urn:microsoft.com/office/officeart/2005/8/layout/vList2#3"/>
    <dgm:cxn modelId="{9A130AB1-2B40-4346-9B26-8C8E5C643B8B}" type="presOf" srcId="{35EEBC4D-253C-40B6-A38D-5C4AE37EE567}" destId="{D2030072-27AD-406A-84AE-0966EE003465}" srcOrd="0" destOrd="0" presId="urn:microsoft.com/office/officeart/2005/8/layout/vList2#3"/>
    <dgm:cxn modelId="{1B1C5DBB-7600-4413-8610-830CC47E1FC6}" type="presOf" srcId="{FD478015-E4AE-4E80-AF24-A2D21EDBC337}" destId="{CAF4CC0F-3782-4F8A-B74F-8D8B3539C608}" srcOrd="0" destOrd="0" presId="urn:microsoft.com/office/officeart/2005/8/layout/vList2#3"/>
    <dgm:cxn modelId="{FAB6C7CD-8F5F-48EC-8259-EB14715353D1}" type="presOf" srcId="{1AD147BB-ECCD-4AD6-B446-86EACD600D49}" destId="{9D955F22-870E-4516-9F36-BFA399447422}" srcOrd="0" destOrd="0" presId="urn:microsoft.com/office/officeart/2005/8/layout/vList2#3"/>
    <dgm:cxn modelId="{745844F4-E7BF-49A0-BF39-85F379FE92AE}" srcId="{FD478015-E4AE-4E80-AF24-A2D21EDBC337}" destId="{D33436B3-0B13-4F32-9190-BCCD9B53E797}" srcOrd="5" destOrd="0" parTransId="{AC01A53B-906E-4AA6-8ADB-FD0A506CF275}" sibTransId="{F66FA5A6-3FD2-4AA2-B7BC-F2DBFF7EAEEC}"/>
    <dgm:cxn modelId="{359E1A13-5AFA-4975-8EC1-F22471D4C607}" type="presParOf" srcId="{CAF4CC0F-3782-4F8A-B74F-8D8B3539C608}" destId="{D2030072-27AD-406A-84AE-0966EE003465}" srcOrd="0" destOrd="0" presId="urn:microsoft.com/office/officeart/2005/8/layout/vList2#3"/>
    <dgm:cxn modelId="{336067B4-8699-444C-9E1D-0470951F2E67}" type="presParOf" srcId="{CAF4CC0F-3782-4F8A-B74F-8D8B3539C608}" destId="{33C3C1E0-101A-4178-BBFF-A4AEF9F3C3AF}" srcOrd="1" destOrd="0" presId="urn:microsoft.com/office/officeart/2005/8/layout/vList2#3"/>
    <dgm:cxn modelId="{C8306F97-005B-434A-82B8-FACA2CAB4B24}" type="presParOf" srcId="{CAF4CC0F-3782-4F8A-B74F-8D8B3539C608}" destId="{9D955F22-870E-4516-9F36-BFA399447422}" srcOrd="2" destOrd="0" presId="urn:microsoft.com/office/officeart/2005/8/layout/vList2#3"/>
    <dgm:cxn modelId="{73FF7D11-26A8-4488-9DD3-A45E8E60BF84}" type="presParOf" srcId="{CAF4CC0F-3782-4F8A-B74F-8D8B3539C608}" destId="{2FE02930-3677-461D-B85E-26435DB47E7B}" srcOrd="3" destOrd="0" presId="urn:microsoft.com/office/officeart/2005/8/layout/vList2#3"/>
    <dgm:cxn modelId="{6716DD35-687D-482F-A498-BD13972F127F}" type="presParOf" srcId="{CAF4CC0F-3782-4F8A-B74F-8D8B3539C608}" destId="{6F219609-DD04-44CD-8464-34C16D707E20}" srcOrd="4" destOrd="0" presId="urn:microsoft.com/office/officeart/2005/8/layout/vList2#3"/>
    <dgm:cxn modelId="{F4402D62-DD80-44A6-AC6D-E0D6DDC2F5A5}" type="presParOf" srcId="{CAF4CC0F-3782-4F8A-B74F-8D8B3539C608}" destId="{9272CB60-3011-4C5D-858C-13AA8841EE96}" srcOrd="5" destOrd="0" presId="urn:microsoft.com/office/officeart/2005/8/layout/vList2#3"/>
    <dgm:cxn modelId="{4F7DC1B6-360F-4C01-92F5-E6CCFA2494DA}" type="presParOf" srcId="{CAF4CC0F-3782-4F8A-B74F-8D8B3539C608}" destId="{E55D7849-AFAE-4859-9368-B9591CC879BF}" srcOrd="6" destOrd="0" presId="urn:microsoft.com/office/officeart/2005/8/layout/vList2#3"/>
    <dgm:cxn modelId="{B8754C1D-3232-4060-8594-0169340183C2}" type="presParOf" srcId="{CAF4CC0F-3782-4F8A-B74F-8D8B3539C608}" destId="{5328934A-E02D-471D-B63A-84F222434C14}" srcOrd="7" destOrd="0" presId="urn:microsoft.com/office/officeart/2005/8/layout/vList2#3"/>
    <dgm:cxn modelId="{8BC2684A-B71C-4260-97AE-6041099325AF}" type="presParOf" srcId="{CAF4CC0F-3782-4F8A-B74F-8D8B3539C608}" destId="{232815BA-619A-4614-9627-2F42AED66E49}" srcOrd="8" destOrd="0" presId="urn:microsoft.com/office/officeart/2005/8/layout/vList2#3"/>
    <dgm:cxn modelId="{657990C9-6A12-4CC3-8E37-E3F21C779D2B}" type="presParOf" srcId="{CAF4CC0F-3782-4F8A-B74F-8D8B3539C608}" destId="{83DB15C9-6AFA-448B-B9A6-828601D1C86B}" srcOrd="9" destOrd="0" presId="urn:microsoft.com/office/officeart/2005/8/layout/vList2#3"/>
    <dgm:cxn modelId="{726CE9CC-BF12-4531-9946-2F40C39DE838}" type="presParOf" srcId="{CAF4CC0F-3782-4F8A-B74F-8D8B3539C608}" destId="{E0DD0EBA-5357-496A-800C-A32E8C411ACA}" srcOrd="10" destOrd="0" presId="urn:microsoft.com/office/officeart/2005/8/layout/vList2#3"/>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D478015-E4AE-4E80-AF24-A2D21EDBC337}" type="doc">
      <dgm:prSet loTypeId="urn:microsoft.com/office/officeart/2005/8/layout/vList2#3" loCatId="list" qsTypeId="urn:microsoft.com/office/officeart/2005/8/quickstyle/simple1#9" qsCatId="simple" csTypeId="urn:microsoft.com/office/officeart/2005/8/colors/colorful1" csCatId="colorful" phldr="1"/>
      <dgm:spPr/>
      <dgm:t>
        <a:bodyPr/>
        <a:lstStyle/>
        <a:p>
          <a:endParaRPr lang="zh-CN" altLang="en-US"/>
        </a:p>
      </dgm:t>
    </dgm:pt>
    <dgm:pt modelId="{1AD147BB-ECCD-4AD6-B446-86EACD600D49}">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程序的装入和链接</a:t>
          </a:r>
        </a:p>
      </dgm:t>
    </dgm:pt>
    <dgm:pt modelId="{24B51315-1B0B-4F79-AF5C-142DDE53554B}" cxnId="{5F278370-DC1B-43BD-9892-81A65D94011D}" type="parTrans">
      <dgm:prSet/>
      <dgm:spPr/>
      <dgm:t>
        <a:bodyPr/>
        <a:lstStyle/>
        <a:p>
          <a:endParaRPr lang="zh-CN" altLang="en-US"/>
        </a:p>
      </dgm:t>
    </dgm:pt>
    <dgm:pt modelId="{5B4E2F5C-B8A9-4CD3-A569-5BD69BDDBC7C}" cxnId="{5F278370-DC1B-43BD-9892-81A65D94011D}" type="sibTrans">
      <dgm:prSet/>
      <dgm:spPr/>
      <dgm:t>
        <a:bodyPr/>
        <a:lstStyle/>
        <a:p>
          <a:endParaRPr lang="zh-CN" altLang="en-US"/>
        </a:p>
      </dgm:t>
    </dgm:pt>
    <dgm:pt modelId="{FB4DF201-843C-4B73-8F0D-51E31B0DA051}">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连续分配存储管理方式</a:t>
          </a:r>
        </a:p>
      </dgm:t>
    </dgm:pt>
    <dgm:pt modelId="{A92B47A3-4B1B-4DBF-9C8F-53BB89C57576}" cxnId="{3A912073-6D15-4AEB-8B4D-8AF24F204D31}" type="parTrans">
      <dgm:prSet/>
      <dgm:spPr/>
      <dgm:t>
        <a:bodyPr/>
        <a:lstStyle/>
        <a:p>
          <a:endParaRPr lang="zh-CN" altLang="en-US"/>
        </a:p>
      </dgm:t>
    </dgm:pt>
    <dgm:pt modelId="{2F98E893-B11C-4A3D-8B25-F80E13394A80}" cxnId="{3A912073-6D15-4AEB-8B4D-8AF24F204D31}" type="sibTrans">
      <dgm:prSet/>
      <dgm:spPr/>
      <dgm:t>
        <a:bodyPr/>
        <a:lstStyle/>
        <a:p>
          <a:endParaRPr lang="zh-CN" altLang="en-US"/>
        </a:p>
      </dgm:t>
    </dgm:pt>
    <dgm:pt modelId="{431842DA-C10C-4F00-A8FF-38F36FAA3318}">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对换（</a:t>
          </a:r>
          <a:r>
            <a:rPr lang="en-US" altLang="zh-CN" sz="3200" b="1" kern="1200" dirty="0">
              <a:latin typeface="微软雅黑" panose="020B0503020204020204" pitchFamily="34" charset="-122"/>
              <a:ea typeface="微软雅黑" panose="020B0503020204020204" pitchFamily="34" charset="-122"/>
              <a:cs typeface="+mn-cs"/>
            </a:rPr>
            <a:t>Swapping</a:t>
          </a:r>
          <a:r>
            <a:rPr lang="zh-CN" altLang="en-US" sz="3200" b="1" kern="1200" dirty="0">
              <a:latin typeface="微软雅黑" panose="020B0503020204020204" pitchFamily="34" charset="-122"/>
              <a:ea typeface="微软雅黑" panose="020B0503020204020204" pitchFamily="34" charset="-122"/>
              <a:cs typeface="+mn-cs"/>
            </a:rPr>
            <a:t>）</a:t>
          </a:r>
        </a:p>
      </dgm:t>
    </dgm:pt>
    <dgm:pt modelId="{BE0C0096-21E5-4052-9490-5A12F6133583}" cxnId="{B259F718-CCD2-4763-8869-C91BB99F2806}" type="parTrans">
      <dgm:prSet/>
      <dgm:spPr/>
      <dgm:t>
        <a:bodyPr/>
        <a:lstStyle/>
        <a:p>
          <a:endParaRPr lang="zh-CN" altLang="en-US"/>
        </a:p>
      </dgm:t>
    </dgm:pt>
    <dgm:pt modelId="{E216F8AC-76D1-45A8-B317-CA0BB7ACCF2F}" cxnId="{B259F718-CCD2-4763-8869-C91BB99F2806}" type="sibTrans">
      <dgm:prSet/>
      <dgm:spPr/>
      <dgm:t>
        <a:bodyPr/>
        <a:lstStyle/>
        <a:p>
          <a:endParaRPr lang="zh-CN" altLang="en-US"/>
        </a:p>
      </dgm:t>
    </dgm:pt>
    <dgm:pt modelId="{C73CA419-B308-4FEC-BB9F-9EA192EABD32}">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分页存储管理方式</a:t>
          </a:r>
        </a:p>
      </dgm:t>
    </dgm:pt>
    <dgm:pt modelId="{65E10C13-A8E5-4B34-A00E-314FD6825CE3}" cxnId="{C3B1DB02-AF7B-46ED-88D3-4391098D3645}" type="parTrans">
      <dgm:prSet/>
      <dgm:spPr/>
      <dgm:t>
        <a:bodyPr/>
        <a:lstStyle/>
        <a:p>
          <a:endParaRPr lang="zh-CN" altLang="en-US"/>
        </a:p>
      </dgm:t>
    </dgm:pt>
    <dgm:pt modelId="{2A989A88-5D37-47D6-AA7A-31CB121F721E}" cxnId="{C3B1DB02-AF7B-46ED-88D3-4391098D3645}" type="sibTrans">
      <dgm:prSet/>
      <dgm:spPr/>
      <dgm:t>
        <a:bodyPr/>
        <a:lstStyle/>
        <a:p>
          <a:endParaRPr lang="zh-CN" altLang="en-US"/>
        </a:p>
      </dgm:t>
    </dgm:pt>
    <dgm:pt modelId="{D33436B3-0B13-4F32-9190-BCCD9B53E797}">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分段存储管理方式</a:t>
          </a:r>
        </a:p>
      </dgm:t>
    </dgm:pt>
    <dgm:pt modelId="{AC01A53B-906E-4AA6-8ADB-FD0A506CF275}" cxnId="{745844F4-E7BF-49A0-BF39-85F379FE92AE}" type="parTrans">
      <dgm:prSet/>
      <dgm:spPr/>
      <dgm:t>
        <a:bodyPr/>
        <a:lstStyle/>
        <a:p>
          <a:endParaRPr lang="zh-CN" altLang="en-US"/>
        </a:p>
      </dgm:t>
    </dgm:pt>
    <dgm:pt modelId="{F66FA5A6-3FD2-4AA2-B7BC-F2DBFF7EAEEC}" cxnId="{745844F4-E7BF-49A0-BF39-85F379FE92AE}" type="sibTrans">
      <dgm:prSet/>
      <dgm:spPr/>
      <dgm:t>
        <a:bodyPr/>
        <a:lstStyle/>
        <a:p>
          <a:endParaRPr lang="zh-CN" altLang="en-US"/>
        </a:p>
      </dgm:t>
    </dgm:pt>
    <dgm:pt modelId="{35EEBC4D-253C-40B6-A38D-5C4AE37EE567}">
      <dgm:prSet phldrT="[文本]" custT="1"/>
      <dgm:spPr>
        <a:solidFill>
          <a:schemeClr val="bg1"/>
        </a:solidFill>
        <a:ln>
          <a:solidFill>
            <a:srgbClr val="2F5597"/>
          </a:solidFill>
        </a:ln>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srgbClr val="2F5597"/>
              </a:solidFill>
              <a:latin typeface="微软雅黑" panose="020B0503020204020204" pitchFamily="34" charset="-122"/>
              <a:ea typeface="微软雅黑" panose="020B0503020204020204" pitchFamily="34" charset="-122"/>
              <a:cs typeface="+mn-cs"/>
            </a:rPr>
            <a:t>存储器的层次结构</a:t>
          </a:r>
        </a:p>
      </dgm:t>
    </dgm:pt>
    <dgm:pt modelId="{0DB1FB0F-E3E4-4EE8-BE91-04D430FB4DFF}" cxnId="{9856D63F-2B56-415E-A2DB-CDD8C4B129D4}" type="parTrans">
      <dgm:prSet/>
      <dgm:spPr/>
      <dgm:t>
        <a:bodyPr/>
        <a:lstStyle/>
        <a:p>
          <a:endParaRPr lang="zh-CN" altLang="en-US"/>
        </a:p>
      </dgm:t>
    </dgm:pt>
    <dgm:pt modelId="{B0B98F56-42B7-4EC3-89A0-35E375E90921}" cxnId="{9856D63F-2B56-415E-A2DB-CDD8C4B129D4}" type="sibTrans">
      <dgm:prSet/>
      <dgm:spPr/>
      <dgm:t>
        <a:bodyPr/>
        <a:lstStyle/>
        <a:p>
          <a:endParaRPr lang="zh-CN" altLang="en-US"/>
        </a:p>
      </dgm:t>
    </dgm:pt>
    <dgm:pt modelId="{CAF4CC0F-3782-4F8A-B74F-8D8B3539C608}" type="pres">
      <dgm:prSet presAssocID="{FD478015-E4AE-4E80-AF24-A2D21EDBC337}" presName="linear" presStyleCnt="0">
        <dgm:presLayoutVars>
          <dgm:animLvl val="lvl"/>
          <dgm:resizeHandles val="exact"/>
        </dgm:presLayoutVars>
      </dgm:prSet>
      <dgm:spPr/>
    </dgm:pt>
    <dgm:pt modelId="{D2030072-27AD-406A-84AE-0966EE003465}" type="pres">
      <dgm:prSet presAssocID="{35EEBC4D-253C-40B6-A38D-5C4AE37EE567}" presName="parentText" presStyleLbl="node1" presStyleIdx="0" presStyleCnt="6" custLinFactNeighborX="302">
        <dgm:presLayoutVars>
          <dgm:chMax val="0"/>
          <dgm:bulletEnabled val="1"/>
        </dgm:presLayoutVars>
      </dgm:prSet>
      <dgm:spPr>
        <a:prstGeom prst="roundRect">
          <a:avLst/>
        </a:prstGeom>
      </dgm:spPr>
    </dgm:pt>
    <dgm:pt modelId="{33C3C1E0-101A-4178-BBFF-A4AEF9F3C3AF}" type="pres">
      <dgm:prSet presAssocID="{B0B98F56-42B7-4EC3-89A0-35E375E90921}" presName="spacer" presStyleCnt="0"/>
      <dgm:spPr/>
    </dgm:pt>
    <dgm:pt modelId="{9D955F22-870E-4516-9F36-BFA399447422}" type="pres">
      <dgm:prSet presAssocID="{1AD147BB-ECCD-4AD6-B446-86EACD600D49}" presName="parentText" presStyleLbl="node1" presStyleIdx="1" presStyleCnt="6">
        <dgm:presLayoutVars>
          <dgm:chMax val="0"/>
          <dgm:bulletEnabled val="1"/>
        </dgm:presLayoutVars>
      </dgm:prSet>
      <dgm:spPr/>
    </dgm:pt>
    <dgm:pt modelId="{2FE02930-3677-461D-B85E-26435DB47E7B}" type="pres">
      <dgm:prSet presAssocID="{5B4E2F5C-B8A9-4CD3-A569-5BD69BDDBC7C}" presName="spacer" presStyleCnt="0"/>
      <dgm:spPr/>
    </dgm:pt>
    <dgm:pt modelId="{6F219609-DD04-44CD-8464-34C16D707E20}" type="pres">
      <dgm:prSet presAssocID="{FB4DF201-843C-4B73-8F0D-51E31B0DA051}" presName="parentText" presStyleLbl="node1" presStyleIdx="2" presStyleCnt="6">
        <dgm:presLayoutVars>
          <dgm:chMax val="0"/>
          <dgm:bulletEnabled val="1"/>
        </dgm:presLayoutVars>
      </dgm:prSet>
      <dgm:spPr/>
    </dgm:pt>
    <dgm:pt modelId="{9272CB60-3011-4C5D-858C-13AA8841EE96}" type="pres">
      <dgm:prSet presAssocID="{2F98E893-B11C-4A3D-8B25-F80E13394A80}" presName="spacer" presStyleCnt="0"/>
      <dgm:spPr/>
    </dgm:pt>
    <dgm:pt modelId="{E55D7849-AFAE-4859-9368-B9591CC879BF}" type="pres">
      <dgm:prSet presAssocID="{431842DA-C10C-4F00-A8FF-38F36FAA3318}" presName="parentText" presStyleLbl="node1" presStyleIdx="3" presStyleCnt="6">
        <dgm:presLayoutVars>
          <dgm:chMax val="0"/>
          <dgm:bulletEnabled val="1"/>
        </dgm:presLayoutVars>
      </dgm:prSet>
      <dgm:spPr/>
    </dgm:pt>
    <dgm:pt modelId="{5328934A-E02D-471D-B63A-84F222434C14}" type="pres">
      <dgm:prSet presAssocID="{E216F8AC-76D1-45A8-B317-CA0BB7ACCF2F}" presName="spacer" presStyleCnt="0"/>
      <dgm:spPr/>
    </dgm:pt>
    <dgm:pt modelId="{232815BA-619A-4614-9627-2F42AED66E49}" type="pres">
      <dgm:prSet presAssocID="{C73CA419-B308-4FEC-BB9F-9EA192EABD32}" presName="parentText" presStyleLbl="node1" presStyleIdx="4" presStyleCnt="6">
        <dgm:presLayoutVars>
          <dgm:chMax val="0"/>
          <dgm:bulletEnabled val="1"/>
        </dgm:presLayoutVars>
      </dgm:prSet>
      <dgm:spPr/>
    </dgm:pt>
    <dgm:pt modelId="{83DB15C9-6AFA-448B-B9A6-828601D1C86B}" type="pres">
      <dgm:prSet presAssocID="{2A989A88-5D37-47D6-AA7A-31CB121F721E}" presName="spacer" presStyleCnt="0"/>
      <dgm:spPr/>
    </dgm:pt>
    <dgm:pt modelId="{E0DD0EBA-5357-496A-800C-A32E8C411ACA}" type="pres">
      <dgm:prSet presAssocID="{D33436B3-0B13-4F32-9190-BCCD9B53E797}" presName="parentText" presStyleLbl="node1" presStyleIdx="5" presStyleCnt="6">
        <dgm:presLayoutVars>
          <dgm:chMax val="0"/>
          <dgm:bulletEnabled val="1"/>
        </dgm:presLayoutVars>
      </dgm:prSet>
      <dgm:spPr/>
    </dgm:pt>
  </dgm:ptLst>
  <dgm:cxnLst>
    <dgm:cxn modelId="{C3B1DB02-AF7B-46ED-88D3-4391098D3645}" srcId="{FD478015-E4AE-4E80-AF24-A2D21EDBC337}" destId="{C73CA419-B308-4FEC-BB9F-9EA192EABD32}" srcOrd="4" destOrd="0" parTransId="{65E10C13-A8E5-4B34-A00E-314FD6825CE3}" sibTransId="{2A989A88-5D37-47D6-AA7A-31CB121F721E}"/>
    <dgm:cxn modelId="{B259F718-CCD2-4763-8869-C91BB99F2806}" srcId="{FD478015-E4AE-4E80-AF24-A2D21EDBC337}" destId="{431842DA-C10C-4F00-A8FF-38F36FAA3318}" srcOrd="3" destOrd="0" parTransId="{BE0C0096-21E5-4052-9490-5A12F6133583}" sibTransId="{E216F8AC-76D1-45A8-B317-CA0BB7ACCF2F}"/>
    <dgm:cxn modelId="{F6093220-A59C-4747-94B3-D08D43D6DC4F}" type="presOf" srcId="{C73CA419-B308-4FEC-BB9F-9EA192EABD32}" destId="{232815BA-619A-4614-9627-2F42AED66E49}" srcOrd="0" destOrd="0" presId="urn:microsoft.com/office/officeart/2005/8/layout/vList2#3"/>
    <dgm:cxn modelId="{9856D63F-2B56-415E-A2DB-CDD8C4B129D4}" srcId="{FD478015-E4AE-4E80-AF24-A2D21EDBC337}" destId="{35EEBC4D-253C-40B6-A38D-5C4AE37EE567}" srcOrd="0" destOrd="0" parTransId="{0DB1FB0F-E3E4-4EE8-BE91-04D430FB4DFF}" sibTransId="{B0B98F56-42B7-4EC3-89A0-35E375E90921}"/>
    <dgm:cxn modelId="{47913864-5C95-4FF0-B0F7-9073254BD915}" type="presOf" srcId="{D33436B3-0B13-4F32-9190-BCCD9B53E797}" destId="{E0DD0EBA-5357-496A-800C-A32E8C411ACA}" srcOrd="0" destOrd="0" presId="urn:microsoft.com/office/officeart/2005/8/layout/vList2#3"/>
    <dgm:cxn modelId="{5F278370-DC1B-43BD-9892-81A65D94011D}" srcId="{FD478015-E4AE-4E80-AF24-A2D21EDBC337}" destId="{1AD147BB-ECCD-4AD6-B446-86EACD600D49}" srcOrd="1" destOrd="0" parTransId="{24B51315-1B0B-4F79-AF5C-142DDE53554B}" sibTransId="{5B4E2F5C-B8A9-4CD3-A569-5BD69BDDBC7C}"/>
    <dgm:cxn modelId="{3A912073-6D15-4AEB-8B4D-8AF24F204D31}" srcId="{FD478015-E4AE-4E80-AF24-A2D21EDBC337}" destId="{FB4DF201-843C-4B73-8F0D-51E31B0DA051}" srcOrd="2" destOrd="0" parTransId="{A92B47A3-4B1B-4DBF-9C8F-53BB89C57576}" sibTransId="{2F98E893-B11C-4A3D-8B25-F80E13394A80}"/>
    <dgm:cxn modelId="{0EE7279D-E2D8-4B05-B360-85836C646924}" type="presOf" srcId="{FB4DF201-843C-4B73-8F0D-51E31B0DA051}" destId="{6F219609-DD04-44CD-8464-34C16D707E20}" srcOrd="0" destOrd="0" presId="urn:microsoft.com/office/officeart/2005/8/layout/vList2#3"/>
    <dgm:cxn modelId="{0C1117A7-0AC5-4EAB-B05D-7173F3A0BDCC}" type="presOf" srcId="{431842DA-C10C-4F00-A8FF-38F36FAA3318}" destId="{E55D7849-AFAE-4859-9368-B9591CC879BF}" srcOrd="0" destOrd="0" presId="urn:microsoft.com/office/officeart/2005/8/layout/vList2#3"/>
    <dgm:cxn modelId="{9A130AB1-2B40-4346-9B26-8C8E5C643B8B}" type="presOf" srcId="{35EEBC4D-253C-40B6-A38D-5C4AE37EE567}" destId="{D2030072-27AD-406A-84AE-0966EE003465}" srcOrd="0" destOrd="0" presId="urn:microsoft.com/office/officeart/2005/8/layout/vList2#3"/>
    <dgm:cxn modelId="{1B1C5DBB-7600-4413-8610-830CC47E1FC6}" type="presOf" srcId="{FD478015-E4AE-4E80-AF24-A2D21EDBC337}" destId="{CAF4CC0F-3782-4F8A-B74F-8D8B3539C608}" srcOrd="0" destOrd="0" presId="urn:microsoft.com/office/officeart/2005/8/layout/vList2#3"/>
    <dgm:cxn modelId="{FAB6C7CD-8F5F-48EC-8259-EB14715353D1}" type="presOf" srcId="{1AD147BB-ECCD-4AD6-B446-86EACD600D49}" destId="{9D955F22-870E-4516-9F36-BFA399447422}" srcOrd="0" destOrd="0" presId="urn:microsoft.com/office/officeart/2005/8/layout/vList2#3"/>
    <dgm:cxn modelId="{745844F4-E7BF-49A0-BF39-85F379FE92AE}" srcId="{FD478015-E4AE-4E80-AF24-A2D21EDBC337}" destId="{D33436B3-0B13-4F32-9190-BCCD9B53E797}" srcOrd="5" destOrd="0" parTransId="{AC01A53B-906E-4AA6-8ADB-FD0A506CF275}" sibTransId="{F66FA5A6-3FD2-4AA2-B7BC-F2DBFF7EAEEC}"/>
    <dgm:cxn modelId="{359E1A13-5AFA-4975-8EC1-F22471D4C607}" type="presParOf" srcId="{CAF4CC0F-3782-4F8A-B74F-8D8B3539C608}" destId="{D2030072-27AD-406A-84AE-0966EE003465}" srcOrd="0" destOrd="0" presId="urn:microsoft.com/office/officeart/2005/8/layout/vList2#3"/>
    <dgm:cxn modelId="{336067B4-8699-444C-9E1D-0470951F2E67}" type="presParOf" srcId="{CAF4CC0F-3782-4F8A-B74F-8D8B3539C608}" destId="{33C3C1E0-101A-4178-BBFF-A4AEF9F3C3AF}" srcOrd="1" destOrd="0" presId="urn:microsoft.com/office/officeart/2005/8/layout/vList2#3"/>
    <dgm:cxn modelId="{C8306F97-005B-434A-82B8-FACA2CAB4B24}" type="presParOf" srcId="{CAF4CC0F-3782-4F8A-B74F-8D8B3539C608}" destId="{9D955F22-870E-4516-9F36-BFA399447422}" srcOrd="2" destOrd="0" presId="urn:microsoft.com/office/officeart/2005/8/layout/vList2#3"/>
    <dgm:cxn modelId="{73FF7D11-26A8-4488-9DD3-A45E8E60BF84}" type="presParOf" srcId="{CAF4CC0F-3782-4F8A-B74F-8D8B3539C608}" destId="{2FE02930-3677-461D-B85E-26435DB47E7B}" srcOrd="3" destOrd="0" presId="urn:microsoft.com/office/officeart/2005/8/layout/vList2#3"/>
    <dgm:cxn modelId="{6716DD35-687D-482F-A498-BD13972F127F}" type="presParOf" srcId="{CAF4CC0F-3782-4F8A-B74F-8D8B3539C608}" destId="{6F219609-DD04-44CD-8464-34C16D707E20}" srcOrd="4" destOrd="0" presId="urn:microsoft.com/office/officeart/2005/8/layout/vList2#3"/>
    <dgm:cxn modelId="{F4402D62-DD80-44A6-AC6D-E0D6DDC2F5A5}" type="presParOf" srcId="{CAF4CC0F-3782-4F8A-B74F-8D8B3539C608}" destId="{9272CB60-3011-4C5D-858C-13AA8841EE96}" srcOrd="5" destOrd="0" presId="urn:microsoft.com/office/officeart/2005/8/layout/vList2#3"/>
    <dgm:cxn modelId="{4F7DC1B6-360F-4C01-92F5-E6CCFA2494DA}" type="presParOf" srcId="{CAF4CC0F-3782-4F8A-B74F-8D8B3539C608}" destId="{E55D7849-AFAE-4859-9368-B9591CC879BF}" srcOrd="6" destOrd="0" presId="urn:microsoft.com/office/officeart/2005/8/layout/vList2#3"/>
    <dgm:cxn modelId="{B8754C1D-3232-4060-8594-0169340183C2}" type="presParOf" srcId="{CAF4CC0F-3782-4F8A-B74F-8D8B3539C608}" destId="{5328934A-E02D-471D-B63A-84F222434C14}" srcOrd="7" destOrd="0" presId="urn:microsoft.com/office/officeart/2005/8/layout/vList2#3"/>
    <dgm:cxn modelId="{8BC2684A-B71C-4260-97AE-6041099325AF}" type="presParOf" srcId="{CAF4CC0F-3782-4F8A-B74F-8D8B3539C608}" destId="{232815BA-619A-4614-9627-2F42AED66E49}" srcOrd="8" destOrd="0" presId="urn:microsoft.com/office/officeart/2005/8/layout/vList2#3"/>
    <dgm:cxn modelId="{657990C9-6A12-4CC3-8E37-E3F21C779D2B}" type="presParOf" srcId="{CAF4CC0F-3782-4F8A-B74F-8D8B3539C608}" destId="{83DB15C9-6AFA-448B-B9A6-828601D1C86B}" srcOrd="9" destOrd="0" presId="urn:microsoft.com/office/officeart/2005/8/layout/vList2#3"/>
    <dgm:cxn modelId="{726CE9CC-BF12-4531-9946-2F40C39DE838}" type="presParOf" srcId="{CAF4CC0F-3782-4F8A-B74F-8D8B3539C608}" destId="{E0DD0EBA-5357-496A-800C-A32E8C411ACA}" srcOrd="10" destOrd="0" presId="urn:microsoft.com/office/officeart/2005/8/layout/vList2#3"/>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99054B8-D981-4F34-8C0E-06B9F3465F9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77613E4E-113B-41EE-955F-76727D83C738}">
      <dgm:prSet phldrT="[文本]" custT="1"/>
      <dgm:spPr>
        <a:solidFill>
          <a:schemeClr val="bg1"/>
        </a:solidFill>
        <a:ln>
          <a:solidFill>
            <a:srgbClr val="2F5597"/>
          </a:solidFill>
        </a:ln>
      </dgm:spPr>
      <dgm:t>
        <a:bodyPr/>
        <a:lstStyle/>
        <a:p>
          <a:r>
            <a:rPr lang="zh-CN" altLang="en-US" sz="2800" b="1" dirty="0">
              <a:solidFill>
                <a:srgbClr val="2F5597"/>
              </a:solidFill>
              <a:latin typeface="微软雅黑" panose="020B0503020204020204" pitchFamily="34" charset="-122"/>
              <a:ea typeface="微软雅黑" panose="020B0503020204020204" pitchFamily="34" charset="-122"/>
            </a:rPr>
            <a:t>多层结构的存储器系统</a:t>
          </a:r>
        </a:p>
      </dgm:t>
    </dgm:pt>
    <dgm:pt modelId="{110BBF70-FADB-416B-BA45-A6472ED1D786}" cxnId="{7A3FCAA2-B644-4A4A-AEBC-CDE3A4004478}" type="parTrans">
      <dgm:prSet/>
      <dgm:spPr/>
      <dgm:t>
        <a:bodyPr/>
        <a:lstStyle/>
        <a:p>
          <a:endParaRPr lang="zh-CN" altLang="en-US"/>
        </a:p>
      </dgm:t>
    </dgm:pt>
    <dgm:pt modelId="{5279F90E-BF5E-4F45-8EED-44C92A6235B8}" cxnId="{7A3FCAA2-B644-4A4A-AEBC-CDE3A4004478}" type="sibTrans">
      <dgm:prSet/>
      <dgm:spPr/>
      <dgm:t>
        <a:bodyPr/>
        <a:lstStyle/>
        <a:p>
          <a:endParaRPr lang="zh-CN" altLang="en-US"/>
        </a:p>
      </dgm:t>
    </dgm:pt>
    <dgm:pt modelId="{D986A5AC-0394-4960-BBD7-61458731D597}">
      <dgm:prSet phldrT="[文本]" custT="1"/>
      <dgm:spPr>
        <a:solidFill>
          <a:schemeClr val="bg1"/>
        </a:solidFill>
        <a:ln>
          <a:solidFill>
            <a:srgbClr val="2F5597"/>
          </a:solidFill>
        </a:ln>
      </dgm:spPr>
      <dgm:t>
        <a:bodyPr/>
        <a:lstStyle/>
        <a:p>
          <a:r>
            <a:rPr lang="zh-CN" altLang="en-US" sz="2800" b="1" dirty="0">
              <a:solidFill>
                <a:srgbClr val="2F5597"/>
              </a:solidFill>
              <a:latin typeface="微软雅黑" panose="020B0503020204020204" pitchFamily="34" charset="-122"/>
              <a:ea typeface="微软雅黑" panose="020B0503020204020204" pitchFamily="34" charset="-122"/>
            </a:rPr>
            <a:t>主存储器与寄存器</a:t>
          </a:r>
        </a:p>
      </dgm:t>
    </dgm:pt>
    <dgm:pt modelId="{C8EB2FA2-8D5F-4423-9B48-329DC05A96A3}" cxnId="{FF55DAA3-11A5-4E16-A878-C9C6E13B7CC5}" type="parTrans">
      <dgm:prSet/>
      <dgm:spPr/>
      <dgm:t>
        <a:bodyPr/>
        <a:lstStyle/>
        <a:p>
          <a:endParaRPr lang="zh-CN" altLang="en-US"/>
        </a:p>
      </dgm:t>
    </dgm:pt>
    <dgm:pt modelId="{D400AC84-EC54-4182-AC06-1F8BADDACF26}" cxnId="{FF55DAA3-11A5-4E16-A878-C9C6E13B7CC5}" type="sibTrans">
      <dgm:prSet/>
      <dgm:spPr/>
      <dgm:t>
        <a:bodyPr/>
        <a:lstStyle/>
        <a:p>
          <a:endParaRPr lang="zh-CN" altLang="en-US"/>
        </a:p>
      </dgm:t>
    </dgm:pt>
    <dgm:pt modelId="{CD7184A1-8949-49AD-8A6E-21E894E18139}">
      <dgm:prSet phldrT="[文本]" custT="1"/>
      <dgm:spPr>
        <a:solidFill>
          <a:schemeClr val="bg1"/>
        </a:solidFill>
        <a:ln>
          <a:solidFill>
            <a:srgbClr val="2F5597"/>
          </a:solidFill>
        </a:ln>
      </dgm:spPr>
      <dgm:t>
        <a:bodyPr/>
        <a:lstStyle/>
        <a:p>
          <a:pPr>
            <a:buClrTx/>
            <a:buSzTx/>
            <a:buFontTx/>
            <a:buNone/>
          </a:pPr>
          <a:r>
            <a:rPr kumimoji="1" lang="zh-CN" altLang="en-US" sz="2800" b="1" i="0" u="none" strike="noStrike"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高速缓存和磁盘缓存</a:t>
          </a:r>
          <a:endParaRPr lang="zh-CN" altLang="en-US" sz="2800" b="1" dirty="0">
            <a:solidFill>
              <a:srgbClr val="2F5597"/>
            </a:solidFill>
            <a:latin typeface="微软雅黑" panose="020B0503020204020204" pitchFamily="34" charset="-122"/>
            <a:ea typeface="微软雅黑" panose="020B0503020204020204" pitchFamily="34" charset="-122"/>
          </a:endParaRPr>
        </a:p>
      </dgm:t>
    </dgm:pt>
    <dgm:pt modelId="{B98A1A11-7EDB-47B7-890D-EC47E2947C60}" cxnId="{B92449C7-152B-4177-BFF1-483263370A82}" type="parTrans">
      <dgm:prSet/>
      <dgm:spPr/>
      <dgm:t>
        <a:bodyPr/>
        <a:lstStyle/>
        <a:p>
          <a:endParaRPr lang="zh-CN" altLang="en-US"/>
        </a:p>
      </dgm:t>
    </dgm:pt>
    <dgm:pt modelId="{BE275B7E-A86C-48CD-81E6-F39C749DC9AE}" cxnId="{B92449C7-152B-4177-BFF1-483263370A82}" type="sibTrans">
      <dgm:prSet/>
      <dgm:spPr/>
      <dgm:t>
        <a:bodyPr/>
        <a:lstStyle/>
        <a:p>
          <a:endParaRPr lang="zh-CN" altLang="en-US"/>
        </a:p>
      </dgm:t>
    </dgm:pt>
    <dgm:pt modelId="{F517AB00-573C-45CB-B4B8-17111068DCB6}" type="pres">
      <dgm:prSet presAssocID="{199054B8-D981-4F34-8C0E-06B9F3465F91}" presName="linear" presStyleCnt="0">
        <dgm:presLayoutVars>
          <dgm:dir/>
          <dgm:animLvl val="lvl"/>
          <dgm:resizeHandles val="exact"/>
        </dgm:presLayoutVars>
      </dgm:prSet>
      <dgm:spPr/>
    </dgm:pt>
    <dgm:pt modelId="{6ADFF888-FBC8-4D0C-9E8C-AC5DE90ADF91}" type="pres">
      <dgm:prSet presAssocID="{77613E4E-113B-41EE-955F-76727D83C738}" presName="parentLin" presStyleCnt="0"/>
      <dgm:spPr/>
    </dgm:pt>
    <dgm:pt modelId="{6E4C71DF-12E2-4A1E-AB5A-880743A5BA1C}" type="pres">
      <dgm:prSet presAssocID="{77613E4E-113B-41EE-955F-76727D83C738}" presName="parentLeftMargin" presStyleLbl="node1" presStyleIdx="0" presStyleCnt="3"/>
      <dgm:spPr/>
    </dgm:pt>
    <dgm:pt modelId="{2A7184BB-52DB-4C52-8420-130E9E3C13B2}" type="pres">
      <dgm:prSet presAssocID="{77613E4E-113B-41EE-955F-76727D83C738}" presName="parentText" presStyleLbl="node1" presStyleIdx="0" presStyleCnt="3">
        <dgm:presLayoutVars>
          <dgm:chMax val="0"/>
          <dgm:bulletEnabled val="1"/>
        </dgm:presLayoutVars>
      </dgm:prSet>
      <dgm:spPr/>
    </dgm:pt>
    <dgm:pt modelId="{CEFA1F0A-959C-49D7-A724-1A2F9AACEFCA}" type="pres">
      <dgm:prSet presAssocID="{77613E4E-113B-41EE-955F-76727D83C738}" presName="negativeSpace" presStyleCnt="0"/>
      <dgm:spPr/>
    </dgm:pt>
    <dgm:pt modelId="{AA9447A5-91BF-4C3A-B005-3C85857BAD48}" type="pres">
      <dgm:prSet presAssocID="{77613E4E-113B-41EE-955F-76727D83C738}" presName="childText" presStyleLbl="conFgAcc1" presStyleIdx="0" presStyleCnt="3">
        <dgm:presLayoutVars>
          <dgm:bulletEnabled val="1"/>
        </dgm:presLayoutVars>
      </dgm:prSet>
      <dgm:spPr>
        <a:solidFill>
          <a:srgbClr val="2F5597"/>
        </a:solidFill>
        <a:ln>
          <a:solidFill>
            <a:srgbClr val="2F5597"/>
          </a:solidFill>
        </a:ln>
      </dgm:spPr>
    </dgm:pt>
    <dgm:pt modelId="{78CE588C-AB0E-462C-B362-CC93FFF316DD}" type="pres">
      <dgm:prSet presAssocID="{5279F90E-BF5E-4F45-8EED-44C92A6235B8}" presName="spaceBetweenRectangles" presStyleCnt="0"/>
      <dgm:spPr/>
    </dgm:pt>
    <dgm:pt modelId="{864AB703-93AB-4564-BB94-650B75E0F024}" type="pres">
      <dgm:prSet presAssocID="{D986A5AC-0394-4960-BBD7-61458731D597}" presName="parentLin" presStyleCnt="0"/>
      <dgm:spPr/>
    </dgm:pt>
    <dgm:pt modelId="{A4C84834-11F2-47EB-BE01-7B57D7BD8767}" type="pres">
      <dgm:prSet presAssocID="{D986A5AC-0394-4960-BBD7-61458731D597}" presName="parentLeftMargin" presStyleLbl="node1" presStyleIdx="0" presStyleCnt="3"/>
      <dgm:spPr/>
    </dgm:pt>
    <dgm:pt modelId="{15929688-8977-4B27-ABE3-EF94CB5A721A}" type="pres">
      <dgm:prSet presAssocID="{D986A5AC-0394-4960-BBD7-61458731D597}" presName="parentText" presStyleLbl="node1" presStyleIdx="1" presStyleCnt="3">
        <dgm:presLayoutVars>
          <dgm:chMax val="0"/>
          <dgm:bulletEnabled val="1"/>
        </dgm:presLayoutVars>
      </dgm:prSet>
      <dgm:spPr/>
    </dgm:pt>
    <dgm:pt modelId="{BD8DF781-C145-419F-B3D3-2CAF9BFC05FE}" type="pres">
      <dgm:prSet presAssocID="{D986A5AC-0394-4960-BBD7-61458731D597}" presName="negativeSpace" presStyleCnt="0"/>
      <dgm:spPr/>
    </dgm:pt>
    <dgm:pt modelId="{4264AB04-445F-491A-B80F-245EF36125F9}" type="pres">
      <dgm:prSet presAssocID="{D986A5AC-0394-4960-BBD7-61458731D597}" presName="childText" presStyleLbl="conFgAcc1" presStyleIdx="1" presStyleCnt="3">
        <dgm:presLayoutVars>
          <dgm:bulletEnabled val="1"/>
        </dgm:presLayoutVars>
      </dgm:prSet>
      <dgm:spPr>
        <a:solidFill>
          <a:srgbClr val="2F5597"/>
        </a:solidFill>
        <a:ln>
          <a:solidFill>
            <a:srgbClr val="2F5597"/>
          </a:solidFill>
        </a:ln>
      </dgm:spPr>
    </dgm:pt>
    <dgm:pt modelId="{9F43C075-C62C-4597-8AE0-4EACC70A1839}" type="pres">
      <dgm:prSet presAssocID="{D400AC84-EC54-4182-AC06-1F8BADDACF26}" presName="spaceBetweenRectangles" presStyleCnt="0"/>
      <dgm:spPr/>
    </dgm:pt>
    <dgm:pt modelId="{4A4A8014-A30A-4039-BFA0-9DA2F6DEB0BA}" type="pres">
      <dgm:prSet presAssocID="{CD7184A1-8949-49AD-8A6E-21E894E18139}" presName="parentLin" presStyleCnt="0"/>
      <dgm:spPr/>
    </dgm:pt>
    <dgm:pt modelId="{E0E9F9C0-6106-48BE-8F8D-2C61257D4453}" type="pres">
      <dgm:prSet presAssocID="{CD7184A1-8949-49AD-8A6E-21E894E18139}" presName="parentLeftMargin" presStyleLbl="node1" presStyleIdx="1" presStyleCnt="3"/>
      <dgm:spPr/>
    </dgm:pt>
    <dgm:pt modelId="{CC263621-897E-4BCA-AE43-F3755E9C56BA}" type="pres">
      <dgm:prSet presAssocID="{CD7184A1-8949-49AD-8A6E-21E894E18139}" presName="parentText" presStyleLbl="node1" presStyleIdx="2" presStyleCnt="3">
        <dgm:presLayoutVars>
          <dgm:chMax val="0"/>
          <dgm:bulletEnabled val="1"/>
        </dgm:presLayoutVars>
      </dgm:prSet>
      <dgm:spPr/>
    </dgm:pt>
    <dgm:pt modelId="{C014ED6B-66F1-45C2-87FA-54CDDF0B51FF}" type="pres">
      <dgm:prSet presAssocID="{CD7184A1-8949-49AD-8A6E-21E894E18139}" presName="negativeSpace" presStyleCnt="0"/>
      <dgm:spPr/>
    </dgm:pt>
    <dgm:pt modelId="{1DC2861F-9B11-41DE-B4BA-FA2C673DEA93}" type="pres">
      <dgm:prSet presAssocID="{CD7184A1-8949-49AD-8A6E-21E894E18139}" presName="childText" presStyleLbl="conFgAcc1" presStyleIdx="2" presStyleCnt="3">
        <dgm:presLayoutVars>
          <dgm:bulletEnabled val="1"/>
        </dgm:presLayoutVars>
      </dgm:prSet>
      <dgm:spPr>
        <a:solidFill>
          <a:srgbClr val="2F5597"/>
        </a:solidFill>
        <a:ln>
          <a:solidFill>
            <a:srgbClr val="2F5597"/>
          </a:solidFill>
        </a:ln>
      </dgm:spPr>
    </dgm:pt>
  </dgm:ptLst>
  <dgm:cxnLst>
    <dgm:cxn modelId="{1130C915-BC78-43FE-8D0E-4D9BB7F75B8D}" type="presOf" srcId="{D986A5AC-0394-4960-BBD7-61458731D597}" destId="{15929688-8977-4B27-ABE3-EF94CB5A721A}" srcOrd="1" destOrd="0" presId="urn:microsoft.com/office/officeart/2005/8/layout/list1"/>
    <dgm:cxn modelId="{CA67E41C-7664-43C7-8B52-15D8B3D2248D}" type="presOf" srcId="{D986A5AC-0394-4960-BBD7-61458731D597}" destId="{A4C84834-11F2-47EB-BE01-7B57D7BD8767}" srcOrd="0" destOrd="0" presId="urn:microsoft.com/office/officeart/2005/8/layout/list1"/>
    <dgm:cxn modelId="{2C930678-A1DF-41C0-A930-6E6A13EF3800}" type="presOf" srcId="{77613E4E-113B-41EE-955F-76727D83C738}" destId="{6E4C71DF-12E2-4A1E-AB5A-880743A5BA1C}" srcOrd="0" destOrd="0" presId="urn:microsoft.com/office/officeart/2005/8/layout/list1"/>
    <dgm:cxn modelId="{4FC95C86-0421-48B7-9865-E445528DF130}" type="presOf" srcId="{77613E4E-113B-41EE-955F-76727D83C738}" destId="{2A7184BB-52DB-4C52-8420-130E9E3C13B2}" srcOrd="1" destOrd="0" presId="urn:microsoft.com/office/officeart/2005/8/layout/list1"/>
    <dgm:cxn modelId="{D6512D9D-6121-4935-8903-E29DE23E55CD}" type="presOf" srcId="{CD7184A1-8949-49AD-8A6E-21E894E18139}" destId="{E0E9F9C0-6106-48BE-8F8D-2C61257D4453}" srcOrd="0" destOrd="0" presId="urn:microsoft.com/office/officeart/2005/8/layout/list1"/>
    <dgm:cxn modelId="{7A3FCAA2-B644-4A4A-AEBC-CDE3A4004478}" srcId="{199054B8-D981-4F34-8C0E-06B9F3465F91}" destId="{77613E4E-113B-41EE-955F-76727D83C738}" srcOrd="0" destOrd="0" parTransId="{110BBF70-FADB-416B-BA45-A6472ED1D786}" sibTransId="{5279F90E-BF5E-4F45-8EED-44C92A6235B8}"/>
    <dgm:cxn modelId="{FF55DAA3-11A5-4E16-A878-C9C6E13B7CC5}" srcId="{199054B8-D981-4F34-8C0E-06B9F3465F91}" destId="{D986A5AC-0394-4960-BBD7-61458731D597}" srcOrd="1" destOrd="0" parTransId="{C8EB2FA2-8D5F-4423-9B48-329DC05A96A3}" sibTransId="{D400AC84-EC54-4182-AC06-1F8BADDACF26}"/>
    <dgm:cxn modelId="{583F13AF-3D78-427A-AA7A-DA79C9CB30FA}" type="presOf" srcId="{199054B8-D981-4F34-8C0E-06B9F3465F91}" destId="{F517AB00-573C-45CB-B4B8-17111068DCB6}" srcOrd="0" destOrd="0" presId="urn:microsoft.com/office/officeart/2005/8/layout/list1"/>
    <dgm:cxn modelId="{B92449C7-152B-4177-BFF1-483263370A82}" srcId="{199054B8-D981-4F34-8C0E-06B9F3465F91}" destId="{CD7184A1-8949-49AD-8A6E-21E894E18139}" srcOrd="2" destOrd="0" parTransId="{B98A1A11-7EDB-47B7-890D-EC47E2947C60}" sibTransId="{BE275B7E-A86C-48CD-81E6-F39C749DC9AE}"/>
    <dgm:cxn modelId="{987CEAE2-B589-4697-BC48-4B2FBF7CE85D}" type="presOf" srcId="{CD7184A1-8949-49AD-8A6E-21E894E18139}" destId="{CC263621-897E-4BCA-AE43-F3755E9C56BA}" srcOrd="1" destOrd="0" presId="urn:microsoft.com/office/officeart/2005/8/layout/list1"/>
    <dgm:cxn modelId="{E318EB89-2267-4519-B7EF-2DF666D87341}" type="presParOf" srcId="{F517AB00-573C-45CB-B4B8-17111068DCB6}" destId="{6ADFF888-FBC8-4D0C-9E8C-AC5DE90ADF91}" srcOrd="0" destOrd="0" presId="urn:microsoft.com/office/officeart/2005/8/layout/list1"/>
    <dgm:cxn modelId="{EC5B3CE0-914F-4BDD-95B8-43361A4D91A8}" type="presParOf" srcId="{6ADFF888-FBC8-4D0C-9E8C-AC5DE90ADF91}" destId="{6E4C71DF-12E2-4A1E-AB5A-880743A5BA1C}" srcOrd="0" destOrd="0" presId="urn:microsoft.com/office/officeart/2005/8/layout/list1"/>
    <dgm:cxn modelId="{8C455151-6C7C-4EEC-A1A9-F093EA419D2F}" type="presParOf" srcId="{6ADFF888-FBC8-4D0C-9E8C-AC5DE90ADF91}" destId="{2A7184BB-52DB-4C52-8420-130E9E3C13B2}" srcOrd="1" destOrd="0" presId="urn:microsoft.com/office/officeart/2005/8/layout/list1"/>
    <dgm:cxn modelId="{2A6B6383-CBFE-4E1B-A3FC-E6CC37CE9BFF}" type="presParOf" srcId="{F517AB00-573C-45CB-B4B8-17111068DCB6}" destId="{CEFA1F0A-959C-49D7-A724-1A2F9AACEFCA}" srcOrd="1" destOrd="0" presId="urn:microsoft.com/office/officeart/2005/8/layout/list1"/>
    <dgm:cxn modelId="{78489681-6E54-45D9-9D08-EB8E02636C9F}" type="presParOf" srcId="{F517AB00-573C-45CB-B4B8-17111068DCB6}" destId="{AA9447A5-91BF-4C3A-B005-3C85857BAD48}" srcOrd="2" destOrd="0" presId="urn:microsoft.com/office/officeart/2005/8/layout/list1"/>
    <dgm:cxn modelId="{20BA565C-4F60-4FEA-A5F2-0537F5E57674}" type="presParOf" srcId="{F517AB00-573C-45CB-B4B8-17111068DCB6}" destId="{78CE588C-AB0E-462C-B362-CC93FFF316DD}" srcOrd="3" destOrd="0" presId="urn:microsoft.com/office/officeart/2005/8/layout/list1"/>
    <dgm:cxn modelId="{80410AF6-1AF1-42A4-BC35-B5902D60EFB4}" type="presParOf" srcId="{F517AB00-573C-45CB-B4B8-17111068DCB6}" destId="{864AB703-93AB-4564-BB94-650B75E0F024}" srcOrd="4" destOrd="0" presId="urn:microsoft.com/office/officeart/2005/8/layout/list1"/>
    <dgm:cxn modelId="{8D2E27AA-DAA8-4E80-B8AB-6363FBF04C5D}" type="presParOf" srcId="{864AB703-93AB-4564-BB94-650B75E0F024}" destId="{A4C84834-11F2-47EB-BE01-7B57D7BD8767}" srcOrd="0" destOrd="0" presId="urn:microsoft.com/office/officeart/2005/8/layout/list1"/>
    <dgm:cxn modelId="{9A2DF823-1514-4FAE-8597-35E30C155237}" type="presParOf" srcId="{864AB703-93AB-4564-BB94-650B75E0F024}" destId="{15929688-8977-4B27-ABE3-EF94CB5A721A}" srcOrd="1" destOrd="0" presId="urn:microsoft.com/office/officeart/2005/8/layout/list1"/>
    <dgm:cxn modelId="{DA527ECE-BF16-43D7-A6C7-27BB5FF676C8}" type="presParOf" srcId="{F517AB00-573C-45CB-B4B8-17111068DCB6}" destId="{BD8DF781-C145-419F-B3D3-2CAF9BFC05FE}" srcOrd="5" destOrd="0" presId="urn:microsoft.com/office/officeart/2005/8/layout/list1"/>
    <dgm:cxn modelId="{B57F4FF3-5B96-40BB-9992-3E61C1ADE065}" type="presParOf" srcId="{F517AB00-573C-45CB-B4B8-17111068DCB6}" destId="{4264AB04-445F-491A-B80F-245EF36125F9}" srcOrd="6" destOrd="0" presId="urn:microsoft.com/office/officeart/2005/8/layout/list1"/>
    <dgm:cxn modelId="{433DC00E-E2D9-49C4-BBC0-EE968754FD91}" type="presParOf" srcId="{F517AB00-573C-45CB-B4B8-17111068DCB6}" destId="{9F43C075-C62C-4597-8AE0-4EACC70A1839}" srcOrd="7" destOrd="0" presId="urn:microsoft.com/office/officeart/2005/8/layout/list1"/>
    <dgm:cxn modelId="{49DB5FA4-CB38-4BA2-9731-30A4C57A6C97}" type="presParOf" srcId="{F517AB00-573C-45CB-B4B8-17111068DCB6}" destId="{4A4A8014-A30A-4039-BFA0-9DA2F6DEB0BA}" srcOrd="8" destOrd="0" presId="urn:microsoft.com/office/officeart/2005/8/layout/list1"/>
    <dgm:cxn modelId="{D73B3525-524B-47E1-B90F-3708E16CD7FC}" type="presParOf" srcId="{4A4A8014-A30A-4039-BFA0-9DA2F6DEB0BA}" destId="{E0E9F9C0-6106-48BE-8F8D-2C61257D4453}" srcOrd="0" destOrd="0" presId="urn:microsoft.com/office/officeart/2005/8/layout/list1"/>
    <dgm:cxn modelId="{7574F41B-F05F-434F-8876-AAA07F6AF08C}" type="presParOf" srcId="{4A4A8014-A30A-4039-BFA0-9DA2F6DEB0BA}" destId="{CC263621-897E-4BCA-AE43-F3755E9C56BA}" srcOrd="1" destOrd="0" presId="urn:microsoft.com/office/officeart/2005/8/layout/list1"/>
    <dgm:cxn modelId="{8327A461-103F-4B48-ACEF-3425891E90CC}" type="presParOf" srcId="{F517AB00-573C-45CB-B4B8-17111068DCB6}" destId="{C014ED6B-66F1-45C2-87FA-54CDDF0B51FF}" srcOrd="9" destOrd="0" presId="urn:microsoft.com/office/officeart/2005/8/layout/list1"/>
    <dgm:cxn modelId="{C602817F-C684-4807-BBE0-034B5DF897F1}" type="presParOf" srcId="{F517AB00-573C-45CB-B4B8-17111068DCB6}" destId="{1DC2861F-9B11-41DE-B4BA-FA2C673DEA93}"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D478015-E4AE-4E80-AF24-A2D21EDBC337}" type="doc">
      <dgm:prSet loTypeId="urn:microsoft.com/office/officeart/2005/8/layout/vList2#3" loCatId="list" qsTypeId="urn:microsoft.com/office/officeart/2005/8/quickstyle/simple1#9" qsCatId="simple" csTypeId="urn:microsoft.com/office/officeart/2005/8/colors/colorful1" csCatId="colorful" phldr="1"/>
      <dgm:spPr/>
      <dgm:t>
        <a:bodyPr/>
        <a:lstStyle/>
        <a:p>
          <a:endParaRPr lang="zh-CN" altLang="en-US"/>
        </a:p>
      </dgm:t>
    </dgm:pt>
    <dgm:pt modelId="{1AD147BB-ECCD-4AD6-B446-86EACD600D49}">
      <dgm:prSet custT="1"/>
      <dgm:spPr>
        <a:solidFill>
          <a:prstClr val="white"/>
        </a:solidFill>
        <a:ln w="12700" cap="flat" cmpd="sng" algn="ctr">
          <a:solidFill>
            <a:srgbClr val="2F5597"/>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srgbClr val="2F5597"/>
              </a:solidFill>
              <a:latin typeface="微软雅黑" panose="020B0503020204020204" pitchFamily="34" charset="-122"/>
              <a:ea typeface="微软雅黑" panose="020B0503020204020204" pitchFamily="34" charset="-122"/>
              <a:cs typeface="+mn-cs"/>
            </a:rPr>
            <a:t>程序的装入和链接</a:t>
          </a:r>
        </a:p>
      </dgm:t>
    </dgm:pt>
    <dgm:pt modelId="{24B51315-1B0B-4F79-AF5C-142DDE53554B}" cxnId="{5F278370-DC1B-43BD-9892-81A65D94011D}" type="parTrans">
      <dgm:prSet/>
      <dgm:spPr/>
      <dgm:t>
        <a:bodyPr/>
        <a:lstStyle/>
        <a:p>
          <a:endParaRPr lang="zh-CN" altLang="en-US"/>
        </a:p>
      </dgm:t>
    </dgm:pt>
    <dgm:pt modelId="{5B4E2F5C-B8A9-4CD3-A569-5BD69BDDBC7C}" cxnId="{5F278370-DC1B-43BD-9892-81A65D94011D}" type="sibTrans">
      <dgm:prSet/>
      <dgm:spPr/>
      <dgm:t>
        <a:bodyPr/>
        <a:lstStyle/>
        <a:p>
          <a:endParaRPr lang="zh-CN" altLang="en-US"/>
        </a:p>
      </dgm:t>
    </dgm:pt>
    <dgm:pt modelId="{FB4DF201-843C-4B73-8F0D-51E31B0DA051}">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连续分配存储管理方式</a:t>
          </a:r>
        </a:p>
      </dgm:t>
    </dgm:pt>
    <dgm:pt modelId="{A92B47A3-4B1B-4DBF-9C8F-53BB89C57576}" cxnId="{3A912073-6D15-4AEB-8B4D-8AF24F204D31}" type="parTrans">
      <dgm:prSet/>
      <dgm:spPr/>
      <dgm:t>
        <a:bodyPr/>
        <a:lstStyle/>
        <a:p>
          <a:endParaRPr lang="zh-CN" altLang="en-US"/>
        </a:p>
      </dgm:t>
    </dgm:pt>
    <dgm:pt modelId="{2F98E893-B11C-4A3D-8B25-F80E13394A80}" cxnId="{3A912073-6D15-4AEB-8B4D-8AF24F204D31}" type="sibTrans">
      <dgm:prSet/>
      <dgm:spPr/>
      <dgm:t>
        <a:bodyPr/>
        <a:lstStyle/>
        <a:p>
          <a:endParaRPr lang="zh-CN" altLang="en-US"/>
        </a:p>
      </dgm:t>
    </dgm:pt>
    <dgm:pt modelId="{431842DA-C10C-4F00-A8FF-38F36FAA3318}">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对换（</a:t>
          </a:r>
          <a:r>
            <a:rPr lang="en-US" altLang="zh-CN" sz="3200" b="1" kern="1200" dirty="0">
              <a:latin typeface="微软雅黑" panose="020B0503020204020204" pitchFamily="34" charset="-122"/>
              <a:ea typeface="微软雅黑" panose="020B0503020204020204" pitchFamily="34" charset="-122"/>
              <a:cs typeface="+mn-cs"/>
            </a:rPr>
            <a:t>Swapping</a:t>
          </a:r>
          <a:r>
            <a:rPr lang="zh-CN" altLang="en-US" sz="3200" b="1" kern="1200" dirty="0">
              <a:latin typeface="微软雅黑" panose="020B0503020204020204" pitchFamily="34" charset="-122"/>
              <a:ea typeface="微软雅黑" panose="020B0503020204020204" pitchFamily="34" charset="-122"/>
              <a:cs typeface="+mn-cs"/>
            </a:rPr>
            <a:t>）</a:t>
          </a:r>
        </a:p>
      </dgm:t>
    </dgm:pt>
    <dgm:pt modelId="{BE0C0096-21E5-4052-9490-5A12F6133583}" cxnId="{B259F718-CCD2-4763-8869-C91BB99F2806}" type="parTrans">
      <dgm:prSet/>
      <dgm:spPr/>
      <dgm:t>
        <a:bodyPr/>
        <a:lstStyle/>
        <a:p>
          <a:endParaRPr lang="zh-CN" altLang="en-US"/>
        </a:p>
      </dgm:t>
    </dgm:pt>
    <dgm:pt modelId="{E216F8AC-76D1-45A8-B317-CA0BB7ACCF2F}" cxnId="{B259F718-CCD2-4763-8869-C91BB99F2806}" type="sibTrans">
      <dgm:prSet/>
      <dgm:spPr/>
      <dgm:t>
        <a:bodyPr/>
        <a:lstStyle/>
        <a:p>
          <a:endParaRPr lang="zh-CN" altLang="en-US"/>
        </a:p>
      </dgm:t>
    </dgm:pt>
    <dgm:pt modelId="{C73CA419-B308-4FEC-BB9F-9EA192EABD32}">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分页存储管理方式</a:t>
          </a:r>
        </a:p>
      </dgm:t>
    </dgm:pt>
    <dgm:pt modelId="{65E10C13-A8E5-4B34-A00E-314FD6825CE3}" cxnId="{C3B1DB02-AF7B-46ED-88D3-4391098D3645}" type="parTrans">
      <dgm:prSet/>
      <dgm:spPr/>
      <dgm:t>
        <a:bodyPr/>
        <a:lstStyle/>
        <a:p>
          <a:endParaRPr lang="zh-CN" altLang="en-US"/>
        </a:p>
      </dgm:t>
    </dgm:pt>
    <dgm:pt modelId="{2A989A88-5D37-47D6-AA7A-31CB121F721E}" cxnId="{C3B1DB02-AF7B-46ED-88D3-4391098D3645}" type="sibTrans">
      <dgm:prSet/>
      <dgm:spPr/>
      <dgm:t>
        <a:bodyPr/>
        <a:lstStyle/>
        <a:p>
          <a:endParaRPr lang="zh-CN" altLang="en-US"/>
        </a:p>
      </dgm:t>
    </dgm:pt>
    <dgm:pt modelId="{D33436B3-0B13-4F32-9190-BCCD9B53E797}">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分段存储管理方式</a:t>
          </a:r>
        </a:p>
      </dgm:t>
    </dgm:pt>
    <dgm:pt modelId="{AC01A53B-906E-4AA6-8ADB-FD0A506CF275}" cxnId="{745844F4-E7BF-49A0-BF39-85F379FE92AE}" type="parTrans">
      <dgm:prSet/>
      <dgm:spPr/>
      <dgm:t>
        <a:bodyPr/>
        <a:lstStyle/>
        <a:p>
          <a:endParaRPr lang="zh-CN" altLang="en-US"/>
        </a:p>
      </dgm:t>
    </dgm:pt>
    <dgm:pt modelId="{F66FA5A6-3FD2-4AA2-B7BC-F2DBFF7EAEEC}" cxnId="{745844F4-E7BF-49A0-BF39-85F379FE92AE}" type="sibTrans">
      <dgm:prSet/>
      <dgm:spPr/>
      <dgm:t>
        <a:bodyPr/>
        <a:lstStyle/>
        <a:p>
          <a:endParaRPr lang="zh-CN" altLang="en-US"/>
        </a:p>
      </dgm:t>
    </dgm:pt>
    <dgm:pt modelId="{35EEBC4D-253C-40B6-A38D-5C4AE37EE567}">
      <dgm:prSet phldrT="[文本]" custT="1"/>
      <dgm:spPr>
        <a:solidFill>
          <a:srgbClr val="4472C4">
            <a:lumMod val="75000"/>
          </a:srgbClr>
        </a:solidFill>
        <a:ln w="12700" cap="flat" cmpd="sng" algn="ctr">
          <a:solidFill>
            <a:prstClr val="white">
              <a:hueOff val="0"/>
              <a:satOff val="0"/>
              <a:lumOff val="0"/>
              <a:alphaOff val="0"/>
            </a:prstClr>
          </a:solidFill>
          <a:prstDash val="solid"/>
          <a:miter lim="800000"/>
        </a:ln>
        <a:effectLst/>
      </dgm:spPr>
      <dgm:t>
        <a:bodyPr spcFirstLastPara="0" vert="horz" wrap="square" lIns="121920" tIns="121920" rIns="121920" bIns="121920" numCol="1" spcCol="1270" anchor="ctr" anchorCtr="0"/>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    存储器的层次结构</a:t>
          </a:r>
        </a:p>
      </dgm:t>
    </dgm:pt>
    <dgm:pt modelId="{0DB1FB0F-E3E4-4EE8-BE91-04D430FB4DFF}" cxnId="{9856D63F-2B56-415E-A2DB-CDD8C4B129D4}" type="parTrans">
      <dgm:prSet/>
      <dgm:spPr/>
      <dgm:t>
        <a:bodyPr/>
        <a:lstStyle/>
        <a:p>
          <a:endParaRPr lang="zh-CN" altLang="en-US"/>
        </a:p>
      </dgm:t>
    </dgm:pt>
    <dgm:pt modelId="{B0B98F56-42B7-4EC3-89A0-35E375E90921}" cxnId="{9856D63F-2B56-415E-A2DB-CDD8C4B129D4}" type="sibTrans">
      <dgm:prSet/>
      <dgm:spPr/>
      <dgm:t>
        <a:bodyPr/>
        <a:lstStyle/>
        <a:p>
          <a:endParaRPr lang="zh-CN" altLang="en-US"/>
        </a:p>
      </dgm:t>
    </dgm:pt>
    <dgm:pt modelId="{CAF4CC0F-3782-4F8A-B74F-8D8B3539C608}" type="pres">
      <dgm:prSet presAssocID="{FD478015-E4AE-4E80-AF24-A2D21EDBC337}" presName="linear" presStyleCnt="0">
        <dgm:presLayoutVars>
          <dgm:animLvl val="lvl"/>
          <dgm:resizeHandles val="exact"/>
        </dgm:presLayoutVars>
      </dgm:prSet>
      <dgm:spPr/>
    </dgm:pt>
    <dgm:pt modelId="{D2030072-27AD-406A-84AE-0966EE003465}" type="pres">
      <dgm:prSet presAssocID="{35EEBC4D-253C-40B6-A38D-5C4AE37EE567}" presName="parentText" presStyleLbl="node1" presStyleIdx="0" presStyleCnt="6" custLinFactNeighborX="302">
        <dgm:presLayoutVars>
          <dgm:chMax val="0"/>
          <dgm:bulletEnabled val="1"/>
        </dgm:presLayoutVars>
      </dgm:prSet>
      <dgm:spPr>
        <a:xfrm>
          <a:off x="0" y="1984"/>
          <a:ext cx="7335520" cy="925494"/>
        </a:xfrm>
        <a:prstGeom prst="roundRect">
          <a:avLst/>
        </a:prstGeom>
      </dgm:spPr>
    </dgm:pt>
    <dgm:pt modelId="{33C3C1E0-101A-4178-BBFF-A4AEF9F3C3AF}" type="pres">
      <dgm:prSet presAssocID="{B0B98F56-42B7-4EC3-89A0-35E375E90921}" presName="spacer" presStyleCnt="0"/>
      <dgm:spPr/>
    </dgm:pt>
    <dgm:pt modelId="{9D955F22-870E-4516-9F36-BFA399447422}" type="pres">
      <dgm:prSet presAssocID="{1AD147BB-ECCD-4AD6-B446-86EACD600D49}" presName="parentText" presStyleLbl="node1" presStyleIdx="1" presStyleCnt="6">
        <dgm:presLayoutVars>
          <dgm:chMax val="0"/>
          <dgm:bulletEnabled val="1"/>
        </dgm:presLayoutVars>
      </dgm:prSet>
      <dgm:spPr>
        <a:xfrm>
          <a:off x="0" y="941640"/>
          <a:ext cx="7335520" cy="925494"/>
        </a:xfrm>
        <a:prstGeom prst="roundRect">
          <a:avLst/>
        </a:prstGeom>
      </dgm:spPr>
    </dgm:pt>
    <dgm:pt modelId="{2FE02930-3677-461D-B85E-26435DB47E7B}" type="pres">
      <dgm:prSet presAssocID="{5B4E2F5C-B8A9-4CD3-A569-5BD69BDDBC7C}" presName="spacer" presStyleCnt="0"/>
      <dgm:spPr/>
    </dgm:pt>
    <dgm:pt modelId="{6F219609-DD04-44CD-8464-34C16D707E20}" type="pres">
      <dgm:prSet presAssocID="{FB4DF201-843C-4B73-8F0D-51E31B0DA051}" presName="parentText" presStyleLbl="node1" presStyleIdx="2" presStyleCnt="6">
        <dgm:presLayoutVars>
          <dgm:chMax val="0"/>
          <dgm:bulletEnabled val="1"/>
        </dgm:presLayoutVars>
      </dgm:prSet>
      <dgm:spPr/>
    </dgm:pt>
    <dgm:pt modelId="{9272CB60-3011-4C5D-858C-13AA8841EE96}" type="pres">
      <dgm:prSet presAssocID="{2F98E893-B11C-4A3D-8B25-F80E13394A80}" presName="spacer" presStyleCnt="0"/>
      <dgm:spPr/>
    </dgm:pt>
    <dgm:pt modelId="{E55D7849-AFAE-4859-9368-B9591CC879BF}" type="pres">
      <dgm:prSet presAssocID="{431842DA-C10C-4F00-A8FF-38F36FAA3318}" presName="parentText" presStyleLbl="node1" presStyleIdx="3" presStyleCnt="6">
        <dgm:presLayoutVars>
          <dgm:chMax val="0"/>
          <dgm:bulletEnabled val="1"/>
        </dgm:presLayoutVars>
      </dgm:prSet>
      <dgm:spPr/>
    </dgm:pt>
    <dgm:pt modelId="{5328934A-E02D-471D-B63A-84F222434C14}" type="pres">
      <dgm:prSet presAssocID="{E216F8AC-76D1-45A8-B317-CA0BB7ACCF2F}" presName="spacer" presStyleCnt="0"/>
      <dgm:spPr/>
    </dgm:pt>
    <dgm:pt modelId="{232815BA-619A-4614-9627-2F42AED66E49}" type="pres">
      <dgm:prSet presAssocID="{C73CA419-B308-4FEC-BB9F-9EA192EABD32}" presName="parentText" presStyleLbl="node1" presStyleIdx="4" presStyleCnt="6">
        <dgm:presLayoutVars>
          <dgm:chMax val="0"/>
          <dgm:bulletEnabled val="1"/>
        </dgm:presLayoutVars>
      </dgm:prSet>
      <dgm:spPr/>
    </dgm:pt>
    <dgm:pt modelId="{83DB15C9-6AFA-448B-B9A6-828601D1C86B}" type="pres">
      <dgm:prSet presAssocID="{2A989A88-5D37-47D6-AA7A-31CB121F721E}" presName="spacer" presStyleCnt="0"/>
      <dgm:spPr/>
    </dgm:pt>
    <dgm:pt modelId="{E0DD0EBA-5357-496A-800C-A32E8C411ACA}" type="pres">
      <dgm:prSet presAssocID="{D33436B3-0B13-4F32-9190-BCCD9B53E797}" presName="parentText" presStyleLbl="node1" presStyleIdx="5" presStyleCnt="6">
        <dgm:presLayoutVars>
          <dgm:chMax val="0"/>
          <dgm:bulletEnabled val="1"/>
        </dgm:presLayoutVars>
      </dgm:prSet>
      <dgm:spPr/>
    </dgm:pt>
  </dgm:ptLst>
  <dgm:cxnLst>
    <dgm:cxn modelId="{C3B1DB02-AF7B-46ED-88D3-4391098D3645}" srcId="{FD478015-E4AE-4E80-AF24-A2D21EDBC337}" destId="{C73CA419-B308-4FEC-BB9F-9EA192EABD32}" srcOrd="4" destOrd="0" parTransId="{65E10C13-A8E5-4B34-A00E-314FD6825CE3}" sibTransId="{2A989A88-5D37-47D6-AA7A-31CB121F721E}"/>
    <dgm:cxn modelId="{B259F718-CCD2-4763-8869-C91BB99F2806}" srcId="{FD478015-E4AE-4E80-AF24-A2D21EDBC337}" destId="{431842DA-C10C-4F00-A8FF-38F36FAA3318}" srcOrd="3" destOrd="0" parTransId="{BE0C0096-21E5-4052-9490-5A12F6133583}" sibTransId="{E216F8AC-76D1-45A8-B317-CA0BB7ACCF2F}"/>
    <dgm:cxn modelId="{F6093220-A59C-4747-94B3-D08D43D6DC4F}" type="presOf" srcId="{C73CA419-B308-4FEC-BB9F-9EA192EABD32}" destId="{232815BA-619A-4614-9627-2F42AED66E49}" srcOrd="0" destOrd="0" presId="urn:microsoft.com/office/officeart/2005/8/layout/vList2#3"/>
    <dgm:cxn modelId="{9856D63F-2B56-415E-A2DB-CDD8C4B129D4}" srcId="{FD478015-E4AE-4E80-AF24-A2D21EDBC337}" destId="{35EEBC4D-253C-40B6-A38D-5C4AE37EE567}" srcOrd="0" destOrd="0" parTransId="{0DB1FB0F-E3E4-4EE8-BE91-04D430FB4DFF}" sibTransId="{B0B98F56-42B7-4EC3-89A0-35E375E90921}"/>
    <dgm:cxn modelId="{47913864-5C95-4FF0-B0F7-9073254BD915}" type="presOf" srcId="{D33436B3-0B13-4F32-9190-BCCD9B53E797}" destId="{E0DD0EBA-5357-496A-800C-A32E8C411ACA}" srcOrd="0" destOrd="0" presId="urn:microsoft.com/office/officeart/2005/8/layout/vList2#3"/>
    <dgm:cxn modelId="{5F278370-DC1B-43BD-9892-81A65D94011D}" srcId="{FD478015-E4AE-4E80-AF24-A2D21EDBC337}" destId="{1AD147BB-ECCD-4AD6-B446-86EACD600D49}" srcOrd="1" destOrd="0" parTransId="{24B51315-1B0B-4F79-AF5C-142DDE53554B}" sibTransId="{5B4E2F5C-B8A9-4CD3-A569-5BD69BDDBC7C}"/>
    <dgm:cxn modelId="{3A912073-6D15-4AEB-8B4D-8AF24F204D31}" srcId="{FD478015-E4AE-4E80-AF24-A2D21EDBC337}" destId="{FB4DF201-843C-4B73-8F0D-51E31B0DA051}" srcOrd="2" destOrd="0" parTransId="{A92B47A3-4B1B-4DBF-9C8F-53BB89C57576}" sibTransId="{2F98E893-B11C-4A3D-8B25-F80E13394A80}"/>
    <dgm:cxn modelId="{0EE7279D-E2D8-4B05-B360-85836C646924}" type="presOf" srcId="{FB4DF201-843C-4B73-8F0D-51E31B0DA051}" destId="{6F219609-DD04-44CD-8464-34C16D707E20}" srcOrd="0" destOrd="0" presId="urn:microsoft.com/office/officeart/2005/8/layout/vList2#3"/>
    <dgm:cxn modelId="{0C1117A7-0AC5-4EAB-B05D-7173F3A0BDCC}" type="presOf" srcId="{431842DA-C10C-4F00-A8FF-38F36FAA3318}" destId="{E55D7849-AFAE-4859-9368-B9591CC879BF}" srcOrd="0" destOrd="0" presId="urn:microsoft.com/office/officeart/2005/8/layout/vList2#3"/>
    <dgm:cxn modelId="{9A130AB1-2B40-4346-9B26-8C8E5C643B8B}" type="presOf" srcId="{35EEBC4D-253C-40B6-A38D-5C4AE37EE567}" destId="{D2030072-27AD-406A-84AE-0966EE003465}" srcOrd="0" destOrd="0" presId="urn:microsoft.com/office/officeart/2005/8/layout/vList2#3"/>
    <dgm:cxn modelId="{1B1C5DBB-7600-4413-8610-830CC47E1FC6}" type="presOf" srcId="{FD478015-E4AE-4E80-AF24-A2D21EDBC337}" destId="{CAF4CC0F-3782-4F8A-B74F-8D8B3539C608}" srcOrd="0" destOrd="0" presId="urn:microsoft.com/office/officeart/2005/8/layout/vList2#3"/>
    <dgm:cxn modelId="{FAB6C7CD-8F5F-48EC-8259-EB14715353D1}" type="presOf" srcId="{1AD147BB-ECCD-4AD6-B446-86EACD600D49}" destId="{9D955F22-870E-4516-9F36-BFA399447422}" srcOrd="0" destOrd="0" presId="urn:microsoft.com/office/officeart/2005/8/layout/vList2#3"/>
    <dgm:cxn modelId="{745844F4-E7BF-49A0-BF39-85F379FE92AE}" srcId="{FD478015-E4AE-4E80-AF24-A2D21EDBC337}" destId="{D33436B3-0B13-4F32-9190-BCCD9B53E797}" srcOrd="5" destOrd="0" parTransId="{AC01A53B-906E-4AA6-8ADB-FD0A506CF275}" sibTransId="{F66FA5A6-3FD2-4AA2-B7BC-F2DBFF7EAEEC}"/>
    <dgm:cxn modelId="{359E1A13-5AFA-4975-8EC1-F22471D4C607}" type="presParOf" srcId="{CAF4CC0F-3782-4F8A-B74F-8D8B3539C608}" destId="{D2030072-27AD-406A-84AE-0966EE003465}" srcOrd="0" destOrd="0" presId="urn:microsoft.com/office/officeart/2005/8/layout/vList2#3"/>
    <dgm:cxn modelId="{336067B4-8699-444C-9E1D-0470951F2E67}" type="presParOf" srcId="{CAF4CC0F-3782-4F8A-B74F-8D8B3539C608}" destId="{33C3C1E0-101A-4178-BBFF-A4AEF9F3C3AF}" srcOrd="1" destOrd="0" presId="urn:microsoft.com/office/officeart/2005/8/layout/vList2#3"/>
    <dgm:cxn modelId="{C8306F97-005B-434A-82B8-FACA2CAB4B24}" type="presParOf" srcId="{CAF4CC0F-3782-4F8A-B74F-8D8B3539C608}" destId="{9D955F22-870E-4516-9F36-BFA399447422}" srcOrd="2" destOrd="0" presId="urn:microsoft.com/office/officeart/2005/8/layout/vList2#3"/>
    <dgm:cxn modelId="{73FF7D11-26A8-4488-9DD3-A45E8E60BF84}" type="presParOf" srcId="{CAF4CC0F-3782-4F8A-B74F-8D8B3539C608}" destId="{2FE02930-3677-461D-B85E-26435DB47E7B}" srcOrd="3" destOrd="0" presId="urn:microsoft.com/office/officeart/2005/8/layout/vList2#3"/>
    <dgm:cxn modelId="{6716DD35-687D-482F-A498-BD13972F127F}" type="presParOf" srcId="{CAF4CC0F-3782-4F8A-B74F-8D8B3539C608}" destId="{6F219609-DD04-44CD-8464-34C16D707E20}" srcOrd="4" destOrd="0" presId="urn:microsoft.com/office/officeart/2005/8/layout/vList2#3"/>
    <dgm:cxn modelId="{F4402D62-DD80-44A6-AC6D-E0D6DDC2F5A5}" type="presParOf" srcId="{CAF4CC0F-3782-4F8A-B74F-8D8B3539C608}" destId="{9272CB60-3011-4C5D-858C-13AA8841EE96}" srcOrd="5" destOrd="0" presId="urn:microsoft.com/office/officeart/2005/8/layout/vList2#3"/>
    <dgm:cxn modelId="{4F7DC1B6-360F-4C01-92F5-E6CCFA2494DA}" type="presParOf" srcId="{CAF4CC0F-3782-4F8A-B74F-8D8B3539C608}" destId="{E55D7849-AFAE-4859-9368-B9591CC879BF}" srcOrd="6" destOrd="0" presId="urn:microsoft.com/office/officeart/2005/8/layout/vList2#3"/>
    <dgm:cxn modelId="{B8754C1D-3232-4060-8594-0169340183C2}" type="presParOf" srcId="{CAF4CC0F-3782-4F8A-B74F-8D8B3539C608}" destId="{5328934A-E02D-471D-B63A-84F222434C14}" srcOrd="7" destOrd="0" presId="urn:microsoft.com/office/officeart/2005/8/layout/vList2#3"/>
    <dgm:cxn modelId="{8BC2684A-B71C-4260-97AE-6041099325AF}" type="presParOf" srcId="{CAF4CC0F-3782-4F8A-B74F-8D8B3539C608}" destId="{232815BA-619A-4614-9627-2F42AED66E49}" srcOrd="8" destOrd="0" presId="urn:microsoft.com/office/officeart/2005/8/layout/vList2#3"/>
    <dgm:cxn modelId="{657990C9-6A12-4CC3-8E37-E3F21C779D2B}" type="presParOf" srcId="{CAF4CC0F-3782-4F8A-B74F-8D8B3539C608}" destId="{83DB15C9-6AFA-448B-B9A6-828601D1C86B}" srcOrd="9" destOrd="0" presId="urn:microsoft.com/office/officeart/2005/8/layout/vList2#3"/>
    <dgm:cxn modelId="{726CE9CC-BF12-4531-9946-2F40C39DE838}" type="presParOf" srcId="{CAF4CC0F-3782-4F8A-B74F-8D8B3539C608}" destId="{E0DD0EBA-5357-496A-800C-A32E8C411ACA}" srcOrd="10" destOrd="0" presId="urn:microsoft.com/office/officeart/2005/8/layout/vList2#3"/>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99054B8-D981-4F34-8C0E-06B9F3465F9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77613E4E-113B-41EE-955F-76727D83C738}">
      <dgm:prSet phldrT="[文本]" custT="1"/>
      <dgm:spPr>
        <a:solidFill>
          <a:schemeClr val="bg1"/>
        </a:solidFill>
        <a:ln>
          <a:solidFill>
            <a:srgbClr val="2F5597"/>
          </a:solidFill>
        </a:ln>
      </dgm:spPr>
      <dgm:t>
        <a:bodyPr/>
        <a:lstStyle/>
        <a:p>
          <a:r>
            <a:rPr lang="zh-CN" altLang="en-US" sz="2800" b="1" dirty="0">
              <a:solidFill>
                <a:srgbClr val="2F5597"/>
              </a:solidFill>
              <a:latin typeface="微软雅黑" panose="020B0503020204020204" pitchFamily="34" charset="-122"/>
              <a:ea typeface="微软雅黑" panose="020B0503020204020204" pitchFamily="34" charset="-122"/>
            </a:rPr>
            <a:t>程序的装入</a:t>
          </a:r>
        </a:p>
      </dgm:t>
    </dgm:pt>
    <dgm:pt modelId="{110BBF70-FADB-416B-BA45-A6472ED1D786}" cxnId="{7A3FCAA2-B644-4A4A-AEBC-CDE3A4004478}" type="parTrans">
      <dgm:prSet/>
      <dgm:spPr/>
      <dgm:t>
        <a:bodyPr/>
        <a:lstStyle/>
        <a:p>
          <a:endParaRPr lang="zh-CN" altLang="en-US"/>
        </a:p>
      </dgm:t>
    </dgm:pt>
    <dgm:pt modelId="{5279F90E-BF5E-4F45-8EED-44C92A6235B8}" cxnId="{7A3FCAA2-B644-4A4A-AEBC-CDE3A4004478}" type="sibTrans">
      <dgm:prSet/>
      <dgm:spPr/>
      <dgm:t>
        <a:bodyPr/>
        <a:lstStyle/>
        <a:p>
          <a:endParaRPr lang="zh-CN" altLang="en-US"/>
        </a:p>
      </dgm:t>
    </dgm:pt>
    <dgm:pt modelId="{9ADBB631-676F-4261-88B3-80F5F1008477}">
      <dgm:prSet phldrT="[文本]" custT="1"/>
      <dgm:spPr>
        <a:solidFill>
          <a:schemeClr val="bg1"/>
        </a:solidFill>
        <a:ln>
          <a:solidFill>
            <a:srgbClr val="2F5597"/>
          </a:solidFill>
        </a:ln>
      </dgm:spPr>
      <dgm:t>
        <a:bodyPr/>
        <a:lstStyle/>
        <a:p>
          <a:r>
            <a:rPr lang="zh-CN" altLang="en-US" sz="2800" b="1" dirty="0">
              <a:solidFill>
                <a:srgbClr val="2F5597"/>
              </a:solidFill>
              <a:latin typeface="微软雅黑" panose="020B0503020204020204" pitchFamily="34" charset="-122"/>
              <a:ea typeface="微软雅黑" panose="020B0503020204020204" pitchFamily="34" charset="-122"/>
            </a:rPr>
            <a:t>程序的链接</a:t>
          </a:r>
        </a:p>
      </dgm:t>
    </dgm:pt>
    <dgm:pt modelId="{9444C5A6-A8FE-4F9A-8B20-04C4D8EFE809}" cxnId="{520A475D-54EF-4676-B34E-38F268214A9A}" type="parTrans">
      <dgm:prSet/>
      <dgm:spPr/>
      <dgm:t>
        <a:bodyPr/>
        <a:lstStyle/>
        <a:p>
          <a:endParaRPr lang="zh-CN" altLang="en-US"/>
        </a:p>
      </dgm:t>
    </dgm:pt>
    <dgm:pt modelId="{0A3FCB30-4859-4D85-B730-8EE7904B8239}" cxnId="{520A475D-54EF-4676-B34E-38F268214A9A}" type="sibTrans">
      <dgm:prSet/>
      <dgm:spPr/>
      <dgm:t>
        <a:bodyPr/>
        <a:lstStyle/>
        <a:p>
          <a:endParaRPr lang="zh-CN" altLang="en-US"/>
        </a:p>
      </dgm:t>
    </dgm:pt>
    <dgm:pt modelId="{F517AB00-573C-45CB-B4B8-17111068DCB6}" type="pres">
      <dgm:prSet presAssocID="{199054B8-D981-4F34-8C0E-06B9F3465F91}" presName="linear" presStyleCnt="0">
        <dgm:presLayoutVars>
          <dgm:dir/>
          <dgm:animLvl val="lvl"/>
          <dgm:resizeHandles val="exact"/>
        </dgm:presLayoutVars>
      </dgm:prSet>
      <dgm:spPr/>
    </dgm:pt>
    <dgm:pt modelId="{6ADFF888-FBC8-4D0C-9E8C-AC5DE90ADF91}" type="pres">
      <dgm:prSet presAssocID="{77613E4E-113B-41EE-955F-76727D83C738}" presName="parentLin" presStyleCnt="0"/>
      <dgm:spPr/>
    </dgm:pt>
    <dgm:pt modelId="{6E4C71DF-12E2-4A1E-AB5A-880743A5BA1C}" type="pres">
      <dgm:prSet presAssocID="{77613E4E-113B-41EE-955F-76727D83C738}" presName="parentLeftMargin" presStyleLbl="node1" presStyleIdx="0" presStyleCnt="2"/>
      <dgm:spPr/>
    </dgm:pt>
    <dgm:pt modelId="{2A7184BB-52DB-4C52-8420-130E9E3C13B2}" type="pres">
      <dgm:prSet presAssocID="{77613E4E-113B-41EE-955F-76727D83C738}" presName="parentText" presStyleLbl="node1" presStyleIdx="0" presStyleCnt="2">
        <dgm:presLayoutVars>
          <dgm:chMax val="0"/>
          <dgm:bulletEnabled val="1"/>
        </dgm:presLayoutVars>
      </dgm:prSet>
      <dgm:spPr/>
    </dgm:pt>
    <dgm:pt modelId="{CEFA1F0A-959C-49D7-A724-1A2F9AACEFCA}" type="pres">
      <dgm:prSet presAssocID="{77613E4E-113B-41EE-955F-76727D83C738}" presName="negativeSpace" presStyleCnt="0"/>
      <dgm:spPr/>
    </dgm:pt>
    <dgm:pt modelId="{AA9447A5-91BF-4C3A-B005-3C85857BAD48}" type="pres">
      <dgm:prSet presAssocID="{77613E4E-113B-41EE-955F-76727D83C738}" presName="childText" presStyleLbl="conFgAcc1" presStyleIdx="0" presStyleCnt="2">
        <dgm:presLayoutVars>
          <dgm:bulletEnabled val="1"/>
        </dgm:presLayoutVars>
      </dgm:prSet>
      <dgm:spPr>
        <a:solidFill>
          <a:srgbClr val="2F5597"/>
        </a:solidFill>
        <a:ln>
          <a:solidFill>
            <a:srgbClr val="2F5597"/>
          </a:solidFill>
        </a:ln>
      </dgm:spPr>
    </dgm:pt>
    <dgm:pt modelId="{78CE588C-AB0E-462C-B362-CC93FFF316DD}" type="pres">
      <dgm:prSet presAssocID="{5279F90E-BF5E-4F45-8EED-44C92A6235B8}" presName="spaceBetweenRectangles" presStyleCnt="0"/>
      <dgm:spPr/>
    </dgm:pt>
    <dgm:pt modelId="{71F487BD-1FDD-4C0B-B56B-72BCD28DA7AE}" type="pres">
      <dgm:prSet presAssocID="{9ADBB631-676F-4261-88B3-80F5F1008477}" presName="parentLin" presStyleCnt="0"/>
      <dgm:spPr/>
    </dgm:pt>
    <dgm:pt modelId="{69D82A1C-B929-417F-A410-5C7F982A7C39}" type="pres">
      <dgm:prSet presAssocID="{9ADBB631-676F-4261-88B3-80F5F1008477}" presName="parentLeftMargin" presStyleLbl="node1" presStyleIdx="0" presStyleCnt="2"/>
      <dgm:spPr/>
    </dgm:pt>
    <dgm:pt modelId="{3F409948-B5E3-4CD8-937B-EBF6A7630F19}" type="pres">
      <dgm:prSet presAssocID="{9ADBB631-676F-4261-88B3-80F5F1008477}" presName="parentText" presStyleLbl="node1" presStyleIdx="1" presStyleCnt="2">
        <dgm:presLayoutVars>
          <dgm:chMax val="0"/>
          <dgm:bulletEnabled val="1"/>
        </dgm:presLayoutVars>
      </dgm:prSet>
      <dgm:spPr/>
    </dgm:pt>
    <dgm:pt modelId="{9C7BEC23-B328-48C2-AEC7-887DB963CC36}" type="pres">
      <dgm:prSet presAssocID="{9ADBB631-676F-4261-88B3-80F5F1008477}" presName="negativeSpace" presStyleCnt="0"/>
      <dgm:spPr/>
    </dgm:pt>
    <dgm:pt modelId="{C1F9A318-E145-45F5-9834-6808B57C6A92}" type="pres">
      <dgm:prSet presAssocID="{9ADBB631-676F-4261-88B3-80F5F1008477}" presName="childText" presStyleLbl="conFgAcc1" presStyleIdx="1" presStyleCnt="2">
        <dgm:presLayoutVars>
          <dgm:bulletEnabled val="1"/>
        </dgm:presLayoutVars>
      </dgm:prSet>
      <dgm:spPr>
        <a:xfrm>
          <a:off x="0" y="2174414"/>
          <a:ext cx="6486385" cy="907200"/>
        </a:xfrm>
        <a:prstGeom prst="rect">
          <a:avLst/>
        </a:prstGeom>
        <a:solidFill>
          <a:srgbClr val="2F5597"/>
        </a:solidFill>
        <a:ln w="12700" cap="flat" cmpd="sng" algn="ctr">
          <a:solidFill>
            <a:srgbClr val="2F5597"/>
          </a:solidFill>
          <a:prstDash val="solid"/>
          <a:miter lim="800000"/>
        </a:ln>
        <a:effectLst/>
      </dgm:spPr>
    </dgm:pt>
  </dgm:ptLst>
  <dgm:cxnLst>
    <dgm:cxn modelId="{520A475D-54EF-4676-B34E-38F268214A9A}" srcId="{199054B8-D981-4F34-8C0E-06B9F3465F91}" destId="{9ADBB631-676F-4261-88B3-80F5F1008477}" srcOrd="1" destOrd="0" parTransId="{9444C5A6-A8FE-4F9A-8B20-04C4D8EFE809}" sibTransId="{0A3FCB30-4859-4D85-B730-8EE7904B8239}"/>
    <dgm:cxn modelId="{2C930678-A1DF-41C0-A930-6E6A13EF3800}" type="presOf" srcId="{77613E4E-113B-41EE-955F-76727D83C738}" destId="{6E4C71DF-12E2-4A1E-AB5A-880743A5BA1C}" srcOrd="0" destOrd="0" presId="urn:microsoft.com/office/officeart/2005/8/layout/list1"/>
    <dgm:cxn modelId="{C558907C-A11C-4247-87D2-3684D5A352E5}" type="presOf" srcId="{9ADBB631-676F-4261-88B3-80F5F1008477}" destId="{69D82A1C-B929-417F-A410-5C7F982A7C39}" srcOrd="0" destOrd="0" presId="urn:microsoft.com/office/officeart/2005/8/layout/list1"/>
    <dgm:cxn modelId="{4FC95C86-0421-48B7-9865-E445528DF130}" type="presOf" srcId="{77613E4E-113B-41EE-955F-76727D83C738}" destId="{2A7184BB-52DB-4C52-8420-130E9E3C13B2}" srcOrd="1" destOrd="0" presId="urn:microsoft.com/office/officeart/2005/8/layout/list1"/>
    <dgm:cxn modelId="{7A3FCAA2-B644-4A4A-AEBC-CDE3A4004478}" srcId="{199054B8-D981-4F34-8C0E-06B9F3465F91}" destId="{77613E4E-113B-41EE-955F-76727D83C738}" srcOrd="0" destOrd="0" parTransId="{110BBF70-FADB-416B-BA45-A6472ED1D786}" sibTransId="{5279F90E-BF5E-4F45-8EED-44C92A6235B8}"/>
    <dgm:cxn modelId="{583F13AF-3D78-427A-AA7A-DA79C9CB30FA}" type="presOf" srcId="{199054B8-D981-4F34-8C0E-06B9F3465F91}" destId="{F517AB00-573C-45CB-B4B8-17111068DCB6}" srcOrd="0" destOrd="0" presId="urn:microsoft.com/office/officeart/2005/8/layout/list1"/>
    <dgm:cxn modelId="{DC3A1FD0-0705-4F05-AF61-465E6F4B8EE7}" type="presOf" srcId="{9ADBB631-676F-4261-88B3-80F5F1008477}" destId="{3F409948-B5E3-4CD8-937B-EBF6A7630F19}" srcOrd="1" destOrd="0" presId="urn:microsoft.com/office/officeart/2005/8/layout/list1"/>
    <dgm:cxn modelId="{E318EB89-2267-4519-B7EF-2DF666D87341}" type="presParOf" srcId="{F517AB00-573C-45CB-B4B8-17111068DCB6}" destId="{6ADFF888-FBC8-4D0C-9E8C-AC5DE90ADF91}" srcOrd="0" destOrd="0" presId="urn:microsoft.com/office/officeart/2005/8/layout/list1"/>
    <dgm:cxn modelId="{EC5B3CE0-914F-4BDD-95B8-43361A4D91A8}" type="presParOf" srcId="{6ADFF888-FBC8-4D0C-9E8C-AC5DE90ADF91}" destId="{6E4C71DF-12E2-4A1E-AB5A-880743A5BA1C}" srcOrd="0" destOrd="0" presId="urn:microsoft.com/office/officeart/2005/8/layout/list1"/>
    <dgm:cxn modelId="{8C455151-6C7C-4EEC-A1A9-F093EA419D2F}" type="presParOf" srcId="{6ADFF888-FBC8-4D0C-9E8C-AC5DE90ADF91}" destId="{2A7184BB-52DB-4C52-8420-130E9E3C13B2}" srcOrd="1" destOrd="0" presId="urn:microsoft.com/office/officeart/2005/8/layout/list1"/>
    <dgm:cxn modelId="{2A6B6383-CBFE-4E1B-A3FC-E6CC37CE9BFF}" type="presParOf" srcId="{F517AB00-573C-45CB-B4B8-17111068DCB6}" destId="{CEFA1F0A-959C-49D7-A724-1A2F9AACEFCA}" srcOrd="1" destOrd="0" presId="urn:microsoft.com/office/officeart/2005/8/layout/list1"/>
    <dgm:cxn modelId="{78489681-6E54-45D9-9D08-EB8E02636C9F}" type="presParOf" srcId="{F517AB00-573C-45CB-B4B8-17111068DCB6}" destId="{AA9447A5-91BF-4C3A-B005-3C85857BAD48}" srcOrd="2" destOrd="0" presId="urn:microsoft.com/office/officeart/2005/8/layout/list1"/>
    <dgm:cxn modelId="{20BA565C-4F60-4FEA-A5F2-0537F5E57674}" type="presParOf" srcId="{F517AB00-573C-45CB-B4B8-17111068DCB6}" destId="{78CE588C-AB0E-462C-B362-CC93FFF316DD}" srcOrd="3" destOrd="0" presId="urn:microsoft.com/office/officeart/2005/8/layout/list1"/>
    <dgm:cxn modelId="{85E0A75E-32B7-4579-BA05-4CDACD8E9B65}" type="presParOf" srcId="{F517AB00-573C-45CB-B4B8-17111068DCB6}" destId="{71F487BD-1FDD-4C0B-B56B-72BCD28DA7AE}" srcOrd="4" destOrd="0" presId="urn:microsoft.com/office/officeart/2005/8/layout/list1"/>
    <dgm:cxn modelId="{E0BF9128-5C90-4183-BECE-403A0E6EBD11}" type="presParOf" srcId="{71F487BD-1FDD-4C0B-B56B-72BCD28DA7AE}" destId="{69D82A1C-B929-417F-A410-5C7F982A7C39}" srcOrd="0" destOrd="0" presId="urn:microsoft.com/office/officeart/2005/8/layout/list1"/>
    <dgm:cxn modelId="{81210CCF-8902-47DA-8460-A2376FBDC2F1}" type="presParOf" srcId="{71F487BD-1FDD-4C0B-B56B-72BCD28DA7AE}" destId="{3F409948-B5E3-4CD8-937B-EBF6A7630F19}" srcOrd="1" destOrd="0" presId="urn:microsoft.com/office/officeart/2005/8/layout/list1"/>
    <dgm:cxn modelId="{B893A437-82A1-44CD-8643-6ED73680F2D7}" type="presParOf" srcId="{F517AB00-573C-45CB-B4B8-17111068DCB6}" destId="{9C7BEC23-B328-48C2-AEC7-887DB963CC36}" srcOrd="5" destOrd="0" presId="urn:microsoft.com/office/officeart/2005/8/layout/list1"/>
    <dgm:cxn modelId="{6F183B72-11FB-4415-BD78-BA9BB296C28E}" type="presParOf" srcId="{F517AB00-573C-45CB-B4B8-17111068DCB6}" destId="{C1F9A318-E145-45F5-9834-6808B57C6A92}"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D478015-E4AE-4E80-AF24-A2D21EDBC337}" type="doc">
      <dgm:prSet loTypeId="urn:microsoft.com/office/officeart/2005/8/layout/vList2#3" loCatId="list" qsTypeId="urn:microsoft.com/office/officeart/2005/8/quickstyle/simple1#9" qsCatId="simple" csTypeId="urn:microsoft.com/office/officeart/2005/8/colors/colorful1" csCatId="colorful" phldr="1"/>
      <dgm:spPr/>
      <dgm:t>
        <a:bodyPr/>
        <a:lstStyle/>
        <a:p>
          <a:endParaRPr lang="zh-CN" altLang="en-US"/>
        </a:p>
      </dgm:t>
    </dgm:pt>
    <dgm:pt modelId="{1AD147BB-ECCD-4AD6-B446-86EACD600D49}">
      <dgm:prSet custT="1"/>
      <dgm:spPr>
        <a:solidFill>
          <a:srgbClr val="4472C4">
            <a:lumMod val="75000"/>
          </a:srgbClr>
        </a:solidFill>
        <a:ln w="12700" cap="flat" cmpd="sng" algn="ctr">
          <a:solidFill>
            <a:prstClr val="white">
              <a:hueOff val="0"/>
              <a:satOff val="0"/>
              <a:lumOff val="0"/>
              <a:alphaOff val="0"/>
            </a:prstClr>
          </a:solidFill>
          <a:prstDash val="solid"/>
          <a:miter lim="800000"/>
        </a:ln>
        <a:effectLst/>
      </dgm:spPr>
      <dgm:t>
        <a:bodyPr spcFirstLastPara="0" vert="horz" wrap="square" lIns="121920" tIns="121920" rIns="121920" bIns="121920" numCol="1" spcCol="1270" anchor="ctr" anchorCtr="0"/>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    程序的装入和链接</a:t>
          </a:r>
        </a:p>
      </dgm:t>
    </dgm:pt>
    <dgm:pt modelId="{24B51315-1B0B-4F79-AF5C-142DDE53554B}" cxnId="{5F278370-DC1B-43BD-9892-81A65D94011D}" type="parTrans">
      <dgm:prSet/>
      <dgm:spPr/>
      <dgm:t>
        <a:bodyPr/>
        <a:lstStyle/>
        <a:p>
          <a:endParaRPr lang="zh-CN" altLang="en-US"/>
        </a:p>
      </dgm:t>
    </dgm:pt>
    <dgm:pt modelId="{5B4E2F5C-B8A9-4CD3-A569-5BD69BDDBC7C}" cxnId="{5F278370-DC1B-43BD-9892-81A65D94011D}" type="sibTrans">
      <dgm:prSet/>
      <dgm:spPr/>
      <dgm:t>
        <a:bodyPr/>
        <a:lstStyle/>
        <a:p>
          <a:endParaRPr lang="zh-CN" altLang="en-US"/>
        </a:p>
      </dgm:t>
    </dgm:pt>
    <dgm:pt modelId="{FB4DF201-843C-4B73-8F0D-51E31B0DA051}">
      <dgm:prSet custT="1"/>
      <dgm:spPr>
        <a:solidFill>
          <a:prstClr val="white"/>
        </a:solidFill>
        <a:ln w="12700" cap="flat" cmpd="sng" algn="ctr">
          <a:solidFill>
            <a:srgbClr val="2F5597"/>
          </a:solidFill>
          <a:prstDash val="solid"/>
          <a:miter lim="800000"/>
        </a:ln>
        <a:effectLst/>
      </dgm:spPr>
      <dgm:t>
        <a:bodyPr spcFirstLastPara="0" vert="horz" wrap="square" lIns="558556" tIns="83820" rIns="83820" bIns="83820" numCol="1" spcCol="1270" anchor="ctr" anchorCtr="0"/>
        <a:lstStyle/>
        <a:p>
          <a:pPr marL="0" lvl="0" indent="0" algn="l" defTabSz="1466850">
            <a:lnSpc>
              <a:spcPct val="90000"/>
            </a:lnSpc>
            <a:spcBef>
              <a:spcPct val="0"/>
            </a:spcBef>
            <a:spcAft>
              <a:spcPct val="35000"/>
            </a:spcAft>
            <a:buNone/>
          </a:pPr>
          <a:r>
            <a:rPr lang="zh-CN" altLang="en-US" sz="3200" b="1" kern="1200" dirty="0">
              <a:solidFill>
                <a:srgbClr val="2F5597"/>
              </a:solidFill>
              <a:latin typeface="微软雅黑" panose="020B0503020204020204" pitchFamily="34" charset="-122"/>
              <a:ea typeface="微软雅黑" panose="020B0503020204020204" pitchFamily="34" charset="-122"/>
              <a:cs typeface="+mn-cs"/>
            </a:rPr>
            <a:t>连续分配存储管理方式</a:t>
          </a:r>
        </a:p>
      </dgm:t>
    </dgm:pt>
    <dgm:pt modelId="{A92B47A3-4B1B-4DBF-9C8F-53BB89C57576}" cxnId="{3A912073-6D15-4AEB-8B4D-8AF24F204D31}" type="parTrans">
      <dgm:prSet/>
      <dgm:spPr/>
      <dgm:t>
        <a:bodyPr/>
        <a:lstStyle/>
        <a:p>
          <a:endParaRPr lang="zh-CN" altLang="en-US"/>
        </a:p>
      </dgm:t>
    </dgm:pt>
    <dgm:pt modelId="{2F98E893-B11C-4A3D-8B25-F80E13394A80}" cxnId="{3A912073-6D15-4AEB-8B4D-8AF24F204D31}" type="sibTrans">
      <dgm:prSet/>
      <dgm:spPr/>
      <dgm:t>
        <a:bodyPr/>
        <a:lstStyle/>
        <a:p>
          <a:endParaRPr lang="zh-CN" altLang="en-US"/>
        </a:p>
      </dgm:t>
    </dgm:pt>
    <dgm:pt modelId="{431842DA-C10C-4F00-A8FF-38F36FAA3318}">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对换（</a:t>
          </a:r>
          <a:r>
            <a:rPr lang="en-US" altLang="zh-CN" sz="3200" b="1" kern="1200" dirty="0">
              <a:latin typeface="微软雅黑" panose="020B0503020204020204" pitchFamily="34" charset="-122"/>
              <a:ea typeface="微软雅黑" panose="020B0503020204020204" pitchFamily="34" charset="-122"/>
              <a:cs typeface="+mn-cs"/>
            </a:rPr>
            <a:t>Swapping</a:t>
          </a:r>
          <a:r>
            <a:rPr lang="zh-CN" altLang="en-US" sz="3200" b="1" kern="1200" dirty="0">
              <a:latin typeface="微软雅黑" panose="020B0503020204020204" pitchFamily="34" charset="-122"/>
              <a:ea typeface="微软雅黑" panose="020B0503020204020204" pitchFamily="34" charset="-122"/>
              <a:cs typeface="+mn-cs"/>
            </a:rPr>
            <a:t>）</a:t>
          </a:r>
        </a:p>
      </dgm:t>
    </dgm:pt>
    <dgm:pt modelId="{BE0C0096-21E5-4052-9490-5A12F6133583}" cxnId="{B259F718-CCD2-4763-8869-C91BB99F2806}" type="parTrans">
      <dgm:prSet/>
      <dgm:spPr/>
      <dgm:t>
        <a:bodyPr/>
        <a:lstStyle/>
        <a:p>
          <a:endParaRPr lang="zh-CN" altLang="en-US"/>
        </a:p>
      </dgm:t>
    </dgm:pt>
    <dgm:pt modelId="{E216F8AC-76D1-45A8-B317-CA0BB7ACCF2F}" cxnId="{B259F718-CCD2-4763-8869-C91BB99F2806}" type="sibTrans">
      <dgm:prSet/>
      <dgm:spPr/>
      <dgm:t>
        <a:bodyPr/>
        <a:lstStyle/>
        <a:p>
          <a:endParaRPr lang="zh-CN" altLang="en-US"/>
        </a:p>
      </dgm:t>
    </dgm:pt>
    <dgm:pt modelId="{C73CA419-B308-4FEC-BB9F-9EA192EABD32}">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分页存储管理方式</a:t>
          </a:r>
        </a:p>
      </dgm:t>
    </dgm:pt>
    <dgm:pt modelId="{65E10C13-A8E5-4B34-A00E-314FD6825CE3}" cxnId="{C3B1DB02-AF7B-46ED-88D3-4391098D3645}" type="parTrans">
      <dgm:prSet/>
      <dgm:spPr/>
      <dgm:t>
        <a:bodyPr/>
        <a:lstStyle/>
        <a:p>
          <a:endParaRPr lang="zh-CN" altLang="en-US"/>
        </a:p>
      </dgm:t>
    </dgm:pt>
    <dgm:pt modelId="{2A989A88-5D37-47D6-AA7A-31CB121F721E}" cxnId="{C3B1DB02-AF7B-46ED-88D3-4391098D3645}" type="sibTrans">
      <dgm:prSet/>
      <dgm:spPr/>
      <dgm:t>
        <a:bodyPr/>
        <a:lstStyle/>
        <a:p>
          <a:endParaRPr lang="zh-CN" altLang="en-US"/>
        </a:p>
      </dgm:t>
    </dgm:pt>
    <dgm:pt modelId="{D33436B3-0B13-4F32-9190-BCCD9B53E797}">
      <dgm:prSet custT="1"/>
      <dgm:spPr>
        <a:solidFill>
          <a:schemeClr val="accent1">
            <a:lumMod val="75000"/>
          </a:schemeClr>
        </a:solidFill>
      </dgm:spPr>
      <dgm:t>
        <a:body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分段存储管理方式</a:t>
          </a:r>
        </a:p>
      </dgm:t>
    </dgm:pt>
    <dgm:pt modelId="{AC01A53B-906E-4AA6-8ADB-FD0A506CF275}" cxnId="{745844F4-E7BF-49A0-BF39-85F379FE92AE}" type="parTrans">
      <dgm:prSet/>
      <dgm:spPr/>
      <dgm:t>
        <a:bodyPr/>
        <a:lstStyle/>
        <a:p>
          <a:endParaRPr lang="zh-CN" altLang="en-US"/>
        </a:p>
      </dgm:t>
    </dgm:pt>
    <dgm:pt modelId="{F66FA5A6-3FD2-4AA2-B7BC-F2DBFF7EAEEC}" cxnId="{745844F4-E7BF-49A0-BF39-85F379FE92AE}" type="sibTrans">
      <dgm:prSet/>
      <dgm:spPr/>
      <dgm:t>
        <a:bodyPr/>
        <a:lstStyle/>
        <a:p>
          <a:endParaRPr lang="zh-CN" altLang="en-US"/>
        </a:p>
      </dgm:t>
    </dgm:pt>
    <dgm:pt modelId="{35EEBC4D-253C-40B6-A38D-5C4AE37EE567}">
      <dgm:prSet phldrT="[文本]" custT="1"/>
      <dgm:spPr>
        <a:solidFill>
          <a:srgbClr val="4472C4">
            <a:lumMod val="75000"/>
          </a:srgbClr>
        </a:solidFill>
        <a:ln w="12700" cap="flat" cmpd="sng" algn="ctr">
          <a:solidFill>
            <a:prstClr val="white">
              <a:hueOff val="0"/>
              <a:satOff val="0"/>
              <a:lumOff val="0"/>
              <a:alphaOff val="0"/>
            </a:prstClr>
          </a:solidFill>
          <a:prstDash val="solid"/>
          <a:miter lim="800000"/>
        </a:ln>
        <a:effectLst/>
      </dgm:spPr>
      <dgm:t>
        <a:bodyPr spcFirstLastPara="0" vert="horz" wrap="square" lIns="121920" tIns="121920" rIns="121920" bIns="121920" numCol="1" spcCol="1270" anchor="ctr" anchorCtr="0"/>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    存储器的层次结构</a:t>
          </a:r>
        </a:p>
      </dgm:t>
    </dgm:pt>
    <dgm:pt modelId="{0DB1FB0F-E3E4-4EE8-BE91-04D430FB4DFF}" cxnId="{9856D63F-2B56-415E-A2DB-CDD8C4B129D4}" type="parTrans">
      <dgm:prSet/>
      <dgm:spPr/>
      <dgm:t>
        <a:bodyPr/>
        <a:lstStyle/>
        <a:p>
          <a:endParaRPr lang="zh-CN" altLang="en-US"/>
        </a:p>
      </dgm:t>
    </dgm:pt>
    <dgm:pt modelId="{B0B98F56-42B7-4EC3-89A0-35E375E90921}" cxnId="{9856D63F-2B56-415E-A2DB-CDD8C4B129D4}" type="sibTrans">
      <dgm:prSet/>
      <dgm:spPr/>
      <dgm:t>
        <a:bodyPr/>
        <a:lstStyle/>
        <a:p>
          <a:endParaRPr lang="zh-CN" altLang="en-US"/>
        </a:p>
      </dgm:t>
    </dgm:pt>
    <dgm:pt modelId="{CAF4CC0F-3782-4F8A-B74F-8D8B3539C608}" type="pres">
      <dgm:prSet presAssocID="{FD478015-E4AE-4E80-AF24-A2D21EDBC337}" presName="linear" presStyleCnt="0">
        <dgm:presLayoutVars>
          <dgm:animLvl val="lvl"/>
          <dgm:resizeHandles val="exact"/>
        </dgm:presLayoutVars>
      </dgm:prSet>
      <dgm:spPr/>
    </dgm:pt>
    <dgm:pt modelId="{D2030072-27AD-406A-84AE-0966EE003465}" type="pres">
      <dgm:prSet presAssocID="{35EEBC4D-253C-40B6-A38D-5C4AE37EE567}" presName="parentText" presStyleLbl="node1" presStyleIdx="0" presStyleCnt="6" custLinFactNeighborX="302">
        <dgm:presLayoutVars>
          <dgm:chMax val="0"/>
          <dgm:bulletEnabled val="1"/>
        </dgm:presLayoutVars>
      </dgm:prSet>
      <dgm:spPr>
        <a:xfrm>
          <a:off x="0" y="1984"/>
          <a:ext cx="7335520" cy="925494"/>
        </a:xfrm>
        <a:prstGeom prst="roundRect">
          <a:avLst/>
        </a:prstGeom>
      </dgm:spPr>
    </dgm:pt>
    <dgm:pt modelId="{33C3C1E0-101A-4178-BBFF-A4AEF9F3C3AF}" type="pres">
      <dgm:prSet presAssocID="{B0B98F56-42B7-4EC3-89A0-35E375E90921}" presName="spacer" presStyleCnt="0"/>
      <dgm:spPr/>
    </dgm:pt>
    <dgm:pt modelId="{9D955F22-870E-4516-9F36-BFA399447422}" type="pres">
      <dgm:prSet presAssocID="{1AD147BB-ECCD-4AD6-B446-86EACD600D49}" presName="parentText" presStyleLbl="node1" presStyleIdx="1" presStyleCnt="6">
        <dgm:presLayoutVars>
          <dgm:chMax val="0"/>
          <dgm:bulletEnabled val="1"/>
        </dgm:presLayoutVars>
      </dgm:prSet>
      <dgm:spPr>
        <a:xfrm>
          <a:off x="0" y="940612"/>
          <a:ext cx="7335520" cy="925945"/>
        </a:xfrm>
        <a:prstGeom prst="roundRect">
          <a:avLst/>
        </a:prstGeom>
      </dgm:spPr>
    </dgm:pt>
    <dgm:pt modelId="{2FE02930-3677-461D-B85E-26435DB47E7B}" type="pres">
      <dgm:prSet presAssocID="{5B4E2F5C-B8A9-4CD3-A569-5BD69BDDBC7C}" presName="spacer" presStyleCnt="0"/>
      <dgm:spPr/>
    </dgm:pt>
    <dgm:pt modelId="{6F219609-DD04-44CD-8464-34C16D707E20}" type="pres">
      <dgm:prSet presAssocID="{FB4DF201-843C-4B73-8F0D-51E31B0DA051}" presName="parentText" presStyleLbl="node1" presStyleIdx="2" presStyleCnt="6">
        <dgm:presLayoutVars>
          <dgm:chMax val="0"/>
          <dgm:bulletEnabled val="1"/>
        </dgm:presLayoutVars>
      </dgm:prSet>
      <dgm:spPr>
        <a:xfrm>
          <a:off x="0" y="1880803"/>
          <a:ext cx="7335520" cy="925945"/>
        </a:xfrm>
        <a:prstGeom prst="roundRect">
          <a:avLst/>
        </a:prstGeom>
      </dgm:spPr>
    </dgm:pt>
    <dgm:pt modelId="{9272CB60-3011-4C5D-858C-13AA8841EE96}" type="pres">
      <dgm:prSet presAssocID="{2F98E893-B11C-4A3D-8B25-F80E13394A80}" presName="spacer" presStyleCnt="0"/>
      <dgm:spPr/>
    </dgm:pt>
    <dgm:pt modelId="{E55D7849-AFAE-4859-9368-B9591CC879BF}" type="pres">
      <dgm:prSet presAssocID="{431842DA-C10C-4F00-A8FF-38F36FAA3318}" presName="parentText" presStyleLbl="node1" presStyleIdx="3" presStyleCnt="6">
        <dgm:presLayoutVars>
          <dgm:chMax val="0"/>
          <dgm:bulletEnabled val="1"/>
        </dgm:presLayoutVars>
      </dgm:prSet>
      <dgm:spPr/>
    </dgm:pt>
    <dgm:pt modelId="{5328934A-E02D-471D-B63A-84F222434C14}" type="pres">
      <dgm:prSet presAssocID="{E216F8AC-76D1-45A8-B317-CA0BB7ACCF2F}" presName="spacer" presStyleCnt="0"/>
      <dgm:spPr/>
    </dgm:pt>
    <dgm:pt modelId="{232815BA-619A-4614-9627-2F42AED66E49}" type="pres">
      <dgm:prSet presAssocID="{C73CA419-B308-4FEC-BB9F-9EA192EABD32}" presName="parentText" presStyleLbl="node1" presStyleIdx="4" presStyleCnt="6">
        <dgm:presLayoutVars>
          <dgm:chMax val="0"/>
          <dgm:bulletEnabled val="1"/>
        </dgm:presLayoutVars>
      </dgm:prSet>
      <dgm:spPr/>
    </dgm:pt>
    <dgm:pt modelId="{83DB15C9-6AFA-448B-B9A6-828601D1C86B}" type="pres">
      <dgm:prSet presAssocID="{2A989A88-5D37-47D6-AA7A-31CB121F721E}" presName="spacer" presStyleCnt="0"/>
      <dgm:spPr/>
    </dgm:pt>
    <dgm:pt modelId="{E0DD0EBA-5357-496A-800C-A32E8C411ACA}" type="pres">
      <dgm:prSet presAssocID="{D33436B3-0B13-4F32-9190-BCCD9B53E797}" presName="parentText" presStyleLbl="node1" presStyleIdx="5" presStyleCnt="6">
        <dgm:presLayoutVars>
          <dgm:chMax val="0"/>
          <dgm:bulletEnabled val="1"/>
        </dgm:presLayoutVars>
      </dgm:prSet>
      <dgm:spPr/>
    </dgm:pt>
  </dgm:ptLst>
  <dgm:cxnLst>
    <dgm:cxn modelId="{C3B1DB02-AF7B-46ED-88D3-4391098D3645}" srcId="{FD478015-E4AE-4E80-AF24-A2D21EDBC337}" destId="{C73CA419-B308-4FEC-BB9F-9EA192EABD32}" srcOrd="4" destOrd="0" parTransId="{65E10C13-A8E5-4B34-A00E-314FD6825CE3}" sibTransId="{2A989A88-5D37-47D6-AA7A-31CB121F721E}"/>
    <dgm:cxn modelId="{B259F718-CCD2-4763-8869-C91BB99F2806}" srcId="{FD478015-E4AE-4E80-AF24-A2D21EDBC337}" destId="{431842DA-C10C-4F00-A8FF-38F36FAA3318}" srcOrd="3" destOrd="0" parTransId="{BE0C0096-21E5-4052-9490-5A12F6133583}" sibTransId="{E216F8AC-76D1-45A8-B317-CA0BB7ACCF2F}"/>
    <dgm:cxn modelId="{F6093220-A59C-4747-94B3-D08D43D6DC4F}" type="presOf" srcId="{C73CA419-B308-4FEC-BB9F-9EA192EABD32}" destId="{232815BA-619A-4614-9627-2F42AED66E49}" srcOrd="0" destOrd="0" presId="urn:microsoft.com/office/officeart/2005/8/layout/vList2#3"/>
    <dgm:cxn modelId="{9856D63F-2B56-415E-A2DB-CDD8C4B129D4}" srcId="{FD478015-E4AE-4E80-AF24-A2D21EDBC337}" destId="{35EEBC4D-253C-40B6-A38D-5C4AE37EE567}" srcOrd="0" destOrd="0" parTransId="{0DB1FB0F-E3E4-4EE8-BE91-04D430FB4DFF}" sibTransId="{B0B98F56-42B7-4EC3-89A0-35E375E90921}"/>
    <dgm:cxn modelId="{47913864-5C95-4FF0-B0F7-9073254BD915}" type="presOf" srcId="{D33436B3-0B13-4F32-9190-BCCD9B53E797}" destId="{E0DD0EBA-5357-496A-800C-A32E8C411ACA}" srcOrd="0" destOrd="0" presId="urn:microsoft.com/office/officeart/2005/8/layout/vList2#3"/>
    <dgm:cxn modelId="{5F278370-DC1B-43BD-9892-81A65D94011D}" srcId="{FD478015-E4AE-4E80-AF24-A2D21EDBC337}" destId="{1AD147BB-ECCD-4AD6-B446-86EACD600D49}" srcOrd="1" destOrd="0" parTransId="{24B51315-1B0B-4F79-AF5C-142DDE53554B}" sibTransId="{5B4E2F5C-B8A9-4CD3-A569-5BD69BDDBC7C}"/>
    <dgm:cxn modelId="{3A912073-6D15-4AEB-8B4D-8AF24F204D31}" srcId="{FD478015-E4AE-4E80-AF24-A2D21EDBC337}" destId="{FB4DF201-843C-4B73-8F0D-51E31B0DA051}" srcOrd="2" destOrd="0" parTransId="{A92B47A3-4B1B-4DBF-9C8F-53BB89C57576}" sibTransId="{2F98E893-B11C-4A3D-8B25-F80E13394A80}"/>
    <dgm:cxn modelId="{0EE7279D-E2D8-4B05-B360-85836C646924}" type="presOf" srcId="{FB4DF201-843C-4B73-8F0D-51E31B0DA051}" destId="{6F219609-DD04-44CD-8464-34C16D707E20}" srcOrd="0" destOrd="0" presId="urn:microsoft.com/office/officeart/2005/8/layout/vList2#3"/>
    <dgm:cxn modelId="{0C1117A7-0AC5-4EAB-B05D-7173F3A0BDCC}" type="presOf" srcId="{431842DA-C10C-4F00-A8FF-38F36FAA3318}" destId="{E55D7849-AFAE-4859-9368-B9591CC879BF}" srcOrd="0" destOrd="0" presId="urn:microsoft.com/office/officeart/2005/8/layout/vList2#3"/>
    <dgm:cxn modelId="{9A130AB1-2B40-4346-9B26-8C8E5C643B8B}" type="presOf" srcId="{35EEBC4D-253C-40B6-A38D-5C4AE37EE567}" destId="{D2030072-27AD-406A-84AE-0966EE003465}" srcOrd="0" destOrd="0" presId="urn:microsoft.com/office/officeart/2005/8/layout/vList2#3"/>
    <dgm:cxn modelId="{1B1C5DBB-7600-4413-8610-830CC47E1FC6}" type="presOf" srcId="{FD478015-E4AE-4E80-AF24-A2D21EDBC337}" destId="{CAF4CC0F-3782-4F8A-B74F-8D8B3539C608}" srcOrd="0" destOrd="0" presId="urn:microsoft.com/office/officeart/2005/8/layout/vList2#3"/>
    <dgm:cxn modelId="{FAB6C7CD-8F5F-48EC-8259-EB14715353D1}" type="presOf" srcId="{1AD147BB-ECCD-4AD6-B446-86EACD600D49}" destId="{9D955F22-870E-4516-9F36-BFA399447422}" srcOrd="0" destOrd="0" presId="urn:microsoft.com/office/officeart/2005/8/layout/vList2#3"/>
    <dgm:cxn modelId="{745844F4-E7BF-49A0-BF39-85F379FE92AE}" srcId="{FD478015-E4AE-4E80-AF24-A2D21EDBC337}" destId="{D33436B3-0B13-4F32-9190-BCCD9B53E797}" srcOrd="5" destOrd="0" parTransId="{AC01A53B-906E-4AA6-8ADB-FD0A506CF275}" sibTransId="{F66FA5A6-3FD2-4AA2-B7BC-F2DBFF7EAEEC}"/>
    <dgm:cxn modelId="{359E1A13-5AFA-4975-8EC1-F22471D4C607}" type="presParOf" srcId="{CAF4CC0F-3782-4F8A-B74F-8D8B3539C608}" destId="{D2030072-27AD-406A-84AE-0966EE003465}" srcOrd="0" destOrd="0" presId="urn:microsoft.com/office/officeart/2005/8/layout/vList2#3"/>
    <dgm:cxn modelId="{336067B4-8699-444C-9E1D-0470951F2E67}" type="presParOf" srcId="{CAF4CC0F-3782-4F8A-B74F-8D8B3539C608}" destId="{33C3C1E0-101A-4178-BBFF-A4AEF9F3C3AF}" srcOrd="1" destOrd="0" presId="urn:microsoft.com/office/officeart/2005/8/layout/vList2#3"/>
    <dgm:cxn modelId="{C8306F97-005B-434A-82B8-FACA2CAB4B24}" type="presParOf" srcId="{CAF4CC0F-3782-4F8A-B74F-8D8B3539C608}" destId="{9D955F22-870E-4516-9F36-BFA399447422}" srcOrd="2" destOrd="0" presId="urn:microsoft.com/office/officeart/2005/8/layout/vList2#3"/>
    <dgm:cxn modelId="{73FF7D11-26A8-4488-9DD3-A45E8E60BF84}" type="presParOf" srcId="{CAF4CC0F-3782-4F8A-B74F-8D8B3539C608}" destId="{2FE02930-3677-461D-B85E-26435DB47E7B}" srcOrd="3" destOrd="0" presId="urn:microsoft.com/office/officeart/2005/8/layout/vList2#3"/>
    <dgm:cxn modelId="{6716DD35-687D-482F-A498-BD13972F127F}" type="presParOf" srcId="{CAF4CC0F-3782-4F8A-B74F-8D8B3539C608}" destId="{6F219609-DD04-44CD-8464-34C16D707E20}" srcOrd="4" destOrd="0" presId="urn:microsoft.com/office/officeart/2005/8/layout/vList2#3"/>
    <dgm:cxn modelId="{F4402D62-DD80-44A6-AC6D-E0D6DDC2F5A5}" type="presParOf" srcId="{CAF4CC0F-3782-4F8A-B74F-8D8B3539C608}" destId="{9272CB60-3011-4C5D-858C-13AA8841EE96}" srcOrd="5" destOrd="0" presId="urn:microsoft.com/office/officeart/2005/8/layout/vList2#3"/>
    <dgm:cxn modelId="{4F7DC1B6-360F-4C01-92F5-E6CCFA2494DA}" type="presParOf" srcId="{CAF4CC0F-3782-4F8A-B74F-8D8B3539C608}" destId="{E55D7849-AFAE-4859-9368-B9591CC879BF}" srcOrd="6" destOrd="0" presId="urn:microsoft.com/office/officeart/2005/8/layout/vList2#3"/>
    <dgm:cxn modelId="{B8754C1D-3232-4060-8594-0169340183C2}" type="presParOf" srcId="{CAF4CC0F-3782-4F8A-B74F-8D8B3539C608}" destId="{5328934A-E02D-471D-B63A-84F222434C14}" srcOrd="7" destOrd="0" presId="urn:microsoft.com/office/officeart/2005/8/layout/vList2#3"/>
    <dgm:cxn modelId="{8BC2684A-B71C-4260-97AE-6041099325AF}" type="presParOf" srcId="{CAF4CC0F-3782-4F8A-B74F-8D8B3539C608}" destId="{232815BA-619A-4614-9627-2F42AED66E49}" srcOrd="8" destOrd="0" presId="urn:microsoft.com/office/officeart/2005/8/layout/vList2#3"/>
    <dgm:cxn modelId="{657990C9-6A12-4CC3-8E37-E3F21C779D2B}" type="presParOf" srcId="{CAF4CC0F-3782-4F8A-B74F-8D8B3539C608}" destId="{83DB15C9-6AFA-448B-B9A6-828601D1C86B}" srcOrd="9" destOrd="0" presId="urn:microsoft.com/office/officeart/2005/8/layout/vList2#3"/>
    <dgm:cxn modelId="{726CE9CC-BF12-4531-9946-2F40C39DE838}" type="presParOf" srcId="{CAF4CC0F-3782-4F8A-B74F-8D8B3539C608}" destId="{E0DD0EBA-5357-496A-800C-A32E8C411ACA}" srcOrd="10" destOrd="0" presId="urn:microsoft.com/office/officeart/2005/8/layout/vList2#3"/>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99054B8-D981-4F34-8C0E-06B9F3465F9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77613E4E-113B-41EE-955F-76727D83C738}">
      <dgm:prSet phldrT="[文本]" custT="1"/>
      <dgm:spPr>
        <a:solidFill>
          <a:schemeClr val="bg1"/>
        </a:solidFill>
        <a:ln>
          <a:solidFill>
            <a:srgbClr val="2F5597"/>
          </a:solidFill>
        </a:ln>
      </dgm:spPr>
      <dgm:t>
        <a:bodyPr/>
        <a:lstStyle/>
        <a:p>
          <a:r>
            <a:rPr lang="zh-CN" altLang="en-US" sz="2800" b="1" dirty="0">
              <a:solidFill>
                <a:srgbClr val="2F5597"/>
              </a:solidFill>
              <a:latin typeface="微软雅黑" panose="020B0503020204020204" pitchFamily="34" charset="-122"/>
              <a:ea typeface="微软雅黑" panose="020B0503020204020204" pitchFamily="34" charset="-122"/>
            </a:rPr>
            <a:t>单一连续分配</a:t>
          </a:r>
        </a:p>
      </dgm:t>
    </dgm:pt>
    <dgm:pt modelId="{110BBF70-FADB-416B-BA45-A6472ED1D786}" cxnId="{7A3FCAA2-B644-4A4A-AEBC-CDE3A4004478}" type="parTrans">
      <dgm:prSet/>
      <dgm:spPr/>
      <dgm:t>
        <a:bodyPr/>
        <a:lstStyle/>
        <a:p>
          <a:endParaRPr lang="zh-CN" altLang="en-US"/>
        </a:p>
      </dgm:t>
    </dgm:pt>
    <dgm:pt modelId="{5279F90E-BF5E-4F45-8EED-44C92A6235B8}" cxnId="{7A3FCAA2-B644-4A4A-AEBC-CDE3A4004478}" type="sibTrans">
      <dgm:prSet/>
      <dgm:spPr/>
      <dgm:t>
        <a:bodyPr/>
        <a:lstStyle/>
        <a:p>
          <a:endParaRPr lang="zh-CN" altLang="en-US"/>
        </a:p>
      </dgm:t>
    </dgm:pt>
    <dgm:pt modelId="{1DE17AFD-E6E7-4E69-BB2F-FD7A6E52C0BD}">
      <dgm:prSet phldrT="[文本]" custT="1"/>
      <dgm:spPr>
        <a:solidFill>
          <a:schemeClr val="bg1"/>
        </a:solidFill>
        <a:ln>
          <a:solidFill>
            <a:srgbClr val="2F5597"/>
          </a:solidFill>
        </a:ln>
      </dgm:spPr>
      <dgm:t>
        <a:bodyPr/>
        <a:lstStyle/>
        <a:p>
          <a:r>
            <a:rPr lang="zh-CN" altLang="en-US" sz="2800" b="1" dirty="0">
              <a:solidFill>
                <a:srgbClr val="2F5597"/>
              </a:solidFill>
              <a:latin typeface="微软雅黑" panose="020B0503020204020204" pitchFamily="34" charset="-122"/>
              <a:ea typeface="微软雅黑" panose="020B0503020204020204" pitchFamily="34" charset="-122"/>
            </a:rPr>
            <a:t>固定分区分配</a:t>
          </a:r>
        </a:p>
      </dgm:t>
    </dgm:pt>
    <dgm:pt modelId="{6D9ADD38-CCE7-4B2C-8790-5BCA0C78F40A}" cxnId="{15A2BCAE-5BBD-4AC5-92F2-CFE56FBD3F4A}" type="parTrans">
      <dgm:prSet/>
      <dgm:spPr/>
      <dgm:t>
        <a:bodyPr/>
        <a:lstStyle/>
        <a:p>
          <a:endParaRPr lang="zh-CN" altLang="en-US"/>
        </a:p>
      </dgm:t>
    </dgm:pt>
    <dgm:pt modelId="{4B47CE86-DDA2-4F92-A8F6-BF2684A65613}" cxnId="{15A2BCAE-5BBD-4AC5-92F2-CFE56FBD3F4A}" type="sibTrans">
      <dgm:prSet/>
      <dgm:spPr/>
      <dgm:t>
        <a:bodyPr/>
        <a:lstStyle/>
        <a:p>
          <a:endParaRPr lang="zh-CN" altLang="en-US"/>
        </a:p>
      </dgm:t>
    </dgm:pt>
    <dgm:pt modelId="{D51090BD-496F-453F-A78F-4E3851FDFAC9}">
      <dgm:prSet phldrT="[文本]" custT="1"/>
      <dgm:spPr>
        <a:solidFill>
          <a:schemeClr val="bg1"/>
        </a:solidFill>
        <a:ln>
          <a:solidFill>
            <a:srgbClr val="2F5597"/>
          </a:solidFill>
        </a:ln>
      </dgm:spPr>
      <dgm:t>
        <a:bodyPr/>
        <a:lstStyle/>
        <a:p>
          <a:r>
            <a:rPr lang="zh-CN" altLang="en-US" sz="2800" b="1" dirty="0">
              <a:solidFill>
                <a:srgbClr val="2F5597"/>
              </a:solidFill>
              <a:latin typeface="微软雅黑" panose="020B0503020204020204" pitchFamily="34" charset="-122"/>
              <a:ea typeface="微软雅黑" panose="020B0503020204020204" pitchFamily="34" charset="-122"/>
            </a:rPr>
            <a:t>动态分区分配</a:t>
          </a:r>
        </a:p>
      </dgm:t>
    </dgm:pt>
    <dgm:pt modelId="{BD3E0CD9-A78C-4324-B899-D078DB6AEAF1}" cxnId="{ACC2B226-9160-4C44-9C38-A4867965EB3B}" type="parTrans">
      <dgm:prSet/>
      <dgm:spPr/>
      <dgm:t>
        <a:bodyPr/>
        <a:lstStyle/>
        <a:p>
          <a:endParaRPr lang="zh-CN" altLang="en-US"/>
        </a:p>
      </dgm:t>
    </dgm:pt>
    <dgm:pt modelId="{0CA0872C-5CCB-4E5B-863E-FF9639D4A646}" cxnId="{ACC2B226-9160-4C44-9C38-A4867965EB3B}" type="sibTrans">
      <dgm:prSet/>
      <dgm:spPr/>
      <dgm:t>
        <a:bodyPr/>
        <a:lstStyle/>
        <a:p>
          <a:endParaRPr lang="zh-CN" altLang="en-US"/>
        </a:p>
      </dgm:t>
    </dgm:pt>
    <dgm:pt modelId="{1987560E-09C7-4903-8024-46AC88C06430}">
      <dgm:prSet phldrT="[文本]" custT="1"/>
      <dgm:spPr>
        <a:solidFill>
          <a:schemeClr val="bg1"/>
        </a:solidFill>
        <a:ln>
          <a:solidFill>
            <a:srgbClr val="2F5597"/>
          </a:solidFill>
        </a:ln>
      </dgm:spPr>
      <dgm:t>
        <a:bodyPr/>
        <a:lstStyle/>
        <a:p>
          <a:r>
            <a:rPr lang="zh-CN" altLang="en-US" sz="2800" b="1" dirty="0">
              <a:solidFill>
                <a:srgbClr val="2F5597"/>
              </a:solidFill>
              <a:latin typeface="微软雅黑" panose="020B0503020204020204" pitchFamily="34" charset="-122"/>
              <a:ea typeface="微软雅黑" panose="020B0503020204020204" pitchFamily="34" charset="-122"/>
            </a:rPr>
            <a:t>动态可重定位分区分配</a:t>
          </a:r>
        </a:p>
      </dgm:t>
    </dgm:pt>
    <dgm:pt modelId="{1F2AFECC-9E24-497C-9198-E303D12DB515}" cxnId="{7348B295-5CF9-409E-81F0-DEAB1A3B32C0}" type="parTrans">
      <dgm:prSet/>
      <dgm:spPr/>
      <dgm:t>
        <a:bodyPr/>
        <a:lstStyle/>
        <a:p>
          <a:endParaRPr lang="zh-CN" altLang="en-US"/>
        </a:p>
      </dgm:t>
    </dgm:pt>
    <dgm:pt modelId="{56540752-3A62-4627-8B58-87F7E57B4AD5}" cxnId="{7348B295-5CF9-409E-81F0-DEAB1A3B32C0}" type="sibTrans">
      <dgm:prSet/>
      <dgm:spPr/>
      <dgm:t>
        <a:bodyPr/>
        <a:lstStyle/>
        <a:p>
          <a:endParaRPr lang="zh-CN" altLang="en-US"/>
        </a:p>
      </dgm:t>
    </dgm:pt>
    <dgm:pt modelId="{F517AB00-573C-45CB-B4B8-17111068DCB6}" type="pres">
      <dgm:prSet presAssocID="{199054B8-D981-4F34-8C0E-06B9F3465F91}" presName="linear" presStyleCnt="0">
        <dgm:presLayoutVars>
          <dgm:dir/>
          <dgm:animLvl val="lvl"/>
          <dgm:resizeHandles val="exact"/>
        </dgm:presLayoutVars>
      </dgm:prSet>
      <dgm:spPr/>
    </dgm:pt>
    <dgm:pt modelId="{6ADFF888-FBC8-4D0C-9E8C-AC5DE90ADF91}" type="pres">
      <dgm:prSet presAssocID="{77613E4E-113B-41EE-955F-76727D83C738}" presName="parentLin" presStyleCnt="0"/>
      <dgm:spPr/>
    </dgm:pt>
    <dgm:pt modelId="{6E4C71DF-12E2-4A1E-AB5A-880743A5BA1C}" type="pres">
      <dgm:prSet presAssocID="{77613E4E-113B-41EE-955F-76727D83C738}" presName="parentLeftMargin" presStyleLbl="node1" presStyleIdx="0" presStyleCnt="4"/>
      <dgm:spPr/>
    </dgm:pt>
    <dgm:pt modelId="{2A7184BB-52DB-4C52-8420-130E9E3C13B2}" type="pres">
      <dgm:prSet presAssocID="{77613E4E-113B-41EE-955F-76727D83C738}" presName="parentText" presStyleLbl="node1" presStyleIdx="0" presStyleCnt="4">
        <dgm:presLayoutVars>
          <dgm:chMax val="0"/>
          <dgm:bulletEnabled val="1"/>
        </dgm:presLayoutVars>
      </dgm:prSet>
      <dgm:spPr/>
    </dgm:pt>
    <dgm:pt modelId="{CEFA1F0A-959C-49D7-A724-1A2F9AACEFCA}" type="pres">
      <dgm:prSet presAssocID="{77613E4E-113B-41EE-955F-76727D83C738}" presName="negativeSpace" presStyleCnt="0"/>
      <dgm:spPr/>
    </dgm:pt>
    <dgm:pt modelId="{AA9447A5-91BF-4C3A-B005-3C85857BAD48}" type="pres">
      <dgm:prSet presAssocID="{77613E4E-113B-41EE-955F-76727D83C738}" presName="childText" presStyleLbl="conFgAcc1" presStyleIdx="0" presStyleCnt="4">
        <dgm:presLayoutVars>
          <dgm:bulletEnabled val="1"/>
        </dgm:presLayoutVars>
      </dgm:prSet>
      <dgm:spPr>
        <a:solidFill>
          <a:srgbClr val="2F5597"/>
        </a:solidFill>
        <a:ln>
          <a:solidFill>
            <a:srgbClr val="2F5597"/>
          </a:solidFill>
        </a:ln>
      </dgm:spPr>
    </dgm:pt>
    <dgm:pt modelId="{71206B89-6D6F-4065-A4F7-C9CE52A79B44}" type="pres">
      <dgm:prSet presAssocID="{5279F90E-BF5E-4F45-8EED-44C92A6235B8}" presName="spaceBetweenRectangles" presStyleCnt="0"/>
      <dgm:spPr/>
    </dgm:pt>
    <dgm:pt modelId="{E9816913-B8BF-41D3-A25D-2D9AC4CCB148}" type="pres">
      <dgm:prSet presAssocID="{1DE17AFD-E6E7-4E69-BB2F-FD7A6E52C0BD}" presName="parentLin" presStyleCnt="0"/>
      <dgm:spPr/>
    </dgm:pt>
    <dgm:pt modelId="{651E08F0-ABA6-4F03-8E0A-EE693A3E1665}" type="pres">
      <dgm:prSet presAssocID="{1DE17AFD-E6E7-4E69-BB2F-FD7A6E52C0BD}" presName="parentLeftMargin" presStyleLbl="node1" presStyleIdx="0" presStyleCnt="4"/>
      <dgm:spPr/>
    </dgm:pt>
    <dgm:pt modelId="{32005391-0F6F-4CE7-A63B-C0EB18DC9D39}" type="pres">
      <dgm:prSet presAssocID="{1DE17AFD-E6E7-4E69-BB2F-FD7A6E52C0BD}" presName="parentText" presStyleLbl="node1" presStyleIdx="1" presStyleCnt="4">
        <dgm:presLayoutVars>
          <dgm:chMax val="0"/>
          <dgm:bulletEnabled val="1"/>
        </dgm:presLayoutVars>
      </dgm:prSet>
      <dgm:spPr/>
    </dgm:pt>
    <dgm:pt modelId="{06325A17-66CE-400B-A192-8ABD0B4C0DE7}" type="pres">
      <dgm:prSet presAssocID="{1DE17AFD-E6E7-4E69-BB2F-FD7A6E52C0BD}" presName="negativeSpace" presStyleCnt="0"/>
      <dgm:spPr/>
    </dgm:pt>
    <dgm:pt modelId="{B98633E7-1255-400C-97DF-142421D4D9FB}" type="pres">
      <dgm:prSet presAssocID="{1DE17AFD-E6E7-4E69-BB2F-FD7A6E52C0BD}" presName="childText" presStyleLbl="conFgAcc1" presStyleIdx="1" presStyleCnt="4">
        <dgm:presLayoutVars>
          <dgm:bulletEnabled val="1"/>
        </dgm:presLayoutVars>
      </dgm:prSet>
      <dgm:spPr>
        <a:xfrm>
          <a:off x="0" y="1473388"/>
          <a:ext cx="6486385" cy="604800"/>
        </a:xfrm>
        <a:prstGeom prst="rect">
          <a:avLst/>
        </a:prstGeom>
        <a:solidFill>
          <a:srgbClr val="2F5597"/>
        </a:solidFill>
        <a:ln w="12700" cap="flat" cmpd="sng" algn="ctr">
          <a:solidFill>
            <a:srgbClr val="2F5597"/>
          </a:solidFill>
          <a:prstDash val="solid"/>
          <a:miter lim="800000"/>
        </a:ln>
        <a:effectLst/>
      </dgm:spPr>
    </dgm:pt>
    <dgm:pt modelId="{0275BAD8-5BC0-4B3C-A344-92E5F00F206F}" type="pres">
      <dgm:prSet presAssocID="{4B47CE86-DDA2-4F92-A8F6-BF2684A65613}" presName="spaceBetweenRectangles" presStyleCnt="0"/>
      <dgm:spPr/>
    </dgm:pt>
    <dgm:pt modelId="{461C904A-BBCA-4A30-9BAE-08F626A8A2F1}" type="pres">
      <dgm:prSet presAssocID="{D51090BD-496F-453F-A78F-4E3851FDFAC9}" presName="parentLin" presStyleCnt="0"/>
      <dgm:spPr/>
    </dgm:pt>
    <dgm:pt modelId="{C022F0E2-D138-4B75-906C-74F516094EF6}" type="pres">
      <dgm:prSet presAssocID="{D51090BD-496F-453F-A78F-4E3851FDFAC9}" presName="parentLeftMargin" presStyleLbl="node1" presStyleIdx="1" presStyleCnt="4"/>
      <dgm:spPr/>
    </dgm:pt>
    <dgm:pt modelId="{D5E0838E-2154-41F8-AB95-93327E12EB8F}" type="pres">
      <dgm:prSet presAssocID="{D51090BD-496F-453F-A78F-4E3851FDFAC9}" presName="parentText" presStyleLbl="node1" presStyleIdx="2" presStyleCnt="4">
        <dgm:presLayoutVars>
          <dgm:chMax val="0"/>
          <dgm:bulletEnabled val="1"/>
        </dgm:presLayoutVars>
      </dgm:prSet>
      <dgm:spPr/>
    </dgm:pt>
    <dgm:pt modelId="{9B67FD88-6E57-472F-B13A-42E75CB671DD}" type="pres">
      <dgm:prSet presAssocID="{D51090BD-496F-453F-A78F-4E3851FDFAC9}" presName="negativeSpace" presStyleCnt="0"/>
      <dgm:spPr/>
    </dgm:pt>
    <dgm:pt modelId="{C07C73CB-A80D-4B2A-9F42-2A0041437C51}" type="pres">
      <dgm:prSet presAssocID="{D51090BD-496F-453F-A78F-4E3851FDFAC9}" presName="childText" presStyleLbl="conFgAcc1" presStyleIdx="2" presStyleCnt="4">
        <dgm:presLayoutVars>
          <dgm:bulletEnabled val="1"/>
        </dgm:presLayoutVars>
      </dgm:prSet>
      <dgm:spPr>
        <a:xfrm>
          <a:off x="0" y="2562028"/>
          <a:ext cx="6486385" cy="604800"/>
        </a:xfrm>
        <a:prstGeom prst="rect">
          <a:avLst/>
        </a:prstGeom>
        <a:solidFill>
          <a:srgbClr val="2F5597"/>
        </a:solidFill>
        <a:ln w="12700" cap="flat" cmpd="sng" algn="ctr">
          <a:solidFill>
            <a:srgbClr val="2F5597"/>
          </a:solidFill>
          <a:prstDash val="solid"/>
          <a:miter lim="800000"/>
        </a:ln>
        <a:effectLst/>
      </dgm:spPr>
    </dgm:pt>
    <dgm:pt modelId="{13DF217B-FF3A-4C1D-B573-E0F2960A909C}" type="pres">
      <dgm:prSet presAssocID="{0CA0872C-5CCB-4E5B-863E-FF9639D4A646}" presName="spaceBetweenRectangles" presStyleCnt="0"/>
      <dgm:spPr/>
    </dgm:pt>
    <dgm:pt modelId="{7DA20F36-8B75-4AD9-B822-E6C4685E17D3}" type="pres">
      <dgm:prSet presAssocID="{1987560E-09C7-4903-8024-46AC88C06430}" presName="parentLin" presStyleCnt="0"/>
      <dgm:spPr/>
    </dgm:pt>
    <dgm:pt modelId="{B4398EAB-DC35-4BD4-9C2D-301E3FE7FEA3}" type="pres">
      <dgm:prSet presAssocID="{1987560E-09C7-4903-8024-46AC88C06430}" presName="parentLeftMargin" presStyleLbl="node1" presStyleIdx="2" presStyleCnt="4"/>
      <dgm:spPr/>
    </dgm:pt>
    <dgm:pt modelId="{6BC6FA1D-BB93-44BA-BB22-E2DAC2ACF593}" type="pres">
      <dgm:prSet presAssocID="{1987560E-09C7-4903-8024-46AC88C06430}" presName="parentText" presStyleLbl="node1" presStyleIdx="3" presStyleCnt="4">
        <dgm:presLayoutVars>
          <dgm:chMax val="0"/>
          <dgm:bulletEnabled val="1"/>
        </dgm:presLayoutVars>
      </dgm:prSet>
      <dgm:spPr/>
    </dgm:pt>
    <dgm:pt modelId="{A66D9189-5572-4FF9-B280-8EFF3C89342A}" type="pres">
      <dgm:prSet presAssocID="{1987560E-09C7-4903-8024-46AC88C06430}" presName="negativeSpace" presStyleCnt="0"/>
      <dgm:spPr/>
    </dgm:pt>
    <dgm:pt modelId="{52A8A86D-3242-4EA2-9C4C-1BD36AC106D1}" type="pres">
      <dgm:prSet presAssocID="{1987560E-09C7-4903-8024-46AC88C06430}" presName="childText" presStyleLbl="conFgAcc1" presStyleIdx="3" presStyleCnt="4">
        <dgm:presLayoutVars>
          <dgm:bulletEnabled val="1"/>
        </dgm:presLayoutVars>
      </dgm:prSet>
      <dgm:spPr>
        <a:xfrm>
          <a:off x="0" y="3650668"/>
          <a:ext cx="6486385" cy="604800"/>
        </a:xfrm>
        <a:prstGeom prst="rect">
          <a:avLst/>
        </a:prstGeom>
        <a:solidFill>
          <a:srgbClr val="2F5597"/>
        </a:solidFill>
        <a:ln w="12700" cap="flat" cmpd="sng" algn="ctr">
          <a:solidFill>
            <a:srgbClr val="2F5597"/>
          </a:solidFill>
          <a:prstDash val="solid"/>
          <a:miter lim="800000"/>
        </a:ln>
        <a:effectLst/>
      </dgm:spPr>
    </dgm:pt>
  </dgm:ptLst>
  <dgm:cxnLst>
    <dgm:cxn modelId="{C82BF40B-731C-42F0-AAE9-A2E73358CC7A}" type="presOf" srcId="{1987560E-09C7-4903-8024-46AC88C06430}" destId="{6BC6FA1D-BB93-44BA-BB22-E2DAC2ACF593}" srcOrd="1" destOrd="0" presId="urn:microsoft.com/office/officeart/2005/8/layout/list1"/>
    <dgm:cxn modelId="{ACC2B226-9160-4C44-9C38-A4867965EB3B}" srcId="{199054B8-D981-4F34-8C0E-06B9F3465F91}" destId="{D51090BD-496F-453F-A78F-4E3851FDFAC9}" srcOrd="2" destOrd="0" parTransId="{BD3E0CD9-A78C-4324-B899-D078DB6AEAF1}" sibTransId="{0CA0872C-5CCB-4E5B-863E-FF9639D4A646}"/>
    <dgm:cxn modelId="{2C930678-A1DF-41C0-A930-6E6A13EF3800}" type="presOf" srcId="{77613E4E-113B-41EE-955F-76727D83C738}" destId="{6E4C71DF-12E2-4A1E-AB5A-880743A5BA1C}" srcOrd="0" destOrd="0" presId="urn:microsoft.com/office/officeart/2005/8/layout/list1"/>
    <dgm:cxn modelId="{4FC95C86-0421-48B7-9865-E445528DF130}" type="presOf" srcId="{77613E4E-113B-41EE-955F-76727D83C738}" destId="{2A7184BB-52DB-4C52-8420-130E9E3C13B2}" srcOrd="1" destOrd="0" presId="urn:microsoft.com/office/officeart/2005/8/layout/list1"/>
    <dgm:cxn modelId="{7348B295-5CF9-409E-81F0-DEAB1A3B32C0}" srcId="{199054B8-D981-4F34-8C0E-06B9F3465F91}" destId="{1987560E-09C7-4903-8024-46AC88C06430}" srcOrd="3" destOrd="0" parTransId="{1F2AFECC-9E24-497C-9198-E303D12DB515}" sibTransId="{56540752-3A62-4627-8B58-87F7E57B4AD5}"/>
    <dgm:cxn modelId="{7A3FCAA2-B644-4A4A-AEBC-CDE3A4004478}" srcId="{199054B8-D981-4F34-8C0E-06B9F3465F91}" destId="{77613E4E-113B-41EE-955F-76727D83C738}" srcOrd="0" destOrd="0" parTransId="{110BBF70-FADB-416B-BA45-A6472ED1D786}" sibTransId="{5279F90E-BF5E-4F45-8EED-44C92A6235B8}"/>
    <dgm:cxn modelId="{7820B2AC-6E7B-4C21-B358-858AE76770E2}" type="presOf" srcId="{1987560E-09C7-4903-8024-46AC88C06430}" destId="{B4398EAB-DC35-4BD4-9C2D-301E3FE7FEA3}" srcOrd="0" destOrd="0" presId="urn:microsoft.com/office/officeart/2005/8/layout/list1"/>
    <dgm:cxn modelId="{15A2BCAE-5BBD-4AC5-92F2-CFE56FBD3F4A}" srcId="{199054B8-D981-4F34-8C0E-06B9F3465F91}" destId="{1DE17AFD-E6E7-4E69-BB2F-FD7A6E52C0BD}" srcOrd="1" destOrd="0" parTransId="{6D9ADD38-CCE7-4B2C-8790-5BCA0C78F40A}" sibTransId="{4B47CE86-DDA2-4F92-A8F6-BF2684A65613}"/>
    <dgm:cxn modelId="{583F13AF-3D78-427A-AA7A-DA79C9CB30FA}" type="presOf" srcId="{199054B8-D981-4F34-8C0E-06B9F3465F91}" destId="{F517AB00-573C-45CB-B4B8-17111068DCB6}" srcOrd="0" destOrd="0" presId="urn:microsoft.com/office/officeart/2005/8/layout/list1"/>
    <dgm:cxn modelId="{E19E5BCB-97D7-4934-8AEE-524E3AA7AF5F}" type="presOf" srcId="{1DE17AFD-E6E7-4E69-BB2F-FD7A6E52C0BD}" destId="{651E08F0-ABA6-4F03-8E0A-EE693A3E1665}" srcOrd="0" destOrd="0" presId="urn:microsoft.com/office/officeart/2005/8/layout/list1"/>
    <dgm:cxn modelId="{D6BE6CD5-57FE-4CE9-BF31-D65ED182103F}" type="presOf" srcId="{D51090BD-496F-453F-A78F-4E3851FDFAC9}" destId="{C022F0E2-D138-4B75-906C-74F516094EF6}" srcOrd="0" destOrd="0" presId="urn:microsoft.com/office/officeart/2005/8/layout/list1"/>
    <dgm:cxn modelId="{713944EB-ADCF-41DF-878A-7700E2E1A02C}" type="presOf" srcId="{1DE17AFD-E6E7-4E69-BB2F-FD7A6E52C0BD}" destId="{32005391-0F6F-4CE7-A63B-C0EB18DC9D39}" srcOrd="1" destOrd="0" presId="urn:microsoft.com/office/officeart/2005/8/layout/list1"/>
    <dgm:cxn modelId="{E5F098F0-C0F8-4045-B882-FBC26E909C1E}" type="presOf" srcId="{D51090BD-496F-453F-A78F-4E3851FDFAC9}" destId="{D5E0838E-2154-41F8-AB95-93327E12EB8F}" srcOrd="1" destOrd="0" presId="urn:microsoft.com/office/officeart/2005/8/layout/list1"/>
    <dgm:cxn modelId="{E318EB89-2267-4519-B7EF-2DF666D87341}" type="presParOf" srcId="{F517AB00-573C-45CB-B4B8-17111068DCB6}" destId="{6ADFF888-FBC8-4D0C-9E8C-AC5DE90ADF91}" srcOrd="0" destOrd="0" presId="urn:microsoft.com/office/officeart/2005/8/layout/list1"/>
    <dgm:cxn modelId="{EC5B3CE0-914F-4BDD-95B8-43361A4D91A8}" type="presParOf" srcId="{6ADFF888-FBC8-4D0C-9E8C-AC5DE90ADF91}" destId="{6E4C71DF-12E2-4A1E-AB5A-880743A5BA1C}" srcOrd="0" destOrd="0" presId="urn:microsoft.com/office/officeart/2005/8/layout/list1"/>
    <dgm:cxn modelId="{8C455151-6C7C-4EEC-A1A9-F093EA419D2F}" type="presParOf" srcId="{6ADFF888-FBC8-4D0C-9E8C-AC5DE90ADF91}" destId="{2A7184BB-52DB-4C52-8420-130E9E3C13B2}" srcOrd="1" destOrd="0" presId="urn:microsoft.com/office/officeart/2005/8/layout/list1"/>
    <dgm:cxn modelId="{2A6B6383-CBFE-4E1B-A3FC-E6CC37CE9BFF}" type="presParOf" srcId="{F517AB00-573C-45CB-B4B8-17111068DCB6}" destId="{CEFA1F0A-959C-49D7-A724-1A2F9AACEFCA}" srcOrd="1" destOrd="0" presId="urn:microsoft.com/office/officeart/2005/8/layout/list1"/>
    <dgm:cxn modelId="{78489681-6E54-45D9-9D08-EB8E02636C9F}" type="presParOf" srcId="{F517AB00-573C-45CB-B4B8-17111068DCB6}" destId="{AA9447A5-91BF-4C3A-B005-3C85857BAD48}" srcOrd="2" destOrd="0" presId="urn:microsoft.com/office/officeart/2005/8/layout/list1"/>
    <dgm:cxn modelId="{8F7977B5-A4F7-42C3-B19F-5876F8E08AF5}" type="presParOf" srcId="{F517AB00-573C-45CB-B4B8-17111068DCB6}" destId="{71206B89-6D6F-4065-A4F7-C9CE52A79B44}" srcOrd="3" destOrd="0" presId="urn:microsoft.com/office/officeart/2005/8/layout/list1"/>
    <dgm:cxn modelId="{0C5C2DA3-9818-4F59-BF64-654AC74C1BB5}" type="presParOf" srcId="{F517AB00-573C-45CB-B4B8-17111068DCB6}" destId="{E9816913-B8BF-41D3-A25D-2D9AC4CCB148}" srcOrd="4" destOrd="0" presId="urn:microsoft.com/office/officeart/2005/8/layout/list1"/>
    <dgm:cxn modelId="{B1219D6C-6616-49AA-BDA8-021F164A848F}" type="presParOf" srcId="{E9816913-B8BF-41D3-A25D-2D9AC4CCB148}" destId="{651E08F0-ABA6-4F03-8E0A-EE693A3E1665}" srcOrd="0" destOrd="0" presId="urn:microsoft.com/office/officeart/2005/8/layout/list1"/>
    <dgm:cxn modelId="{F75214EC-F51C-4AC9-A8ED-CA9CCB0B7054}" type="presParOf" srcId="{E9816913-B8BF-41D3-A25D-2D9AC4CCB148}" destId="{32005391-0F6F-4CE7-A63B-C0EB18DC9D39}" srcOrd="1" destOrd="0" presId="urn:microsoft.com/office/officeart/2005/8/layout/list1"/>
    <dgm:cxn modelId="{292B28CA-C66F-409F-83B2-996EAFB07553}" type="presParOf" srcId="{F517AB00-573C-45CB-B4B8-17111068DCB6}" destId="{06325A17-66CE-400B-A192-8ABD0B4C0DE7}" srcOrd="5" destOrd="0" presId="urn:microsoft.com/office/officeart/2005/8/layout/list1"/>
    <dgm:cxn modelId="{BFF30802-044B-4B57-B508-92707F4453C8}" type="presParOf" srcId="{F517AB00-573C-45CB-B4B8-17111068DCB6}" destId="{B98633E7-1255-400C-97DF-142421D4D9FB}" srcOrd="6" destOrd="0" presId="urn:microsoft.com/office/officeart/2005/8/layout/list1"/>
    <dgm:cxn modelId="{173D87DA-4D87-4555-8FE2-32AE361596FF}" type="presParOf" srcId="{F517AB00-573C-45CB-B4B8-17111068DCB6}" destId="{0275BAD8-5BC0-4B3C-A344-92E5F00F206F}" srcOrd="7" destOrd="0" presId="urn:microsoft.com/office/officeart/2005/8/layout/list1"/>
    <dgm:cxn modelId="{E45F7B88-A0E3-4CD6-AC68-15169987BDA7}" type="presParOf" srcId="{F517AB00-573C-45CB-B4B8-17111068DCB6}" destId="{461C904A-BBCA-4A30-9BAE-08F626A8A2F1}" srcOrd="8" destOrd="0" presId="urn:microsoft.com/office/officeart/2005/8/layout/list1"/>
    <dgm:cxn modelId="{3E95D25D-6051-45C0-A5DC-6350C712F6FC}" type="presParOf" srcId="{461C904A-BBCA-4A30-9BAE-08F626A8A2F1}" destId="{C022F0E2-D138-4B75-906C-74F516094EF6}" srcOrd="0" destOrd="0" presId="urn:microsoft.com/office/officeart/2005/8/layout/list1"/>
    <dgm:cxn modelId="{93B0D029-BA1E-47A0-B775-F4D098DAC6A6}" type="presParOf" srcId="{461C904A-BBCA-4A30-9BAE-08F626A8A2F1}" destId="{D5E0838E-2154-41F8-AB95-93327E12EB8F}" srcOrd="1" destOrd="0" presId="urn:microsoft.com/office/officeart/2005/8/layout/list1"/>
    <dgm:cxn modelId="{761E6415-D6C0-48F7-878A-5F733E347E1C}" type="presParOf" srcId="{F517AB00-573C-45CB-B4B8-17111068DCB6}" destId="{9B67FD88-6E57-472F-B13A-42E75CB671DD}" srcOrd="9" destOrd="0" presId="urn:microsoft.com/office/officeart/2005/8/layout/list1"/>
    <dgm:cxn modelId="{53B9F71C-769F-4E0B-A4D9-44CEC36CA387}" type="presParOf" srcId="{F517AB00-573C-45CB-B4B8-17111068DCB6}" destId="{C07C73CB-A80D-4B2A-9F42-2A0041437C51}" srcOrd="10" destOrd="0" presId="urn:microsoft.com/office/officeart/2005/8/layout/list1"/>
    <dgm:cxn modelId="{8970B1B7-8012-49BD-9573-9A637BEE98E8}" type="presParOf" srcId="{F517AB00-573C-45CB-B4B8-17111068DCB6}" destId="{13DF217B-FF3A-4C1D-B573-E0F2960A909C}" srcOrd="11" destOrd="0" presId="urn:microsoft.com/office/officeart/2005/8/layout/list1"/>
    <dgm:cxn modelId="{3F5F3E40-5EBB-47E4-9460-702A79CEF613}" type="presParOf" srcId="{F517AB00-573C-45CB-B4B8-17111068DCB6}" destId="{7DA20F36-8B75-4AD9-B822-E6C4685E17D3}" srcOrd="12" destOrd="0" presId="urn:microsoft.com/office/officeart/2005/8/layout/list1"/>
    <dgm:cxn modelId="{6E4E8F08-AAB6-43A0-8322-C8CABD2FBA31}" type="presParOf" srcId="{7DA20F36-8B75-4AD9-B822-E6C4685E17D3}" destId="{B4398EAB-DC35-4BD4-9C2D-301E3FE7FEA3}" srcOrd="0" destOrd="0" presId="urn:microsoft.com/office/officeart/2005/8/layout/list1"/>
    <dgm:cxn modelId="{FACE7837-B067-49A4-A2BE-646F8221350C}" type="presParOf" srcId="{7DA20F36-8B75-4AD9-B822-E6C4685E17D3}" destId="{6BC6FA1D-BB93-44BA-BB22-E2DAC2ACF593}" srcOrd="1" destOrd="0" presId="urn:microsoft.com/office/officeart/2005/8/layout/list1"/>
    <dgm:cxn modelId="{B849CDF2-3C7E-43E4-85C2-A368BDD5FC36}" type="presParOf" srcId="{F517AB00-573C-45CB-B4B8-17111068DCB6}" destId="{A66D9189-5572-4FF9-B280-8EFF3C89342A}" srcOrd="13" destOrd="0" presId="urn:microsoft.com/office/officeart/2005/8/layout/list1"/>
    <dgm:cxn modelId="{620D8B5E-3958-49FF-942B-7CE36AF44828}" type="presParOf" srcId="{F517AB00-573C-45CB-B4B8-17111068DCB6}" destId="{52A8A86D-3242-4EA2-9C4C-1BD36AC106D1}"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819747" cy="4396536"/>
        <a:chOff x="0" y="0"/>
        <a:chExt cx="7819747" cy="4396536"/>
      </a:xfrm>
    </dsp:grpSpPr>
    <dsp:sp modelId="{4B986D21-757C-4E79-A42F-5F003B5A352C}">
      <dsp:nvSpPr>
        <dsp:cNvPr id="4" name="环形箭头 3"/>
        <dsp:cNvSpPr/>
      </dsp:nvSpPr>
      <dsp:spPr bwMode="white">
        <a:xfrm>
          <a:off x="1758234" y="6130"/>
          <a:ext cx="4303279" cy="4303279"/>
        </a:xfrm>
        <a:prstGeom prst="circularArrow">
          <a:avLst>
            <a:gd name="adj1" fmla="val 5000"/>
            <a:gd name="adj2" fmla="val 360000"/>
            <a:gd name="adj3" fmla="val 13733566"/>
            <a:gd name="adj4" fmla="val 17348963"/>
            <a:gd name="adj5" fmla="val 5500"/>
          </a:avLst>
        </a:prstGeom>
      </dsp:spPr>
      <dsp:style>
        <a:lnRef idx="0">
          <a:schemeClr val="accent1"/>
        </a:lnRef>
        <a:fillRef idx="1">
          <a:schemeClr val="accent1">
            <a:tint val="40000"/>
          </a:schemeClr>
        </a:fillRef>
        <a:effectRef idx="0">
          <a:scrgbClr r="0" g="0" b="0"/>
        </a:effectRef>
        <a:fontRef idx="minor"/>
      </dsp:style>
      <dsp:txXfrm>
        <a:off x="1758234" y="6130"/>
        <a:ext cx="4303279" cy="4303279"/>
      </dsp:txXfrm>
    </dsp:sp>
    <dsp:sp modelId="{02D41582-0476-4063-AB2E-F1E5ECFFFA6C}">
      <dsp:nvSpPr>
        <dsp:cNvPr id="3" name="圆角矩形 2"/>
        <dsp:cNvSpPr/>
      </dsp:nvSpPr>
      <dsp:spPr bwMode="white">
        <a:xfrm>
          <a:off x="2885092" y="0"/>
          <a:ext cx="2049564" cy="1024782"/>
        </a:xfrm>
        <a:prstGeom prst="roundRect">
          <a:avLst/>
        </a:prstGeom>
        <a:solidFill>
          <a:srgbClr val="009FC6"/>
        </a:solidFill>
        <a:ln w="38100">
          <a:solidFill>
            <a:srgbClr val="009FC6"/>
          </a:solidFill>
        </a:ln>
      </dsp:spPr>
      <dsp:style>
        <a:lnRef idx="2">
          <a:schemeClr val="lt1"/>
        </a:lnRef>
        <a:fillRef idx="1">
          <a:schemeClr val="accent1"/>
        </a:fillRef>
        <a:effectRef idx="0">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buNone/>
          </a:pPr>
          <a:r>
            <a:rPr lang="zh-CN" altLang="en-US" sz="24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处理机管理</a:t>
          </a:r>
          <a:endParaRPr lang="zh-CN" altLang="en-US" sz="24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endParaRPr>
        </a:p>
      </dsp:txBody>
      <dsp:txXfrm>
        <a:off x="2885092" y="0"/>
        <a:ext cx="2049564" cy="1024782"/>
      </dsp:txXfrm>
    </dsp:sp>
    <dsp:sp modelId="{E1A52243-BFF5-4272-AFBD-B58320990C0D}">
      <dsp:nvSpPr>
        <dsp:cNvPr id="5" name="圆角矩形 4"/>
        <dsp:cNvSpPr/>
      </dsp:nvSpPr>
      <dsp:spPr bwMode="white">
        <a:xfrm>
          <a:off x="4657727" y="1287895"/>
          <a:ext cx="2049564" cy="1024782"/>
        </a:xfrm>
        <a:prstGeom prst="roundRect">
          <a:avLst/>
        </a:prstGeom>
        <a:solidFill>
          <a:srgbClr val="9CCF32"/>
        </a:solidFill>
        <a:ln w="38100">
          <a:solidFill>
            <a:srgbClr val="9CCF32"/>
          </a:solidFill>
        </a:ln>
      </dsp:spPr>
      <dsp:style>
        <a:lnRef idx="2">
          <a:schemeClr val="lt1"/>
        </a:lnRef>
        <a:fillRef idx="1">
          <a:schemeClr val="accent1"/>
        </a:fillRef>
        <a:effectRef idx="0">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存储器管理</a:t>
          </a:r>
        </a:p>
      </dsp:txBody>
      <dsp:txXfrm>
        <a:off x="4657727" y="1287895"/>
        <a:ext cx="2049564" cy="1024782"/>
      </dsp:txXfrm>
    </dsp:sp>
    <dsp:sp modelId="{DC91EE01-EDDF-4CFB-9B10-52B5FFF317A2}">
      <dsp:nvSpPr>
        <dsp:cNvPr id="6" name="圆角矩形 5"/>
        <dsp:cNvSpPr/>
      </dsp:nvSpPr>
      <dsp:spPr bwMode="white">
        <a:xfrm>
          <a:off x="3980641" y="3371754"/>
          <a:ext cx="2049564" cy="1024782"/>
        </a:xfrm>
        <a:prstGeom prst="roundRect">
          <a:avLst/>
        </a:prstGeom>
        <a:solidFill>
          <a:srgbClr val="E54C4E"/>
        </a:solidFill>
        <a:ln w="38100">
          <a:solidFill>
            <a:srgbClr val="E54C4E"/>
          </a:solidFill>
        </a:ln>
      </dsp:spPr>
      <dsp:style>
        <a:lnRef idx="2">
          <a:schemeClr val="lt1"/>
        </a:lnRef>
        <a:fillRef idx="1">
          <a:schemeClr val="accent1"/>
        </a:fillRef>
        <a:effectRef idx="0">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2400" b="1">
              <a:latin typeface="Times New Roman" panose="02020503050405090304" pitchFamily="18" charset="0"/>
              <a:ea typeface="微软雅黑" panose="020B0503020204020204" pitchFamily="34" charset="-122"/>
              <a:cs typeface="Times New Roman" panose="02020503050405090304" pitchFamily="18" charset="0"/>
            </a:rPr>
            <a:t>设备管理</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dsp:txBody>
      <dsp:txXfrm>
        <a:off x="3980641" y="3371754"/>
        <a:ext cx="2049564" cy="1024782"/>
      </dsp:txXfrm>
    </dsp:sp>
    <dsp:sp modelId="{14C047DA-3638-4A6A-9B71-58729EB3173E}">
      <dsp:nvSpPr>
        <dsp:cNvPr id="7" name="圆角矩形 6"/>
        <dsp:cNvSpPr/>
      </dsp:nvSpPr>
      <dsp:spPr bwMode="white">
        <a:xfrm>
          <a:off x="1789542" y="3371754"/>
          <a:ext cx="2049564" cy="1024782"/>
        </a:xfrm>
        <a:prstGeom prst="roundRect">
          <a:avLst/>
        </a:prstGeom>
        <a:solidFill>
          <a:srgbClr val="BA7FAF"/>
        </a:solidFill>
        <a:ln w="38100">
          <a:solidFill>
            <a:srgbClr val="BA7FAF"/>
          </a:solidFill>
        </a:ln>
      </dsp:spPr>
      <dsp:style>
        <a:lnRef idx="2">
          <a:schemeClr val="lt1"/>
        </a:lnRef>
        <a:fillRef idx="1">
          <a:schemeClr val="accent1"/>
        </a:fillRef>
        <a:effectRef idx="0">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文件管理</a:t>
          </a:r>
        </a:p>
      </dsp:txBody>
      <dsp:txXfrm>
        <a:off x="1789542" y="3371754"/>
        <a:ext cx="2049564" cy="1024782"/>
      </dsp:txXfrm>
    </dsp:sp>
    <dsp:sp modelId="{2E55E3DE-9006-465A-B67E-F3BC1BCDEEE8}">
      <dsp:nvSpPr>
        <dsp:cNvPr id="8" name="圆角矩形 7"/>
        <dsp:cNvSpPr/>
      </dsp:nvSpPr>
      <dsp:spPr bwMode="white">
        <a:xfrm>
          <a:off x="1112456" y="1287895"/>
          <a:ext cx="2049564" cy="1024782"/>
        </a:xfrm>
        <a:prstGeom prst="roundRect">
          <a:avLst/>
        </a:prstGeom>
        <a:solidFill>
          <a:srgbClr val="FEBF3C"/>
        </a:solidFill>
        <a:ln w="38100">
          <a:solidFill>
            <a:srgbClr val="FEBF3C"/>
          </a:solidFill>
        </a:ln>
      </dsp:spPr>
      <dsp:style>
        <a:lnRef idx="2">
          <a:schemeClr val="lt1"/>
        </a:lnRef>
        <a:fillRef idx="1">
          <a:schemeClr val="accent1"/>
        </a:fillRef>
        <a:effectRef idx="0">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用户接口</a:t>
          </a:r>
        </a:p>
      </dsp:txBody>
      <dsp:txXfrm>
        <a:off x="1112456" y="1287895"/>
        <a:ext cx="2049564" cy="1024782"/>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335520" cy="5627742"/>
        <a:chOff x="0" y="0"/>
        <a:chExt cx="7335520" cy="5627742"/>
      </a:xfrm>
    </dsp:grpSpPr>
    <dsp:sp modelId="{D2030072-27AD-406A-84AE-0966EE003465}">
      <dsp:nvSpPr>
        <dsp:cNvPr id="3" name="圆角矩形 2"/>
        <dsp:cNvSpPr/>
      </dsp:nvSpPr>
      <dsp:spPr bwMode="white">
        <a:xfrm>
          <a:off x="0" y="26031"/>
          <a:ext cx="7335520" cy="823680"/>
        </a:xfrm>
        <a:prstGeom prst="roundRect">
          <a:avLst/>
        </a:prstGeom>
        <a:solidFill>
          <a:schemeClr val="accent1">
            <a:lumMod val="75000"/>
          </a:schemeClr>
        </a:solidFill>
      </dsp:spPr>
      <dsp:style>
        <a:lnRef idx="2">
          <a:schemeClr val="lt1"/>
        </a:lnRef>
        <a:fillRef idx="1">
          <a:schemeClr val="accent2"/>
        </a:fillRef>
        <a:effectRef idx="0">
          <a:scrgbClr r="0" g="0" b="0"/>
        </a:effectRef>
        <a:fontRef idx="minor">
          <a:schemeClr val="lt1"/>
        </a:fontRef>
      </dsp:style>
      <dsp:txBody>
        <a:bodyPr vert="horz" wrap="square" lIns="558556" tIns="83820" rIns="83820" bIns="838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存储器的层次结构</a:t>
          </a:r>
        </a:p>
      </dsp:txBody>
      <dsp:txXfrm>
        <a:off x="0" y="26031"/>
        <a:ext cx="7335520" cy="823680"/>
      </dsp:txXfrm>
    </dsp:sp>
    <dsp:sp modelId="{9D955F22-870E-4516-9F36-BFA399447422}">
      <dsp:nvSpPr>
        <dsp:cNvPr id="4" name="圆角矩形 3"/>
        <dsp:cNvSpPr/>
      </dsp:nvSpPr>
      <dsp:spPr bwMode="white">
        <a:xfrm>
          <a:off x="0" y="976431"/>
          <a:ext cx="7335520" cy="823680"/>
        </a:xfrm>
        <a:prstGeom prst="roundRect">
          <a:avLst/>
        </a:prstGeom>
        <a:solidFill>
          <a:schemeClr val="accent1">
            <a:lumMod val="75000"/>
          </a:schemeClr>
        </a:solidFill>
      </dsp:spPr>
      <dsp:style>
        <a:lnRef idx="2">
          <a:schemeClr val="lt1"/>
        </a:lnRef>
        <a:fillRef idx="1">
          <a:schemeClr val="accent3"/>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程序的装入和链接</a:t>
          </a:r>
        </a:p>
      </dsp:txBody>
      <dsp:txXfrm>
        <a:off x="0" y="976431"/>
        <a:ext cx="7335520" cy="823680"/>
      </dsp:txXfrm>
    </dsp:sp>
    <dsp:sp modelId="{6F219609-DD04-44CD-8464-34C16D707E20}">
      <dsp:nvSpPr>
        <dsp:cNvPr id="5" name="圆角矩形 4"/>
        <dsp:cNvSpPr/>
      </dsp:nvSpPr>
      <dsp:spPr bwMode="white">
        <a:xfrm>
          <a:off x="0" y="1926831"/>
          <a:ext cx="7335520" cy="823680"/>
        </a:xfrm>
        <a:prstGeom prst="roundRect">
          <a:avLst/>
        </a:prstGeom>
        <a:solidFill>
          <a:schemeClr val="accent1">
            <a:lumMod val="75000"/>
          </a:schemeClr>
        </a:solidFill>
      </dsp:spPr>
      <dsp:style>
        <a:lnRef idx="2">
          <a:schemeClr val="lt1"/>
        </a:lnRef>
        <a:fillRef idx="1">
          <a:schemeClr val="accent4"/>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连续分配存储管理方式</a:t>
          </a:r>
        </a:p>
      </dsp:txBody>
      <dsp:txXfrm>
        <a:off x="0" y="1926831"/>
        <a:ext cx="7335520" cy="823680"/>
      </dsp:txXfrm>
    </dsp:sp>
    <dsp:sp modelId="{E55D7849-AFAE-4859-9368-B9591CC879BF}">
      <dsp:nvSpPr>
        <dsp:cNvPr id="6" name="圆角矩形 5"/>
        <dsp:cNvSpPr/>
      </dsp:nvSpPr>
      <dsp:spPr bwMode="white">
        <a:xfrm>
          <a:off x="0" y="2877231"/>
          <a:ext cx="7335520" cy="823680"/>
        </a:xfrm>
        <a:prstGeom prst="roundRect">
          <a:avLst/>
        </a:prstGeom>
        <a:solidFill>
          <a:schemeClr val="accent1">
            <a:lumMod val="75000"/>
          </a:schemeClr>
        </a:solidFill>
      </dsp:spPr>
      <dsp:style>
        <a:lnRef idx="2">
          <a:schemeClr val="lt1"/>
        </a:lnRef>
        <a:fillRef idx="1">
          <a:schemeClr val="accent5"/>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对换（</a:t>
          </a:r>
          <a:r>
            <a:rPr lang="en-US" altLang="zh-CN" sz="3200" b="1" kern="1200" dirty="0">
              <a:latin typeface="微软雅黑" panose="020B0503020204020204" pitchFamily="34" charset="-122"/>
              <a:ea typeface="微软雅黑" panose="020B0503020204020204" pitchFamily="34" charset="-122"/>
              <a:cs typeface="+mn-cs"/>
            </a:rPr>
            <a:t>Swapping</a:t>
          </a:r>
          <a:r>
            <a:rPr lang="zh-CN" altLang="en-US" sz="3200" b="1" kern="1200" dirty="0">
              <a:latin typeface="微软雅黑" panose="020B0503020204020204" pitchFamily="34" charset="-122"/>
              <a:ea typeface="微软雅黑" panose="020B0503020204020204" pitchFamily="34" charset="-122"/>
              <a:cs typeface="+mn-cs"/>
            </a:rPr>
            <a:t>）</a:t>
          </a:r>
        </a:p>
      </dsp:txBody>
      <dsp:txXfrm>
        <a:off x="0" y="2877231"/>
        <a:ext cx="7335520" cy="823680"/>
      </dsp:txXfrm>
    </dsp:sp>
    <dsp:sp modelId="{232815BA-619A-4614-9627-2F42AED66E49}">
      <dsp:nvSpPr>
        <dsp:cNvPr id="7" name="圆角矩形 6"/>
        <dsp:cNvSpPr/>
      </dsp:nvSpPr>
      <dsp:spPr bwMode="white">
        <a:xfrm>
          <a:off x="0" y="3827631"/>
          <a:ext cx="7335520" cy="823680"/>
        </a:xfrm>
        <a:prstGeom prst="roundRect">
          <a:avLst/>
        </a:prstGeom>
        <a:solidFill>
          <a:schemeClr val="accent1">
            <a:lumMod val="75000"/>
          </a:schemeClr>
        </a:solidFill>
      </dsp:spPr>
      <dsp:style>
        <a:lnRef idx="2">
          <a:schemeClr val="lt1"/>
        </a:lnRef>
        <a:fillRef idx="1">
          <a:schemeClr val="accent6"/>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分页存储管理方式</a:t>
          </a:r>
        </a:p>
      </dsp:txBody>
      <dsp:txXfrm>
        <a:off x="0" y="3827631"/>
        <a:ext cx="7335520" cy="823680"/>
      </dsp:txXfrm>
    </dsp:sp>
    <dsp:sp modelId="{E0DD0EBA-5357-496A-800C-A32E8C411ACA}">
      <dsp:nvSpPr>
        <dsp:cNvPr id="8" name="圆角矩形 7"/>
        <dsp:cNvSpPr/>
      </dsp:nvSpPr>
      <dsp:spPr bwMode="white">
        <a:xfrm>
          <a:off x="0" y="4778031"/>
          <a:ext cx="7335520" cy="823680"/>
        </a:xfrm>
        <a:prstGeom prst="roundRect">
          <a:avLst/>
        </a:prstGeom>
        <a:solidFill>
          <a:schemeClr val="accent1">
            <a:lumMod val="75000"/>
          </a:schemeClr>
        </a:solidFill>
      </dsp:spPr>
      <dsp:style>
        <a:lnRef idx="2">
          <a:schemeClr val="lt1"/>
        </a:lnRef>
        <a:fillRef idx="1">
          <a:schemeClr val="accent2"/>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分段存储管理方式</a:t>
          </a:r>
        </a:p>
      </dsp:txBody>
      <dsp:txXfrm>
        <a:off x="0" y="4778031"/>
        <a:ext cx="7335520" cy="823680"/>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335520" cy="5627742"/>
        <a:chOff x="0" y="0"/>
        <a:chExt cx="7335520" cy="5627742"/>
      </a:xfrm>
    </dsp:grpSpPr>
    <dsp:sp modelId="{D2030072-27AD-406A-84AE-0966EE003465}">
      <dsp:nvSpPr>
        <dsp:cNvPr id="3" name="圆角矩形 2"/>
        <dsp:cNvSpPr/>
      </dsp:nvSpPr>
      <dsp:spPr bwMode="white">
        <a:xfrm>
          <a:off x="0" y="26031"/>
          <a:ext cx="7335520" cy="823680"/>
        </a:xfrm>
        <a:prstGeom prst="roundRect">
          <a:avLst/>
        </a:prstGeom>
        <a:solidFill>
          <a:schemeClr val="bg1"/>
        </a:solidFill>
        <a:ln>
          <a:solidFill>
            <a:srgbClr val="2F5597"/>
          </a:solidFill>
        </a:ln>
      </dsp:spPr>
      <dsp:style>
        <a:lnRef idx="2">
          <a:schemeClr val="lt1"/>
        </a:lnRef>
        <a:fillRef idx="1">
          <a:schemeClr val="accent2"/>
        </a:fillRef>
        <a:effectRef idx="0">
          <a:scrgbClr r="0" g="0" b="0"/>
        </a:effectRef>
        <a:fontRef idx="minor">
          <a:schemeClr val="lt1"/>
        </a:fontRef>
      </dsp:style>
      <dsp:txBody>
        <a:bodyPr vert="horz" wrap="square" lIns="558556" tIns="83820" rIns="83820" bIns="838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srgbClr val="2F5597"/>
              </a:solidFill>
              <a:latin typeface="微软雅黑" panose="020B0503020204020204" pitchFamily="34" charset="-122"/>
              <a:ea typeface="微软雅黑" panose="020B0503020204020204" pitchFamily="34" charset="-122"/>
              <a:cs typeface="+mn-cs"/>
            </a:rPr>
            <a:t>存储器的层次结构</a:t>
          </a:r>
        </a:p>
      </dsp:txBody>
      <dsp:txXfrm>
        <a:off x="0" y="26031"/>
        <a:ext cx="7335520" cy="823680"/>
      </dsp:txXfrm>
    </dsp:sp>
    <dsp:sp modelId="{9D955F22-870E-4516-9F36-BFA399447422}">
      <dsp:nvSpPr>
        <dsp:cNvPr id="4" name="圆角矩形 3"/>
        <dsp:cNvSpPr/>
      </dsp:nvSpPr>
      <dsp:spPr bwMode="white">
        <a:xfrm>
          <a:off x="0" y="976431"/>
          <a:ext cx="7335520" cy="823680"/>
        </a:xfrm>
        <a:prstGeom prst="roundRect">
          <a:avLst/>
        </a:prstGeom>
        <a:solidFill>
          <a:schemeClr val="accent1">
            <a:lumMod val="75000"/>
          </a:schemeClr>
        </a:solidFill>
      </dsp:spPr>
      <dsp:style>
        <a:lnRef idx="2">
          <a:schemeClr val="lt1"/>
        </a:lnRef>
        <a:fillRef idx="1">
          <a:schemeClr val="accent3"/>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程序的装入和链接</a:t>
          </a:r>
        </a:p>
      </dsp:txBody>
      <dsp:txXfrm>
        <a:off x="0" y="976431"/>
        <a:ext cx="7335520" cy="823680"/>
      </dsp:txXfrm>
    </dsp:sp>
    <dsp:sp modelId="{6F219609-DD04-44CD-8464-34C16D707E20}">
      <dsp:nvSpPr>
        <dsp:cNvPr id="5" name="圆角矩形 4"/>
        <dsp:cNvSpPr/>
      </dsp:nvSpPr>
      <dsp:spPr bwMode="white">
        <a:xfrm>
          <a:off x="0" y="1926831"/>
          <a:ext cx="7335520" cy="823680"/>
        </a:xfrm>
        <a:prstGeom prst="roundRect">
          <a:avLst/>
        </a:prstGeom>
        <a:solidFill>
          <a:schemeClr val="accent1">
            <a:lumMod val="75000"/>
          </a:schemeClr>
        </a:solidFill>
      </dsp:spPr>
      <dsp:style>
        <a:lnRef idx="2">
          <a:schemeClr val="lt1"/>
        </a:lnRef>
        <a:fillRef idx="1">
          <a:schemeClr val="accent4"/>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连续分配存储管理方式</a:t>
          </a:r>
        </a:p>
      </dsp:txBody>
      <dsp:txXfrm>
        <a:off x="0" y="1926831"/>
        <a:ext cx="7335520" cy="823680"/>
      </dsp:txXfrm>
    </dsp:sp>
    <dsp:sp modelId="{E55D7849-AFAE-4859-9368-B9591CC879BF}">
      <dsp:nvSpPr>
        <dsp:cNvPr id="6" name="圆角矩形 5"/>
        <dsp:cNvSpPr/>
      </dsp:nvSpPr>
      <dsp:spPr bwMode="white">
        <a:xfrm>
          <a:off x="0" y="2877231"/>
          <a:ext cx="7335520" cy="823680"/>
        </a:xfrm>
        <a:prstGeom prst="roundRect">
          <a:avLst/>
        </a:prstGeom>
        <a:solidFill>
          <a:schemeClr val="accent1">
            <a:lumMod val="75000"/>
          </a:schemeClr>
        </a:solidFill>
      </dsp:spPr>
      <dsp:style>
        <a:lnRef idx="2">
          <a:schemeClr val="lt1"/>
        </a:lnRef>
        <a:fillRef idx="1">
          <a:schemeClr val="accent5"/>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对换（</a:t>
          </a:r>
          <a:r>
            <a:rPr lang="en-US" altLang="zh-CN" sz="3200" b="1" kern="1200" dirty="0">
              <a:latin typeface="微软雅黑" panose="020B0503020204020204" pitchFamily="34" charset="-122"/>
              <a:ea typeface="微软雅黑" panose="020B0503020204020204" pitchFamily="34" charset="-122"/>
              <a:cs typeface="+mn-cs"/>
            </a:rPr>
            <a:t>Swapping</a:t>
          </a:r>
          <a:r>
            <a:rPr lang="zh-CN" altLang="en-US" sz="3200" b="1" kern="1200" dirty="0">
              <a:latin typeface="微软雅黑" panose="020B0503020204020204" pitchFamily="34" charset="-122"/>
              <a:ea typeface="微软雅黑" panose="020B0503020204020204" pitchFamily="34" charset="-122"/>
              <a:cs typeface="+mn-cs"/>
            </a:rPr>
            <a:t>）</a:t>
          </a:r>
        </a:p>
      </dsp:txBody>
      <dsp:txXfrm>
        <a:off x="0" y="2877231"/>
        <a:ext cx="7335520" cy="823680"/>
      </dsp:txXfrm>
    </dsp:sp>
    <dsp:sp modelId="{232815BA-619A-4614-9627-2F42AED66E49}">
      <dsp:nvSpPr>
        <dsp:cNvPr id="7" name="圆角矩形 6"/>
        <dsp:cNvSpPr/>
      </dsp:nvSpPr>
      <dsp:spPr bwMode="white">
        <a:xfrm>
          <a:off x="0" y="3827631"/>
          <a:ext cx="7335520" cy="823680"/>
        </a:xfrm>
        <a:prstGeom prst="roundRect">
          <a:avLst/>
        </a:prstGeom>
        <a:solidFill>
          <a:schemeClr val="accent1">
            <a:lumMod val="75000"/>
          </a:schemeClr>
        </a:solidFill>
      </dsp:spPr>
      <dsp:style>
        <a:lnRef idx="2">
          <a:schemeClr val="lt1"/>
        </a:lnRef>
        <a:fillRef idx="1">
          <a:schemeClr val="accent6"/>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分页存储管理方式</a:t>
          </a:r>
        </a:p>
      </dsp:txBody>
      <dsp:txXfrm>
        <a:off x="0" y="3827631"/>
        <a:ext cx="7335520" cy="823680"/>
      </dsp:txXfrm>
    </dsp:sp>
    <dsp:sp modelId="{E0DD0EBA-5357-496A-800C-A32E8C411ACA}">
      <dsp:nvSpPr>
        <dsp:cNvPr id="8" name="圆角矩形 7"/>
        <dsp:cNvSpPr/>
      </dsp:nvSpPr>
      <dsp:spPr bwMode="white">
        <a:xfrm>
          <a:off x="0" y="4778031"/>
          <a:ext cx="7335520" cy="823680"/>
        </a:xfrm>
        <a:prstGeom prst="roundRect">
          <a:avLst/>
        </a:prstGeom>
        <a:solidFill>
          <a:schemeClr val="accent1">
            <a:lumMod val="75000"/>
          </a:schemeClr>
        </a:solidFill>
      </dsp:spPr>
      <dsp:style>
        <a:lnRef idx="2">
          <a:schemeClr val="lt1"/>
        </a:lnRef>
        <a:fillRef idx="1">
          <a:schemeClr val="accent2"/>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分段存储管理方式</a:t>
          </a:r>
        </a:p>
      </dsp:txBody>
      <dsp:txXfrm>
        <a:off x="0" y="4778031"/>
        <a:ext cx="7335520" cy="823680"/>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486385" cy="4064000"/>
        <a:chOff x="0" y="0"/>
        <a:chExt cx="6486385" cy="4064000"/>
      </a:xfrm>
    </dsp:grpSpPr>
    <dsp:sp modelId="{AA9447A5-91BF-4C3A-B005-3C85857BAD48}">
      <dsp:nvSpPr>
        <dsp:cNvPr id="5" name="矩形 4"/>
        <dsp:cNvSpPr/>
      </dsp:nvSpPr>
      <dsp:spPr bwMode="white">
        <a:xfrm>
          <a:off x="0" y="464020"/>
          <a:ext cx="6486385" cy="781200"/>
        </a:xfrm>
        <a:prstGeom prst="rect">
          <a:avLst/>
        </a:prstGeom>
        <a:solidFill>
          <a:srgbClr val="2F5597"/>
        </a:solidFill>
        <a:ln>
          <a:solidFill>
            <a:srgbClr val="2F5597"/>
          </a:solidFill>
        </a:ln>
      </dsp:spPr>
      <dsp:style>
        <a:lnRef idx="2">
          <a:schemeClr val="accent1"/>
        </a:lnRef>
        <a:fillRef idx="1">
          <a:schemeClr val="lt1">
            <a:alpha val="90000"/>
          </a:schemeClr>
        </a:fillRef>
        <a:effectRef idx="0">
          <a:scrgbClr r="0" g="0" b="0"/>
        </a:effectRef>
        <a:fontRef idx="minor"/>
      </dsp:style>
      <dsp:txBody>
        <a:bodyPr lIns="503415" tIns="645668" rIns="503415" bIns="220472" anchor="t"/>
        <a:lstStyle>
          <a:lvl1pPr algn="l">
            <a:defRPr sz="3100"/>
          </a:lvl1pPr>
          <a:lvl2pPr marL="285750" indent="-285750" algn="l">
            <a:defRPr sz="3100"/>
          </a:lvl2pPr>
          <a:lvl3pPr marL="571500" indent="-285750" algn="l">
            <a:defRPr sz="3100"/>
          </a:lvl3pPr>
          <a:lvl4pPr marL="857250" indent="-285750" algn="l">
            <a:defRPr sz="3100"/>
          </a:lvl4pPr>
          <a:lvl5pPr marL="1143000" indent="-285750" algn="l">
            <a:defRPr sz="3100"/>
          </a:lvl5pPr>
          <a:lvl6pPr marL="1428750" indent="-285750" algn="l">
            <a:defRPr sz="3100"/>
          </a:lvl6pPr>
          <a:lvl7pPr marL="1714500" indent="-285750" algn="l">
            <a:defRPr sz="3100"/>
          </a:lvl7pPr>
          <a:lvl8pPr marL="2000250" indent="-285750" algn="l">
            <a:defRPr sz="3100"/>
          </a:lvl8pPr>
          <a:lvl9pPr marL="2286000" indent="-285750" algn="l">
            <a:defRPr sz="3100"/>
          </a:lvl9pPr>
        </a:lstStyle>
        <a:p>
          <a:endParaRPr>
            <a:solidFill>
              <a:schemeClr val="dk1"/>
            </a:solidFill>
          </a:endParaRPr>
        </a:p>
      </dsp:txBody>
      <dsp:txXfrm>
        <a:off x="0" y="464020"/>
        <a:ext cx="6486385" cy="781200"/>
      </dsp:txXfrm>
    </dsp:sp>
    <dsp:sp modelId="{2A7184BB-52DB-4C52-8420-130E9E3C13B2}">
      <dsp:nvSpPr>
        <dsp:cNvPr id="4" name="圆角矩形 3"/>
        <dsp:cNvSpPr/>
      </dsp:nvSpPr>
      <dsp:spPr bwMode="white">
        <a:xfrm>
          <a:off x="324319" y="6460"/>
          <a:ext cx="4540469" cy="91512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31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pPr lvl="0">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多层结构的存储器系统</a:t>
          </a:r>
        </a:p>
      </dsp:txBody>
      <dsp:txXfrm>
        <a:off x="324319" y="6460"/>
        <a:ext cx="4540469" cy="915120"/>
      </dsp:txXfrm>
    </dsp:sp>
    <dsp:sp modelId="{4264AB04-445F-491A-B80F-245EF36125F9}">
      <dsp:nvSpPr>
        <dsp:cNvPr id="8" name="矩形 7"/>
        <dsp:cNvSpPr/>
      </dsp:nvSpPr>
      <dsp:spPr bwMode="white">
        <a:xfrm>
          <a:off x="0" y="1870180"/>
          <a:ext cx="6486385" cy="781200"/>
        </a:xfrm>
        <a:prstGeom prst="rect">
          <a:avLst/>
        </a:prstGeom>
        <a:solidFill>
          <a:srgbClr val="2F5597"/>
        </a:solidFill>
        <a:ln>
          <a:solidFill>
            <a:srgbClr val="2F5597"/>
          </a:solidFill>
        </a:ln>
      </dsp:spPr>
      <dsp:style>
        <a:lnRef idx="2">
          <a:schemeClr val="accent1"/>
        </a:lnRef>
        <a:fillRef idx="1">
          <a:schemeClr val="lt1">
            <a:alpha val="90000"/>
          </a:schemeClr>
        </a:fillRef>
        <a:effectRef idx="0">
          <a:scrgbClr r="0" g="0" b="0"/>
        </a:effectRef>
        <a:fontRef idx="minor"/>
      </dsp:style>
      <dsp:txBody>
        <a:bodyPr lIns="503415" tIns="645668" rIns="503415" bIns="220472" anchor="t"/>
        <a:lstStyle>
          <a:lvl1pPr algn="l">
            <a:defRPr sz="3100"/>
          </a:lvl1pPr>
          <a:lvl2pPr marL="285750" indent="-285750" algn="l">
            <a:defRPr sz="3100"/>
          </a:lvl2pPr>
          <a:lvl3pPr marL="571500" indent="-285750" algn="l">
            <a:defRPr sz="3100"/>
          </a:lvl3pPr>
          <a:lvl4pPr marL="857250" indent="-285750" algn="l">
            <a:defRPr sz="3100"/>
          </a:lvl4pPr>
          <a:lvl5pPr marL="1143000" indent="-285750" algn="l">
            <a:defRPr sz="3100"/>
          </a:lvl5pPr>
          <a:lvl6pPr marL="1428750" indent="-285750" algn="l">
            <a:defRPr sz="3100"/>
          </a:lvl6pPr>
          <a:lvl7pPr marL="1714500" indent="-285750" algn="l">
            <a:defRPr sz="3100"/>
          </a:lvl7pPr>
          <a:lvl8pPr marL="2000250" indent="-285750" algn="l">
            <a:defRPr sz="3100"/>
          </a:lvl8pPr>
          <a:lvl9pPr marL="2286000" indent="-285750" algn="l">
            <a:defRPr sz="3100"/>
          </a:lvl9pPr>
        </a:lstStyle>
        <a:p>
          <a:endParaRPr>
            <a:solidFill>
              <a:schemeClr val="dk1"/>
            </a:solidFill>
          </a:endParaRPr>
        </a:p>
      </dsp:txBody>
      <dsp:txXfrm>
        <a:off x="0" y="1870180"/>
        <a:ext cx="6486385" cy="781200"/>
      </dsp:txXfrm>
    </dsp:sp>
    <dsp:sp modelId="{15929688-8977-4B27-ABE3-EF94CB5A721A}">
      <dsp:nvSpPr>
        <dsp:cNvPr id="7" name="圆角矩形 6"/>
        <dsp:cNvSpPr/>
      </dsp:nvSpPr>
      <dsp:spPr bwMode="white">
        <a:xfrm>
          <a:off x="324319" y="1412620"/>
          <a:ext cx="4540469" cy="91512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31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pPr lvl="0">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主存储器与寄存器</a:t>
          </a:r>
        </a:p>
      </dsp:txBody>
      <dsp:txXfrm>
        <a:off x="324319" y="1412620"/>
        <a:ext cx="4540469" cy="915120"/>
      </dsp:txXfrm>
    </dsp:sp>
    <dsp:sp modelId="{1DC2861F-9B11-41DE-B4BA-FA2C673DEA93}">
      <dsp:nvSpPr>
        <dsp:cNvPr id="11" name="矩形 10"/>
        <dsp:cNvSpPr/>
      </dsp:nvSpPr>
      <dsp:spPr bwMode="white">
        <a:xfrm>
          <a:off x="0" y="3276340"/>
          <a:ext cx="6486385" cy="781200"/>
        </a:xfrm>
        <a:prstGeom prst="rect">
          <a:avLst/>
        </a:prstGeom>
        <a:solidFill>
          <a:srgbClr val="2F5597"/>
        </a:solidFill>
        <a:ln>
          <a:solidFill>
            <a:srgbClr val="2F5597"/>
          </a:solidFill>
        </a:ln>
      </dsp:spPr>
      <dsp:style>
        <a:lnRef idx="2">
          <a:schemeClr val="accent1"/>
        </a:lnRef>
        <a:fillRef idx="1">
          <a:schemeClr val="lt1">
            <a:alpha val="90000"/>
          </a:schemeClr>
        </a:fillRef>
        <a:effectRef idx="0">
          <a:scrgbClr r="0" g="0" b="0"/>
        </a:effectRef>
        <a:fontRef idx="minor"/>
      </dsp:style>
      <dsp:txBody>
        <a:bodyPr lIns="503415" tIns="645668" rIns="503415" bIns="220472" anchor="t"/>
        <a:lstStyle>
          <a:lvl1pPr algn="l">
            <a:defRPr sz="3100"/>
          </a:lvl1pPr>
          <a:lvl2pPr marL="285750" indent="-285750" algn="l">
            <a:defRPr sz="3100"/>
          </a:lvl2pPr>
          <a:lvl3pPr marL="571500" indent="-285750" algn="l">
            <a:defRPr sz="3100"/>
          </a:lvl3pPr>
          <a:lvl4pPr marL="857250" indent="-285750" algn="l">
            <a:defRPr sz="3100"/>
          </a:lvl4pPr>
          <a:lvl5pPr marL="1143000" indent="-285750" algn="l">
            <a:defRPr sz="3100"/>
          </a:lvl5pPr>
          <a:lvl6pPr marL="1428750" indent="-285750" algn="l">
            <a:defRPr sz="3100"/>
          </a:lvl6pPr>
          <a:lvl7pPr marL="1714500" indent="-285750" algn="l">
            <a:defRPr sz="3100"/>
          </a:lvl7pPr>
          <a:lvl8pPr marL="2000250" indent="-285750" algn="l">
            <a:defRPr sz="3100"/>
          </a:lvl8pPr>
          <a:lvl9pPr marL="2286000" indent="-285750" algn="l">
            <a:defRPr sz="3100"/>
          </a:lvl9pPr>
        </a:lstStyle>
        <a:p>
          <a:endParaRPr>
            <a:solidFill>
              <a:schemeClr val="dk1"/>
            </a:solidFill>
          </a:endParaRPr>
        </a:p>
      </dsp:txBody>
      <dsp:txXfrm>
        <a:off x="0" y="3276340"/>
        <a:ext cx="6486385" cy="781200"/>
      </dsp:txXfrm>
    </dsp:sp>
    <dsp:sp modelId="{CC263621-897E-4BCA-AE43-F3755E9C56BA}">
      <dsp:nvSpPr>
        <dsp:cNvPr id="10" name="圆角矩形 9"/>
        <dsp:cNvSpPr/>
      </dsp:nvSpPr>
      <dsp:spPr bwMode="white">
        <a:xfrm>
          <a:off x="324319" y="2818780"/>
          <a:ext cx="4540469" cy="91512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31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pPr lvl="0">
            <a:lnSpc>
              <a:spcPct val="100000"/>
            </a:lnSpc>
            <a:spcBef>
              <a:spcPct val="0"/>
            </a:spcBef>
            <a:spcAft>
              <a:spcPct val="35000"/>
            </a:spcAft>
            <a:buClrTx/>
            <a:buSzTx/>
            <a:buFontTx/>
            <a:buNone/>
          </a:pPr>
          <a:r>
            <a:rPr kumimoji="1" lang="zh-CN" altLang="en-US" sz="2800" b="1" i="0" u="none" strike="noStrike" cap="none" spc="0" normalizeH="0" baseline="0" noProof="0" dirty="0">
              <a:ln>
                <a:noFill/>
              </a:ln>
              <a:solidFill>
                <a:srgbClr val="2F5597"/>
              </a:solidFill>
              <a:effectLst/>
              <a:uLnTx/>
              <a:uFillTx/>
              <a:latin typeface="微软雅黑" panose="020B0503020204020204" pitchFamily="34" charset="-122"/>
              <a:ea typeface="微软雅黑" panose="020B0503020204020204" pitchFamily="34" charset="-122"/>
              <a:cs typeface="+mn-cs"/>
            </a:rPr>
            <a:t>高速缓存和磁盘缓存</a:t>
          </a:r>
          <a:endParaRPr lang="zh-CN" altLang="en-US" sz="2800" b="1" dirty="0">
            <a:solidFill>
              <a:srgbClr val="2F5597"/>
            </a:solidFill>
            <a:latin typeface="微软雅黑" panose="020B0503020204020204" pitchFamily="34" charset="-122"/>
            <a:ea typeface="微软雅黑" panose="020B0503020204020204" pitchFamily="34" charset="-122"/>
          </a:endParaRPr>
        </a:p>
      </dsp:txBody>
      <dsp:txXfrm>
        <a:off x="324319" y="2818780"/>
        <a:ext cx="4540469" cy="915120"/>
      </dsp:txXfrm>
    </dsp:sp>
    <dsp:sp modelId="{6E4C71DF-12E2-4A1E-AB5A-880743A5BA1C}">
      <dsp:nvSpPr>
        <dsp:cNvPr id="3" name="矩形 2" hidden="1"/>
        <dsp:cNvSpPr/>
      </dsp:nvSpPr>
      <dsp:spPr>
        <a:xfrm>
          <a:off x="0" y="6460"/>
          <a:ext cx="324319" cy="915120"/>
        </a:xfrm>
        <a:prstGeom prst="rect">
          <a:avLst/>
        </a:prstGeom>
      </dsp:spPr>
      <dsp:txXfrm>
        <a:off x="0" y="6460"/>
        <a:ext cx="324319" cy="915120"/>
      </dsp:txXfrm>
    </dsp:sp>
    <dsp:sp modelId="{A4C84834-11F2-47EB-BE01-7B57D7BD8767}">
      <dsp:nvSpPr>
        <dsp:cNvPr id="6" name="矩形 5" hidden="1"/>
        <dsp:cNvSpPr/>
      </dsp:nvSpPr>
      <dsp:spPr>
        <a:xfrm>
          <a:off x="0" y="1412620"/>
          <a:ext cx="324319" cy="915120"/>
        </a:xfrm>
        <a:prstGeom prst="rect">
          <a:avLst/>
        </a:prstGeom>
      </dsp:spPr>
      <dsp:txXfrm>
        <a:off x="0" y="1412620"/>
        <a:ext cx="324319" cy="915120"/>
      </dsp:txXfrm>
    </dsp:sp>
    <dsp:sp modelId="{E0E9F9C0-6106-48BE-8F8D-2C61257D4453}">
      <dsp:nvSpPr>
        <dsp:cNvPr id="9" name="矩形 8" hidden="1"/>
        <dsp:cNvSpPr/>
      </dsp:nvSpPr>
      <dsp:spPr>
        <a:xfrm>
          <a:off x="0" y="2818780"/>
          <a:ext cx="324319" cy="915120"/>
        </a:xfrm>
        <a:prstGeom prst="rect">
          <a:avLst/>
        </a:prstGeom>
      </dsp:spPr>
      <dsp:txXfrm>
        <a:off x="0" y="2818780"/>
        <a:ext cx="324319" cy="915120"/>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335520" cy="5627742"/>
        <a:chOff x="0" y="0"/>
        <a:chExt cx="7335520" cy="5627742"/>
      </a:xfrm>
    </dsp:grpSpPr>
    <dsp:sp modelId="{D2030072-27AD-406A-84AE-0966EE003465}">
      <dsp:nvSpPr>
        <dsp:cNvPr id="3" name="圆角矩形 2"/>
        <dsp:cNvSpPr/>
      </dsp:nvSpPr>
      <dsp:spPr bwMode="white">
        <a:xfrm>
          <a:off x="0" y="26031"/>
          <a:ext cx="7335520" cy="823680"/>
        </a:xfrm>
        <a:prstGeom prst="roundRect">
          <a:avLst/>
        </a:prstGeom>
        <a:solidFill>
          <a:srgbClr val="4472C4">
            <a:lumMod val="75000"/>
          </a:srgbClr>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121920" tIns="121920" rIns="121920" bIns="1219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    存储器的层次结构</a:t>
          </a:r>
        </a:p>
      </dsp:txBody>
      <dsp:txXfrm>
        <a:off x="0" y="26031"/>
        <a:ext cx="7335520" cy="823680"/>
      </dsp:txXfrm>
    </dsp:sp>
    <dsp:sp modelId="{9D955F22-870E-4516-9F36-BFA399447422}">
      <dsp:nvSpPr>
        <dsp:cNvPr id="4" name="圆角矩形 3"/>
        <dsp:cNvSpPr/>
      </dsp:nvSpPr>
      <dsp:spPr bwMode="white">
        <a:xfrm>
          <a:off x="0" y="976431"/>
          <a:ext cx="7335520" cy="823680"/>
        </a:xfrm>
        <a:prstGeom prst="roundRect">
          <a:avLst/>
        </a:prstGeom>
        <a:solidFill>
          <a:prstClr val="white"/>
        </a:solidFill>
        <a:ln w="12700" cap="flat" cmpd="sng" algn="ctr">
          <a:solidFill>
            <a:srgbClr val="2F5597"/>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558556" tIns="83820" rIns="83820" bIns="838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srgbClr val="2F5597"/>
              </a:solidFill>
              <a:latin typeface="微软雅黑" panose="020B0503020204020204" pitchFamily="34" charset="-122"/>
              <a:ea typeface="微软雅黑" panose="020B0503020204020204" pitchFamily="34" charset="-122"/>
              <a:cs typeface="+mn-cs"/>
            </a:rPr>
            <a:t>程序的装入和链接</a:t>
          </a:r>
        </a:p>
      </dsp:txBody>
      <dsp:txXfrm>
        <a:off x="0" y="976431"/>
        <a:ext cx="7335520" cy="823680"/>
      </dsp:txXfrm>
    </dsp:sp>
    <dsp:sp modelId="{6F219609-DD04-44CD-8464-34C16D707E20}">
      <dsp:nvSpPr>
        <dsp:cNvPr id="5" name="圆角矩形 4"/>
        <dsp:cNvSpPr/>
      </dsp:nvSpPr>
      <dsp:spPr bwMode="white">
        <a:xfrm>
          <a:off x="0" y="1926831"/>
          <a:ext cx="7335520" cy="823680"/>
        </a:xfrm>
        <a:prstGeom prst="roundRect">
          <a:avLst/>
        </a:prstGeom>
        <a:solidFill>
          <a:schemeClr val="accent1">
            <a:lumMod val="75000"/>
          </a:schemeClr>
        </a:solidFill>
      </dsp:spPr>
      <dsp:style>
        <a:lnRef idx="2">
          <a:schemeClr val="lt1"/>
        </a:lnRef>
        <a:fillRef idx="1">
          <a:schemeClr val="accent4"/>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连续分配存储管理方式</a:t>
          </a:r>
        </a:p>
      </dsp:txBody>
      <dsp:txXfrm>
        <a:off x="0" y="1926831"/>
        <a:ext cx="7335520" cy="823680"/>
      </dsp:txXfrm>
    </dsp:sp>
    <dsp:sp modelId="{E55D7849-AFAE-4859-9368-B9591CC879BF}">
      <dsp:nvSpPr>
        <dsp:cNvPr id="6" name="圆角矩形 5"/>
        <dsp:cNvSpPr/>
      </dsp:nvSpPr>
      <dsp:spPr bwMode="white">
        <a:xfrm>
          <a:off x="0" y="2877231"/>
          <a:ext cx="7335520" cy="823680"/>
        </a:xfrm>
        <a:prstGeom prst="roundRect">
          <a:avLst/>
        </a:prstGeom>
        <a:solidFill>
          <a:schemeClr val="accent1">
            <a:lumMod val="75000"/>
          </a:schemeClr>
        </a:solidFill>
      </dsp:spPr>
      <dsp:style>
        <a:lnRef idx="2">
          <a:schemeClr val="lt1"/>
        </a:lnRef>
        <a:fillRef idx="1">
          <a:schemeClr val="accent5"/>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对换（</a:t>
          </a:r>
          <a:r>
            <a:rPr lang="en-US" altLang="zh-CN" sz="3200" b="1" kern="1200" dirty="0">
              <a:latin typeface="微软雅黑" panose="020B0503020204020204" pitchFamily="34" charset="-122"/>
              <a:ea typeface="微软雅黑" panose="020B0503020204020204" pitchFamily="34" charset="-122"/>
              <a:cs typeface="+mn-cs"/>
            </a:rPr>
            <a:t>Swapping</a:t>
          </a:r>
          <a:r>
            <a:rPr lang="zh-CN" altLang="en-US" sz="3200" b="1" kern="1200" dirty="0">
              <a:latin typeface="微软雅黑" panose="020B0503020204020204" pitchFamily="34" charset="-122"/>
              <a:ea typeface="微软雅黑" panose="020B0503020204020204" pitchFamily="34" charset="-122"/>
              <a:cs typeface="+mn-cs"/>
            </a:rPr>
            <a:t>）</a:t>
          </a:r>
        </a:p>
      </dsp:txBody>
      <dsp:txXfrm>
        <a:off x="0" y="2877231"/>
        <a:ext cx="7335520" cy="823680"/>
      </dsp:txXfrm>
    </dsp:sp>
    <dsp:sp modelId="{232815BA-619A-4614-9627-2F42AED66E49}">
      <dsp:nvSpPr>
        <dsp:cNvPr id="7" name="圆角矩形 6"/>
        <dsp:cNvSpPr/>
      </dsp:nvSpPr>
      <dsp:spPr bwMode="white">
        <a:xfrm>
          <a:off x="0" y="3827631"/>
          <a:ext cx="7335520" cy="823680"/>
        </a:xfrm>
        <a:prstGeom prst="roundRect">
          <a:avLst/>
        </a:prstGeom>
        <a:solidFill>
          <a:schemeClr val="accent1">
            <a:lumMod val="75000"/>
          </a:schemeClr>
        </a:solidFill>
      </dsp:spPr>
      <dsp:style>
        <a:lnRef idx="2">
          <a:schemeClr val="lt1"/>
        </a:lnRef>
        <a:fillRef idx="1">
          <a:schemeClr val="accent6"/>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分页存储管理方式</a:t>
          </a:r>
        </a:p>
      </dsp:txBody>
      <dsp:txXfrm>
        <a:off x="0" y="3827631"/>
        <a:ext cx="7335520" cy="823680"/>
      </dsp:txXfrm>
    </dsp:sp>
    <dsp:sp modelId="{E0DD0EBA-5357-496A-800C-A32E8C411ACA}">
      <dsp:nvSpPr>
        <dsp:cNvPr id="8" name="圆角矩形 7"/>
        <dsp:cNvSpPr/>
      </dsp:nvSpPr>
      <dsp:spPr bwMode="white">
        <a:xfrm>
          <a:off x="0" y="4778031"/>
          <a:ext cx="7335520" cy="823680"/>
        </a:xfrm>
        <a:prstGeom prst="roundRect">
          <a:avLst/>
        </a:prstGeom>
        <a:solidFill>
          <a:schemeClr val="accent1">
            <a:lumMod val="75000"/>
          </a:schemeClr>
        </a:solidFill>
      </dsp:spPr>
      <dsp:style>
        <a:lnRef idx="2">
          <a:schemeClr val="lt1"/>
        </a:lnRef>
        <a:fillRef idx="1">
          <a:schemeClr val="accent2"/>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分段存储管理方式</a:t>
          </a:r>
        </a:p>
      </dsp:txBody>
      <dsp:txXfrm>
        <a:off x="0" y="4778031"/>
        <a:ext cx="7335520" cy="823680"/>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486385" cy="2673924"/>
        <a:chOff x="0" y="0"/>
        <a:chExt cx="6486385" cy="2673924"/>
      </a:xfrm>
    </dsp:grpSpPr>
    <dsp:sp modelId="{AA9447A5-91BF-4C3A-B005-3C85857BAD48}">
      <dsp:nvSpPr>
        <dsp:cNvPr id="5" name="矩形 4"/>
        <dsp:cNvSpPr/>
      </dsp:nvSpPr>
      <dsp:spPr bwMode="white">
        <a:xfrm>
          <a:off x="0" y="472062"/>
          <a:ext cx="6486385" cy="781200"/>
        </a:xfrm>
        <a:prstGeom prst="rect">
          <a:avLst/>
        </a:prstGeom>
        <a:solidFill>
          <a:srgbClr val="2F5597"/>
        </a:solidFill>
        <a:ln>
          <a:solidFill>
            <a:srgbClr val="2F5597"/>
          </a:solidFill>
        </a:ln>
      </dsp:spPr>
      <dsp:style>
        <a:lnRef idx="2">
          <a:schemeClr val="accent1"/>
        </a:lnRef>
        <a:fillRef idx="1">
          <a:schemeClr val="lt1">
            <a:alpha val="90000"/>
          </a:schemeClr>
        </a:fillRef>
        <a:effectRef idx="0">
          <a:scrgbClr r="0" g="0" b="0"/>
        </a:effectRef>
        <a:fontRef idx="minor"/>
      </dsp:style>
      <dsp:txBody>
        <a:bodyPr lIns="503415" tIns="645668" rIns="503415" bIns="220472" anchor="t"/>
        <a:lstStyle>
          <a:lvl1pPr algn="l">
            <a:defRPr sz="3100"/>
          </a:lvl1pPr>
          <a:lvl2pPr marL="285750" indent="-285750" algn="l">
            <a:defRPr sz="3100"/>
          </a:lvl2pPr>
          <a:lvl3pPr marL="571500" indent="-285750" algn="l">
            <a:defRPr sz="3100"/>
          </a:lvl3pPr>
          <a:lvl4pPr marL="857250" indent="-285750" algn="l">
            <a:defRPr sz="3100"/>
          </a:lvl4pPr>
          <a:lvl5pPr marL="1143000" indent="-285750" algn="l">
            <a:defRPr sz="3100"/>
          </a:lvl5pPr>
          <a:lvl6pPr marL="1428750" indent="-285750" algn="l">
            <a:defRPr sz="3100"/>
          </a:lvl6pPr>
          <a:lvl7pPr marL="1714500" indent="-285750" algn="l">
            <a:defRPr sz="3100"/>
          </a:lvl7pPr>
          <a:lvl8pPr marL="2000250" indent="-285750" algn="l">
            <a:defRPr sz="3100"/>
          </a:lvl8pPr>
          <a:lvl9pPr marL="2286000" indent="-285750" algn="l">
            <a:defRPr sz="3100"/>
          </a:lvl9pPr>
        </a:lstStyle>
        <a:p>
          <a:endParaRPr>
            <a:solidFill>
              <a:schemeClr val="dk1"/>
            </a:solidFill>
          </a:endParaRPr>
        </a:p>
      </dsp:txBody>
      <dsp:txXfrm>
        <a:off x="0" y="472062"/>
        <a:ext cx="6486385" cy="781200"/>
      </dsp:txXfrm>
    </dsp:sp>
    <dsp:sp modelId="{2A7184BB-52DB-4C52-8420-130E9E3C13B2}">
      <dsp:nvSpPr>
        <dsp:cNvPr id="4" name="圆角矩形 3"/>
        <dsp:cNvSpPr/>
      </dsp:nvSpPr>
      <dsp:spPr bwMode="white">
        <a:xfrm>
          <a:off x="324319" y="14502"/>
          <a:ext cx="4540469" cy="91512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31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pPr lvl="0">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程序的装入</a:t>
          </a:r>
        </a:p>
      </dsp:txBody>
      <dsp:txXfrm>
        <a:off x="324319" y="14502"/>
        <a:ext cx="4540469" cy="915120"/>
      </dsp:txXfrm>
    </dsp:sp>
    <dsp:sp modelId="{C1F9A318-E145-45F5-9834-6808B57C6A92}">
      <dsp:nvSpPr>
        <dsp:cNvPr id="8" name="矩形 7"/>
        <dsp:cNvSpPr/>
      </dsp:nvSpPr>
      <dsp:spPr bwMode="white">
        <a:xfrm>
          <a:off x="0" y="1878222"/>
          <a:ext cx="6486385" cy="781200"/>
        </a:xfrm>
        <a:prstGeom prst="rect">
          <a:avLst/>
        </a:prstGeom>
        <a:solidFill>
          <a:srgbClr val="2F5597"/>
        </a:solidFill>
        <a:ln w="12700" cap="flat" cmpd="sng" algn="ctr">
          <a:solidFill>
            <a:srgbClr val="2F5597"/>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lIns="503415" tIns="645668" rIns="503415" bIns="220472" anchor="t"/>
        <a:lstStyle>
          <a:lvl1pPr algn="l">
            <a:defRPr sz="3100"/>
          </a:lvl1pPr>
          <a:lvl2pPr marL="285750" indent="-285750" algn="l">
            <a:defRPr sz="3100"/>
          </a:lvl2pPr>
          <a:lvl3pPr marL="571500" indent="-285750" algn="l">
            <a:defRPr sz="3100"/>
          </a:lvl3pPr>
          <a:lvl4pPr marL="857250" indent="-285750" algn="l">
            <a:defRPr sz="3100"/>
          </a:lvl4pPr>
          <a:lvl5pPr marL="1143000" indent="-285750" algn="l">
            <a:defRPr sz="3100"/>
          </a:lvl5pPr>
          <a:lvl6pPr marL="1428750" indent="-285750" algn="l">
            <a:defRPr sz="3100"/>
          </a:lvl6pPr>
          <a:lvl7pPr marL="1714500" indent="-285750" algn="l">
            <a:defRPr sz="3100"/>
          </a:lvl7pPr>
          <a:lvl8pPr marL="2000250" indent="-285750" algn="l">
            <a:defRPr sz="3100"/>
          </a:lvl8pPr>
          <a:lvl9pPr marL="2286000" indent="-285750" algn="l">
            <a:defRPr sz="3100"/>
          </a:lvl9pPr>
        </a:lstStyle>
        <a:p>
          <a:endParaRPr>
            <a:solidFill>
              <a:schemeClr val="dk1"/>
            </a:solidFill>
          </a:endParaRPr>
        </a:p>
      </dsp:txBody>
      <dsp:txXfrm>
        <a:off x="0" y="1878222"/>
        <a:ext cx="6486385" cy="781200"/>
      </dsp:txXfrm>
    </dsp:sp>
    <dsp:sp modelId="{3F409948-B5E3-4CD8-937B-EBF6A7630F19}">
      <dsp:nvSpPr>
        <dsp:cNvPr id="7" name="圆角矩形 6"/>
        <dsp:cNvSpPr/>
      </dsp:nvSpPr>
      <dsp:spPr bwMode="white">
        <a:xfrm>
          <a:off x="324319" y="1420662"/>
          <a:ext cx="4540469" cy="91512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31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pPr lvl="0">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程序的链接</a:t>
          </a:r>
        </a:p>
      </dsp:txBody>
      <dsp:txXfrm>
        <a:off x="324319" y="1420662"/>
        <a:ext cx="4540469" cy="915120"/>
      </dsp:txXfrm>
    </dsp:sp>
    <dsp:sp modelId="{6E4C71DF-12E2-4A1E-AB5A-880743A5BA1C}">
      <dsp:nvSpPr>
        <dsp:cNvPr id="3" name="矩形 2" hidden="1"/>
        <dsp:cNvSpPr/>
      </dsp:nvSpPr>
      <dsp:spPr>
        <a:xfrm>
          <a:off x="0" y="14502"/>
          <a:ext cx="324319" cy="915120"/>
        </a:xfrm>
        <a:prstGeom prst="rect">
          <a:avLst/>
        </a:prstGeom>
      </dsp:spPr>
      <dsp:txXfrm>
        <a:off x="0" y="14502"/>
        <a:ext cx="324319" cy="915120"/>
      </dsp:txXfrm>
    </dsp:sp>
    <dsp:sp modelId="{69D82A1C-B929-417F-A410-5C7F982A7C39}">
      <dsp:nvSpPr>
        <dsp:cNvPr id="6" name="矩形 5" hidden="1"/>
        <dsp:cNvSpPr/>
      </dsp:nvSpPr>
      <dsp:spPr>
        <a:xfrm>
          <a:off x="0" y="1420662"/>
          <a:ext cx="324319" cy="915120"/>
        </a:xfrm>
        <a:prstGeom prst="rect">
          <a:avLst/>
        </a:prstGeom>
      </dsp:spPr>
      <dsp:txXfrm>
        <a:off x="0" y="1420662"/>
        <a:ext cx="324319" cy="915120"/>
      </dsp:txXfrm>
    </dsp:sp>
  </dsp:spTree>
</dsp:drawing>
</file>

<file path=ppt/diagrams/drawing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335520" cy="5627742"/>
        <a:chOff x="0" y="0"/>
        <a:chExt cx="7335520" cy="5627742"/>
      </a:xfrm>
    </dsp:grpSpPr>
    <dsp:sp modelId="{D2030072-27AD-406A-84AE-0966EE003465}">
      <dsp:nvSpPr>
        <dsp:cNvPr id="3" name="圆角矩形 2"/>
        <dsp:cNvSpPr/>
      </dsp:nvSpPr>
      <dsp:spPr bwMode="white">
        <a:xfrm>
          <a:off x="0" y="26031"/>
          <a:ext cx="7335520" cy="823680"/>
        </a:xfrm>
        <a:prstGeom prst="roundRect">
          <a:avLst/>
        </a:prstGeom>
        <a:solidFill>
          <a:srgbClr val="4472C4">
            <a:lumMod val="75000"/>
          </a:srgbClr>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2"/>
        </a:fillRef>
        <a:effectRef idx="0">
          <a:scrgbClr r="0" g="0" b="0"/>
        </a:effectRef>
        <a:fontRef idx="minor">
          <a:schemeClr val="lt1"/>
        </a:fontRef>
      </dsp:style>
      <dsp:txBody>
        <a:bodyPr vert="horz" wrap="square" lIns="121920" tIns="121920" rIns="121920" bIns="1219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    存储器的层次结构</a:t>
          </a:r>
        </a:p>
      </dsp:txBody>
      <dsp:txXfrm>
        <a:off x="0" y="26031"/>
        <a:ext cx="7335520" cy="823680"/>
      </dsp:txXfrm>
    </dsp:sp>
    <dsp:sp modelId="{9D955F22-870E-4516-9F36-BFA399447422}">
      <dsp:nvSpPr>
        <dsp:cNvPr id="4" name="圆角矩形 3"/>
        <dsp:cNvSpPr/>
      </dsp:nvSpPr>
      <dsp:spPr bwMode="white">
        <a:xfrm>
          <a:off x="0" y="976431"/>
          <a:ext cx="7335520" cy="823680"/>
        </a:xfrm>
        <a:prstGeom prst="roundRect">
          <a:avLst/>
        </a:prstGeom>
        <a:solidFill>
          <a:srgbClr val="4472C4">
            <a:lumMod val="75000"/>
          </a:srgbClr>
        </a:solidFill>
        <a:ln w="12700" cap="flat" cmpd="sng" algn="ctr">
          <a:solidFill>
            <a:prstClr val="white">
              <a:hueOff val="0"/>
              <a:satOff val="0"/>
              <a:lumOff val="0"/>
              <a:alphaOff val="0"/>
            </a:prstClr>
          </a:solidFill>
          <a:prstDash val="solid"/>
          <a:miter lim="800000"/>
        </a:ln>
        <a:effectLst/>
      </dsp:spPr>
      <dsp:style>
        <a:lnRef idx="2">
          <a:schemeClr val="lt1"/>
        </a:lnRef>
        <a:fillRef idx="1">
          <a:schemeClr val="accent3"/>
        </a:fillRef>
        <a:effectRef idx="0">
          <a:scrgbClr r="0" g="0" b="0"/>
        </a:effectRef>
        <a:fontRef idx="minor">
          <a:schemeClr val="lt1"/>
        </a:fontRef>
      </dsp:style>
      <dsp:txBody>
        <a:bodyPr vert="horz" wrap="square" lIns="121920" tIns="121920" rIns="121920" bIns="1219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    程序的装入和链接</a:t>
          </a:r>
        </a:p>
      </dsp:txBody>
      <dsp:txXfrm>
        <a:off x="0" y="976431"/>
        <a:ext cx="7335520" cy="823680"/>
      </dsp:txXfrm>
    </dsp:sp>
    <dsp:sp modelId="{6F219609-DD04-44CD-8464-34C16D707E20}">
      <dsp:nvSpPr>
        <dsp:cNvPr id="5" name="圆角矩形 4"/>
        <dsp:cNvSpPr/>
      </dsp:nvSpPr>
      <dsp:spPr bwMode="white">
        <a:xfrm>
          <a:off x="0" y="1926831"/>
          <a:ext cx="7335520" cy="823680"/>
        </a:xfrm>
        <a:prstGeom prst="roundRect">
          <a:avLst/>
        </a:prstGeom>
        <a:solidFill>
          <a:prstClr val="white"/>
        </a:solidFill>
        <a:ln w="12700" cap="flat" cmpd="sng" algn="ctr">
          <a:solidFill>
            <a:srgbClr val="2F5597"/>
          </a:solidFill>
          <a:prstDash val="solid"/>
          <a:miter lim="800000"/>
        </a:ln>
        <a:effectLst/>
      </dsp:spPr>
      <dsp:style>
        <a:lnRef idx="2">
          <a:schemeClr val="lt1"/>
        </a:lnRef>
        <a:fillRef idx="1">
          <a:schemeClr val="accent4"/>
        </a:fillRef>
        <a:effectRef idx="0">
          <a:scrgbClr r="0" g="0" b="0"/>
        </a:effectRef>
        <a:fontRef idx="minor">
          <a:schemeClr val="lt1"/>
        </a:fontRef>
      </dsp:style>
      <dsp:txBody>
        <a:bodyPr vert="horz" wrap="square" lIns="558556" tIns="83820" rIns="83820" bIns="83820" numCol="1" spcCol="1270" anchor="ctr" anchorCtr="0" forceAA="0"/>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solidFill>
                <a:srgbClr val="2F5597"/>
              </a:solidFill>
              <a:latin typeface="微软雅黑" panose="020B0503020204020204" pitchFamily="34" charset="-122"/>
              <a:ea typeface="微软雅黑" panose="020B0503020204020204" pitchFamily="34" charset="-122"/>
              <a:cs typeface="+mn-cs"/>
            </a:rPr>
            <a:t>连续分配存储管理方式</a:t>
          </a:r>
        </a:p>
      </dsp:txBody>
      <dsp:txXfrm>
        <a:off x="0" y="1926831"/>
        <a:ext cx="7335520" cy="823680"/>
      </dsp:txXfrm>
    </dsp:sp>
    <dsp:sp modelId="{E55D7849-AFAE-4859-9368-B9591CC879BF}">
      <dsp:nvSpPr>
        <dsp:cNvPr id="6" name="圆角矩形 5"/>
        <dsp:cNvSpPr/>
      </dsp:nvSpPr>
      <dsp:spPr bwMode="white">
        <a:xfrm>
          <a:off x="0" y="2877231"/>
          <a:ext cx="7335520" cy="823680"/>
        </a:xfrm>
        <a:prstGeom prst="roundRect">
          <a:avLst/>
        </a:prstGeom>
        <a:solidFill>
          <a:schemeClr val="accent1">
            <a:lumMod val="75000"/>
          </a:schemeClr>
        </a:solidFill>
      </dsp:spPr>
      <dsp:style>
        <a:lnRef idx="2">
          <a:schemeClr val="lt1"/>
        </a:lnRef>
        <a:fillRef idx="1">
          <a:schemeClr val="accent5"/>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对换（</a:t>
          </a:r>
          <a:r>
            <a:rPr lang="en-US" altLang="zh-CN" sz="3200" b="1" kern="1200" dirty="0">
              <a:latin typeface="微软雅黑" panose="020B0503020204020204" pitchFamily="34" charset="-122"/>
              <a:ea typeface="微软雅黑" panose="020B0503020204020204" pitchFamily="34" charset="-122"/>
              <a:cs typeface="+mn-cs"/>
            </a:rPr>
            <a:t>Swapping</a:t>
          </a:r>
          <a:r>
            <a:rPr lang="zh-CN" altLang="en-US" sz="3200" b="1" kern="1200" dirty="0">
              <a:latin typeface="微软雅黑" panose="020B0503020204020204" pitchFamily="34" charset="-122"/>
              <a:ea typeface="微软雅黑" panose="020B0503020204020204" pitchFamily="34" charset="-122"/>
              <a:cs typeface="+mn-cs"/>
            </a:rPr>
            <a:t>）</a:t>
          </a:r>
        </a:p>
      </dsp:txBody>
      <dsp:txXfrm>
        <a:off x="0" y="2877231"/>
        <a:ext cx="7335520" cy="823680"/>
      </dsp:txXfrm>
    </dsp:sp>
    <dsp:sp modelId="{232815BA-619A-4614-9627-2F42AED66E49}">
      <dsp:nvSpPr>
        <dsp:cNvPr id="7" name="圆角矩形 6"/>
        <dsp:cNvSpPr/>
      </dsp:nvSpPr>
      <dsp:spPr bwMode="white">
        <a:xfrm>
          <a:off x="0" y="3827631"/>
          <a:ext cx="7335520" cy="823680"/>
        </a:xfrm>
        <a:prstGeom prst="roundRect">
          <a:avLst/>
        </a:prstGeom>
        <a:solidFill>
          <a:schemeClr val="accent1">
            <a:lumMod val="75000"/>
          </a:schemeClr>
        </a:solidFill>
      </dsp:spPr>
      <dsp:style>
        <a:lnRef idx="2">
          <a:schemeClr val="lt1"/>
        </a:lnRef>
        <a:fillRef idx="1">
          <a:schemeClr val="accent6"/>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分页存储管理方式</a:t>
          </a:r>
        </a:p>
      </dsp:txBody>
      <dsp:txXfrm>
        <a:off x="0" y="3827631"/>
        <a:ext cx="7335520" cy="823680"/>
      </dsp:txXfrm>
    </dsp:sp>
    <dsp:sp modelId="{E0DD0EBA-5357-496A-800C-A32E8C411ACA}">
      <dsp:nvSpPr>
        <dsp:cNvPr id="8" name="圆角矩形 7"/>
        <dsp:cNvSpPr/>
      </dsp:nvSpPr>
      <dsp:spPr bwMode="white">
        <a:xfrm>
          <a:off x="0" y="4778031"/>
          <a:ext cx="7335520" cy="823680"/>
        </a:xfrm>
        <a:prstGeom prst="roundRect">
          <a:avLst/>
        </a:prstGeom>
        <a:solidFill>
          <a:schemeClr val="accent1">
            <a:lumMod val="75000"/>
          </a:schemeClr>
        </a:solidFill>
      </dsp:spPr>
      <dsp:style>
        <a:lnRef idx="2">
          <a:schemeClr val="lt1"/>
        </a:lnRef>
        <a:fillRef idx="1">
          <a:schemeClr val="accent2"/>
        </a:fillRef>
        <a:effectRef idx="0">
          <a:scrgbClr r="0" g="0" b="0"/>
        </a:effectRef>
        <a:fontRef idx="minor">
          <a:schemeClr val="lt1"/>
        </a:fontRef>
      </dsp:style>
      <dsp:txBody>
        <a:bodyPr lIns="121920" tIns="121920" rIns="121920" bIns="121920" anchor="ctr"/>
        <a:lstStyle>
          <a:lvl1pPr algn="l">
            <a:defRPr sz="4400"/>
          </a:lvl1pPr>
          <a:lvl2pPr marL="285750" indent="-285750" algn="l">
            <a:defRPr sz="3400"/>
          </a:lvl2pPr>
          <a:lvl3pPr marL="571500" indent="-285750" algn="l">
            <a:defRPr sz="3400"/>
          </a:lvl3pPr>
          <a:lvl4pPr marL="857250" indent="-285750" algn="l">
            <a:defRPr sz="3400"/>
          </a:lvl4pPr>
          <a:lvl5pPr marL="1143000" indent="-285750" algn="l">
            <a:defRPr sz="3400"/>
          </a:lvl5pPr>
          <a:lvl6pPr marL="1428750" indent="-285750" algn="l">
            <a:defRPr sz="3400"/>
          </a:lvl6pPr>
          <a:lvl7pPr marL="1714500" indent="-285750" algn="l">
            <a:defRPr sz="3400"/>
          </a:lvl7pPr>
          <a:lvl8pPr marL="2000250" indent="-285750" algn="l">
            <a:defRPr sz="3400"/>
          </a:lvl8pPr>
          <a:lvl9pPr marL="2286000" indent="-285750" algn="l">
            <a:defRPr sz="3400"/>
          </a:lvl9pPr>
        </a:lstStyle>
        <a:p>
          <a:pPr marL="0" lvl="0" indent="0" algn="l" defTabSz="1466850">
            <a:lnSpc>
              <a:spcPct val="90000"/>
            </a:lnSpc>
            <a:spcBef>
              <a:spcPct val="0"/>
            </a:spcBef>
            <a:spcAft>
              <a:spcPct val="35000"/>
            </a:spcAft>
            <a:buNone/>
          </a:pPr>
          <a:r>
            <a:rPr lang="zh-CN" altLang="en-US" sz="3200" b="1" kern="1200" dirty="0">
              <a:latin typeface="微软雅黑" panose="020B0503020204020204" pitchFamily="34" charset="-122"/>
              <a:ea typeface="微软雅黑" panose="020B0503020204020204" pitchFamily="34" charset="-122"/>
              <a:cs typeface="+mn-cs"/>
            </a:rPr>
            <a:t>    分段存储管理方式</a:t>
          </a:r>
        </a:p>
      </dsp:txBody>
      <dsp:txXfrm>
        <a:off x="0" y="4778031"/>
        <a:ext cx="7335520" cy="823680"/>
      </dsp:txXfrm>
    </dsp:sp>
  </dsp:spTree>
</dsp:drawing>
</file>

<file path=ppt/diagrams/drawing8.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486385" cy="4285977"/>
        <a:chOff x="0" y="0"/>
        <a:chExt cx="6486385" cy="4285977"/>
      </a:xfrm>
    </dsp:grpSpPr>
    <dsp:sp modelId="{AA9447A5-91BF-4C3A-B005-3C85857BAD48}">
      <dsp:nvSpPr>
        <dsp:cNvPr id="5" name="矩形 4"/>
        <dsp:cNvSpPr/>
      </dsp:nvSpPr>
      <dsp:spPr bwMode="white">
        <a:xfrm>
          <a:off x="0" y="384749"/>
          <a:ext cx="6486385" cy="604800"/>
        </a:xfrm>
        <a:prstGeom prst="rect">
          <a:avLst/>
        </a:prstGeom>
        <a:solidFill>
          <a:srgbClr val="2F5597"/>
        </a:solidFill>
        <a:ln>
          <a:solidFill>
            <a:srgbClr val="2F5597"/>
          </a:solidFill>
        </a:ln>
      </dsp:spPr>
      <dsp:style>
        <a:lnRef idx="2">
          <a:schemeClr val="accent1"/>
        </a:lnRef>
        <a:fillRef idx="1">
          <a:schemeClr val="lt1">
            <a:alpha val="90000"/>
          </a:schemeClr>
        </a:fillRef>
        <a:effectRef idx="0">
          <a:scrgbClr r="0" g="0" b="0"/>
        </a:effectRef>
        <a:fontRef idx="minor"/>
      </dsp:style>
      <dsp:txBody>
        <a:bodyPr lIns="503415" tIns="499872" rIns="503415" bIns="170688" anchor="t"/>
        <a:lstStyle>
          <a:lvl1pPr algn="l">
            <a:defRPr sz="24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endParaRPr>
            <a:solidFill>
              <a:schemeClr val="dk1"/>
            </a:solidFill>
          </a:endParaRPr>
        </a:p>
      </dsp:txBody>
      <dsp:txXfrm>
        <a:off x="0" y="384749"/>
        <a:ext cx="6486385" cy="604800"/>
      </dsp:txXfrm>
    </dsp:sp>
    <dsp:sp modelId="{2A7184BB-52DB-4C52-8420-130E9E3C13B2}">
      <dsp:nvSpPr>
        <dsp:cNvPr id="4" name="圆角矩形 3"/>
        <dsp:cNvSpPr/>
      </dsp:nvSpPr>
      <dsp:spPr bwMode="white">
        <a:xfrm>
          <a:off x="324319" y="30509"/>
          <a:ext cx="4540469" cy="70848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24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0">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单一连续分配</a:t>
          </a:r>
        </a:p>
      </dsp:txBody>
      <dsp:txXfrm>
        <a:off x="324319" y="30509"/>
        <a:ext cx="4540469" cy="708480"/>
      </dsp:txXfrm>
    </dsp:sp>
    <dsp:sp modelId="{B98633E7-1255-400C-97DF-142421D4D9FB}">
      <dsp:nvSpPr>
        <dsp:cNvPr id="8" name="矩形 7"/>
        <dsp:cNvSpPr/>
      </dsp:nvSpPr>
      <dsp:spPr bwMode="white">
        <a:xfrm>
          <a:off x="0" y="1473389"/>
          <a:ext cx="6486385" cy="604800"/>
        </a:xfrm>
        <a:prstGeom prst="rect">
          <a:avLst/>
        </a:prstGeom>
        <a:solidFill>
          <a:srgbClr val="2F5597"/>
        </a:solidFill>
        <a:ln w="12700" cap="flat" cmpd="sng" algn="ctr">
          <a:solidFill>
            <a:srgbClr val="2F5597"/>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lIns="503415" tIns="499872" rIns="503415" bIns="170688" anchor="t"/>
        <a:lstStyle>
          <a:lvl1pPr algn="l">
            <a:defRPr sz="24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endParaRPr>
            <a:solidFill>
              <a:schemeClr val="dk1"/>
            </a:solidFill>
          </a:endParaRPr>
        </a:p>
      </dsp:txBody>
      <dsp:txXfrm>
        <a:off x="0" y="1473389"/>
        <a:ext cx="6486385" cy="604800"/>
      </dsp:txXfrm>
    </dsp:sp>
    <dsp:sp modelId="{32005391-0F6F-4CE7-A63B-C0EB18DC9D39}">
      <dsp:nvSpPr>
        <dsp:cNvPr id="7" name="圆角矩形 6"/>
        <dsp:cNvSpPr/>
      </dsp:nvSpPr>
      <dsp:spPr bwMode="white">
        <a:xfrm>
          <a:off x="324319" y="1119149"/>
          <a:ext cx="4540469" cy="70848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24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0">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固定分区分配</a:t>
          </a:r>
        </a:p>
      </dsp:txBody>
      <dsp:txXfrm>
        <a:off x="324319" y="1119149"/>
        <a:ext cx="4540469" cy="708480"/>
      </dsp:txXfrm>
    </dsp:sp>
    <dsp:sp modelId="{C07C73CB-A80D-4B2A-9F42-2A0041437C51}">
      <dsp:nvSpPr>
        <dsp:cNvPr id="11" name="矩形 10"/>
        <dsp:cNvSpPr/>
      </dsp:nvSpPr>
      <dsp:spPr bwMode="white">
        <a:xfrm>
          <a:off x="0" y="2562029"/>
          <a:ext cx="6486385" cy="604800"/>
        </a:xfrm>
        <a:prstGeom prst="rect">
          <a:avLst/>
        </a:prstGeom>
        <a:solidFill>
          <a:srgbClr val="2F5597"/>
        </a:solidFill>
        <a:ln w="12700" cap="flat" cmpd="sng" algn="ctr">
          <a:solidFill>
            <a:srgbClr val="2F5597"/>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lIns="503415" tIns="499872" rIns="503415" bIns="170688" anchor="t"/>
        <a:lstStyle>
          <a:lvl1pPr algn="l">
            <a:defRPr sz="24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endParaRPr>
            <a:solidFill>
              <a:schemeClr val="dk1"/>
            </a:solidFill>
          </a:endParaRPr>
        </a:p>
      </dsp:txBody>
      <dsp:txXfrm>
        <a:off x="0" y="2562029"/>
        <a:ext cx="6486385" cy="604800"/>
      </dsp:txXfrm>
    </dsp:sp>
    <dsp:sp modelId="{D5E0838E-2154-41F8-AB95-93327E12EB8F}">
      <dsp:nvSpPr>
        <dsp:cNvPr id="10" name="圆角矩形 9"/>
        <dsp:cNvSpPr/>
      </dsp:nvSpPr>
      <dsp:spPr bwMode="white">
        <a:xfrm>
          <a:off x="324319" y="2207789"/>
          <a:ext cx="4540469" cy="70848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24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0">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动态分区分配</a:t>
          </a:r>
        </a:p>
      </dsp:txBody>
      <dsp:txXfrm>
        <a:off x="324319" y="2207789"/>
        <a:ext cx="4540469" cy="708480"/>
      </dsp:txXfrm>
    </dsp:sp>
    <dsp:sp modelId="{52A8A86D-3242-4EA2-9C4C-1BD36AC106D1}">
      <dsp:nvSpPr>
        <dsp:cNvPr id="14" name="矩形 13"/>
        <dsp:cNvSpPr/>
      </dsp:nvSpPr>
      <dsp:spPr bwMode="white">
        <a:xfrm>
          <a:off x="0" y="3650668"/>
          <a:ext cx="6486385" cy="604800"/>
        </a:xfrm>
        <a:prstGeom prst="rect">
          <a:avLst/>
        </a:prstGeom>
        <a:solidFill>
          <a:srgbClr val="2F5597"/>
        </a:solidFill>
        <a:ln w="12700" cap="flat" cmpd="sng" algn="ctr">
          <a:solidFill>
            <a:srgbClr val="2F5597"/>
          </a:solidFill>
          <a:prstDash val="solid"/>
          <a:miter lim="800000"/>
        </a:ln>
        <a:effectLst/>
      </dsp:spPr>
      <dsp:style>
        <a:lnRef idx="2">
          <a:schemeClr val="accent1"/>
        </a:lnRef>
        <a:fillRef idx="1">
          <a:schemeClr val="lt1">
            <a:alpha val="90000"/>
          </a:schemeClr>
        </a:fillRef>
        <a:effectRef idx="0">
          <a:scrgbClr r="0" g="0" b="0"/>
        </a:effectRef>
        <a:fontRef idx="minor"/>
      </dsp:style>
      <dsp:txBody>
        <a:bodyPr lIns="503415" tIns="499872" rIns="503415" bIns="170688" anchor="t"/>
        <a:lstStyle>
          <a:lvl1pPr algn="l">
            <a:defRPr sz="2400"/>
          </a:lvl1pPr>
          <a:lvl2pPr marL="228600" indent="-228600" algn="l">
            <a:defRPr sz="2400"/>
          </a:lvl2pPr>
          <a:lvl3pPr marL="457200" indent="-228600" algn="l">
            <a:defRPr sz="2400"/>
          </a:lvl3pPr>
          <a:lvl4pPr marL="685800" indent="-228600" algn="l">
            <a:defRPr sz="2400"/>
          </a:lvl4pPr>
          <a:lvl5pPr marL="914400" indent="-228600" algn="l">
            <a:defRPr sz="2400"/>
          </a:lvl5pPr>
          <a:lvl6pPr marL="1143000" indent="-228600" algn="l">
            <a:defRPr sz="2400"/>
          </a:lvl6pPr>
          <a:lvl7pPr marL="1371600" indent="-228600" algn="l">
            <a:defRPr sz="2400"/>
          </a:lvl7pPr>
          <a:lvl8pPr marL="1600200" indent="-228600" algn="l">
            <a:defRPr sz="2400"/>
          </a:lvl8pPr>
          <a:lvl9pPr marL="1828800" indent="-228600" algn="l">
            <a:defRPr sz="2400"/>
          </a:lvl9pPr>
        </a:lstStyle>
        <a:p>
          <a:endParaRPr>
            <a:solidFill>
              <a:schemeClr val="dk1"/>
            </a:solidFill>
          </a:endParaRPr>
        </a:p>
      </dsp:txBody>
      <dsp:txXfrm>
        <a:off x="0" y="3650668"/>
        <a:ext cx="6486385" cy="604800"/>
      </dsp:txXfrm>
    </dsp:sp>
    <dsp:sp modelId="{6BC6FA1D-BB93-44BA-BB22-E2DAC2ACF593}">
      <dsp:nvSpPr>
        <dsp:cNvPr id="13" name="圆角矩形 12"/>
        <dsp:cNvSpPr/>
      </dsp:nvSpPr>
      <dsp:spPr bwMode="white">
        <a:xfrm>
          <a:off x="324319" y="3296428"/>
          <a:ext cx="4540469" cy="708480"/>
        </a:xfrm>
        <a:prstGeom prst="roundRect">
          <a:avLst/>
        </a:prstGeom>
        <a:solidFill>
          <a:schemeClr val="bg1"/>
        </a:solidFill>
        <a:ln>
          <a:solidFill>
            <a:srgbClr val="2F5597"/>
          </a:solidFill>
        </a:ln>
      </dsp:spPr>
      <dsp:style>
        <a:lnRef idx="2">
          <a:schemeClr val="lt1"/>
        </a:lnRef>
        <a:fillRef idx="1">
          <a:schemeClr val="accent1"/>
        </a:fillRef>
        <a:effectRef idx="0">
          <a:scrgbClr r="0" g="0" b="0"/>
        </a:effectRef>
        <a:fontRef idx="minor">
          <a:schemeClr val="lt1"/>
        </a:fontRef>
      </dsp:style>
      <dsp:txBody>
        <a:bodyPr lIns="171618" tIns="0" rIns="171618" bIns="0" anchor="ctr"/>
        <a:lstStyle>
          <a:lvl1pPr algn="l">
            <a:defRPr sz="24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0">
            <a:lnSpc>
              <a:spcPct val="100000"/>
            </a:lnSpc>
            <a:spcBef>
              <a:spcPct val="0"/>
            </a:spcBef>
            <a:spcAft>
              <a:spcPct val="35000"/>
            </a:spcAft>
          </a:pPr>
          <a:r>
            <a:rPr lang="zh-CN" altLang="en-US" sz="2800" b="1" dirty="0">
              <a:solidFill>
                <a:srgbClr val="2F5597"/>
              </a:solidFill>
              <a:latin typeface="微软雅黑" panose="020B0503020204020204" pitchFamily="34" charset="-122"/>
              <a:ea typeface="微软雅黑" panose="020B0503020204020204" pitchFamily="34" charset="-122"/>
            </a:rPr>
            <a:t>动态可重定位分区分配</a:t>
          </a:r>
        </a:p>
      </dsp:txBody>
      <dsp:txXfrm>
        <a:off x="324319" y="3296428"/>
        <a:ext cx="4540469" cy="708480"/>
      </dsp:txXfrm>
    </dsp:sp>
    <dsp:sp modelId="{6E4C71DF-12E2-4A1E-AB5A-880743A5BA1C}">
      <dsp:nvSpPr>
        <dsp:cNvPr id="3" name="矩形 2" hidden="1"/>
        <dsp:cNvSpPr/>
      </dsp:nvSpPr>
      <dsp:spPr>
        <a:xfrm>
          <a:off x="0" y="30509"/>
          <a:ext cx="324319" cy="708480"/>
        </a:xfrm>
        <a:prstGeom prst="rect">
          <a:avLst/>
        </a:prstGeom>
      </dsp:spPr>
      <dsp:txXfrm>
        <a:off x="0" y="30509"/>
        <a:ext cx="324319" cy="708480"/>
      </dsp:txXfrm>
    </dsp:sp>
    <dsp:sp modelId="{651E08F0-ABA6-4F03-8E0A-EE693A3E1665}">
      <dsp:nvSpPr>
        <dsp:cNvPr id="6" name="矩形 5" hidden="1"/>
        <dsp:cNvSpPr/>
      </dsp:nvSpPr>
      <dsp:spPr>
        <a:xfrm>
          <a:off x="0" y="1119149"/>
          <a:ext cx="324319" cy="708480"/>
        </a:xfrm>
        <a:prstGeom prst="rect">
          <a:avLst/>
        </a:prstGeom>
      </dsp:spPr>
      <dsp:txXfrm>
        <a:off x="0" y="1119149"/>
        <a:ext cx="324319" cy="708480"/>
      </dsp:txXfrm>
    </dsp:sp>
    <dsp:sp modelId="{C022F0E2-D138-4B75-906C-74F516094EF6}">
      <dsp:nvSpPr>
        <dsp:cNvPr id="9" name="矩形 8" hidden="1"/>
        <dsp:cNvSpPr/>
      </dsp:nvSpPr>
      <dsp:spPr>
        <a:xfrm>
          <a:off x="0" y="2207789"/>
          <a:ext cx="324319" cy="708480"/>
        </a:xfrm>
        <a:prstGeom prst="rect">
          <a:avLst/>
        </a:prstGeom>
      </dsp:spPr>
      <dsp:txXfrm>
        <a:off x="0" y="2207789"/>
        <a:ext cx="324319" cy="708480"/>
      </dsp:txXfrm>
    </dsp:sp>
    <dsp:sp modelId="{B4398EAB-DC35-4BD4-9C2D-301E3FE7FEA3}">
      <dsp:nvSpPr>
        <dsp:cNvPr id="12" name="矩形 11" hidden="1"/>
        <dsp:cNvSpPr/>
      </dsp:nvSpPr>
      <dsp:spPr>
        <a:xfrm>
          <a:off x="0" y="3296428"/>
          <a:ext cx="324319" cy="708480"/>
        </a:xfrm>
        <a:prstGeom prst="rect">
          <a:avLst/>
        </a:prstGeom>
      </dsp:spPr>
      <dsp:txXfrm>
        <a:off x="0" y="3296428"/>
        <a:ext cx="324319" cy="708480"/>
      </dsp:txXfrm>
    </dsp:sp>
  </dsp:spTree>
</dsp:drawing>
</file>

<file path=ppt/diagrams/layout1.xml><?xml version="1.0" encoding="utf-8"?>
<dgm:layoutDef xmlns:dgm="http://schemas.openxmlformats.org/drawingml/2006/diagram" xmlns:a="http://schemas.openxmlformats.org/drawingml/2006/main" uniqueId="urn:microsoft.com/office/officeart/2005/8/layout/cycle3#1">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rSet qsTypeId="urn:microsoft.com/office/officeart/2005/8/quickstyle/simple5"/>
        </dgm:pt>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dstNode" val="node1"/>
                <dgm:param type="connRout" val="longCurve"/>
                <dgm:param type="begPts" val="midR"/>
                <dgm:param type="endPts" val="midL"/>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dstNode" val="node1"/>
                <dgm:param type="connRout" val="longCurve"/>
                <dgm:param type="begPts" val="midL"/>
                <dgm:param type="endPts" val="midR"/>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dstNode" val="nodeFirstNode"/>
                      <dgm:param type="connRout" val="longCurve"/>
                      <dgm:param type="begPts" val="midR"/>
                      <dgm:param type="endPts" val="midL"/>
                    </dgm:alg>
                  </dgm:if>
                  <dgm:else name="Name15">
                    <dgm:alg type="conn">
                      <dgm:param type="dstNode" val="nodeFirstNode"/>
                      <dgm:param type="connRout" val="longCurve"/>
                      <dgm:param type="begPts" val="midL"/>
                      <dgm:param type="endPts" val="midR"/>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3">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F79B5-1BE2-4FE8-A7B2-ED5D9FCD834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37D3FE-8A53-474B-A2E1-BB81872D0D6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Times New Roman" panose="02020503050405090304" pitchFamily="18" charset="0"/>
              </a:rPr>
              <a:t>要运行</a:t>
            </a:r>
            <a:r>
              <a:rPr lang="en-US" altLang="zh-CN" sz="1200" dirty="0">
                <a:latin typeface="Times New Roman" panose="02020503050405090304" pitchFamily="18" charset="0"/>
              </a:rPr>
              <a:t>OS</a:t>
            </a:r>
            <a:r>
              <a:rPr lang="zh-CN" altLang="en-US" sz="1200" dirty="0">
                <a:latin typeface="Times New Roman" panose="02020503050405090304" pitchFamily="18" charset="0"/>
              </a:rPr>
              <a:t>本身、</a:t>
            </a:r>
            <a:r>
              <a:rPr lang="en-US" altLang="zh-CN" sz="1200" dirty="0">
                <a:latin typeface="Times New Roman" panose="02020503050405090304" pitchFamily="18" charset="0"/>
              </a:rPr>
              <a:t>I/O</a:t>
            </a:r>
            <a:r>
              <a:rPr lang="zh-CN" altLang="en-US" sz="1200" dirty="0">
                <a:latin typeface="Times New Roman" panose="02020503050405090304" pitchFamily="18" charset="0"/>
              </a:rPr>
              <a:t>处理（如中断响应）、应用程序</a:t>
            </a:r>
            <a:endParaRPr lang="zh-CN" altLang="en-US" sz="1200" dirty="0">
              <a:latin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在</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rPr>
              <a:t>OS</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中引入进程后，一方面可以使系统中的多道程序并发执行，有效地改善资源利用率</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显著地提高系统的吞吐量</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但另一方面却使系统变得更加复杂。如果不能采取有效的措施，对多个进程的运行进行妥善的管理，必然会因为这些进程对系统资源的无序争夺给系统造成混乱。致使每次处理的结果存在着不确定性，即显现出其不可再现性。</a:t>
            </a:r>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indent="536575" algn="l">
              <a:lnSpc>
                <a:spcPct val="120000"/>
              </a:lnSpc>
              <a:spcBef>
                <a:spcPct val="0"/>
              </a:spcBef>
              <a:spcAft>
                <a:spcPct val="0"/>
              </a:spcAft>
              <a:buClrTx/>
              <a:buSzTx/>
              <a:buFontTx/>
              <a:buNone/>
            </a:pPr>
            <a:endParaRPr lang="en-US" altLang="zh-CN" sz="1200" b="1" dirty="0">
              <a:latin typeface="华文楷体" panose="02010600040101010101" charset="-122"/>
              <a:ea typeface="华文楷体" panose="02010600040101010101" charset="-122"/>
              <a:cs typeface="华文楷体" panose="02010600040101010101" charset="-122"/>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indent="536575" algn="l">
              <a:lnSpc>
                <a:spcPct val="120000"/>
              </a:lnSpc>
              <a:spcBef>
                <a:spcPct val="0"/>
              </a:spcBef>
              <a:spcAft>
                <a:spcPct val="0"/>
              </a:spcAft>
              <a:buClrTx/>
              <a:buSzTx/>
              <a:buFontTx/>
              <a:buNone/>
            </a:pPr>
            <a:r>
              <a:rPr lang="zh-CN" altLang="en-US" sz="1200" b="1" dirty="0">
                <a:latin typeface="华文楷体" panose="02010600040101010101" charset="-122"/>
                <a:ea typeface="华文楷体" panose="02010600040101010101" charset="-122"/>
                <a:cs typeface="华文楷体" panose="02010600040101010101" charset="-122"/>
              </a:rPr>
              <a:t>锁机制是硬件和软件的基本思想</a:t>
            </a:r>
            <a:endParaRPr lang="en-US" altLang="zh-CN" sz="1200" b="1" dirty="0">
              <a:latin typeface="华文楷体" panose="02010600040101010101" charset="-122"/>
              <a:ea typeface="华文楷体" panose="02010600040101010101" charset="-122"/>
              <a:cs typeface="华文楷体" panose="02010600040101010101" charset="-122"/>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800100" lvl="1" indent="-342900" algn="just">
              <a:lnSpc>
                <a:spcPct val="150000"/>
              </a:lnSpc>
              <a:buFont typeface="Wingdings" panose="05000000000000000000" charset="0"/>
              <a:buChar char="Ø"/>
            </a:pPr>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当一个优先权更高的任务到达 时，允许将当前任务暂时挂起，而令高优先权任务立即投入运行，这样便可满足该硬实时 任务对截止时间的要求。但这种调度机制比较复杂。 </a:t>
            </a:r>
            <a:endParaRPr lang="en-US" altLang="zh-CN" sz="12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lgn="l">
              <a:lnSpc>
                <a:spcPct val="150000"/>
              </a:lnSpc>
              <a:spcBef>
                <a:spcPct val="20000"/>
              </a:spcBef>
              <a:buClr>
                <a:srgbClr val="33CCFF"/>
              </a:buClr>
            </a:pPr>
            <a:r>
              <a:rPr kumimoji="0" lang="zh-CN" altLang="en-US" sz="2400" b="1" dirty="0">
                <a:solidFill>
                  <a:schemeClr val="bg1"/>
                </a:solidFill>
                <a:latin typeface="微软雅黑" panose="020B0503020204020204" pitchFamily="34" charset="-122"/>
                <a:ea typeface="微软雅黑" panose="020B0503020204020204" pitchFamily="34" charset="-122"/>
                <a:cs typeface="Times New Roman" panose="02020503050405090304" pitchFamily="18" charset="0"/>
              </a:rPr>
              <a:t>系统为死锁状态的充分条件是：当且仅当描述系统资源分配情况的资源分配图是</a:t>
            </a:r>
            <a:r>
              <a:rPr kumimoji="0" lang="zh-CN" altLang="en-US" sz="2400" b="1" dirty="0">
                <a:solidFill>
                  <a:srgbClr val="FFFF00"/>
                </a:solidFill>
                <a:latin typeface="微软雅黑" panose="020B0503020204020204" pitchFamily="34" charset="-122"/>
                <a:ea typeface="微软雅黑" panose="020B0503020204020204" pitchFamily="34" charset="-122"/>
                <a:cs typeface="Times New Roman" panose="02020503050405090304" pitchFamily="18" charset="0"/>
              </a:rPr>
              <a:t>不能完全简化</a:t>
            </a:r>
            <a:r>
              <a:rPr kumimoji="0" lang="zh-CN" altLang="en-US" sz="2400" b="1" dirty="0">
                <a:solidFill>
                  <a:schemeClr val="bg1"/>
                </a:solidFill>
                <a:latin typeface="微软雅黑" panose="020B0503020204020204" pitchFamily="34" charset="-122"/>
                <a:ea typeface="微软雅黑" panose="020B0503020204020204" pitchFamily="34" charset="-122"/>
                <a:cs typeface="Times New Roman" panose="02020503050405090304" pitchFamily="18" charset="0"/>
              </a:rPr>
              <a:t>的。</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1257300" lvl="2" indent="-342900" algn="just">
              <a:lnSpc>
                <a:spcPct val="120000"/>
              </a:lnSpc>
              <a:spcBef>
                <a:spcPct val="20000"/>
              </a:spcBef>
              <a:buClr>
                <a:srgbClr val="004080"/>
              </a:buClr>
              <a:buFont typeface="Wingdings" panose="05000000000000000000" pitchFamily="2" charset="2"/>
              <a:buChar char="§"/>
            </a:pP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例如，把其余的</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台分配给</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，这样，在</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P2</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完成后只能释放出</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4</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台，既不能满足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P1</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5</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台的要求，也不能满足</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P3</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尚需</a:t>
            </a:r>
            <a:r>
              <a:rPr kumimoji="0" lang="en-US" altLang="zh-CN"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6</a:t>
            </a:r>
            <a:r>
              <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rPr>
              <a:t>台的要求，致使它们都无法推进到完成，彼此都在等待对方释放资源，即陷入僵局，结果导致死锁。</a:t>
            </a:r>
            <a:endParaRPr kumimoji="0" lang="zh-CN" altLang="en-US" sz="2000" b="1" i="0" u="none" strike="noStrike" kern="0" cap="none" spc="0" normalizeH="0" baseline="0" noProof="0" dirty="0">
              <a:ln>
                <a:noFill/>
              </a:ln>
              <a:solidFill>
                <a:srgbClr val="004080"/>
              </a:solidFill>
              <a:effectLst/>
              <a:uLnTx/>
              <a:uFillTx/>
              <a:latin typeface="Vani" pitchFamily="34" charset="0"/>
              <a:ea typeface="楷体" panose="02010609060101010101" pitchFamily="49" charset="-122"/>
              <a:cs typeface="Vani" pitchFamily="34" charset="0"/>
            </a:endParaRPr>
          </a:p>
          <a:p>
            <a:pPr marL="914400" lvl="1" indent="-457200" algn="just">
              <a:lnSpc>
                <a:spcPct val="150000"/>
              </a:lnSpc>
              <a:buFont typeface="Wingdings" panose="05000000000000000000" pitchFamily="2" charset="2"/>
              <a:buChar char="Ø"/>
            </a:pPr>
            <a:endParaRPr lang="en-US" altLang="zh-CN" sz="1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latin typeface="Times New Roman" panose="02020503050405090304" pitchFamily="18" charset="0"/>
                <a:ea typeface="微软雅黑" panose="020B0503020204020204" pitchFamily="34" charset="-122"/>
                <a:cs typeface="Times New Roman" panose="02020503050405090304" pitchFamily="18" charset="0"/>
              </a:rPr>
              <a:t>多个程序异步并发执行带来了二种不确定性。</a:t>
            </a:r>
            <a:endParaRPr lang="zh-CN" altLang="en-US" sz="1200" dirty="0">
              <a:latin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571500" marR="0" lvl="2" indent="0" algn="just" defTabSz="914400" rtl="0" eaLnBrk="1" fontAlgn="auto" latinLnBrk="0" hangingPunct="1">
              <a:lnSpc>
                <a:spcPct val="150000"/>
              </a:lnSpc>
              <a:spcBef>
                <a:spcPts val="0"/>
              </a:spcBef>
              <a:spcAft>
                <a:spcPts val="0"/>
              </a:spcAft>
              <a:buClrTx/>
              <a:buSzTx/>
              <a:buFont typeface="Wingdings" panose="05000000000000000000" charset="0"/>
              <a:buNone/>
              <a:defRPr/>
            </a:pPr>
            <a:r>
              <a:rPr lang="zh-CN" altLang="en-US" sz="2400" b="1" dirty="0">
                <a:solidFill>
                  <a:schemeClr val="accent6"/>
                </a:solidFill>
                <a:latin typeface="Times New Roman" panose="02020503050405090304" pitchFamily="18" charset="0"/>
                <a:ea typeface="微软雅黑" panose="020B0503020204020204" pitchFamily="34" charset="-122"/>
                <a:cs typeface="Times New Roman" panose="02020503050405090304" pitchFamily="18" charset="0"/>
                <a:sym typeface="+mn-ea"/>
              </a:rPr>
              <a:t>作业调度：</a:t>
            </a:r>
            <a:r>
              <a:rPr lang="zh-CN" altLang="en-US" sz="2400" dirty="0">
                <a:latin typeface="Times New Roman" panose="02020503050405090304" pitchFamily="18" charset="0"/>
                <a:ea typeface="微软雅黑" panose="020B0503020204020204" pitchFamily="34" charset="-122"/>
                <a:cs typeface="Times New Roman" panose="02020503050405090304" pitchFamily="18" charset="0"/>
              </a:rPr>
              <a:t>只用于多道批处理系统，不用于分时系统和实时系统</a:t>
            </a:r>
            <a:endParaRPr lang="en-US" altLang="zh-CN" sz="2400" b="1" dirty="0">
              <a:solidFill>
                <a:schemeClr val="accent6"/>
              </a:solidFill>
              <a:latin typeface="Times New Roman" panose="02020503050405090304" pitchFamily="18" charset="0"/>
              <a:ea typeface="微软雅黑" panose="020B0503020204020204" pitchFamily="34" charset="-122"/>
              <a:cs typeface="Times New Roman" panose="02020503050405090304" pitchFamily="18" charset="0"/>
              <a:sym typeface="+mn-ea"/>
            </a:endParaRPr>
          </a:p>
          <a:p>
            <a:pPr marL="571500" lvl="2" indent="0" algn="just">
              <a:lnSpc>
                <a:spcPct val="150000"/>
              </a:lnSpc>
              <a:buFont typeface="Wingdings" panose="05000000000000000000" charset="0"/>
              <a:buNone/>
            </a:pPr>
            <a:r>
              <a:rPr lang="zh-CN" altLang="en-US" sz="2400" b="1" dirty="0">
                <a:solidFill>
                  <a:schemeClr val="accent6"/>
                </a:solidFill>
                <a:latin typeface="Times New Roman" panose="02020503050405090304" pitchFamily="18" charset="0"/>
                <a:ea typeface="微软雅黑" panose="020B0503020204020204" pitchFamily="34" charset="-122"/>
                <a:cs typeface="Times New Roman" panose="02020503050405090304" pitchFamily="18" charset="0"/>
                <a:sym typeface="+mn-ea"/>
              </a:rPr>
              <a:t>进程调度：多道批处理系统、</a:t>
            </a:r>
            <a:r>
              <a:rPr lang="en-US" altLang="zh-CN" sz="2400" b="1" dirty="0" err="1">
                <a:solidFill>
                  <a:schemeClr val="accent6"/>
                </a:solidFill>
                <a:latin typeface="Times New Roman" panose="02020503050405090304" pitchFamily="18" charset="0"/>
                <a:ea typeface="微软雅黑" panose="020B0503020204020204" pitchFamily="34" charset="-122"/>
                <a:cs typeface="Times New Roman" panose="02020503050405090304" pitchFamily="18" charset="0"/>
                <a:sym typeface="+mn-ea"/>
              </a:rPr>
              <a:t>分时系统</a:t>
            </a:r>
            <a:r>
              <a:rPr lang="zh-CN" altLang="en-US" sz="2400" b="1" dirty="0">
                <a:solidFill>
                  <a:schemeClr val="accent6"/>
                </a:solidFill>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sz="2400" b="1" dirty="0" err="1">
                <a:solidFill>
                  <a:schemeClr val="accent6"/>
                </a:solidFill>
                <a:latin typeface="Times New Roman" panose="02020503050405090304" pitchFamily="18" charset="0"/>
                <a:ea typeface="微软雅黑" panose="020B0503020204020204" pitchFamily="34" charset="-122"/>
                <a:cs typeface="Times New Roman" panose="02020503050405090304" pitchFamily="18" charset="0"/>
                <a:sym typeface="+mn-ea"/>
              </a:rPr>
              <a:t>实时系统</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sym typeface="+mn-ea"/>
              </a:rPr>
              <a:t>  </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幼圆" panose="02010509060101010101" pitchFamily="49" charset="-122"/>
              </a:rPr>
              <a:t>在存储器层次中，层次越高（越靠近ＣＰＵ），存储介质的访问速度越快，价格也越高，相对所配置的存储容量也越小。</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sym typeface="+mn-ea"/>
              </a:rPr>
              <a:t>用户程序要在系统中运行，必须先将它装入内存，然后再将其转变为可执行的程序</a:t>
            </a:r>
            <a:endPar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基地址寄存器</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rPr>
              <a:t>BR</a:t>
            </a:r>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solidFill>
                  <a:srgbClr val="000000"/>
                </a:solidFill>
                <a:effectLst/>
                <a:latin typeface="宋体" pitchFamily="2" charset="-122"/>
                <a:ea typeface="宋体" pitchFamily="2" charset="-122"/>
              </a:rPr>
              <a:t>该指令的功能是将 </a:t>
            </a:r>
            <a:r>
              <a:rPr lang="en-US" altLang="zh-CN" sz="1800" dirty="0">
                <a:solidFill>
                  <a:srgbClr val="000000"/>
                </a:solidFill>
                <a:effectLst/>
                <a:latin typeface="Times New Roman" panose="02020503050405090304" pitchFamily="18" charset="0"/>
              </a:rPr>
              <a:t>2500 </a:t>
            </a:r>
            <a:r>
              <a:rPr lang="zh-CN" altLang="en-US" sz="1800" dirty="0">
                <a:solidFill>
                  <a:srgbClr val="000000"/>
                </a:solidFill>
                <a:effectLst/>
                <a:latin typeface="宋体" pitchFamily="2" charset="-122"/>
                <a:ea typeface="宋体" pitchFamily="2" charset="-122"/>
              </a:rPr>
              <a:t>单元中的整数 </a:t>
            </a:r>
            <a:r>
              <a:rPr lang="en-US" altLang="zh-CN" sz="1800" dirty="0">
                <a:solidFill>
                  <a:srgbClr val="000000"/>
                </a:solidFill>
                <a:effectLst/>
                <a:latin typeface="Times New Roman" panose="02020503050405090304" pitchFamily="18" charset="0"/>
              </a:rPr>
              <a:t>365 </a:t>
            </a:r>
            <a:r>
              <a:rPr lang="zh-CN" altLang="en-US" sz="1800" dirty="0">
                <a:solidFill>
                  <a:srgbClr val="000000"/>
                </a:solidFill>
                <a:effectLst/>
                <a:latin typeface="宋体" pitchFamily="2" charset="-122"/>
                <a:ea typeface="宋体" pitchFamily="2" charset="-122"/>
              </a:rPr>
              <a:t>取至寄存器 </a:t>
            </a:r>
            <a:r>
              <a:rPr lang="en-US" altLang="zh-CN" sz="1800" dirty="0">
                <a:solidFill>
                  <a:srgbClr val="000000"/>
                </a:solidFill>
                <a:effectLst/>
                <a:latin typeface="Times New Roman" panose="02020503050405090304" pitchFamily="18" charset="0"/>
              </a:rPr>
              <a:t>1</a:t>
            </a:r>
            <a:r>
              <a:rPr lang="zh-CN" altLang="en-US" sz="1800" dirty="0">
                <a:solidFill>
                  <a:srgbClr val="000000"/>
                </a:solidFill>
                <a:effectLst/>
                <a:latin typeface="宋体" pitchFamily="2" charset="-122"/>
                <a:ea typeface="宋体" pitchFamily="2" charset="-122"/>
              </a:rPr>
              <a:t>。</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zh-CN" altLang="en-US" dirty="0"/>
              <a:t>为了讲用户程序装入内存，必须为它分配一定大小的内存空间，连续分配方式是最早出现的存储器分配方式，分为以下</a:t>
            </a:r>
            <a:r>
              <a:rPr lang="zh-CN" altLang="en-US" dirty="0"/>
              <a:t>四类</a:t>
            </a:r>
            <a:endParaRPr lang="zh-CN" altLang="en-US" dirty="0"/>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Dev</a:t>
            </a:r>
            <a:r>
              <a:rPr lang="zh-CN" altLang="en-US" dirty="0"/>
              <a:t>：</a:t>
            </a:r>
            <a:r>
              <a:rPr lang="zh-CN" altLang="en-US" b="0" i="0" dirty="0">
                <a:solidFill>
                  <a:srgbClr val="333333"/>
                </a:solidFill>
                <a:effectLst/>
                <a:latin typeface="Arial" panose="020B0604020202090204" pitchFamily="34" charset="0"/>
              </a:rPr>
              <a:t>放设备驱动的</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indent="-342900" defTabSz="449580">
              <a:lnSpc>
                <a:spcPct val="150000"/>
              </a:lnSpc>
              <a:spcBef>
                <a:spcPts val="1200"/>
              </a:spcBef>
              <a:buClr>
                <a:srgbClr val="2F5597"/>
              </a:buClr>
              <a:buSzPct val="100000"/>
              <a:buFont typeface="Wingdings" panose="05000000000000000000" pitchFamily="2" charset="2"/>
              <a:buChar char="Ø"/>
            </a:pP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indent="-342900" defTabSz="449580">
              <a:lnSpc>
                <a:spcPct val="150000"/>
              </a:lnSpc>
              <a:spcBef>
                <a:spcPts val="1200"/>
              </a:spcBef>
              <a:buClr>
                <a:srgbClr val="2F5597"/>
              </a:buClr>
              <a:buSzPct val="100000"/>
              <a:buFont typeface="Wingdings" panose="05000000000000000000" pitchFamily="2" charset="2"/>
              <a:buChar char="Ø"/>
            </a:pP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nSpc>
                <a:spcPct val="150000"/>
              </a:lnSpc>
              <a:buClr>
                <a:srgbClr val="0000FF"/>
              </a:buClr>
              <a:buFont typeface="Wingdings" panose="05000000000000000000" pitchFamily="2" charset="2"/>
              <a:buChar char="Ø"/>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基于索引搜索的动态分区分配算法</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快速适应（</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quick fit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）算法</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伙伴系统（</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buddy system</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哈希算法</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nSpc>
                <a:spcPct val="150000"/>
              </a:lnSpc>
              <a:buClr>
                <a:srgbClr val="0000FF"/>
              </a:buClr>
              <a:buFont typeface="Wingdings" panose="05000000000000000000" pitchFamily="2" charset="2"/>
              <a:buChar char="Ø"/>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基于索引搜索的动态分区分配算法</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快速适应（</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quick fit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）算法</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伙伴系统（</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buddy system</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哈希算法</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nSpc>
                <a:spcPct val="150000"/>
              </a:lnSpc>
              <a:buClr>
                <a:srgbClr val="0000FF"/>
              </a:buClr>
              <a:buFont typeface="Wingdings" panose="05000000000000000000" pitchFamily="2" charset="2"/>
              <a:buChar char="Ø"/>
            </a:pPr>
            <a:r>
              <a:rPr lang="zh-CN" altLang="en-US" sz="1200" b="1" dirty="0">
                <a:latin typeface="微软雅黑" panose="020B0503020204020204" pitchFamily="34" charset="-122"/>
                <a:ea typeface="微软雅黑" panose="020B0503020204020204" pitchFamily="34" charset="-122"/>
              </a:rPr>
              <a:t>其中：</a:t>
            </a:r>
            <a:r>
              <a:rPr lang="en-US" altLang="zh-CN" sz="1200" b="1" dirty="0">
                <a:latin typeface="微软雅黑" panose="020B0503020204020204" pitchFamily="34" charset="-122"/>
                <a:ea typeface="微软雅黑" panose="020B0503020204020204" pitchFamily="34" charset="-122"/>
              </a:rPr>
              <a:t>2^1</a:t>
            </a:r>
            <a:r>
              <a:rPr lang="zh-CN" altLang="en-US" sz="1200" b="1" dirty="0">
                <a:latin typeface="微软雅黑" panose="020B0503020204020204" pitchFamily="34" charset="-122"/>
                <a:ea typeface="微软雅黑" panose="020B0503020204020204" pitchFamily="34" charset="-122"/>
              </a:rPr>
              <a:t>表示分配的最小分区的大小，</a:t>
            </a:r>
            <a:r>
              <a:rPr lang="en-US" altLang="zh-CN" sz="1200" b="1" dirty="0">
                <a:latin typeface="微软雅黑" panose="020B0503020204020204" pitchFamily="34" charset="-122"/>
                <a:ea typeface="微软雅黑" panose="020B0503020204020204" pitchFamily="34" charset="-122"/>
              </a:rPr>
              <a:t>2^m </a:t>
            </a:r>
            <a:r>
              <a:rPr lang="zh-CN" altLang="en-US" sz="1200" b="1" dirty="0">
                <a:latin typeface="微软雅黑" panose="020B0503020204020204" pitchFamily="34" charset="-122"/>
                <a:ea typeface="微软雅黑" panose="020B0503020204020204" pitchFamily="34" charset="-122"/>
              </a:rPr>
              <a:t>表示分配的最大分区的大小，通常 </a:t>
            </a:r>
            <a:r>
              <a:rPr lang="en-US" altLang="zh-CN" sz="1200" b="1" dirty="0">
                <a:latin typeface="微软雅黑" panose="020B0503020204020204" pitchFamily="34" charset="-122"/>
                <a:ea typeface="微软雅黑" panose="020B0503020204020204" pitchFamily="34" charset="-122"/>
              </a:rPr>
              <a:t>2^m </a:t>
            </a:r>
            <a:r>
              <a:rPr lang="zh-CN" altLang="en-US" sz="1200" b="1" dirty="0">
                <a:latin typeface="微软雅黑" panose="020B0503020204020204" pitchFamily="34" charset="-122"/>
                <a:ea typeface="微软雅黑" panose="020B0503020204020204" pitchFamily="34" charset="-122"/>
              </a:rPr>
              <a:t>是整个可分配内存的大小。</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nSpc>
                <a:spcPct val="150000"/>
              </a:lnSpc>
              <a:buClr>
                <a:srgbClr val="0000FF"/>
              </a:buClr>
              <a:buFont typeface="Wingdings" panose="05000000000000000000" pitchFamily="2" charset="2"/>
              <a:buChar char="Ø"/>
            </a:pPr>
            <a:r>
              <a:rPr lang="zh-CN" altLang="en-US" sz="1200" b="1" dirty="0">
                <a:latin typeface="微软雅黑" panose="020B0503020204020204" pitchFamily="34" charset="-122"/>
                <a:ea typeface="微软雅黑" panose="020B0503020204020204" pitchFamily="34" charset="-122"/>
              </a:rPr>
              <a:t>其中：</a:t>
            </a:r>
            <a:r>
              <a:rPr lang="en-US" altLang="zh-CN" sz="1200" b="1" dirty="0">
                <a:latin typeface="微软雅黑" panose="020B0503020204020204" pitchFamily="34" charset="-122"/>
                <a:ea typeface="微软雅黑" panose="020B0503020204020204" pitchFamily="34" charset="-122"/>
              </a:rPr>
              <a:t>2^1</a:t>
            </a:r>
            <a:r>
              <a:rPr lang="zh-CN" altLang="en-US" sz="1200" b="1" dirty="0">
                <a:latin typeface="微软雅黑" panose="020B0503020204020204" pitchFamily="34" charset="-122"/>
                <a:ea typeface="微软雅黑" panose="020B0503020204020204" pitchFamily="34" charset="-122"/>
              </a:rPr>
              <a:t>表示分配的最小分区的大小，</a:t>
            </a:r>
            <a:r>
              <a:rPr lang="en-US" altLang="zh-CN" sz="1200" b="1" dirty="0">
                <a:latin typeface="微软雅黑" panose="020B0503020204020204" pitchFamily="34" charset="-122"/>
                <a:ea typeface="微软雅黑" panose="020B0503020204020204" pitchFamily="34" charset="-122"/>
              </a:rPr>
              <a:t>2^m </a:t>
            </a:r>
            <a:r>
              <a:rPr lang="zh-CN" altLang="en-US" sz="1200" b="1" dirty="0">
                <a:latin typeface="微软雅黑" panose="020B0503020204020204" pitchFamily="34" charset="-122"/>
                <a:ea typeface="微软雅黑" panose="020B0503020204020204" pitchFamily="34" charset="-122"/>
              </a:rPr>
              <a:t>表示分配的最大分区的大小，通常 </a:t>
            </a:r>
            <a:r>
              <a:rPr lang="en-US" altLang="zh-CN" sz="1200" b="1" dirty="0">
                <a:latin typeface="微软雅黑" panose="020B0503020204020204" pitchFamily="34" charset="-122"/>
                <a:ea typeface="微软雅黑" panose="020B0503020204020204" pitchFamily="34" charset="-122"/>
              </a:rPr>
              <a:t>2^m </a:t>
            </a:r>
            <a:r>
              <a:rPr lang="zh-CN" altLang="en-US" sz="1200" b="1" dirty="0">
                <a:latin typeface="微软雅黑" panose="020B0503020204020204" pitchFamily="34" charset="-122"/>
                <a:ea typeface="微软雅黑" panose="020B0503020204020204" pitchFamily="34" charset="-122"/>
              </a:rPr>
              <a:t>是整个可分配内存的大小。</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nSpc>
                <a:spcPct val="150000"/>
              </a:lnSpc>
              <a:buClr>
                <a:srgbClr val="0000FF"/>
              </a:buClr>
              <a:buFont typeface="Wingdings" panose="05000000000000000000" pitchFamily="2" charset="2"/>
              <a:buChar char="Ø"/>
            </a:pPr>
            <a:r>
              <a:rPr lang="zh-CN" altLang="en-US" sz="1200" b="1" dirty="0">
                <a:latin typeface="微软雅黑" panose="020B0503020204020204" pitchFamily="34" charset="-122"/>
                <a:ea typeface="微软雅黑" panose="020B0503020204020204" pitchFamily="34" charset="-122"/>
              </a:rPr>
              <a:t>其中：</a:t>
            </a:r>
            <a:r>
              <a:rPr lang="en-US" altLang="zh-CN" sz="1200" b="1" dirty="0">
                <a:latin typeface="微软雅黑" panose="020B0503020204020204" pitchFamily="34" charset="-122"/>
                <a:ea typeface="微软雅黑" panose="020B0503020204020204" pitchFamily="34" charset="-122"/>
              </a:rPr>
              <a:t>2^1</a:t>
            </a:r>
            <a:r>
              <a:rPr lang="zh-CN" altLang="en-US" sz="1200" b="1" dirty="0">
                <a:latin typeface="微软雅黑" panose="020B0503020204020204" pitchFamily="34" charset="-122"/>
                <a:ea typeface="微软雅黑" panose="020B0503020204020204" pitchFamily="34" charset="-122"/>
              </a:rPr>
              <a:t>表示分配的最小分区的大小，</a:t>
            </a:r>
            <a:r>
              <a:rPr lang="en-US" altLang="zh-CN" sz="1200" b="1" dirty="0">
                <a:latin typeface="微软雅黑" panose="020B0503020204020204" pitchFamily="34" charset="-122"/>
                <a:ea typeface="微软雅黑" panose="020B0503020204020204" pitchFamily="34" charset="-122"/>
              </a:rPr>
              <a:t>2^m </a:t>
            </a:r>
            <a:r>
              <a:rPr lang="zh-CN" altLang="en-US" sz="1200" b="1" dirty="0">
                <a:latin typeface="微软雅黑" panose="020B0503020204020204" pitchFamily="34" charset="-122"/>
                <a:ea typeface="微软雅黑" panose="020B0503020204020204" pitchFamily="34" charset="-122"/>
              </a:rPr>
              <a:t>表示分配的最大分区的大小，通常 </a:t>
            </a:r>
            <a:r>
              <a:rPr lang="en-US" altLang="zh-CN" sz="1200" b="1" dirty="0">
                <a:latin typeface="微软雅黑" panose="020B0503020204020204" pitchFamily="34" charset="-122"/>
                <a:ea typeface="微软雅黑" panose="020B0503020204020204" pitchFamily="34" charset="-122"/>
              </a:rPr>
              <a:t>2^m </a:t>
            </a:r>
            <a:r>
              <a:rPr lang="zh-CN" altLang="en-US" sz="1200" b="1" dirty="0">
                <a:latin typeface="微软雅黑" panose="020B0503020204020204" pitchFamily="34" charset="-122"/>
                <a:ea typeface="微软雅黑" panose="020B0503020204020204" pitchFamily="34" charset="-122"/>
              </a:rPr>
              <a:t>是整个可分配内存的大小。</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nSpc>
                <a:spcPct val="150000"/>
              </a:lnSpc>
              <a:buClr>
                <a:srgbClr val="0000FF"/>
              </a:buClr>
              <a:buFont typeface="Wingdings" panose="05000000000000000000" pitchFamily="2" charset="2"/>
              <a:buChar char="Ø"/>
            </a:pPr>
            <a:r>
              <a:rPr lang="zh-CN" altLang="en-US" sz="1200" b="1" dirty="0">
                <a:latin typeface="微软雅黑" panose="020B0503020204020204" pitchFamily="34" charset="-122"/>
                <a:ea typeface="微软雅黑" panose="020B0503020204020204" pitchFamily="34" charset="-122"/>
              </a:rPr>
              <a:t>其中：</a:t>
            </a:r>
            <a:r>
              <a:rPr lang="en-US" altLang="zh-CN" sz="1200" b="1" dirty="0">
                <a:latin typeface="微软雅黑" panose="020B0503020204020204" pitchFamily="34" charset="-122"/>
                <a:ea typeface="微软雅黑" panose="020B0503020204020204" pitchFamily="34" charset="-122"/>
              </a:rPr>
              <a:t>2^1</a:t>
            </a:r>
            <a:r>
              <a:rPr lang="zh-CN" altLang="en-US" sz="1200" b="1" dirty="0">
                <a:latin typeface="微软雅黑" panose="020B0503020204020204" pitchFamily="34" charset="-122"/>
                <a:ea typeface="微软雅黑" panose="020B0503020204020204" pitchFamily="34" charset="-122"/>
              </a:rPr>
              <a:t>表示分配的最小分区的大小，</a:t>
            </a:r>
            <a:r>
              <a:rPr lang="en-US" altLang="zh-CN" sz="1200" b="1" dirty="0">
                <a:latin typeface="微软雅黑" panose="020B0503020204020204" pitchFamily="34" charset="-122"/>
                <a:ea typeface="微软雅黑" panose="020B0503020204020204" pitchFamily="34" charset="-122"/>
              </a:rPr>
              <a:t>2^m </a:t>
            </a:r>
            <a:r>
              <a:rPr lang="zh-CN" altLang="en-US" sz="1200" b="1" dirty="0">
                <a:latin typeface="微软雅黑" panose="020B0503020204020204" pitchFamily="34" charset="-122"/>
                <a:ea typeface="微软雅黑" panose="020B0503020204020204" pitchFamily="34" charset="-122"/>
              </a:rPr>
              <a:t>表示分配的最大分区的大小，通常 </a:t>
            </a:r>
            <a:r>
              <a:rPr lang="en-US" altLang="zh-CN" sz="1200" b="1" dirty="0">
                <a:latin typeface="微软雅黑" panose="020B0503020204020204" pitchFamily="34" charset="-122"/>
                <a:ea typeface="微软雅黑" panose="020B0503020204020204" pitchFamily="34" charset="-122"/>
              </a:rPr>
              <a:t>2^m </a:t>
            </a:r>
            <a:r>
              <a:rPr lang="zh-CN" altLang="en-US" sz="1200" b="1" dirty="0">
                <a:latin typeface="微软雅黑" panose="020B0503020204020204" pitchFamily="34" charset="-122"/>
                <a:ea typeface="微软雅黑" panose="020B0503020204020204" pitchFamily="34" charset="-122"/>
              </a:rPr>
              <a:t>是整个可分配内存的大小。</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nSpc>
                <a:spcPct val="150000"/>
              </a:lnSpc>
              <a:buClr>
                <a:srgbClr val="0000FF"/>
              </a:buClr>
              <a:buFont typeface="Wingdings" panose="05000000000000000000" pitchFamily="2" charset="2"/>
              <a:buChar char="Ø"/>
            </a:pPr>
            <a:r>
              <a:rPr lang="zh-CN" altLang="en-US" sz="1200" b="1" dirty="0">
                <a:latin typeface="微软雅黑" panose="020B0503020204020204" pitchFamily="34" charset="-122"/>
                <a:ea typeface="微软雅黑" panose="020B0503020204020204" pitchFamily="34" charset="-122"/>
              </a:rPr>
              <a:t>其中：</a:t>
            </a:r>
            <a:r>
              <a:rPr lang="en-US" altLang="zh-CN" sz="1200" b="1" dirty="0">
                <a:latin typeface="微软雅黑" panose="020B0503020204020204" pitchFamily="34" charset="-122"/>
                <a:ea typeface="微软雅黑" panose="020B0503020204020204" pitchFamily="34" charset="-122"/>
              </a:rPr>
              <a:t>2^1</a:t>
            </a:r>
            <a:r>
              <a:rPr lang="zh-CN" altLang="en-US" sz="1200" b="1" dirty="0">
                <a:latin typeface="微软雅黑" panose="020B0503020204020204" pitchFamily="34" charset="-122"/>
                <a:ea typeface="微软雅黑" panose="020B0503020204020204" pitchFamily="34" charset="-122"/>
              </a:rPr>
              <a:t>表示分配的最小分区的大小，</a:t>
            </a:r>
            <a:r>
              <a:rPr lang="en-US" altLang="zh-CN" sz="1200" b="1" dirty="0">
                <a:latin typeface="微软雅黑" panose="020B0503020204020204" pitchFamily="34" charset="-122"/>
                <a:ea typeface="微软雅黑" panose="020B0503020204020204" pitchFamily="34" charset="-122"/>
              </a:rPr>
              <a:t>2^m </a:t>
            </a:r>
            <a:r>
              <a:rPr lang="zh-CN" altLang="en-US" sz="1200" b="1" dirty="0">
                <a:latin typeface="微软雅黑" panose="020B0503020204020204" pitchFamily="34" charset="-122"/>
                <a:ea typeface="微软雅黑" panose="020B0503020204020204" pitchFamily="34" charset="-122"/>
              </a:rPr>
              <a:t>表示分配的最大分区的大小，通常 </a:t>
            </a:r>
            <a:r>
              <a:rPr lang="en-US" altLang="zh-CN" sz="1200" b="1" dirty="0">
                <a:latin typeface="微软雅黑" panose="020B0503020204020204" pitchFamily="34" charset="-122"/>
                <a:ea typeface="微软雅黑" panose="020B0503020204020204" pitchFamily="34" charset="-122"/>
              </a:rPr>
              <a:t>2^m </a:t>
            </a:r>
            <a:r>
              <a:rPr lang="zh-CN" altLang="en-US" sz="1200" b="1" dirty="0">
                <a:latin typeface="微软雅黑" panose="020B0503020204020204" pitchFamily="34" charset="-122"/>
                <a:ea typeface="微软雅黑" panose="020B0503020204020204" pitchFamily="34" charset="-122"/>
              </a:rPr>
              <a:t>是整个可分配内存的大小。</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nSpc>
                <a:spcPct val="150000"/>
              </a:lnSpc>
              <a:buClr>
                <a:srgbClr val="0000FF"/>
              </a:buClr>
              <a:buFont typeface="Wingdings" panose="05000000000000000000" pitchFamily="2" charset="2"/>
              <a:buChar char="Ø"/>
            </a:pPr>
            <a:r>
              <a:rPr lang="zh-CN" altLang="en-US" sz="1200" b="1" dirty="0">
                <a:latin typeface="微软雅黑" panose="020B0503020204020204" pitchFamily="34" charset="-122"/>
                <a:ea typeface="微软雅黑" panose="020B0503020204020204" pitchFamily="34" charset="-122"/>
              </a:rPr>
              <a:t>其中：</a:t>
            </a:r>
            <a:r>
              <a:rPr lang="en-US" altLang="zh-CN" sz="1200" b="1" dirty="0">
                <a:latin typeface="微软雅黑" panose="020B0503020204020204" pitchFamily="34" charset="-122"/>
                <a:ea typeface="微软雅黑" panose="020B0503020204020204" pitchFamily="34" charset="-122"/>
              </a:rPr>
              <a:t>2^1</a:t>
            </a:r>
            <a:r>
              <a:rPr lang="zh-CN" altLang="en-US" sz="1200" b="1" dirty="0">
                <a:latin typeface="微软雅黑" panose="020B0503020204020204" pitchFamily="34" charset="-122"/>
                <a:ea typeface="微软雅黑" panose="020B0503020204020204" pitchFamily="34" charset="-122"/>
              </a:rPr>
              <a:t>表示分配的最小分区的大小，</a:t>
            </a:r>
            <a:r>
              <a:rPr lang="en-US" altLang="zh-CN" sz="1200" b="1" dirty="0">
                <a:latin typeface="微软雅黑" panose="020B0503020204020204" pitchFamily="34" charset="-122"/>
                <a:ea typeface="微软雅黑" panose="020B0503020204020204" pitchFamily="34" charset="-122"/>
              </a:rPr>
              <a:t>2^m </a:t>
            </a:r>
            <a:r>
              <a:rPr lang="zh-CN" altLang="en-US" sz="1200" b="1" dirty="0">
                <a:latin typeface="微软雅黑" panose="020B0503020204020204" pitchFamily="34" charset="-122"/>
                <a:ea typeface="微软雅黑" panose="020B0503020204020204" pitchFamily="34" charset="-122"/>
              </a:rPr>
              <a:t>表示分配的最大分区的大小，通常 </a:t>
            </a:r>
            <a:r>
              <a:rPr lang="en-US" altLang="zh-CN" sz="1200" b="1" dirty="0">
                <a:latin typeface="微软雅黑" panose="020B0503020204020204" pitchFamily="34" charset="-122"/>
                <a:ea typeface="微软雅黑" panose="020B0503020204020204" pitchFamily="34" charset="-122"/>
              </a:rPr>
              <a:t>2^m </a:t>
            </a:r>
            <a:r>
              <a:rPr lang="zh-CN" altLang="en-US" sz="1200" b="1" dirty="0">
                <a:latin typeface="微软雅黑" panose="020B0503020204020204" pitchFamily="34" charset="-122"/>
                <a:ea typeface="微软雅黑" panose="020B0503020204020204" pitchFamily="34" charset="-122"/>
              </a:rPr>
              <a:t>是整个可分配内存的大小。</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nSpc>
                <a:spcPct val="150000"/>
              </a:lnSpc>
              <a:buClr>
                <a:srgbClr val="0000FF"/>
              </a:buClr>
              <a:buFont typeface="Wingdings" panose="05000000000000000000" pitchFamily="2" charset="2"/>
              <a:buChar char="Ø"/>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基于索引搜索的动态分区分配算法</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快速适应（</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quick fit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）算法</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伙伴系统（</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buddy system</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哈希算法</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dirty="0">
                <a:latin typeface="Times New Roman" panose="02020503050405090304" pitchFamily="18" charset="0"/>
                <a:ea typeface="微软雅黑" panose="020B0503020204020204" pitchFamily="34" charset="-122"/>
                <a:cs typeface="Times New Roman" panose="02020503050405090304" pitchFamily="18" charset="0"/>
              </a:rPr>
              <a:t>因为这些对象所需的内存空间是大小相等的。例如，炉温群控系统，就是利用一台计算机去控制多台相同的冶炼炉。 </a:t>
            </a:r>
            <a:endParaRPr lang="zh-CN" altLang="en-US" dirty="0"/>
          </a:p>
        </p:txBody>
      </p:sp>
      <p:sp>
        <p:nvSpPr>
          <p:cNvPr id="4" name="灯片编号占位符 3"/>
          <p:cNvSpPr>
            <a:spLocks noGrp="1"/>
          </p:cNvSpPr>
          <p:nvPr>
            <p:ph type="sldNum" sz="quarter" idx="5"/>
          </p:nvPr>
        </p:nvSpPr>
        <p:spPr/>
        <p:txBody>
          <a:bodyPr/>
          <a:lstStyle/>
          <a:p>
            <a:fld id="{E137D3FE-8A53-474B-A2E1-BB81872D0D6E}" type="slidenum">
              <a:rPr lang="zh-CN" altLang="en-US" smtClean="0"/>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lvl="0" algn="l">
              <a:lnSpc>
                <a:spcPct val="150000"/>
              </a:lnSpc>
              <a:spcBef>
                <a:spcPct val="20000"/>
              </a:spcBef>
              <a:buClr>
                <a:srgbClr val="33CCFF"/>
              </a:buClr>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71CCA86-EDB4-4A8E-81D1-FD3C4825D266}" type="slidenum">
              <a:rPr lang="zh-CN" altLang="en-US" smtClean="0"/>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atin typeface="微软雅黑" panose="020B0503020204020204" pitchFamily="34" charset="-122"/>
                <a:ea typeface="微软雅黑" panose="020B0503020204020204" pitchFamily="34" charset="-122"/>
                <a:cs typeface="微软雅黑" panose="020B0503020204020204" pitchFamily="34" charset="-122"/>
                <a:sym typeface="+mn-ea"/>
              </a:rPr>
              <a:t>假设下面的几个进程是系统中仅有的进程，并且都没有</a:t>
            </a:r>
            <a:r>
              <a:rPr lang="en-US">
                <a:latin typeface="微软雅黑" panose="020B0503020204020204" pitchFamily="34" charset="-122"/>
                <a:ea typeface="微软雅黑" panose="020B0503020204020204" pitchFamily="34" charset="-122"/>
                <a:cs typeface="微软雅黑" panose="020B0503020204020204" pitchFamily="34" charset="-122"/>
                <a:sym typeface="+mn-ea"/>
              </a:rPr>
              <a:t>I/O</a:t>
            </a:r>
            <a:r>
              <a:rPr lang="zh-CN">
                <a:latin typeface="微软雅黑" panose="020B0503020204020204" pitchFamily="34" charset="-122"/>
                <a:ea typeface="微软雅黑" panose="020B0503020204020204" pitchFamily="34" charset="-122"/>
                <a:cs typeface="微软雅黑" panose="020B0503020204020204" pitchFamily="34" charset="-122"/>
                <a:sym typeface="+mn-ea"/>
              </a:rPr>
              <a:t>请求，给定的达到时间和</a:t>
            </a:r>
            <a:r>
              <a:rPr lang="en-US">
                <a:latin typeface="微软雅黑" panose="020B0503020204020204" pitchFamily="34" charset="-122"/>
                <a:ea typeface="微软雅黑" panose="020B0503020204020204" pitchFamily="34" charset="-122"/>
                <a:cs typeface="微软雅黑" panose="020B0503020204020204" pitchFamily="34" charset="-122"/>
                <a:sym typeface="+mn-ea"/>
              </a:rPr>
              <a:t>CPU</a:t>
            </a:r>
            <a:r>
              <a:rPr lang="zh-CN">
                <a:latin typeface="微软雅黑" panose="020B0503020204020204" pitchFamily="34" charset="-122"/>
                <a:ea typeface="微软雅黑" panose="020B0503020204020204" pitchFamily="34" charset="-122"/>
                <a:cs typeface="微软雅黑" panose="020B0503020204020204" pitchFamily="34" charset="-122"/>
                <a:sym typeface="+mn-ea"/>
              </a:rPr>
              <a:t>区间长度（</a:t>
            </a:r>
            <a:r>
              <a:rPr lang="en-US">
                <a:latin typeface="微软雅黑" panose="020B0503020204020204" pitchFamily="34" charset="-122"/>
                <a:ea typeface="微软雅黑" panose="020B0503020204020204" pitchFamily="34" charset="-122"/>
                <a:cs typeface="微软雅黑" panose="020B0503020204020204" pitchFamily="34" charset="-122"/>
                <a:sym typeface="+mn-ea"/>
              </a:rPr>
              <a:t>CPU burst time</a:t>
            </a:r>
            <a:r>
              <a:rPr lang="zh-CN">
                <a:latin typeface="微软雅黑" panose="020B0503020204020204" pitchFamily="34" charset="-122"/>
                <a:ea typeface="微软雅黑" panose="020B0503020204020204" pitchFamily="34" charset="-122"/>
                <a:cs typeface="微软雅黑" panose="020B0503020204020204" pitchFamily="34" charset="-122"/>
                <a:sym typeface="+mn-ea"/>
              </a:rPr>
              <a:t>），回答下面的问题</a:t>
            </a:r>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atin typeface="微软雅黑" panose="020B0503020204020204" pitchFamily="34" charset="-122"/>
                <a:ea typeface="微软雅黑" panose="020B0503020204020204" pitchFamily="34" charset="-122"/>
                <a:cs typeface="微软雅黑" panose="020B0503020204020204" pitchFamily="34" charset="-122"/>
                <a:sym typeface="+mn-ea"/>
              </a:rPr>
              <a:t>假设下面的几个进程是系统中仅有的进程，并且都没有</a:t>
            </a:r>
            <a:r>
              <a:rPr lang="en-US">
                <a:latin typeface="微软雅黑" panose="020B0503020204020204" pitchFamily="34" charset="-122"/>
                <a:ea typeface="微软雅黑" panose="020B0503020204020204" pitchFamily="34" charset="-122"/>
                <a:cs typeface="微软雅黑" panose="020B0503020204020204" pitchFamily="34" charset="-122"/>
                <a:sym typeface="+mn-ea"/>
              </a:rPr>
              <a:t>I/O</a:t>
            </a:r>
            <a:r>
              <a:rPr lang="zh-CN">
                <a:latin typeface="微软雅黑" panose="020B0503020204020204" pitchFamily="34" charset="-122"/>
                <a:ea typeface="微软雅黑" panose="020B0503020204020204" pitchFamily="34" charset="-122"/>
                <a:cs typeface="微软雅黑" panose="020B0503020204020204" pitchFamily="34" charset="-122"/>
                <a:sym typeface="+mn-ea"/>
              </a:rPr>
              <a:t>请求，给定的达到时间和</a:t>
            </a:r>
            <a:r>
              <a:rPr lang="en-US">
                <a:latin typeface="微软雅黑" panose="020B0503020204020204" pitchFamily="34" charset="-122"/>
                <a:ea typeface="微软雅黑" panose="020B0503020204020204" pitchFamily="34" charset="-122"/>
                <a:cs typeface="微软雅黑" panose="020B0503020204020204" pitchFamily="34" charset="-122"/>
                <a:sym typeface="+mn-ea"/>
              </a:rPr>
              <a:t>CPU</a:t>
            </a:r>
            <a:r>
              <a:rPr lang="zh-CN">
                <a:latin typeface="微软雅黑" panose="020B0503020204020204" pitchFamily="34" charset="-122"/>
                <a:ea typeface="微软雅黑" panose="020B0503020204020204" pitchFamily="34" charset="-122"/>
                <a:cs typeface="微软雅黑" panose="020B0503020204020204" pitchFamily="34" charset="-122"/>
                <a:sym typeface="+mn-ea"/>
              </a:rPr>
              <a:t>区间长度（</a:t>
            </a:r>
            <a:r>
              <a:rPr lang="en-US">
                <a:latin typeface="微软雅黑" panose="020B0503020204020204" pitchFamily="34" charset="-122"/>
                <a:ea typeface="微软雅黑" panose="020B0503020204020204" pitchFamily="34" charset="-122"/>
                <a:cs typeface="微软雅黑" panose="020B0503020204020204" pitchFamily="34" charset="-122"/>
                <a:sym typeface="+mn-ea"/>
              </a:rPr>
              <a:t>CPU burst time</a:t>
            </a:r>
            <a:r>
              <a:rPr lang="zh-CN">
                <a:latin typeface="微软雅黑" panose="020B0503020204020204" pitchFamily="34" charset="-122"/>
                <a:ea typeface="微软雅黑" panose="020B0503020204020204" pitchFamily="34" charset="-122"/>
                <a:cs typeface="微软雅黑" panose="020B0503020204020204" pitchFamily="34" charset="-122"/>
                <a:sym typeface="+mn-ea"/>
              </a:rPr>
              <a:t>），回答下面的问题</a:t>
            </a:r>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D8320B0-FD0C-4BEC-B4C0-C62DE03CACE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r>
              <a:rPr lang="zh-CN" altLang="en-US" dirty="0"/>
              <a:t>第</a:t>
            </a:r>
            <a:fld id="{0D4EF626-F2E7-47E8-A3E5-EAE9C4555C6D}" type="slidenum">
              <a:rPr lang="zh-CN" altLang="en-US" smtClean="0"/>
            </a:fld>
            <a:r>
              <a:rPr lang="zh-CN" altLang="en-US" dirty="0"/>
              <a:t>页，共</a:t>
            </a:r>
            <a:r>
              <a:rPr lang="en-US" altLang="zh-CN" dirty="0"/>
              <a:t>50</a:t>
            </a:r>
            <a:r>
              <a:rPr lang="zh-CN" altLang="en-US" dirty="0"/>
              <a:t>页</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F910D08-6940-47A1-B97C-3CB2C8D37F76}"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r>
              <a:rPr lang="zh-CN" altLang="en-US" dirty="0"/>
              <a:t>第</a:t>
            </a:r>
            <a:fld id="{0D4EF626-F2E7-47E8-A3E5-EAE9C4555C6D}" type="slidenum">
              <a:rPr lang="zh-CN" altLang="en-US" smtClean="0"/>
            </a:fld>
            <a:r>
              <a:rPr lang="zh-CN" altLang="en-US" dirty="0"/>
              <a:t>页，共</a:t>
            </a:r>
            <a:r>
              <a:rPr lang="en-US" altLang="zh-CN" dirty="0"/>
              <a:t>50</a:t>
            </a:r>
            <a:r>
              <a:rPr lang="zh-CN" altLang="en-US" dirty="0"/>
              <a:t>页</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1"/>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6"/>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A5124458-3696-424B-94E5-721F571C486B}"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9F8AD39C-4028-4178-AEF8-587109B605E8}"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8"/>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9064F7FC-80B4-491A-9223-88670FE35849}"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D84965C-8B2E-4A28-A5E5-17F6570E3C73}"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D545C8F-8D9F-4BBD-81D9-DAA993B0B221}"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F8913D-7F59-4E2A-A95F-2065B3868B51}"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8"/>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DBFE103-9464-432D-A556-38A0098ADFB5}"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81A5194-67BC-43E6-8119-B1D97DA06C9F}"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8A96BA2E-608F-4C66-9D28-6A9F77E8C34B}"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24C5761-46A8-4841-BDA5-571D16466241}"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77173ECC-6B14-49CC-9EEC-7D6EEF506E5D}"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0768" y="-88295"/>
            <a:ext cx="10515600" cy="1325563"/>
          </a:xfrm>
        </p:spPr>
        <p:txBody>
          <a:bodyPr>
            <a:normAutofit/>
          </a:bodyPr>
          <a:lstStyle>
            <a:lvl1pPr>
              <a:defRPr sz="4000" b="1">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C673980B-1AB3-4BE3-9F3D-184B76B15B8E}"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D1791DB1-19BA-438F-AD6E-73C1FE3ED429}"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D6363211-15D7-4266-9949-BDC2DE166C7B}"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39789"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5ABE8598-ED5B-4EF3-BB49-D9896A318265}" type="datetime1">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D4EF626-F2E7-47E8-A3E5-EAE9C4555C6D}"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05A29871-3A55-486D-9A91-3B7CCF39C4D8}" type="datetime1">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FF16C2-AFD8-46BA-B79E-AB55D249BE1C}" type="datetime1">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EED3A4AA-573C-4719-89F6-476494DE0F8D}"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D4EF626-F2E7-47E8-A3E5-EAE9C4555C6D}"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D1C4049D-73FA-4810-A107-D0E39093CBEF}" type="datetime1">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D4EF626-F2E7-47E8-A3E5-EAE9C4555C6D}"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024DB249-551E-4DD7-A184-443F3E287A7A}"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D4EF626-F2E7-47E8-A3E5-EAE9C4555C6D}"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9027F250-1FDE-4661-833E-83C29D43809E}" type="datetime1">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8"/>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3"/>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E7DC1F-037A-4DAA-8FA0-FC0C0DB8E928}" type="datetime1">
              <a:rPr lang="zh-CN" altLang="en-US" smtClean="0"/>
            </a:fld>
            <a:endParaRPr lang="zh-CN" altLang="en-US"/>
          </a:p>
        </p:txBody>
      </p:sp>
      <p:sp>
        <p:nvSpPr>
          <p:cNvPr id="5" name="页脚占位符 4"/>
          <p:cNvSpPr>
            <a:spLocks noGrp="1"/>
          </p:cNvSpPr>
          <p:nvPr>
            <p:ph type="ftr" sz="quarter" idx="3"/>
          </p:nvPr>
        </p:nvSpPr>
        <p:spPr>
          <a:xfrm>
            <a:off x="4038600" y="6356353"/>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1200">
                <a:solidFill>
                  <a:schemeClr val="tx1"/>
                </a:solidFill>
                <a:latin typeface="微软雅黑" panose="020B0503020204020204" pitchFamily="34" charset="-122"/>
                <a:ea typeface="微软雅黑" panose="020B0503020204020204" pitchFamily="34" charset="-122"/>
              </a:defRPr>
            </a:lvl1pPr>
          </a:lstStyle>
          <a:p>
            <a:r>
              <a:rPr lang="zh-CN" altLang="en-US" dirty="0"/>
              <a:t>第</a:t>
            </a:r>
            <a:fld id="{0D4EF626-F2E7-47E8-A3E5-EAE9C4555C6D}" type="slidenum">
              <a:rPr lang="zh-CN" altLang="en-US" smtClean="0"/>
            </a:fld>
            <a:r>
              <a:rPr lang="zh-CN" altLang="en-US" dirty="0"/>
              <a:t>页，共</a:t>
            </a:r>
            <a:r>
              <a:rPr lang="en-US" altLang="zh-CN" dirty="0"/>
              <a:t>50</a:t>
            </a:r>
            <a:r>
              <a:rPr lang="zh-CN" altLang="en-US" dirty="0"/>
              <a:t>页</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E7DC1F-037A-4DAA-8FA0-FC0C0DB8E928}" type="datetime1">
              <a:rPr lang="zh-CN" altLang="en-US" smtClean="0"/>
            </a:fld>
            <a:endParaRPr lang="zh-CN" alt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zh-CN" altLang="en-US"/>
              <a:t>第</a:t>
            </a:r>
            <a:fld id="{0D4EF626-F2E7-47E8-A3E5-EAE9C4555C6D}" type="slidenum">
              <a:rPr lang="zh-CN" altLang="en-US" smtClean="0"/>
            </a:fld>
            <a:r>
              <a:rPr lang="zh-CN" altLang="en-US"/>
              <a:t>页，共</a:t>
            </a:r>
            <a:r>
              <a:rPr lang="en-US" altLang="zh-CN" dirty="0"/>
              <a:t>50</a:t>
            </a:r>
            <a:r>
              <a:rPr lang="zh-CN" altLang="en-US"/>
              <a:t>页</a:t>
            </a:r>
            <a:endParaRPr lang="zh-CN"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3.xml"/><Relationship Id="rId2" Type="http://schemas.openxmlformats.org/officeDocument/2006/relationships/tags" Target="../tags/tag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2" Type="http://schemas.openxmlformats.org/officeDocument/2006/relationships/slideLayout" Target="../slideLayouts/slideLayout13.xml"/><Relationship Id="rId41" Type="http://schemas.openxmlformats.org/officeDocument/2006/relationships/tags" Target="../tags/tag42.xml"/><Relationship Id="rId40" Type="http://schemas.openxmlformats.org/officeDocument/2006/relationships/tags" Target="../tags/tag41.xml"/><Relationship Id="rId4" Type="http://schemas.openxmlformats.org/officeDocument/2006/relationships/tags" Target="../tags/tag5.xml"/><Relationship Id="rId39" Type="http://schemas.openxmlformats.org/officeDocument/2006/relationships/tags" Target="../tags/tag40.xml"/><Relationship Id="rId38" Type="http://schemas.openxmlformats.org/officeDocument/2006/relationships/tags" Target="../tags/tag39.xml"/><Relationship Id="rId37" Type="http://schemas.openxmlformats.org/officeDocument/2006/relationships/tags" Target="../tags/tag38.xml"/><Relationship Id="rId36" Type="http://schemas.openxmlformats.org/officeDocument/2006/relationships/tags" Target="../tags/tag37.xml"/><Relationship Id="rId35" Type="http://schemas.openxmlformats.org/officeDocument/2006/relationships/tags" Target="../tags/tag36.xml"/><Relationship Id="rId34" Type="http://schemas.openxmlformats.org/officeDocument/2006/relationships/tags" Target="../tags/tag35.xml"/><Relationship Id="rId33" Type="http://schemas.openxmlformats.org/officeDocument/2006/relationships/tags" Target="../tags/tag34.xml"/><Relationship Id="rId32" Type="http://schemas.openxmlformats.org/officeDocument/2006/relationships/tags" Target="../tags/tag33.xml"/><Relationship Id="rId31" Type="http://schemas.openxmlformats.org/officeDocument/2006/relationships/tags" Target="../tags/tag32.xml"/><Relationship Id="rId30" Type="http://schemas.openxmlformats.org/officeDocument/2006/relationships/tags" Target="../tags/tag31.xml"/><Relationship Id="rId3" Type="http://schemas.openxmlformats.org/officeDocument/2006/relationships/tags" Target="../tags/tag4.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tags" Target="../tags/tag24.xml"/><Relationship Id="rId22" Type="http://schemas.openxmlformats.org/officeDocument/2006/relationships/tags" Target="../tags/tag23.xml"/><Relationship Id="rId21" Type="http://schemas.openxmlformats.org/officeDocument/2006/relationships/tags" Target="../tags/tag22.xml"/><Relationship Id="rId20" Type="http://schemas.openxmlformats.org/officeDocument/2006/relationships/tags" Target="../tags/tag21.xml"/><Relationship Id="rId2" Type="http://schemas.openxmlformats.org/officeDocument/2006/relationships/tags" Target="../tags/tag3.xml"/><Relationship Id="rId19" Type="http://schemas.openxmlformats.org/officeDocument/2006/relationships/tags" Target="../tags/tag20.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0" Type="http://schemas.openxmlformats.org/officeDocument/2006/relationships/notesSlide" Target="../notesSlides/notesSlide3.xml"/><Relationship Id="rId1" Type="http://schemas.openxmlformats.org/officeDocument/2006/relationships/tags" Target="../tags/tag43.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3.xml"/><Relationship Id="rId2" Type="http://schemas.openxmlformats.org/officeDocument/2006/relationships/tags" Target="../tags/tag52.xml"/><Relationship Id="rId1" Type="http://schemas.openxmlformats.org/officeDocument/2006/relationships/tags" Target="../tags/tag51.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3.xml"/><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tags" Target="../tags/tag54.xml"/><Relationship Id="rId1" Type="http://schemas.openxmlformats.org/officeDocument/2006/relationships/tags" Target="../tags/tag53.xml"/></Relationships>
</file>

<file path=ppt/slides/_rels/slide7.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png"/><Relationship Id="rId7" Type="http://schemas.openxmlformats.org/officeDocument/2006/relationships/image" Target="../media/image5.png"/><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3" Type="http://schemas.openxmlformats.org/officeDocument/2006/relationships/notesSlide" Target="../notesSlides/notesSlide6.xml"/><Relationship Id="rId12" Type="http://schemas.openxmlformats.org/officeDocument/2006/relationships/slideLayout" Target="../slideLayouts/slideLayout13.xml"/><Relationship Id="rId11" Type="http://schemas.openxmlformats.org/officeDocument/2006/relationships/tags" Target="../tags/tag62.xml"/><Relationship Id="rId10" Type="http://schemas.openxmlformats.org/officeDocument/2006/relationships/tags" Target="../tags/tag61.xml"/><Relationship Id="rId1" Type="http://schemas.openxmlformats.org/officeDocument/2006/relationships/tags" Target="../tags/tag55.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3.xml"/><Relationship Id="rId4" Type="http://schemas.openxmlformats.org/officeDocument/2006/relationships/tags" Target="../tags/tag63.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6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6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xml"/><Relationship Id="rId1" Type="http://schemas.openxmlformats.org/officeDocument/2006/relationships/tags" Target="../tags/tag66.xml"/></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13.xml"/><Relationship Id="rId7" Type="http://schemas.openxmlformats.org/officeDocument/2006/relationships/tags" Target="../tags/tag6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1" Type="http://schemas.openxmlformats.org/officeDocument/2006/relationships/notesSlide" Target="../notesSlides/notesSlide12.xml"/><Relationship Id="rId10" Type="http://schemas.openxmlformats.org/officeDocument/2006/relationships/slideLayout" Target="../slideLayouts/slideLayout13.xml"/><Relationship Id="rId1" Type="http://schemas.openxmlformats.org/officeDocument/2006/relationships/image" Target="../media/image11.jpeg"/></Relationships>
</file>

<file path=ppt/slides/_rels/slide14.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1" Type="http://schemas.openxmlformats.org/officeDocument/2006/relationships/notesSlide" Target="../notesSlides/notesSlide13.xml"/><Relationship Id="rId10" Type="http://schemas.openxmlformats.org/officeDocument/2006/relationships/slideLayout" Target="../slideLayouts/slideLayout13.xml"/><Relationship Id="rId1" Type="http://schemas.openxmlformats.org/officeDocument/2006/relationships/image" Target="../media/image11.jpeg"/></Relationships>
</file>

<file path=ppt/slides/_rels/slide15.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1" Type="http://schemas.openxmlformats.org/officeDocument/2006/relationships/notesSlide" Target="../notesSlides/notesSlide14.xml"/><Relationship Id="rId10" Type="http://schemas.openxmlformats.org/officeDocument/2006/relationships/slideLayout" Target="../slideLayouts/slideLayout13.xml"/><Relationship Id="rId1" Type="http://schemas.openxmlformats.org/officeDocument/2006/relationships/image" Target="../media/image11.jpeg"/></Relationships>
</file>

<file path=ppt/slides/_rels/slide16.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1" Type="http://schemas.openxmlformats.org/officeDocument/2006/relationships/notesSlide" Target="../notesSlides/notesSlide15.xml"/><Relationship Id="rId10" Type="http://schemas.openxmlformats.org/officeDocument/2006/relationships/slideLayout" Target="../slideLayouts/slideLayout13.xml"/><Relationship Id="rId1" Type="http://schemas.openxmlformats.org/officeDocument/2006/relationships/image" Target="../media/image11.jpe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1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2.xml"/><Relationship Id="rId7" Type="http://schemas.openxmlformats.org/officeDocument/2006/relationships/slideLayout" Target="../slideLayouts/slideLayout13.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13.xml"/><Relationship Id="rId2" Type="http://schemas.openxmlformats.org/officeDocument/2006/relationships/image" Target="../media/image20.emf"/><Relationship Id="rId1" Type="http://schemas.openxmlformats.org/officeDocument/2006/relationships/oleObject" Target="../embeddings/oleObject1.bin"/></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3.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xml"/><Relationship Id="rId1" Type="http://schemas.openxmlformats.org/officeDocument/2006/relationships/image" Target="../media/image22.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image" Target="../media/image22.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13.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image" Target="../media/image2.jpeg"/></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30.xml"/><Relationship Id="rId7" Type="http://schemas.openxmlformats.org/officeDocument/2006/relationships/slideLayout" Target="../slideLayouts/slideLayout13.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image" Target="../media/image2.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vmlDrawing" Target="../drawings/vmlDrawing2.vml"/><Relationship Id="rId3" Type="http://schemas.openxmlformats.org/officeDocument/2006/relationships/slideLayout" Target="../slideLayouts/slideLayout13.xml"/><Relationship Id="rId2" Type="http://schemas.openxmlformats.org/officeDocument/2006/relationships/image" Target="../media/image23.emf"/><Relationship Id="rId1" Type="http://schemas.openxmlformats.org/officeDocument/2006/relationships/oleObject" Target="../embeddings/oleObject2.bin"/></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6" Type="http://schemas.openxmlformats.org/officeDocument/2006/relationships/notesSlide" Target="../notesSlides/notesSlide43.xml"/><Relationship Id="rId5" Type="http://schemas.openxmlformats.org/officeDocument/2006/relationships/vmlDrawing" Target="../drawings/vmlDrawing3.vml"/><Relationship Id="rId4" Type="http://schemas.openxmlformats.org/officeDocument/2006/relationships/slideLayout" Target="../slideLayouts/slideLayout13.xml"/><Relationship Id="rId3" Type="http://schemas.openxmlformats.org/officeDocument/2006/relationships/image" Target="../media/image25.emf"/><Relationship Id="rId2" Type="http://schemas.openxmlformats.org/officeDocument/2006/relationships/oleObject" Target="../embeddings/oleObject3.bin"/><Relationship Id="rId1" Type="http://schemas.openxmlformats.org/officeDocument/2006/relationships/image" Target="../media/image24.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5" Type="http://schemas.openxmlformats.org/officeDocument/2006/relationships/notesSlide" Target="../notesSlides/notesSlide47.xml"/><Relationship Id="rId4" Type="http://schemas.openxmlformats.org/officeDocument/2006/relationships/vmlDrawing" Target="../drawings/vmlDrawing4.vml"/><Relationship Id="rId3" Type="http://schemas.openxmlformats.org/officeDocument/2006/relationships/slideLayout" Target="../slideLayouts/slideLayout13.xml"/><Relationship Id="rId2" Type="http://schemas.openxmlformats.org/officeDocument/2006/relationships/image" Target="../media/image26.emf"/><Relationship Id="rId1" Type="http://schemas.openxmlformats.org/officeDocument/2006/relationships/oleObject" Target="../embeddings/oleObject4.bin"/></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image" Target="../media/image27.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image" Target="../media/image28.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image" Target="../media/image28.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3.xml"/><Relationship Id="rId1" Type="http://schemas.openxmlformats.org/officeDocument/2006/relationships/image" Target="../media/image28.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3.xml"/><Relationship Id="rId1" Type="http://schemas.openxmlformats.org/officeDocument/2006/relationships/image" Target="../media/image28.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3.xml"/><Relationship Id="rId1" Type="http://schemas.openxmlformats.org/officeDocument/2006/relationships/image" Target="../media/image28.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3.xml"/><Relationship Id="rId1" Type="http://schemas.openxmlformats.org/officeDocument/2006/relationships/image" Target="../media/image28.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3.xml"/><Relationship Id="rId1" Type="http://schemas.openxmlformats.org/officeDocument/2006/relationships/image" Target="../media/image28.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3.xml"/><Relationship Id="rId1" Type="http://schemas.openxmlformats.org/officeDocument/2006/relationships/image" Target="../media/image28.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3.xml"/><Relationship Id="rId1" Type="http://schemas.openxmlformats.org/officeDocument/2006/relationships/image" Target="../media/image28.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3.xml"/><Relationship Id="rId1" Type="http://schemas.openxmlformats.org/officeDocument/2006/relationships/image" Target="../media/image29.emf"/></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13.xml"/><Relationship Id="rId1" Type="http://schemas.openxmlformats.org/officeDocument/2006/relationships/image" Target="../media/image30.emf"/></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jpe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13.xml"/><Relationship Id="rId1" Type="http://schemas.openxmlformats.org/officeDocument/2006/relationships/tags" Target="../tags/tag68.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13.xml"/><Relationship Id="rId1" Type="http://schemas.openxmlformats.org/officeDocument/2006/relationships/tags" Target="../tags/tag69.xml"/></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5.png"/><Relationship Id="rId1" Type="http://schemas.openxmlformats.org/officeDocument/2006/relationships/image" Target="../media/image34.pn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807469" y="1785594"/>
            <a:ext cx="8577060" cy="2087877"/>
          </a:xfrm>
        </p:spPr>
        <p:txBody>
          <a:bodyPr>
            <a:normAutofit fontScale="90000"/>
          </a:bodyPr>
          <a:lstStyle/>
          <a:p>
            <a:r>
              <a:rPr lang="zh-CN" altLang="en-US" sz="7200" b="1" dirty="0">
                <a:latin typeface="Times New Roman" panose="02020503050405090304" pitchFamily="18" charset="0"/>
                <a:ea typeface="微软雅黑" panose="020B0503020204020204" pitchFamily="34" charset="-122"/>
                <a:cs typeface="Times New Roman" panose="02020503050405090304" pitchFamily="18" charset="0"/>
              </a:rPr>
              <a:t>操作系统</a:t>
            </a:r>
            <a:br>
              <a:rPr lang="en-US" altLang="zh-CN" sz="7200" b="1" dirty="0">
                <a:latin typeface="Times New Roman" panose="02020503050405090304" pitchFamily="18" charset="0"/>
                <a:ea typeface="微软雅黑" panose="020B0503020204020204" pitchFamily="34" charset="-122"/>
                <a:cs typeface="Times New Roman" panose="02020503050405090304" pitchFamily="18" charset="0"/>
              </a:rPr>
            </a:br>
            <a:r>
              <a:rPr kumimoji="1" lang="en-US" altLang="zh-CN" sz="7200" b="1" dirty="0">
                <a:latin typeface="Times New Roman" panose="02020503050405090304" pitchFamily="18" charset="0"/>
                <a:ea typeface="微软雅黑" panose="020B0503020204020204" pitchFamily="34" charset="-122"/>
                <a:cs typeface="Times New Roman" panose="02020503050405090304" pitchFamily="18" charset="0"/>
              </a:rPr>
              <a:t>Operating  System</a:t>
            </a:r>
            <a:endParaRPr lang="zh-CN" altLang="en-US" sz="7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3" name="副标题 2"/>
          <p:cNvSpPr>
            <a:spLocks noGrp="1"/>
          </p:cNvSpPr>
          <p:nvPr>
            <p:ph type="subTitle" idx="1"/>
          </p:nvPr>
        </p:nvSpPr>
        <p:spPr>
          <a:xfrm>
            <a:off x="3447214" y="4158822"/>
            <a:ext cx="5468175" cy="2197529"/>
          </a:xfrm>
        </p:spPr>
        <p:txBody>
          <a:bodyPr>
            <a:normAutofit fontScale="72500"/>
          </a:bodyPr>
          <a:lstStyle/>
          <a:p>
            <a:pPr>
              <a:lnSpc>
                <a:spcPct val="160000"/>
              </a:lnSpc>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汤臣薇</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a:lnSpc>
                <a:spcPct val="160000"/>
              </a:lnSpc>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tangchenwei@scu.edu.cn</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a:lnSpc>
                <a:spcPct val="160000"/>
              </a:lnSpc>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四川大学计算机学院（软件学院）</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a:lnSpc>
                <a:spcPct val="160000"/>
              </a:lnSpc>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数据智能与计算艺术实验室</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0" name="灯片编号占位符 9"/>
          <p:cNvSpPr>
            <a:spLocks noGrp="1"/>
          </p:cNvSpPr>
          <p:nvPr>
            <p:ph type="sldNum" sz="quarter" idx="12"/>
          </p:nvPr>
        </p:nvSpPr>
        <p:spPr/>
        <p:txBody>
          <a:bodyPr/>
          <a:lstStyle/>
          <a:p>
            <a:fld id="{0D4EF626-F2E7-47E8-A3E5-EAE9C4555C6D}" type="slidenum">
              <a:rPr lang="zh-CN" altLang="en-US" smtClean="0"/>
            </a:fld>
            <a:endParaRPr lang="zh-CN" altLang="en-US" dirty="0"/>
          </a:p>
        </p:txBody>
      </p:sp>
      <p:sp>
        <p:nvSpPr>
          <p:cNvPr id="4" name="文本框 3"/>
          <p:cNvSpPr txBox="1"/>
          <p:nvPr/>
        </p:nvSpPr>
        <p:spPr>
          <a:xfrm>
            <a:off x="709683" y="227849"/>
            <a:ext cx="3944620" cy="46037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操作系统原理</a:t>
            </a:r>
            <a:r>
              <a:rPr lang="en-US" altLang="zh-CN" sz="2400" dirty="0">
                <a:latin typeface="微软雅黑" panose="020B0503020204020204" pitchFamily="34" charset="-122"/>
                <a:ea typeface="微软雅黑" panose="020B0503020204020204" pitchFamily="34" charset="-122"/>
              </a:rPr>
              <a:t>》2022</a:t>
            </a:r>
            <a:r>
              <a:rPr lang="zh-CN" altLang="en-US" sz="2400" dirty="0">
                <a:latin typeface="微软雅黑" panose="020B0503020204020204" pitchFamily="34" charset="-122"/>
                <a:ea typeface="微软雅黑" panose="020B0503020204020204" pitchFamily="34" charset="-122"/>
              </a:rPr>
              <a:t>课程</a:t>
            </a:r>
            <a:endParaRPr lang="zh-CN" altLang="en-US" sz="2400"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rotWithShape="1">
          <a:blip r:embed="rId1" cstate="print">
            <a:extLst>
              <a:ext uri="{28A0092B-C50C-407E-A947-70E740481C1C}">
                <a14:useLocalDpi xmlns:a14="http://schemas.microsoft.com/office/drawing/2010/main" val="0"/>
              </a:ext>
            </a:extLst>
          </a:blip>
          <a:srcRect t="13458" r="66966" b="13292"/>
          <a:stretch>
            <a:fillRect/>
          </a:stretch>
        </p:blipFill>
        <p:spPr>
          <a:xfrm>
            <a:off x="198255" y="30130"/>
            <a:ext cx="687156" cy="857103"/>
          </a:xfrm>
          <a:prstGeom prst="rect">
            <a:avLst/>
          </a:prstGeom>
        </p:spPr>
      </p:pic>
      <p:grpSp>
        <p:nvGrpSpPr>
          <p:cNvPr id="5" name="组合 4"/>
          <p:cNvGrpSpPr/>
          <p:nvPr/>
        </p:nvGrpSpPr>
        <p:grpSpPr>
          <a:xfrm>
            <a:off x="8346067" y="147196"/>
            <a:ext cx="3649718" cy="611540"/>
            <a:chOff x="5494282" y="112021"/>
            <a:chExt cx="3649718" cy="611540"/>
          </a:xfrm>
        </p:grpSpPr>
        <p:pic>
          <p:nvPicPr>
            <p:cNvPr id="1030" name="Picture 6"/>
            <p:cNvPicPr>
              <a:picLocks noChangeAspect="1" noChangeArrowheads="1"/>
            </p:cNvPicPr>
            <p:nvPr/>
          </p:nvPicPr>
          <p:blipFill rotWithShape="1">
            <a:blip r:embed="rId2">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组合 8"/>
          <p:cNvGrpSpPr/>
          <p:nvPr/>
        </p:nvGrpSpPr>
        <p:grpSpPr>
          <a:xfrm>
            <a:off x="2045998" y="3967546"/>
            <a:ext cx="8100000" cy="36000"/>
            <a:chOff x="670313" y="3629865"/>
            <a:chExt cx="8100000" cy="36000"/>
          </a:xfrm>
        </p:grpSpPr>
        <p:sp>
          <p:nvSpPr>
            <p:cNvPr id="7" name="矩形 6"/>
            <p:cNvSpPr/>
            <p:nvPr/>
          </p:nvSpPr>
          <p:spPr>
            <a:xfrm>
              <a:off x="670313" y="3629865"/>
              <a:ext cx="900000" cy="36000"/>
            </a:xfrm>
            <a:prstGeom prst="rect">
              <a:avLst/>
            </a:prstGeom>
            <a:solidFill>
              <a:srgbClr val="019FC2"/>
            </a:solidFill>
            <a:ln>
              <a:solidFill>
                <a:srgbClr val="019F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570313" y="3629865"/>
              <a:ext cx="900000" cy="36000"/>
            </a:xfrm>
            <a:prstGeom prst="rect">
              <a:avLst/>
            </a:prstGeom>
            <a:solidFill>
              <a:srgbClr val="9CCF35"/>
            </a:solidFill>
            <a:ln>
              <a:solidFill>
                <a:srgbClr val="9CCF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2470313" y="3629865"/>
              <a:ext cx="900000" cy="36000"/>
            </a:xfrm>
            <a:prstGeom prst="rect">
              <a:avLst/>
            </a:prstGeom>
            <a:solidFill>
              <a:srgbClr val="EC4B49"/>
            </a:solidFill>
            <a:ln>
              <a:solidFill>
                <a:srgbClr val="EC4B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3370313" y="3629865"/>
              <a:ext cx="900000" cy="36000"/>
            </a:xfrm>
            <a:prstGeom prst="rect">
              <a:avLst/>
            </a:prstGeom>
            <a:solidFill>
              <a:srgbClr val="BA7EB1"/>
            </a:solidFill>
            <a:ln>
              <a:solidFill>
                <a:srgbClr val="BA7E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4270313" y="3629865"/>
              <a:ext cx="900000" cy="36000"/>
            </a:xfrm>
            <a:prstGeom prst="rect">
              <a:avLst/>
            </a:prstGeom>
            <a:solidFill>
              <a:srgbClr val="FF686A"/>
            </a:solidFill>
            <a:ln>
              <a:solidFill>
                <a:srgbClr val="FF68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5170313" y="3629865"/>
              <a:ext cx="900000" cy="36000"/>
            </a:xfrm>
            <a:prstGeom prst="rect">
              <a:avLst/>
            </a:prstGeom>
            <a:solidFill>
              <a:srgbClr val="FBC23C"/>
            </a:solidFill>
            <a:ln>
              <a:solidFill>
                <a:srgbClr val="FBC23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6070313" y="3629865"/>
              <a:ext cx="900000" cy="36000"/>
            </a:xfrm>
            <a:prstGeom prst="rect">
              <a:avLst/>
            </a:prstGeom>
            <a:solidFill>
              <a:srgbClr val="00B0D2"/>
            </a:solidFill>
            <a:ln>
              <a:solidFill>
                <a:srgbClr val="00B0D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6970313" y="3629865"/>
              <a:ext cx="900000" cy="36000"/>
            </a:xfrm>
            <a:prstGeom prst="rect">
              <a:avLst/>
            </a:prstGeom>
            <a:solidFill>
              <a:srgbClr val="9BD75B"/>
            </a:solidFill>
            <a:ln>
              <a:solidFill>
                <a:srgbClr val="9BD75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7870313" y="3629865"/>
              <a:ext cx="900000" cy="36000"/>
            </a:xfrm>
            <a:prstGeom prst="rect">
              <a:avLst/>
            </a:prstGeom>
            <a:solidFill>
              <a:srgbClr val="C20605"/>
            </a:solidFill>
            <a:ln>
              <a:solidFill>
                <a:srgbClr val="C206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3175" y="33655"/>
            <a:ext cx="10351135" cy="10960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1.3 OS</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的基本特性</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5" name="组合 4"/>
          <p:cNvGrpSpPr/>
          <p:nvPr/>
        </p:nvGrpSpPr>
        <p:grpSpPr>
          <a:xfrm>
            <a:off x="8328922" y="207525"/>
            <a:ext cx="3649718" cy="611540"/>
            <a:chOff x="5494282" y="112021"/>
            <a:chExt cx="3649718" cy="611540"/>
          </a:xfrm>
        </p:grpSpPr>
        <p:pic>
          <p:nvPicPr>
            <p:cNvPr id="6" name="Picture 6"/>
            <p:cNvPicPr>
              <a:picLocks noChangeAspect="1" noChangeArrowheads="1"/>
            </p:cNvPicPr>
            <p:nvPr/>
          </p:nvPicPr>
          <p:blipFill rotWithShape="1">
            <a:blip r:embed="rId1">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AutoShape 5"/>
          <p:cNvSpPr>
            <a:spLocks noChangeArrowheads="1"/>
          </p:cNvSpPr>
          <p:nvPr/>
        </p:nvSpPr>
        <p:spPr bwMode="blackWhite">
          <a:xfrm>
            <a:off x="789936" y="1548125"/>
            <a:ext cx="2050971" cy="483989"/>
          </a:xfrm>
          <a:prstGeom prst="roundRect">
            <a:avLst>
              <a:gd name="adj" fmla="val 9106"/>
            </a:avLst>
          </a:prstGeom>
          <a:solidFill>
            <a:srgbClr val="E54C4E"/>
          </a:solidFill>
          <a:ln w="25400">
            <a:solidFill>
              <a:srgbClr val="E54C4E"/>
            </a:solidFill>
            <a:round/>
          </a:ln>
          <a:effectLst/>
        </p:spPr>
        <p:txBody>
          <a:bodyPr wrap="none" anchor="ctr" anchorCtr="0">
            <a:spAutoFit/>
          </a:bodyPr>
          <a:lstStyle/>
          <a:p>
            <a:pPr algn="ctr" eaLnBrk="0" hangingPunct="0">
              <a:spcBef>
                <a:spcPct val="0"/>
              </a:spcBef>
              <a:spcAft>
                <a:spcPct val="0"/>
              </a:spcAft>
              <a:buClrTx/>
              <a:buSzTx/>
              <a:buFontTx/>
              <a:buNone/>
            </a:pPr>
            <a:r>
              <a:rPr lang="zh-CN" altLang="en-US" sz="2400" b="1" dirty="0">
                <a:solidFill>
                  <a:schemeClr val="bg1"/>
                </a:solidFill>
                <a:ea typeface="楷体_GB2312" charset="0"/>
                <a:cs typeface="楷体_GB2312" charset="0"/>
              </a:rPr>
              <a:t>并发性：进程</a:t>
            </a:r>
            <a:endParaRPr lang="en-US" altLang="zh-CN" sz="2400" b="1" dirty="0">
              <a:solidFill>
                <a:schemeClr val="bg1"/>
              </a:solidFill>
              <a:ea typeface="楷体_GB2312" charset="0"/>
              <a:cs typeface="楷体_GB2312" charset="0"/>
            </a:endParaRPr>
          </a:p>
        </p:txBody>
      </p:sp>
      <p:sp>
        <p:nvSpPr>
          <p:cNvPr id="10" name="AutoShape 5"/>
          <p:cNvSpPr>
            <a:spLocks noChangeArrowheads="1"/>
          </p:cNvSpPr>
          <p:nvPr/>
        </p:nvSpPr>
        <p:spPr bwMode="blackWhite">
          <a:xfrm>
            <a:off x="789936" y="2772943"/>
            <a:ext cx="2050971" cy="483989"/>
          </a:xfrm>
          <a:prstGeom prst="roundRect">
            <a:avLst>
              <a:gd name="adj" fmla="val 9106"/>
            </a:avLst>
          </a:prstGeom>
          <a:solidFill>
            <a:srgbClr val="E54C4E"/>
          </a:solidFill>
          <a:ln w="25400">
            <a:solidFill>
              <a:srgbClr val="E54C4E"/>
            </a:solidFill>
            <a:round/>
          </a:ln>
          <a:effectLst/>
        </p:spPr>
        <p:txBody>
          <a:bodyPr wrap="none" anchor="ctr" anchorCtr="0">
            <a:spAutoFit/>
          </a:bodyPr>
          <a:lstStyle/>
          <a:p>
            <a:pPr algn="ctr" eaLnBrk="0" hangingPunct="0">
              <a:spcBef>
                <a:spcPct val="0"/>
              </a:spcBef>
              <a:spcAft>
                <a:spcPct val="0"/>
              </a:spcAft>
              <a:buClrTx/>
              <a:buSzTx/>
              <a:buFontTx/>
              <a:buNone/>
            </a:pPr>
            <a:r>
              <a:rPr lang="zh-CN" altLang="en-US" sz="2400" b="1" dirty="0">
                <a:solidFill>
                  <a:schemeClr val="bg1"/>
                </a:solidFill>
                <a:ea typeface="楷体_GB2312" charset="0"/>
                <a:cs typeface="楷体_GB2312" charset="0"/>
              </a:rPr>
              <a:t>共享性：资源</a:t>
            </a:r>
            <a:endParaRPr lang="en-US" altLang="zh-CN" sz="2400" b="1" dirty="0">
              <a:solidFill>
                <a:schemeClr val="bg1"/>
              </a:solidFill>
              <a:ea typeface="楷体_GB2312" charset="0"/>
              <a:cs typeface="楷体_GB2312" charset="0"/>
            </a:endParaRPr>
          </a:p>
        </p:txBody>
      </p:sp>
      <p:sp>
        <p:nvSpPr>
          <p:cNvPr id="11" name="AutoShape 5"/>
          <p:cNvSpPr>
            <a:spLocks noChangeArrowheads="1"/>
          </p:cNvSpPr>
          <p:nvPr/>
        </p:nvSpPr>
        <p:spPr bwMode="blackWhite">
          <a:xfrm>
            <a:off x="789936" y="3997761"/>
            <a:ext cx="2050971" cy="483989"/>
          </a:xfrm>
          <a:prstGeom prst="roundRect">
            <a:avLst>
              <a:gd name="adj" fmla="val 9106"/>
            </a:avLst>
          </a:prstGeom>
          <a:solidFill>
            <a:srgbClr val="E54C4E"/>
          </a:solidFill>
          <a:ln w="25400">
            <a:solidFill>
              <a:srgbClr val="E54C4E"/>
            </a:solidFill>
            <a:round/>
          </a:ln>
          <a:effectLst/>
        </p:spPr>
        <p:txBody>
          <a:bodyPr wrap="none" anchor="ctr" anchorCtr="0">
            <a:spAutoFit/>
          </a:bodyPr>
          <a:lstStyle/>
          <a:p>
            <a:pPr algn="ctr" eaLnBrk="0" hangingPunct="0">
              <a:spcBef>
                <a:spcPct val="0"/>
              </a:spcBef>
              <a:spcAft>
                <a:spcPct val="0"/>
              </a:spcAft>
              <a:buClrTx/>
              <a:buSzTx/>
              <a:buFontTx/>
              <a:buNone/>
            </a:pPr>
            <a:r>
              <a:rPr lang="zh-CN" altLang="en-US" sz="2400" b="1" dirty="0">
                <a:solidFill>
                  <a:schemeClr val="bg1"/>
                </a:solidFill>
                <a:ea typeface="楷体_GB2312" charset="0"/>
                <a:cs typeface="楷体_GB2312" charset="0"/>
              </a:rPr>
              <a:t>虚拟性：存储</a:t>
            </a:r>
            <a:endParaRPr lang="en-US" altLang="zh-CN" sz="2400" b="1" dirty="0">
              <a:solidFill>
                <a:schemeClr val="bg1"/>
              </a:solidFill>
              <a:ea typeface="楷体_GB2312" charset="0"/>
              <a:cs typeface="楷体_GB2312" charset="0"/>
            </a:endParaRPr>
          </a:p>
        </p:txBody>
      </p:sp>
      <p:sp>
        <p:nvSpPr>
          <p:cNvPr id="12" name="AutoShape 5"/>
          <p:cNvSpPr>
            <a:spLocks noChangeArrowheads="1"/>
          </p:cNvSpPr>
          <p:nvPr/>
        </p:nvSpPr>
        <p:spPr bwMode="blackWhite">
          <a:xfrm>
            <a:off x="789936" y="5445196"/>
            <a:ext cx="2050971" cy="483989"/>
          </a:xfrm>
          <a:prstGeom prst="roundRect">
            <a:avLst>
              <a:gd name="adj" fmla="val 9106"/>
            </a:avLst>
          </a:prstGeom>
          <a:solidFill>
            <a:srgbClr val="E54C4E"/>
          </a:solidFill>
          <a:ln w="25400">
            <a:solidFill>
              <a:srgbClr val="E54C4E"/>
            </a:solidFill>
            <a:round/>
          </a:ln>
          <a:effectLst/>
        </p:spPr>
        <p:txBody>
          <a:bodyPr wrap="none" anchor="ctr" anchorCtr="0">
            <a:spAutoFit/>
          </a:bodyPr>
          <a:lstStyle/>
          <a:p>
            <a:pPr algn="ctr" eaLnBrk="0" hangingPunct="0">
              <a:spcBef>
                <a:spcPct val="0"/>
              </a:spcBef>
              <a:spcAft>
                <a:spcPct val="0"/>
              </a:spcAft>
              <a:buClrTx/>
              <a:buSzTx/>
              <a:buFontTx/>
              <a:buNone/>
            </a:pPr>
            <a:r>
              <a:rPr lang="zh-CN" altLang="en-US" sz="2400" b="1" dirty="0">
                <a:solidFill>
                  <a:schemeClr val="bg1"/>
                </a:solidFill>
                <a:ea typeface="楷体_GB2312" charset="0"/>
                <a:cs typeface="楷体_GB2312" charset="0"/>
              </a:rPr>
              <a:t>异步性：进程</a:t>
            </a:r>
            <a:endParaRPr lang="en-US" altLang="zh-CN" sz="2400" b="1" dirty="0">
              <a:solidFill>
                <a:schemeClr val="bg1"/>
              </a:solidFill>
              <a:ea typeface="楷体_GB2312" charset="0"/>
              <a:cs typeface="楷体_GB2312" charset="0"/>
            </a:endParaRPr>
          </a:p>
        </p:txBody>
      </p:sp>
      <p:sp>
        <p:nvSpPr>
          <p:cNvPr id="15" name="圆角矩形 28"/>
          <p:cNvSpPr/>
          <p:nvPr/>
        </p:nvSpPr>
        <p:spPr>
          <a:xfrm>
            <a:off x="3686810" y="1314450"/>
            <a:ext cx="7792720" cy="951865"/>
          </a:xfrm>
          <a:prstGeom prst="roundRect">
            <a:avLst/>
          </a:prstGeom>
          <a:solidFill>
            <a:schemeClr val="bg1"/>
          </a:solidFill>
          <a:ln>
            <a:solidFill>
              <a:srgbClr val="E54C4E"/>
            </a:solidFill>
          </a:ln>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sp>
      <p:sp>
        <p:nvSpPr>
          <p:cNvPr id="16" name="圆角矩形 4"/>
          <p:cNvSpPr/>
          <p:nvPr/>
        </p:nvSpPr>
        <p:spPr>
          <a:xfrm>
            <a:off x="3726815" y="1360805"/>
            <a:ext cx="7645400" cy="859155"/>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defTabSz="889000">
              <a:lnSpc>
                <a:spcPts val="2700"/>
              </a:lnSpc>
              <a:spcAft>
                <a:spcPct val="35000"/>
              </a:spcAft>
            </a:pPr>
            <a:r>
              <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两个或两个以上的事件在同一时间段内发生</a:t>
            </a:r>
            <a:endParaRPr lang="zh-CN" altLang="en-US" sz="20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圆角矩形 35"/>
          <p:cNvSpPr/>
          <p:nvPr/>
        </p:nvSpPr>
        <p:spPr>
          <a:xfrm>
            <a:off x="3686810" y="2538730"/>
            <a:ext cx="7792720" cy="951865"/>
          </a:xfrm>
          <a:prstGeom prst="roundRect">
            <a:avLst/>
          </a:prstGeom>
          <a:solidFill>
            <a:schemeClr val="bg1"/>
          </a:solidFill>
          <a:ln>
            <a:solidFill>
              <a:srgbClr val="E54C4E"/>
            </a:solidFill>
          </a:ln>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sp>
      <p:sp>
        <p:nvSpPr>
          <p:cNvPr id="19" name="圆角矩形 4"/>
          <p:cNvSpPr/>
          <p:nvPr/>
        </p:nvSpPr>
        <p:spPr>
          <a:xfrm>
            <a:off x="3726815" y="2585720"/>
            <a:ext cx="7645400" cy="859155"/>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defTabSz="889000">
              <a:lnSpc>
                <a:spcPts val="2700"/>
              </a:lnSpc>
              <a:spcAft>
                <a:spcPct val="35000"/>
              </a:spcAft>
            </a:pPr>
            <a:r>
              <a:rPr lang="zh-CN" altLang="en-US" sz="2000" dirty="0">
                <a:solidFill>
                  <a:schemeClr val="tx1"/>
                </a:solidFill>
                <a:latin typeface="微软雅黑" panose="020B0503020204020204" pitchFamily="34" charset="-122"/>
                <a:ea typeface="微软雅黑" panose="020B0503020204020204" pitchFamily="34" charset="-122"/>
              </a:rPr>
              <a:t>计算机系统中的资源能够被并发执行的多个进程共同使用</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21" name="圆角矩形 38"/>
          <p:cNvSpPr/>
          <p:nvPr/>
        </p:nvSpPr>
        <p:spPr>
          <a:xfrm>
            <a:off x="3686810" y="3763645"/>
            <a:ext cx="7792720" cy="951865"/>
          </a:xfrm>
          <a:prstGeom prst="roundRect">
            <a:avLst/>
          </a:prstGeom>
          <a:solidFill>
            <a:schemeClr val="bg1"/>
          </a:solidFill>
          <a:ln>
            <a:solidFill>
              <a:srgbClr val="E54C4E"/>
            </a:solidFill>
          </a:ln>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sp>
      <p:sp>
        <p:nvSpPr>
          <p:cNvPr id="22" name="圆角矩形 4"/>
          <p:cNvSpPr/>
          <p:nvPr/>
        </p:nvSpPr>
        <p:spPr>
          <a:xfrm>
            <a:off x="3726815" y="3810635"/>
            <a:ext cx="7645400" cy="859155"/>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defTabSz="889000">
              <a:lnSpc>
                <a:spcPts val="2700"/>
              </a:lnSpc>
              <a:spcAft>
                <a:spcPct val="35000"/>
              </a:spcAft>
            </a:pPr>
            <a:r>
              <a:rPr lang="zh-CN" altLang="en-US" sz="2000" dirty="0">
                <a:solidFill>
                  <a:schemeClr val="tx1"/>
                </a:solidFill>
                <a:latin typeface="微软雅黑" panose="020B0503020204020204" pitchFamily="34" charset="-122"/>
                <a:ea typeface="微软雅黑" panose="020B0503020204020204" pitchFamily="34" charset="-122"/>
              </a:rPr>
              <a:t>系统通过某种技术将一个实际存在的实体变成多个逻辑上的对应体</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24" name="圆角矩形 42"/>
          <p:cNvSpPr/>
          <p:nvPr/>
        </p:nvSpPr>
        <p:spPr>
          <a:xfrm>
            <a:off x="3686810" y="5003165"/>
            <a:ext cx="7792720" cy="1368425"/>
          </a:xfrm>
          <a:prstGeom prst="roundRect">
            <a:avLst/>
          </a:prstGeom>
          <a:solidFill>
            <a:schemeClr val="bg1"/>
          </a:solidFill>
          <a:ln>
            <a:solidFill>
              <a:srgbClr val="E54C4E"/>
            </a:solidFill>
          </a:ln>
        </p:spPr>
        <p:style>
          <a:lnRef idx="3">
            <a:schemeClr val="lt1">
              <a:hueOff val="0"/>
              <a:satOff val="0"/>
              <a:lumOff val="0"/>
              <a:alphaOff val="0"/>
            </a:schemeClr>
          </a:lnRef>
          <a:fillRef idx="1">
            <a:scrgbClr r="0" g="0" b="0"/>
          </a:fillRef>
          <a:effectRef idx="1">
            <a:schemeClr val="accent1">
              <a:hueOff val="0"/>
              <a:satOff val="0"/>
              <a:lumOff val="0"/>
              <a:alphaOff val="0"/>
            </a:schemeClr>
          </a:effectRef>
          <a:fontRef idx="minor">
            <a:schemeClr val="lt1"/>
          </a:fontRef>
        </p:style>
      </p:sp>
      <p:sp>
        <p:nvSpPr>
          <p:cNvPr id="25" name="圆角矩形 4"/>
          <p:cNvSpPr/>
          <p:nvPr/>
        </p:nvSpPr>
        <p:spPr>
          <a:xfrm>
            <a:off x="3726815" y="5069840"/>
            <a:ext cx="7645400" cy="1234440"/>
          </a:xfrm>
          <a:prstGeom prst="rect">
            <a:avLst/>
          </a:prstGeom>
          <a:noFill/>
          <a:ln>
            <a:noFill/>
          </a:ln>
        </p:spPr>
        <p:style>
          <a:lnRef idx="0">
            <a:scrgbClr r="0" g="0" b="0"/>
          </a:lnRef>
          <a:fillRef idx="0">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defTabSz="889000">
              <a:lnSpc>
                <a:spcPts val="2700"/>
              </a:lnSpc>
              <a:spcAft>
                <a:spcPct val="35000"/>
              </a:spcAft>
            </a:pPr>
            <a:r>
              <a:rPr lang="zh-CN" altLang="en-US" sz="2000" dirty="0">
                <a:solidFill>
                  <a:schemeClr val="tx1"/>
                </a:solidFill>
                <a:latin typeface="微软雅黑" panose="020B0503020204020204" pitchFamily="34" charset="-122"/>
                <a:ea typeface="微软雅黑" panose="020B0503020204020204" pitchFamily="34" charset="-122"/>
              </a:rPr>
              <a:t>也称为随机性，是指多道程序环境中多个进程的执行、推进和完成时间都是随机、交替、不可预测的</a:t>
            </a:r>
            <a:endParaRPr lang="zh-CN" altLang="en-US" sz="2000" dirty="0">
              <a:solidFill>
                <a:schemeClr val="tx1"/>
              </a:solidFill>
              <a:latin typeface="微软雅黑" panose="020B0503020204020204" pitchFamily="34" charset="-122"/>
              <a:ea typeface="微软雅黑" panose="020B0503020204020204" pitchFamily="34" charset="-122"/>
            </a:endParaRPr>
          </a:p>
        </p:txBody>
      </p:sp>
      <p:sp>
        <p:nvSpPr>
          <p:cNvPr id="2" name="箭头: 右 1"/>
          <p:cNvSpPr/>
          <p:nvPr/>
        </p:nvSpPr>
        <p:spPr>
          <a:xfrm>
            <a:off x="3071418" y="1594613"/>
            <a:ext cx="431180" cy="391013"/>
          </a:xfrm>
          <a:prstGeom prst="rightArrow">
            <a:avLst/>
          </a:prstGeom>
          <a:solidFill>
            <a:schemeClr val="bg1"/>
          </a:solidFill>
          <a:ln w="28575">
            <a:solidFill>
              <a:srgbClr val="E54C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箭头: 右 25"/>
          <p:cNvSpPr/>
          <p:nvPr/>
        </p:nvSpPr>
        <p:spPr>
          <a:xfrm>
            <a:off x="3060263" y="2819431"/>
            <a:ext cx="431180" cy="391013"/>
          </a:xfrm>
          <a:prstGeom prst="rightArrow">
            <a:avLst/>
          </a:prstGeom>
          <a:solidFill>
            <a:schemeClr val="bg1"/>
          </a:solidFill>
          <a:ln w="28575">
            <a:solidFill>
              <a:srgbClr val="E54C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右 26"/>
          <p:cNvSpPr/>
          <p:nvPr/>
        </p:nvSpPr>
        <p:spPr>
          <a:xfrm>
            <a:off x="3059281" y="4044249"/>
            <a:ext cx="431180" cy="391013"/>
          </a:xfrm>
          <a:prstGeom prst="rightArrow">
            <a:avLst/>
          </a:prstGeom>
          <a:solidFill>
            <a:schemeClr val="bg1"/>
          </a:solidFill>
          <a:ln w="28575">
            <a:solidFill>
              <a:srgbClr val="E54C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箭头: 右 27"/>
          <p:cNvSpPr/>
          <p:nvPr/>
        </p:nvSpPr>
        <p:spPr>
          <a:xfrm>
            <a:off x="3070436" y="5491684"/>
            <a:ext cx="431180" cy="391013"/>
          </a:xfrm>
          <a:prstGeom prst="rightArrow">
            <a:avLst/>
          </a:prstGeom>
          <a:solidFill>
            <a:schemeClr val="bg1"/>
          </a:solidFill>
          <a:ln w="28575">
            <a:solidFill>
              <a:srgbClr val="E54C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2"/>
            </p:custDataLst>
          </p:nvPr>
        </p:nvSpPr>
        <p:spPr>
          <a:xfrm>
            <a:off x="0" y="0"/>
            <a:ext cx="12192000" cy="1026160"/>
          </a:xfrm>
          <a:prstGeom prst="rect">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4400" b="1" dirty="0">
                <a:solidFill>
                  <a:schemeClr val="bg1"/>
                </a:solidFill>
                <a:latin typeface="微软雅黑" panose="020B0503020204020204" pitchFamily="34" charset="-122"/>
                <a:ea typeface="微软雅黑" panose="020B0503020204020204" pitchFamily="34" charset="-122"/>
                <a:sym typeface="+mn-ea"/>
              </a:rPr>
              <a:t>回顾</a:t>
            </a:r>
            <a:r>
              <a:rPr lang="en-US" altLang="zh-CN" sz="4400" b="1" dirty="0">
                <a:solidFill>
                  <a:schemeClr val="bg1"/>
                </a:solidFill>
                <a:latin typeface="微软雅黑" panose="020B0503020204020204" pitchFamily="34" charset="-122"/>
                <a:ea typeface="微软雅黑" panose="020B0503020204020204" pitchFamily="34" charset="-122"/>
                <a:sym typeface="+mn-ea"/>
              </a:rPr>
              <a:t>——</a:t>
            </a:r>
            <a:r>
              <a:rPr lang="en-US" altLang="zh-CN" sz="4400" b="1"/>
              <a:t>OS</a:t>
            </a:r>
            <a:r>
              <a:rPr lang="zh-CN" altLang="en-US" sz="4400" b="1"/>
              <a:t>的基本特性</a:t>
            </a:r>
            <a:endParaRPr lang="zh-CN" altLang="en-US" sz="4400" b="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0" y="0"/>
            <a:ext cx="12192000" cy="1026160"/>
          </a:xfrm>
          <a:prstGeom prst="rect">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AutoShape 4" descr="“data”的图片搜索结果"/>
          <p:cNvSpPr>
            <a:spLocks noChangeAspect="1" noChangeArrowheads="1"/>
          </p:cNvSpPr>
          <p:nvPr>
            <p:custDataLst>
              <p:tags r:id="rId2"/>
            </p:custDataLst>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custDataLst>
              <p:tags r:id="rId3"/>
            </p:custDataLst>
          </p:nvPr>
        </p:nvSpPr>
        <p:spPr>
          <a:xfrm>
            <a:off x="-635" y="24765"/>
            <a:ext cx="8842375" cy="10013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b="1" dirty="0">
                <a:solidFill>
                  <a:schemeClr val="bg1"/>
                </a:solidFill>
                <a:latin typeface="微软雅黑" panose="020B0503020204020204" pitchFamily="34" charset="-122"/>
                <a:ea typeface="微软雅黑" panose="020B0503020204020204" pitchFamily="34" charset="-122"/>
                <a:sym typeface="+mn-ea"/>
              </a:rPr>
              <a:t>回顾</a:t>
            </a:r>
            <a:r>
              <a:rPr lang="en-US" altLang="zh-CN" b="1" dirty="0">
                <a:solidFill>
                  <a:schemeClr val="bg1"/>
                </a:solidFill>
                <a:latin typeface="微软雅黑" panose="020B0503020204020204" pitchFamily="34" charset="-122"/>
                <a:ea typeface="微软雅黑" panose="020B0503020204020204" pitchFamily="34" charset="-122"/>
                <a:sym typeface="+mn-ea"/>
              </a:rPr>
              <a:t>——</a:t>
            </a:r>
            <a:r>
              <a:rPr lang="zh-CN" altLang="en-US" b="1" dirty="0">
                <a:solidFill>
                  <a:schemeClr val="bg1"/>
                </a:solidFill>
                <a:latin typeface="微软雅黑" panose="020B0503020204020204" pitchFamily="34" charset="-122"/>
                <a:ea typeface="微软雅黑" panose="020B0503020204020204" pitchFamily="34" charset="-122"/>
                <a:sym typeface="+mn-ea"/>
              </a:rPr>
              <a:t>进程的特征</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
        <p:nvSpPr>
          <p:cNvPr id="9" name="AutoShape 5"/>
          <p:cNvSpPr>
            <a:spLocks noChangeArrowheads="1"/>
          </p:cNvSpPr>
          <p:nvPr>
            <p:custDataLst>
              <p:tags r:id="rId4"/>
            </p:custDataLst>
          </p:nvPr>
        </p:nvSpPr>
        <p:spPr bwMode="blackWhite">
          <a:xfrm>
            <a:off x="581343" y="2453056"/>
            <a:ext cx="1025525" cy="422174"/>
          </a:xfrm>
          <a:prstGeom prst="roundRect">
            <a:avLst>
              <a:gd name="adj" fmla="val 9106"/>
            </a:avLst>
          </a:prstGeom>
          <a:solidFill>
            <a:srgbClr val="C00000"/>
          </a:solidFill>
          <a:ln w="25400">
            <a:solidFill>
              <a:srgbClr val="C00000"/>
            </a:solidFill>
            <a:round/>
          </a:ln>
          <a:effectLst/>
        </p:spPr>
        <p:txBody>
          <a:bodyPr wrap="square" anchor="ctr" anchorCtr="0">
            <a:spAutoFit/>
          </a:bodyPr>
          <a:lstStyle/>
          <a:p>
            <a:pPr algn="ctr" eaLnBrk="0" hangingPunct="0">
              <a:spcBef>
                <a:spcPct val="0"/>
              </a:spcBef>
              <a:spcAft>
                <a:spcPct val="0"/>
              </a:spcAft>
              <a:buClrTx/>
              <a:buSzTx/>
              <a:buFontTx/>
              <a:buNone/>
            </a:pPr>
            <a:r>
              <a:rPr lang="zh-CN" altLang="en-US" sz="2000" b="1" dirty="0">
                <a:solidFill>
                  <a:schemeClr val="bg1"/>
                </a:solidFill>
                <a:ea typeface="楷体_GB2312" charset="0"/>
                <a:cs typeface="楷体_GB2312" charset="0"/>
              </a:rPr>
              <a:t>结构性</a:t>
            </a:r>
            <a:endParaRPr lang="en-US" altLang="zh-CN" sz="2000" b="1" dirty="0">
              <a:solidFill>
                <a:schemeClr val="bg1"/>
              </a:solidFill>
              <a:ea typeface="楷体_GB2312" charset="0"/>
              <a:cs typeface="楷体_GB2312" charset="0"/>
            </a:endParaRPr>
          </a:p>
        </p:txBody>
      </p:sp>
      <p:sp>
        <p:nvSpPr>
          <p:cNvPr id="10" name="AutoShape 5"/>
          <p:cNvSpPr>
            <a:spLocks noChangeArrowheads="1"/>
          </p:cNvSpPr>
          <p:nvPr>
            <p:custDataLst>
              <p:tags r:id="rId5"/>
            </p:custDataLst>
          </p:nvPr>
        </p:nvSpPr>
        <p:spPr bwMode="blackWhite">
          <a:xfrm>
            <a:off x="581343" y="4099510"/>
            <a:ext cx="1025525" cy="421640"/>
          </a:xfrm>
          <a:prstGeom prst="roundRect">
            <a:avLst>
              <a:gd name="adj" fmla="val 9106"/>
            </a:avLst>
          </a:prstGeom>
          <a:solidFill>
            <a:srgbClr val="C00000"/>
          </a:solidFill>
          <a:ln w="25400">
            <a:solidFill>
              <a:srgbClr val="C00000"/>
            </a:solidFill>
            <a:round/>
          </a:ln>
          <a:effectLst/>
        </p:spPr>
        <p:txBody>
          <a:bodyPr wrap="square" anchor="ctr" anchorCtr="0">
            <a:spAutoFit/>
          </a:bodyPr>
          <a:lstStyle/>
          <a:p>
            <a:pPr algn="ctr" eaLnBrk="0" hangingPunct="0">
              <a:spcBef>
                <a:spcPct val="0"/>
              </a:spcBef>
              <a:spcAft>
                <a:spcPct val="0"/>
              </a:spcAft>
              <a:buClrTx/>
              <a:buSzTx/>
              <a:buFontTx/>
              <a:buNone/>
            </a:pPr>
            <a:r>
              <a:rPr lang="zh-CN" altLang="en-US" sz="2000" b="1" dirty="0">
                <a:solidFill>
                  <a:schemeClr val="bg1"/>
                </a:solidFill>
                <a:ea typeface="楷体_GB2312" charset="0"/>
                <a:cs typeface="楷体_GB2312" charset="0"/>
              </a:rPr>
              <a:t>并发性</a:t>
            </a:r>
            <a:endParaRPr lang="en-US" altLang="zh-CN" sz="2000" b="1" dirty="0">
              <a:solidFill>
                <a:schemeClr val="bg1"/>
              </a:solidFill>
              <a:ea typeface="楷体_GB2312" charset="0"/>
              <a:cs typeface="楷体_GB2312" charset="0"/>
            </a:endParaRPr>
          </a:p>
        </p:txBody>
      </p:sp>
      <p:sp>
        <p:nvSpPr>
          <p:cNvPr id="15" name="AutoShape 5"/>
          <p:cNvSpPr>
            <a:spLocks noChangeArrowheads="1"/>
          </p:cNvSpPr>
          <p:nvPr>
            <p:custDataLst>
              <p:tags r:id="rId6"/>
            </p:custDataLst>
          </p:nvPr>
        </p:nvSpPr>
        <p:spPr bwMode="blackWhite">
          <a:xfrm>
            <a:off x="581343" y="4922470"/>
            <a:ext cx="1025525" cy="421640"/>
          </a:xfrm>
          <a:prstGeom prst="roundRect">
            <a:avLst>
              <a:gd name="adj" fmla="val 9106"/>
            </a:avLst>
          </a:prstGeom>
          <a:solidFill>
            <a:srgbClr val="C00000"/>
          </a:solidFill>
          <a:ln w="25400">
            <a:solidFill>
              <a:srgbClr val="C00000"/>
            </a:solidFill>
            <a:round/>
          </a:ln>
          <a:effectLst/>
        </p:spPr>
        <p:txBody>
          <a:bodyPr wrap="square" anchor="ctr" anchorCtr="0">
            <a:spAutoFit/>
          </a:bodyPr>
          <a:lstStyle/>
          <a:p>
            <a:pPr algn="ctr" eaLnBrk="0" hangingPunct="0">
              <a:spcBef>
                <a:spcPct val="0"/>
              </a:spcBef>
              <a:spcAft>
                <a:spcPct val="0"/>
              </a:spcAft>
              <a:buClrTx/>
              <a:buSzTx/>
              <a:buFontTx/>
              <a:buNone/>
            </a:pPr>
            <a:r>
              <a:rPr lang="zh-CN" altLang="en-US" sz="2000" b="1" dirty="0">
                <a:solidFill>
                  <a:schemeClr val="bg1"/>
                </a:solidFill>
                <a:ea typeface="楷体_GB2312" charset="0"/>
                <a:cs typeface="楷体_GB2312" charset="0"/>
              </a:rPr>
              <a:t>独立性</a:t>
            </a:r>
            <a:endParaRPr lang="en-US" altLang="zh-CN" sz="2000" b="1" dirty="0">
              <a:solidFill>
                <a:schemeClr val="bg1"/>
              </a:solidFill>
              <a:ea typeface="楷体_GB2312" charset="0"/>
              <a:cs typeface="楷体_GB2312" charset="0"/>
            </a:endParaRPr>
          </a:p>
        </p:txBody>
      </p:sp>
      <p:sp>
        <p:nvSpPr>
          <p:cNvPr id="16" name="AutoShape 5"/>
          <p:cNvSpPr>
            <a:spLocks noChangeArrowheads="1"/>
          </p:cNvSpPr>
          <p:nvPr>
            <p:custDataLst>
              <p:tags r:id="rId7"/>
            </p:custDataLst>
          </p:nvPr>
        </p:nvSpPr>
        <p:spPr bwMode="blackWhite">
          <a:xfrm>
            <a:off x="581343" y="5745430"/>
            <a:ext cx="1025525" cy="421640"/>
          </a:xfrm>
          <a:prstGeom prst="roundRect">
            <a:avLst>
              <a:gd name="adj" fmla="val 9106"/>
            </a:avLst>
          </a:prstGeom>
          <a:solidFill>
            <a:srgbClr val="C00000"/>
          </a:solidFill>
          <a:ln w="25400">
            <a:solidFill>
              <a:srgbClr val="C00000"/>
            </a:solidFill>
            <a:round/>
          </a:ln>
          <a:effectLst/>
        </p:spPr>
        <p:txBody>
          <a:bodyPr wrap="square" anchor="ctr" anchorCtr="0">
            <a:spAutoFit/>
          </a:bodyPr>
          <a:lstStyle/>
          <a:p>
            <a:pPr algn="ctr" eaLnBrk="0" hangingPunct="0">
              <a:spcBef>
                <a:spcPct val="0"/>
              </a:spcBef>
              <a:spcAft>
                <a:spcPct val="0"/>
              </a:spcAft>
              <a:buClrTx/>
              <a:buSzTx/>
              <a:buFontTx/>
              <a:buNone/>
            </a:pPr>
            <a:r>
              <a:rPr lang="zh-CN" altLang="en-US" sz="2000" b="1" dirty="0">
                <a:solidFill>
                  <a:schemeClr val="bg1"/>
                </a:solidFill>
                <a:ea typeface="楷体_GB2312" charset="0"/>
                <a:cs typeface="楷体_GB2312" charset="0"/>
              </a:rPr>
              <a:t>异步性</a:t>
            </a:r>
            <a:endParaRPr lang="en-US" altLang="zh-CN" sz="2000" b="1" dirty="0">
              <a:solidFill>
                <a:schemeClr val="bg1"/>
              </a:solidFill>
              <a:ea typeface="楷体_GB2312" charset="0"/>
              <a:cs typeface="楷体_GB2312" charset="0"/>
            </a:endParaRPr>
          </a:p>
        </p:txBody>
      </p:sp>
      <p:sp>
        <p:nvSpPr>
          <p:cNvPr id="34" name="AutoShape 5"/>
          <p:cNvSpPr>
            <a:spLocks noChangeArrowheads="1"/>
          </p:cNvSpPr>
          <p:nvPr>
            <p:custDataLst>
              <p:tags r:id="rId8"/>
            </p:custDataLst>
          </p:nvPr>
        </p:nvSpPr>
        <p:spPr bwMode="blackWhite">
          <a:xfrm>
            <a:off x="581343" y="3276550"/>
            <a:ext cx="1025525" cy="421640"/>
          </a:xfrm>
          <a:prstGeom prst="roundRect">
            <a:avLst>
              <a:gd name="adj" fmla="val 9106"/>
            </a:avLst>
          </a:prstGeom>
          <a:solidFill>
            <a:srgbClr val="C00000"/>
          </a:solidFill>
          <a:ln w="25400">
            <a:solidFill>
              <a:srgbClr val="C00000"/>
            </a:solidFill>
            <a:round/>
          </a:ln>
          <a:effectLst/>
        </p:spPr>
        <p:txBody>
          <a:bodyPr wrap="square" anchor="ctr" anchorCtr="0">
            <a:spAutoFit/>
          </a:bodyPr>
          <a:lstStyle/>
          <a:p>
            <a:pPr algn="ctr" eaLnBrk="0" hangingPunct="0">
              <a:spcBef>
                <a:spcPct val="0"/>
              </a:spcBef>
              <a:spcAft>
                <a:spcPct val="0"/>
              </a:spcAft>
              <a:buClrTx/>
              <a:buSzTx/>
              <a:buFontTx/>
              <a:buNone/>
            </a:pPr>
            <a:r>
              <a:rPr lang="zh-CN" altLang="en-US" sz="2000" b="1" dirty="0">
                <a:solidFill>
                  <a:schemeClr val="bg1"/>
                </a:solidFill>
                <a:ea typeface="楷体_GB2312" charset="0"/>
                <a:cs typeface="楷体_GB2312" charset="0"/>
              </a:rPr>
              <a:t>动态性</a:t>
            </a:r>
            <a:endParaRPr lang="en-US" altLang="zh-CN" sz="2000" b="1" dirty="0">
              <a:solidFill>
                <a:schemeClr val="bg1"/>
              </a:solidFill>
              <a:ea typeface="楷体_GB2312" charset="0"/>
              <a:cs typeface="楷体_GB2312" charset="0"/>
            </a:endParaRPr>
          </a:p>
        </p:txBody>
      </p:sp>
      <p:sp>
        <p:nvSpPr>
          <p:cNvPr id="2" name="文本框 1"/>
          <p:cNvSpPr txBox="1"/>
          <p:nvPr/>
        </p:nvSpPr>
        <p:spPr>
          <a:xfrm>
            <a:off x="50165" y="1198245"/>
            <a:ext cx="11289665" cy="829945"/>
          </a:xfrm>
          <a:prstGeom prst="rect">
            <a:avLst/>
          </a:prstGeom>
          <a:noFill/>
        </p:spPr>
        <p:txBody>
          <a:bodyPr wrap="square" rtlCol="0" anchor="t">
            <a:spAutoFit/>
          </a:bodyPr>
          <a:p>
            <a:pPr marL="457200" lvl="2" indent="0" algn="just">
              <a:lnSpc>
                <a:spcPct val="200000"/>
              </a:lnSpc>
              <a:spcAft>
                <a:spcPts val="600"/>
              </a:spcAft>
              <a:buFont typeface="Wingdings" panose="05000000000000000000" pitchFamily="2" charset="2"/>
              <a:buNone/>
            </a:pPr>
            <a:r>
              <a:rPr lang="zh-CN" altLang="en-US" sz="2400" b="1" dirty="0">
                <a:solidFill>
                  <a:schemeClr val="tx1"/>
                </a:solidFill>
                <a:latin typeface="微软雅黑" panose="020B0503020204020204" pitchFamily="34" charset="-122"/>
                <a:ea typeface="微软雅黑" panose="020B0503020204020204" pitchFamily="34" charset="-122"/>
                <a:cs typeface="Hiragino Sans GB W3" panose="020B0300000000000000" charset="-122"/>
                <a:sym typeface="+mn-ea"/>
              </a:rPr>
              <a:t>进程是进程实体的运行过程，是操作系统进行资源分配和调度的基本单位</a:t>
            </a:r>
            <a:endParaRPr lang="zh-CN" altLang="en-US" sz="2400" b="1" dirty="0">
              <a:solidFill>
                <a:schemeClr val="tx1"/>
              </a:solidFill>
              <a:latin typeface="微软雅黑" panose="020B0503020204020204" pitchFamily="34" charset="-122"/>
              <a:ea typeface="微软雅黑" panose="020B0503020204020204" pitchFamily="34" charset="-122"/>
              <a:cs typeface="Hiragino Sans GB W3" panose="020B0300000000000000" charset="-122"/>
              <a:sym typeface="+mn-ea"/>
            </a:endParaRPr>
          </a:p>
        </p:txBody>
      </p:sp>
      <p:cxnSp>
        <p:nvCxnSpPr>
          <p:cNvPr id="45" name="直接箭头连接符 44"/>
          <p:cNvCxnSpPr>
            <a:stCxn id="38" idx="5"/>
            <a:endCxn id="3" idx="1"/>
          </p:cNvCxnSpPr>
          <p:nvPr>
            <p:custDataLst>
              <p:tags r:id="rId9"/>
            </p:custDataLst>
          </p:nvPr>
        </p:nvCxnSpPr>
        <p:spPr>
          <a:xfrm>
            <a:off x="3231596" y="3220937"/>
            <a:ext cx="1576070" cy="1054735"/>
          </a:xfrm>
          <a:prstGeom prst="straightConnector1">
            <a:avLst/>
          </a:prstGeom>
          <a:ln w="28575">
            <a:prstDash val="dash"/>
            <a:tailEnd type="triangle"/>
          </a:ln>
        </p:spPr>
        <p:style>
          <a:lnRef idx="1">
            <a:schemeClr val="dk1"/>
          </a:lnRef>
          <a:fillRef idx="0">
            <a:schemeClr val="dk1"/>
          </a:fillRef>
          <a:effectRef idx="0">
            <a:schemeClr val="dk1"/>
          </a:effectRef>
          <a:fontRef idx="minor">
            <a:schemeClr val="tx1"/>
          </a:fontRef>
        </p:style>
      </p:cxnSp>
      <p:cxnSp>
        <p:nvCxnSpPr>
          <p:cNvPr id="48" name="直接箭头连接符 47"/>
          <p:cNvCxnSpPr>
            <a:stCxn id="38" idx="5"/>
            <a:endCxn id="26" idx="1"/>
          </p:cNvCxnSpPr>
          <p:nvPr>
            <p:custDataLst>
              <p:tags r:id="rId10"/>
            </p:custDataLst>
          </p:nvPr>
        </p:nvCxnSpPr>
        <p:spPr>
          <a:xfrm>
            <a:off x="3231596" y="3220937"/>
            <a:ext cx="5419725" cy="1128395"/>
          </a:xfrm>
          <a:prstGeom prst="straightConnector1">
            <a:avLst/>
          </a:prstGeom>
          <a:ln w="28575">
            <a:prstDash val="dash"/>
            <a:tailEnd type="triangle"/>
          </a:ln>
        </p:spPr>
        <p:style>
          <a:lnRef idx="1">
            <a:schemeClr val="dk1"/>
          </a:lnRef>
          <a:fillRef idx="0">
            <a:schemeClr val="dk1"/>
          </a:fillRef>
          <a:effectRef idx="0">
            <a:schemeClr val="dk1"/>
          </a:effectRef>
          <a:fontRef idx="minor">
            <a:schemeClr val="tx1"/>
          </a:fontRef>
        </p:style>
      </p:cxnSp>
      <p:sp>
        <p:nvSpPr>
          <p:cNvPr id="3" name="椭圆 2"/>
          <p:cNvSpPr/>
          <p:nvPr>
            <p:custDataLst>
              <p:tags r:id="rId11"/>
            </p:custDataLst>
          </p:nvPr>
        </p:nvSpPr>
        <p:spPr>
          <a:xfrm>
            <a:off x="4675533" y="4143613"/>
            <a:ext cx="900000" cy="900000"/>
          </a:xfrm>
          <a:prstGeom prst="ellipse">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700" b="1" dirty="0">
                <a:solidFill>
                  <a:schemeClr val="bg1"/>
                </a:solidFill>
                <a:latin typeface="微软雅黑" panose="020B0503020204020204" pitchFamily="34" charset="-122"/>
                <a:ea typeface="微软雅黑" panose="020B0503020204020204" pitchFamily="34" charset="-122"/>
              </a:rPr>
              <a:t>活动</a:t>
            </a:r>
            <a:endParaRPr lang="en-US" altLang="zh-CN" sz="1700" b="1" dirty="0">
              <a:solidFill>
                <a:schemeClr val="bg1"/>
              </a:solidFill>
              <a:latin typeface="微软雅黑" panose="020B0503020204020204" pitchFamily="34" charset="-122"/>
              <a:ea typeface="微软雅黑" panose="020B0503020204020204" pitchFamily="34" charset="-122"/>
            </a:endParaRPr>
          </a:p>
          <a:p>
            <a:pPr algn="ctr"/>
            <a:r>
              <a:rPr lang="zh-CN" altLang="en-US" sz="1700" b="1" dirty="0">
                <a:solidFill>
                  <a:schemeClr val="bg1"/>
                </a:solidFill>
                <a:latin typeface="微软雅黑" panose="020B0503020204020204" pitchFamily="34" charset="-122"/>
                <a:ea typeface="微软雅黑" panose="020B0503020204020204" pitchFamily="34" charset="-122"/>
              </a:rPr>
              <a:t>就绪</a:t>
            </a:r>
            <a:endParaRPr lang="zh-CN" altLang="en-US" sz="1700" b="1" dirty="0">
              <a:solidFill>
                <a:schemeClr val="bg1"/>
              </a:solidFill>
              <a:latin typeface="微软雅黑" panose="020B0503020204020204" pitchFamily="34" charset="-122"/>
              <a:ea typeface="微软雅黑" panose="020B0503020204020204" pitchFamily="34" charset="-122"/>
            </a:endParaRPr>
          </a:p>
        </p:txBody>
      </p:sp>
      <p:sp>
        <p:nvSpPr>
          <p:cNvPr id="20" name="椭圆 19"/>
          <p:cNvSpPr/>
          <p:nvPr>
            <p:custDataLst>
              <p:tags r:id="rId12"/>
            </p:custDataLst>
          </p:nvPr>
        </p:nvSpPr>
        <p:spPr>
          <a:xfrm>
            <a:off x="5855130" y="5742382"/>
            <a:ext cx="900000" cy="900000"/>
          </a:xfrm>
          <a:prstGeom prst="ellipse">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700" b="1" dirty="0">
                <a:solidFill>
                  <a:schemeClr val="bg1"/>
                </a:solidFill>
                <a:latin typeface="微软雅黑" panose="020B0503020204020204" pitchFamily="34" charset="-122"/>
                <a:ea typeface="微软雅黑" panose="020B0503020204020204" pitchFamily="34" charset="-122"/>
              </a:rPr>
              <a:t>静止阻塞</a:t>
            </a:r>
            <a:endParaRPr lang="zh-CN" altLang="en-US" sz="1700" b="1" dirty="0">
              <a:solidFill>
                <a:schemeClr val="bg1"/>
              </a:solidFill>
              <a:latin typeface="微软雅黑" panose="020B0503020204020204" pitchFamily="34" charset="-122"/>
              <a:ea typeface="微软雅黑" panose="020B0503020204020204" pitchFamily="34" charset="-122"/>
            </a:endParaRPr>
          </a:p>
        </p:txBody>
      </p:sp>
      <p:sp>
        <p:nvSpPr>
          <p:cNvPr id="21" name="椭圆 20"/>
          <p:cNvSpPr/>
          <p:nvPr>
            <p:custDataLst>
              <p:tags r:id="rId13"/>
            </p:custDataLst>
          </p:nvPr>
        </p:nvSpPr>
        <p:spPr>
          <a:xfrm>
            <a:off x="3255906" y="5742381"/>
            <a:ext cx="900000" cy="900000"/>
          </a:xfrm>
          <a:prstGeom prst="ellipse">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700" b="1" dirty="0">
                <a:solidFill>
                  <a:schemeClr val="bg1"/>
                </a:solidFill>
                <a:latin typeface="微软雅黑" panose="020B0503020204020204" pitchFamily="34" charset="-122"/>
                <a:ea typeface="微软雅黑" panose="020B0503020204020204" pitchFamily="34" charset="-122"/>
              </a:rPr>
              <a:t>活动</a:t>
            </a:r>
            <a:endParaRPr lang="en-US" altLang="zh-CN" sz="1700" b="1" dirty="0">
              <a:solidFill>
                <a:schemeClr val="bg1"/>
              </a:solidFill>
              <a:latin typeface="微软雅黑" panose="020B0503020204020204" pitchFamily="34" charset="-122"/>
              <a:ea typeface="微软雅黑" panose="020B0503020204020204" pitchFamily="34" charset="-122"/>
            </a:endParaRPr>
          </a:p>
          <a:p>
            <a:pPr algn="ctr"/>
            <a:r>
              <a:rPr lang="zh-CN" altLang="en-US" sz="1700" b="1" dirty="0">
                <a:solidFill>
                  <a:schemeClr val="bg1"/>
                </a:solidFill>
                <a:latin typeface="微软雅黑" panose="020B0503020204020204" pitchFamily="34" charset="-122"/>
                <a:ea typeface="微软雅黑" panose="020B0503020204020204" pitchFamily="34" charset="-122"/>
              </a:rPr>
              <a:t>阻塞</a:t>
            </a:r>
            <a:endParaRPr lang="zh-CN" altLang="en-US" sz="1700" b="1" dirty="0">
              <a:solidFill>
                <a:schemeClr val="bg1"/>
              </a:solidFill>
              <a:latin typeface="微软雅黑" panose="020B0503020204020204" pitchFamily="34" charset="-122"/>
              <a:ea typeface="微软雅黑" panose="020B0503020204020204" pitchFamily="34" charset="-122"/>
            </a:endParaRPr>
          </a:p>
        </p:txBody>
      </p:sp>
      <p:cxnSp>
        <p:nvCxnSpPr>
          <p:cNvPr id="6" name="直接箭头连接符 5"/>
          <p:cNvCxnSpPr/>
          <p:nvPr>
            <p:custDataLst>
              <p:tags r:id="rId14"/>
            </p:custDataLst>
          </p:nvPr>
        </p:nvCxnSpPr>
        <p:spPr>
          <a:xfrm flipH="1" flipV="1">
            <a:off x="5537597" y="4720741"/>
            <a:ext cx="2966085" cy="45720"/>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cxnSp>
        <p:nvCxnSpPr>
          <p:cNvPr id="27" name="直接箭头连接符 26"/>
          <p:cNvCxnSpPr/>
          <p:nvPr>
            <p:custDataLst>
              <p:tags r:id="rId15"/>
            </p:custDataLst>
          </p:nvPr>
        </p:nvCxnSpPr>
        <p:spPr>
          <a:xfrm>
            <a:off x="5565975" y="4540728"/>
            <a:ext cx="2974975" cy="10160"/>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36" name="直接箭头连接符 35"/>
          <p:cNvCxnSpPr>
            <a:stCxn id="21" idx="7"/>
            <a:endCxn id="3" idx="3"/>
          </p:cNvCxnSpPr>
          <p:nvPr>
            <p:custDataLst>
              <p:tags r:id="rId16"/>
            </p:custDataLst>
          </p:nvPr>
        </p:nvCxnSpPr>
        <p:spPr>
          <a:xfrm flipV="1">
            <a:off x="4024184" y="4911530"/>
            <a:ext cx="783590" cy="96266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0" name="文本框 39"/>
          <p:cNvSpPr txBox="1"/>
          <p:nvPr>
            <p:custDataLst>
              <p:tags r:id="rId17"/>
            </p:custDataLst>
          </p:nvPr>
        </p:nvSpPr>
        <p:spPr>
          <a:xfrm rot="18760509">
            <a:off x="4709397" y="3172052"/>
            <a:ext cx="1239441" cy="645160"/>
          </a:xfrm>
          <a:prstGeom prst="rect">
            <a:avLst/>
          </a:prstGeom>
          <a:noFill/>
        </p:spPr>
        <p:txBody>
          <a:bodyPr wrap="square">
            <a:spAutoFit/>
          </a:bodyPr>
          <a:lstStyle/>
          <a:p>
            <a:pPr algn="ctr" defTabSz="449580" eaLnBrk="0" hangingPunct="0">
              <a:lnSpc>
                <a:spcPct val="200000"/>
              </a:lnSpc>
              <a:spcBef>
                <a:spcPts val="625"/>
              </a:spcBef>
              <a:spcAft>
                <a:spcPts val="1800"/>
              </a:spcAft>
            </a:pPr>
            <a:r>
              <a:rPr kumimoji="1" lang="zh-CN" altLang="en-US" b="1"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时间片完</a:t>
            </a:r>
            <a:endParaRPr kumimoji="1" lang="zh-CN" altLang="en-US" b="1"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41" name="文本框 40"/>
          <p:cNvSpPr txBox="1"/>
          <p:nvPr>
            <p:custDataLst>
              <p:tags r:id="rId18"/>
            </p:custDataLst>
          </p:nvPr>
        </p:nvSpPr>
        <p:spPr>
          <a:xfrm rot="18734666">
            <a:off x="5130955" y="3549123"/>
            <a:ext cx="1239441" cy="645160"/>
          </a:xfrm>
          <a:prstGeom prst="rect">
            <a:avLst/>
          </a:prstGeom>
          <a:noFill/>
        </p:spPr>
        <p:txBody>
          <a:bodyPr wrap="square">
            <a:spAutoFit/>
          </a:bodyPr>
          <a:lstStyle/>
          <a:p>
            <a:pPr algn="ctr" defTabSz="449580" eaLnBrk="0" hangingPunct="0">
              <a:lnSpc>
                <a:spcPct val="200000"/>
              </a:lnSpc>
              <a:spcBef>
                <a:spcPts val="625"/>
              </a:spcBef>
              <a:spcAft>
                <a:spcPts val="1800"/>
              </a:spcAft>
            </a:pPr>
            <a:r>
              <a:rPr kumimoji="1" lang="zh-CN" altLang="en-US" b="1"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调度</a:t>
            </a:r>
            <a:endParaRPr kumimoji="1" lang="zh-CN" altLang="en-US" b="1"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26" name="椭圆 25"/>
          <p:cNvSpPr/>
          <p:nvPr>
            <p:custDataLst>
              <p:tags r:id="rId19"/>
            </p:custDataLst>
          </p:nvPr>
        </p:nvSpPr>
        <p:spPr>
          <a:xfrm>
            <a:off x="8519356" y="4217273"/>
            <a:ext cx="900000" cy="900000"/>
          </a:xfrm>
          <a:prstGeom prst="ellipse">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700" b="1" dirty="0">
                <a:solidFill>
                  <a:schemeClr val="bg1"/>
                </a:solidFill>
                <a:latin typeface="微软雅黑" panose="020B0503020204020204" pitchFamily="34" charset="-122"/>
                <a:ea typeface="微软雅黑" panose="020B0503020204020204" pitchFamily="34" charset="-122"/>
              </a:rPr>
              <a:t>静止</a:t>
            </a:r>
            <a:endParaRPr lang="en-US" altLang="zh-CN" sz="1700" b="1" dirty="0">
              <a:solidFill>
                <a:schemeClr val="bg1"/>
              </a:solidFill>
              <a:latin typeface="微软雅黑" panose="020B0503020204020204" pitchFamily="34" charset="-122"/>
              <a:ea typeface="微软雅黑" panose="020B0503020204020204" pitchFamily="34" charset="-122"/>
            </a:endParaRPr>
          </a:p>
          <a:p>
            <a:pPr algn="ctr"/>
            <a:r>
              <a:rPr lang="zh-CN" altLang="en-US" sz="1700" b="1" dirty="0">
                <a:solidFill>
                  <a:schemeClr val="bg1"/>
                </a:solidFill>
                <a:latin typeface="微软雅黑" panose="020B0503020204020204" pitchFamily="34" charset="-122"/>
                <a:ea typeface="微软雅黑" panose="020B0503020204020204" pitchFamily="34" charset="-122"/>
              </a:rPr>
              <a:t>就绪</a:t>
            </a:r>
            <a:endParaRPr lang="zh-CN" altLang="en-US" sz="1700" b="1" dirty="0">
              <a:solidFill>
                <a:schemeClr val="bg1"/>
              </a:solidFill>
              <a:latin typeface="微软雅黑" panose="020B0503020204020204" pitchFamily="34" charset="-122"/>
              <a:ea typeface="微软雅黑" panose="020B0503020204020204" pitchFamily="34" charset="-122"/>
            </a:endParaRPr>
          </a:p>
        </p:txBody>
      </p:sp>
      <p:sp>
        <p:nvSpPr>
          <p:cNvPr id="28" name="椭圆 27"/>
          <p:cNvSpPr/>
          <p:nvPr>
            <p:custDataLst>
              <p:tags r:id="rId20"/>
            </p:custDataLst>
          </p:nvPr>
        </p:nvSpPr>
        <p:spPr>
          <a:xfrm>
            <a:off x="5941612" y="2495815"/>
            <a:ext cx="900000" cy="900000"/>
          </a:xfrm>
          <a:prstGeom prst="ellipse">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700" b="1" dirty="0">
                <a:solidFill>
                  <a:schemeClr val="bg1"/>
                </a:solidFill>
                <a:latin typeface="微软雅黑" panose="020B0503020204020204" pitchFamily="34" charset="-122"/>
                <a:ea typeface="微软雅黑" panose="020B0503020204020204" pitchFamily="34" charset="-122"/>
              </a:rPr>
              <a:t>执行</a:t>
            </a:r>
            <a:endParaRPr lang="zh-CN" altLang="en-US" sz="1700" b="1" dirty="0">
              <a:solidFill>
                <a:schemeClr val="bg1"/>
              </a:solidFill>
              <a:latin typeface="微软雅黑" panose="020B0503020204020204" pitchFamily="34" charset="-122"/>
              <a:ea typeface="微软雅黑" panose="020B0503020204020204" pitchFamily="34" charset="-122"/>
            </a:endParaRPr>
          </a:p>
        </p:txBody>
      </p:sp>
      <p:cxnSp>
        <p:nvCxnSpPr>
          <p:cNvPr id="4" name="直接箭头连接符 3"/>
          <p:cNvCxnSpPr/>
          <p:nvPr>
            <p:custDataLst>
              <p:tags r:id="rId21"/>
            </p:custDataLst>
          </p:nvPr>
        </p:nvCxnSpPr>
        <p:spPr>
          <a:xfrm flipH="1" flipV="1">
            <a:off x="4126423" y="6322568"/>
            <a:ext cx="1737995" cy="17780"/>
          </a:xfrm>
          <a:prstGeom prst="straightConnector1">
            <a:avLst/>
          </a:prstGeom>
          <a:ln w="28575">
            <a:solidFill>
              <a:srgbClr val="0070C0"/>
            </a:solidFill>
            <a:tailEnd type="triangle"/>
          </a:ln>
        </p:spPr>
        <p:style>
          <a:lnRef idx="1">
            <a:schemeClr val="dk1"/>
          </a:lnRef>
          <a:fillRef idx="0">
            <a:schemeClr val="dk1"/>
          </a:fillRef>
          <a:effectRef idx="0">
            <a:schemeClr val="dk1"/>
          </a:effectRef>
          <a:fontRef idx="minor">
            <a:schemeClr val="tx1"/>
          </a:fontRef>
        </p:style>
      </p:cxnSp>
      <p:cxnSp>
        <p:nvCxnSpPr>
          <p:cNvPr id="37" name="直接箭头连接符 36"/>
          <p:cNvCxnSpPr/>
          <p:nvPr>
            <p:custDataLst>
              <p:tags r:id="rId22"/>
            </p:custDataLst>
          </p:nvPr>
        </p:nvCxnSpPr>
        <p:spPr>
          <a:xfrm>
            <a:off x="4119460" y="6056197"/>
            <a:ext cx="1769110" cy="5080"/>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39" name="直接箭头连接符 38"/>
          <p:cNvCxnSpPr>
            <a:stCxn id="20" idx="6"/>
            <a:endCxn id="26" idx="3"/>
          </p:cNvCxnSpPr>
          <p:nvPr>
            <p:custDataLst>
              <p:tags r:id="rId23"/>
            </p:custDataLst>
          </p:nvPr>
        </p:nvCxnSpPr>
        <p:spPr>
          <a:xfrm flipV="1">
            <a:off x="6755408" y="4985184"/>
            <a:ext cx="1896110" cy="120713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46" name="直接箭头连接符 45"/>
          <p:cNvCxnSpPr>
            <a:endCxn id="28" idx="3"/>
          </p:cNvCxnSpPr>
          <p:nvPr>
            <p:custDataLst>
              <p:tags r:id="rId24"/>
            </p:custDataLst>
          </p:nvPr>
        </p:nvCxnSpPr>
        <p:spPr>
          <a:xfrm flipV="1">
            <a:off x="5306687" y="3263026"/>
            <a:ext cx="767362" cy="87721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0" name="直接箭头连接符 49"/>
          <p:cNvCxnSpPr/>
          <p:nvPr>
            <p:custDataLst>
              <p:tags r:id="rId25"/>
            </p:custDataLst>
          </p:nvPr>
        </p:nvCxnSpPr>
        <p:spPr>
          <a:xfrm flipH="1">
            <a:off x="5121160" y="3148385"/>
            <a:ext cx="855300" cy="1016995"/>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4" name="直接箭头连接符 53"/>
          <p:cNvCxnSpPr>
            <a:stCxn id="28" idx="5"/>
            <a:endCxn id="26" idx="1"/>
          </p:cNvCxnSpPr>
          <p:nvPr>
            <p:custDataLst>
              <p:tags r:id="rId26"/>
            </p:custDataLst>
          </p:nvPr>
        </p:nvCxnSpPr>
        <p:spPr>
          <a:xfrm>
            <a:off x="6709175" y="3263026"/>
            <a:ext cx="1941830" cy="1085850"/>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59" name="文本框 58"/>
          <p:cNvSpPr txBox="1"/>
          <p:nvPr>
            <p:custDataLst>
              <p:tags r:id="rId27"/>
            </p:custDataLst>
          </p:nvPr>
        </p:nvSpPr>
        <p:spPr>
          <a:xfrm>
            <a:off x="6317116" y="4527314"/>
            <a:ext cx="1239441" cy="645160"/>
          </a:xfrm>
          <a:prstGeom prst="rect">
            <a:avLst/>
          </a:prstGeom>
          <a:noFill/>
        </p:spPr>
        <p:txBody>
          <a:bodyPr wrap="square">
            <a:spAutoFit/>
          </a:bodyPr>
          <a:lstStyle/>
          <a:p>
            <a:pPr algn="ctr" defTabSz="449580" eaLnBrk="0" hangingPunct="0">
              <a:lnSpc>
                <a:spcPct val="200000"/>
              </a:lnSpc>
              <a:spcBef>
                <a:spcPts val="625"/>
              </a:spcBef>
              <a:spcAft>
                <a:spcPts val="1800"/>
              </a:spcAft>
            </a:pPr>
            <a:r>
              <a:rPr kumimoji="1" lang="zh-CN" altLang="en-US" b="1" dirty="0">
                <a:solidFill>
                  <a:srgbClr val="0070C0"/>
                </a:solidFill>
                <a:latin typeface="微软雅黑" panose="020B0503020204020204" pitchFamily="34" charset="-122"/>
                <a:ea typeface="微软雅黑" panose="020B0503020204020204" pitchFamily="34" charset="-122"/>
                <a:cs typeface="Times New Roman" panose="02020503050405090304" pitchFamily="18" charset="0"/>
              </a:rPr>
              <a:t>激活</a:t>
            </a:r>
            <a:endParaRPr kumimoji="1" lang="zh-CN" altLang="en-US" b="1" dirty="0">
              <a:solidFill>
                <a:srgbClr val="0070C0"/>
              </a:solidFill>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60" name="文本框 59"/>
          <p:cNvSpPr txBox="1"/>
          <p:nvPr>
            <p:custDataLst>
              <p:tags r:id="rId28"/>
            </p:custDataLst>
          </p:nvPr>
        </p:nvSpPr>
        <p:spPr>
          <a:xfrm>
            <a:off x="6243067" y="3906134"/>
            <a:ext cx="1239441" cy="645160"/>
          </a:xfrm>
          <a:prstGeom prst="rect">
            <a:avLst/>
          </a:prstGeom>
          <a:noFill/>
        </p:spPr>
        <p:txBody>
          <a:bodyPr wrap="square">
            <a:spAutoFit/>
          </a:bodyPr>
          <a:lstStyle/>
          <a:p>
            <a:pPr algn="ctr" defTabSz="449580" eaLnBrk="0" hangingPunct="0">
              <a:lnSpc>
                <a:spcPct val="200000"/>
              </a:lnSpc>
              <a:spcBef>
                <a:spcPts val="625"/>
              </a:spcBef>
              <a:spcAft>
                <a:spcPts val="1800"/>
              </a:spcAft>
            </a:pPr>
            <a:r>
              <a:rPr kumimoji="1" lang="zh-CN" altLang="en-US" b="1" dirty="0">
                <a:solidFill>
                  <a:srgbClr val="FF0000"/>
                </a:solidFill>
                <a:latin typeface="微软雅黑" panose="020B0503020204020204" pitchFamily="34" charset="-122"/>
                <a:ea typeface="微软雅黑" panose="020B0503020204020204" pitchFamily="34" charset="-122"/>
                <a:cs typeface="Times New Roman" panose="02020503050405090304" pitchFamily="18" charset="0"/>
              </a:rPr>
              <a:t>挂起</a:t>
            </a:r>
            <a:endParaRPr kumimoji="1" lang="zh-CN" altLang="en-US" b="1" dirty="0">
              <a:solidFill>
                <a:srgbClr val="FF0000"/>
              </a:solidFill>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61" name="文本框 60"/>
          <p:cNvSpPr txBox="1"/>
          <p:nvPr>
            <p:custDataLst>
              <p:tags r:id="rId29"/>
            </p:custDataLst>
          </p:nvPr>
        </p:nvSpPr>
        <p:spPr>
          <a:xfrm rot="1819766">
            <a:off x="7209153" y="3260972"/>
            <a:ext cx="1239441" cy="645160"/>
          </a:xfrm>
          <a:prstGeom prst="rect">
            <a:avLst/>
          </a:prstGeom>
          <a:noFill/>
        </p:spPr>
        <p:txBody>
          <a:bodyPr wrap="square">
            <a:spAutoFit/>
          </a:bodyPr>
          <a:lstStyle>
            <a:defPPr>
              <a:defRPr lang="zh-CN"/>
            </a:defPPr>
            <a:lvl1pPr algn="ctr" defTabSz="449580" eaLnBrk="0" hangingPunct="0">
              <a:lnSpc>
                <a:spcPct val="200000"/>
              </a:lnSpc>
              <a:spcBef>
                <a:spcPts val="625"/>
              </a:spcBef>
              <a:spcAft>
                <a:spcPts val="1800"/>
              </a:spcAft>
              <a:defRPr kumimoji="1" b="1">
                <a:solidFill>
                  <a:srgbClr val="FF0000"/>
                </a:solidFill>
                <a:latin typeface="微软雅黑" panose="020B0503020204020204" pitchFamily="34" charset="-122"/>
                <a:ea typeface="微软雅黑" panose="020B0503020204020204" pitchFamily="34" charset="-122"/>
                <a:cs typeface="Times New Roman" panose="02020503050405090304" pitchFamily="18" charset="0"/>
              </a:defRPr>
            </a:lvl1pPr>
          </a:lstStyle>
          <a:p>
            <a:r>
              <a:rPr lang="zh-CN" altLang="en-US" dirty="0"/>
              <a:t>挂起</a:t>
            </a:r>
            <a:endParaRPr lang="zh-CN" altLang="en-US" dirty="0"/>
          </a:p>
        </p:txBody>
      </p:sp>
      <p:sp>
        <p:nvSpPr>
          <p:cNvPr id="62" name="文本框 61"/>
          <p:cNvSpPr txBox="1"/>
          <p:nvPr>
            <p:custDataLst>
              <p:tags r:id="rId30"/>
            </p:custDataLst>
          </p:nvPr>
        </p:nvSpPr>
        <p:spPr>
          <a:xfrm rot="19668147">
            <a:off x="7083247" y="5341539"/>
            <a:ext cx="1239441" cy="645160"/>
          </a:xfrm>
          <a:prstGeom prst="rect">
            <a:avLst/>
          </a:prstGeom>
          <a:noFill/>
        </p:spPr>
        <p:txBody>
          <a:bodyPr wrap="square">
            <a:spAutoFit/>
          </a:bodyPr>
          <a:lstStyle/>
          <a:p>
            <a:pPr algn="ctr" defTabSz="449580" eaLnBrk="0" hangingPunct="0">
              <a:lnSpc>
                <a:spcPct val="200000"/>
              </a:lnSpc>
              <a:spcBef>
                <a:spcPts val="625"/>
              </a:spcBef>
              <a:spcAft>
                <a:spcPts val="1800"/>
              </a:spcAft>
            </a:pPr>
            <a:r>
              <a:rPr kumimoji="1" lang="zh-CN" altLang="en-US" b="1"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释放</a:t>
            </a:r>
            <a:endParaRPr kumimoji="1" lang="zh-CN" altLang="en-US" b="1"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63" name="文本框 62"/>
          <p:cNvSpPr txBox="1"/>
          <p:nvPr>
            <p:custDataLst>
              <p:tags r:id="rId31"/>
            </p:custDataLst>
          </p:nvPr>
        </p:nvSpPr>
        <p:spPr>
          <a:xfrm>
            <a:off x="2276808" y="5629496"/>
            <a:ext cx="1239441" cy="645160"/>
          </a:xfrm>
          <a:prstGeom prst="rect">
            <a:avLst/>
          </a:prstGeom>
          <a:noFill/>
        </p:spPr>
        <p:txBody>
          <a:bodyPr wrap="square">
            <a:spAutoFit/>
          </a:bodyPr>
          <a:lstStyle/>
          <a:p>
            <a:pPr algn="ctr" defTabSz="449580" eaLnBrk="0" hangingPunct="0">
              <a:lnSpc>
                <a:spcPct val="200000"/>
              </a:lnSpc>
              <a:spcBef>
                <a:spcPts val="625"/>
              </a:spcBef>
              <a:spcAft>
                <a:spcPts val="1800"/>
              </a:spcAft>
            </a:pPr>
            <a:r>
              <a:rPr kumimoji="1" lang="zh-CN" altLang="en-US" b="1" dirty="0">
                <a:solidFill>
                  <a:srgbClr val="0070C0"/>
                </a:solidFill>
                <a:latin typeface="微软雅黑" panose="020B0503020204020204" pitchFamily="34" charset="-122"/>
                <a:ea typeface="微软雅黑" panose="020B0503020204020204" pitchFamily="34" charset="-122"/>
                <a:cs typeface="Times New Roman" panose="02020503050405090304" pitchFamily="18" charset="0"/>
              </a:rPr>
              <a:t>激活</a:t>
            </a:r>
            <a:endParaRPr kumimoji="1" lang="zh-CN" altLang="en-US" b="1" dirty="0">
              <a:solidFill>
                <a:srgbClr val="0070C0"/>
              </a:solidFill>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64" name="文本框 63"/>
          <p:cNvSpPr txBox="1"/>
          <p:nvPr>
            <p:custDataLst>
              <p:tags r:id="rId32"/>
            </p:custDataLst>
          </p:nvPr>
        </p:nvSpPr>
        <p:spPr>
          <a:xfrm>
            <a:off x="4464036" y="5480163"/>
            <a:ext cx="1239441" cy="645160"/>
          </a:xfrm>
          <a:prstGeom prst="rect">
            <a:avLst/>
          </a:prstGeom>
          <a:noFill/>
        </p:spPr>
        <p:txBody>
          <a:bodyPr wrap="square">
            <a:spAutoFit/>
          </a:bodyPr>
          <a:lstStyle>
            <a:defPPr>
              <a:defRPr lang="zh-CN"/>
            </a:defPPr>
            <a:lvl1pPr algn="ctr" defTabSz="449580" eaLnBrk="0" hangingPunct="0">
              <a:lnSpc>
                <a:spcPct val="200000"/>
              </a:lnSpc>
              <a:spcBef>
                <a:spcPts val="625"/>
              </a:spcBef>
              <a:spcAft>
                <a:spcPts val="1800"/>
              </a:spcAft>
              <a:defRPr kumimoji="1" b="1">
                <a:solidFill>
                  <a:srgbClr val="FF0000"/>
                </a:solidFill>
                <a:latin typeface="微软雅黑" panose="020B0503020204020204" pitchFamily="34" charset="-122"/>
                <a:ea typeface="微软雅黑" panose="020B0503020204020204" pitchFamily="34" charset="-122"/>
                <a:cs typeface="Times New Roman" panose="02020503050405090304" pitchFamily="18" charset="0"/>
              </a:defRPr>
            </a:lvl1pPr>
          </a:lstStyle>
          <a:p>
            <a:r>
              <a:rPr lang="zh-CN" altLang="en-US" dirty="0"/>
              <a:t>挂起</a:t>
            </a:r>
            <a:endParaRPr lang="zh-CN" altLang="en-US" dirty="0"/>
          </a:p>
        </p:txBody>
      </p:sp>
      <p:sp>
        <p:nvSpPr>
          <p:cNvPr id="65" name="文本框 64"/>
          <p:cNvSpPr txBox="1"/>
          <p:nvPr>
            <p:custDataLst>
              <p:tags r:id="rId33"/>
            </p:custDataLst>
          </p:nvPr>
        </p:nvSpPr>
        <p:spPr>
          <a:xfrm rot="18348147">
            <a:off x="3610916" y="4843455"/>
            <a:ext cx="1239441" cy="645160"/>
          </a:xfrm>
          <a:prstGeom prst="rect">
            <a:avLst/>
          </a:prstGeom>
          <a:noFill/>
        </p:spPr>
        <p:txBody>
          <a:bodyPr wrap="square">
            <a:spAutoFit/>
          </a:bodyPr>
          <a:lstStyle/>
          <a:p>
            <a:pPr algn="ctr" defTabSz="449580" eaLnBrk="0" hangingPunct="0">
              <a:lnSpc>
                <a:spcPct val="200000"/>
              </a:lnSpc>
              <a:spcBef>
                <a:spcPts val="625"/>
              </a:spcBef>
              <a:spcAft>
                <a:spcPts val="1800"/>
              </a:spcAft>
            </a:pPr>
            <a:r>
              <a:rPr kumimoji="1" lang="zh-CN" altLang="en-US" b="1"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释放</a:t>
            </a:r>
            <a:endParaRPr kumimoji="1" lang="zh-CN" altLang="en-US" b="1"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38" name="椭圆 37"/>
          <p:cNvSpPr/>
          <p:nvPr>
            <p:custDataLst>
              <p:tags r:id="rId34"/>
            </p:custDataLst>
          </p:nvPr>
        </p:nvSpPr>
        <p:spPr>
          <a:xfrm>
            <a:off x="2464033" y="2453270"/>
            <a:ext cx="900000" cy="900000"/>
          </a:xfrm>
          <a:prstGeom prst="ellipse">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700" b="1" dirty="0">
                <a:solidFill>
                  <a:schemeClr val="bg1"/>
                </a:solidFill>
                <a:latin typeface="微软雅黑" panose="020B0503020204020204" pitchFamily="34" charset="-122"/>
                <a:ea typeface="微软雅黑" panose="020B0503020204020204" pitchFamily="34" charset="-122"/>
              </a:rPr>
              <a:t>创建</a:t>
            </a:r>
            <a:endParaRPr lang="zh-CN" altLang="en-US" sz="1700" b="1" dirty="0">
              <a:solidFill>
                <a:schemeClr val="bg1"/>
              </a:solidFill>
              <a:latin typeface="微软雅黑" panose="020B0503020204020204" pitchFamily="34" charset="-122"/>
              <a:ea typeface="微软雅黑" panose="020B0503020204020204" pitchFamily="34" charset="-122"/>
            </a:endParaRPr>
          </a:p>
        </p:txBody>
      </p:sp>
      <p:sp>
        <p:nvSpPr>
          <p:cNvPr id="42" name="椭圆 41"/>
          <p:cNvSpPr/>
          <p:nvPr>
            <p:custDataLst>
              <p:tags r:id="rId35"/>
            </p:custDataLst>
          </p:nvPr>
        </p:nvSpPr>
        <p:spPr>
          <a:xfrm>
            <a:off x="9670106" y="2495815"/>
            <a:ext cx="900000" cy="900000"/>
          </a:xfrm>
          <a:prstGeom prst="ellipse">
            <a:avLst/>
          </a:prstGeom>
          <a:solidFill>
            <a:srgbClr val="C0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700" b="1" dirty="0">
                <a:solidFill>
                  <a:schemeClr val="bg1"/>
                </a:solidFill>
                <a:latin typeface="微软雅黑" panose="020B0503020204020204" pitchFamily="34" charset="-122"/>
                <a:ea typeface="微软雅黑" panose="020B0503020204020204" pitchFamily="34" charset="-122"/>
              </a:rPr>
              <a:t>终止</a:t>
            </a:r>
            <a:endParaRPr lang="zh-CN" altLang="en-US" sz="1700" b="1" dirty="0">
              <a:solidFill>
                <a:schemeClr val="bg1"/>
              </a:solidFill>
              <a:latin typeface="微软雅黑" panose="020B0503020204020204" pitchFamily="34" charset="-122"/>
              <a:ea typeface="微软雅黑" panose="020B0503020204020204" pitchFamily="34" charset="-122"/>
            </a:endParaRPr>
          </a:p>
        </p:txBody>
      </p:sp>
      <p:cxnSp>
        <p:nvCxnSpPr>
          <p:cNvPr id="43" name="直接箭头连接符 42"/>
          <p:cNvCxnSpPr>
            <a:stCxn id="28" idx="6"/>
            <a:endCxn id="42" idx="2"/>
          </p:cNvCxnSpPr>
          <p:nvPr>
            <p:custDataLst>
              <p:tags r:id="rId36"/>
            </p:custDataLst>
          </p:nvPr>
        </p:nvCxnSpPr>
        <p:spPr>
          <a:xfrm>
            <a:off x="6841612" y="2945463"/>
            <a:ext cx="2828925"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44" name="文本框 43"/>
          <p:cNvSpPr txBox="1"/>
          <p:nvPr>
            <p:custDataLst>
              <p:tags r:id="rId37"/>
            </p:custDataLst>
          </p:nvPr>
        </p:nvSpPr>
        <p:spPr>
          <a:xfrm>
            <a:off x="7541004" y="2330840"/>
            <a:ext cx="1239441" cy="645160"/>
          </a:xfrm>
          <a:prstGeom prst="rect">
            <a:avLst/>
          </a:prstGeom>
          <a:noFill/>
        </p:spPr>
        <p:txBody>
          <a:bodyPr wrap="square">
            <a:spAutoFit/>
          </a:bodyPr>
          <a:lstStyle/>
          <a:p>
            <a:pPr algn="ctr" defTabSz="449580" eaLnBrk="0" hangingPunct="0">
              <a:lnSpc>
                <a:spcPct val="200000"/>
              </a:lnSpc>
              <a:spcBef>
                <a:spcPts val="625"/>
              </a:spcBef>
              <a:spcAft>
                <a:spcPts val="1800"/>
              </a:spcAft>
            </a:pPr>
            <a:r>
              <a:rPr kumimoji="1" lang="zh-CN" altLang="en-US" b="1"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释放</a:t>
            </a:r>
            <a:endParaRPr kumimoji="1" lang="zh-CN" altLang="en-US" b="1"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51" name="文本框 50"/>
          <p:cNvSpPr txBox="1"/>
          <p:nvPr>
            <p:custDataLst>
              <p:tags r:id="rId38"/>
            </p:custDataLst>
          </p:nvPr>
        </p:nvSpPr>
        <p:spPr>
          <a:xfrm rot="2217871">
            <a:off x="3199682" y="3396694"/>
            <a:ext cx="1239441" cy="645160"/>
          </a:xfrm>
          <a:prstGeom prst="rect">
            <a:avLst/>
          </a:prstGeom>
          <a:noFill/>
        </p:spPr>
        <p:txBody>
          <a:bodyPr wrap="square">
            <a:spAutoFit/>
          </a:bodyPr>
          <a:lstStyle/>
          <a:p>
            <a:pPr algn="ctr" defTabSz="449580" eaLnBrk="0" hangingPunct="0">
              <a:lnSpc>
                <a:spcPct val="200000"/>
              </a:lnSpc>
              <a:spcBef>
                <a:spcPts val="625"/>
              </a:spcBef>
              <a:spcAft>
                <a:spcPts val="1800"/>
              </a:spcAft>
            </a:pPr>
            <a:r>
              <a:rPr kumimoji="1" lang="zh-CN" altLang="en-US" b="1"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许可</a:t>
            </a:r>
            <a:endParaRPr kumimoji="1" lang="zh-CN" altLang="en-US" b="1"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55" name="文本框 54"/>
          <p:cNvSpPr txBox="1"/>
          <p:nvPr>
            <p:custDataLst>
              <p:tags r:id="rId39"/>
            </p:custDataLst>
          </p:nvPr>
        </p:nvSpPr>
        <p:spPr>
          <a:xfrm rot="860434">
            <a:off x="3576378" y="2815095"/>
            <a:ext cx="1239441" cy="645160"/>
          </a:xfrm>
          <a:prstGeom prst="rect">
            <a:avLst/>
          </a:prstGeom>
          <a:noFill/>
        </p:spPr>
        <p:txBody>
          <a:bodyPr wrap="square">
            <a:spAutoFit/>
          </a:bodyPr>
          <a:lstStyle/>
          <a:p>
            <a:pPr algn="ctr" defTabSz="449580" eaLnBrk="0" hangingPunct="0">
              <a:lnSpc>
                <a:spcPct val="200000"/>
              </a:lnSpc>
              <a:spcBef>
                <a:spcPts val="625"/>
              </a:spcBef>
              <a:spcAft>
                <a:spcPts val="1800"/>
              </a:spcAft>
            </a:pPr>
            <a:r>
              <a:rPr kumimoji="1" lang="zh-CN" altLang="en-US" b="1"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许可</a:t>
            </a:r>
            <a:endParaRPr kumimoji="1" lang="zh-CN" altLang="en-US" b="1"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endParaRPr>
          </a:p>
        </p:txBody>
      </p:sp>
      <p:cxnSp>
        <p:nvCxnSpPr>
          <p:cNvPr id="56" name="连接符: 曲线 55"/>
          <p:cNvCxnSpPr>
            <a:stCxn id="28" idx="2"/>
            <a:endCxn id="21" idx="1"/>
          </p:cNvCxnSpPr>
          <p:nvPr>
            <p:custDataLst>
              <p:tags r:id="rId40"/>
            </p:custDataLst>
          </p:nvPr>
        </p:nvCxnSpPr>
        <p:spPr>
          <a:xfrm rot="10800000" flipV="1">
            <a:off x="3387725" y="2945765"/>
            <a:ext cx="2553970" cy="2928620"/>
          </a:xfrm>
          <a:prstGeom prst="curvedConnector2">
            <a:avLst/>
          </a:prstGeom>
          <a:ln w="28575">
            <a:tailEnd type="triangle"/>
          </a:ln>
        </p:spPr>
        <p:style>
          <a:lnRef idx="1">
            <a:schemeClr val="dk1"/>
          </a:lnRef>
          <a:fillRef idx="0">
            <a:schemeClr val="dk1"/>
          </a:fillRef>
          <a:effectRef idx="0">
            <a:schemeClr val="dk1"/>
          </a:effectRef>
          <a:fontRef idx="minor">
            <a:schemeClr val="tx1"/>
          </a:fontRef>
        </p:style>
      </p:cxnSp>
      <p:sp>
        <p:nvSpPr>
          <p:cNvPr id="57" name="文本框 56"/>
          <p:cNvSpPr txBox="1"/>
          <p:nvPr>
            <p:custDataLst>
              <p:tags r:id="rId41"/>
            </p:custDataLst>
          </p:nvPr>
        </p:nvSpPr>
        <p:spPr>
          <a:xfrm rot="17824101">
            <a:off x="2717942" y="4378475"/>
            <a:ext cx="1239441" cy="645160"/>
          </a:xfrm>
          <a:prstGeom prst="rect">
            <a:avLst/>
          </a:prstGeom>
          <a:noFill/>
        </p:spPr>
        <p:txBody>
          <a:bodyPr wrap="square">
            <a:spAutoFit/>
          </a:bodyPr>
          <a:lstStyle/>
          <a:p>
            <a:pPr algn="ctr" defTabSz="449580" eaLnBrk="0" hangingPunct="0">
              <a:lnSpc>
                <a:spcPct val="200000"/>
              </a:lnSpc>
              <a:spcBef>
                <a:spcPts val="625"/>
              </a:spcBef>
              <a:spcAft>
                <a:spcPts val="1800"/>
              </a:spcAft>
            </a:pPr>
            <a:r>
              <a:rPr kumimoji="1" lang="zh-CN" altLang="en-US" b="1"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请求</a:t>
            </a:r>
            <a:r>
              <a:rPr kumimoji="1" lang="en-US" altLang="zh-CN" b="1"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rPr>
              <a:t>I/O</a:t>
            </a:r>
            <a:endParaRPr kumimoji="1" lang="zh-CN" altLang="en-US" b="1" dirty="0">
              <a:solidFill>
                <a:srgbClr val="000000"/>
              </a:solidFill>
              <a:latin typeface="微软雅黑" panose="020B0503020204020204" pitchFamily="34" charset="-122"/>
              <a:ea typeface="微软雅黑" panose="020B0503020204020204" pitchFamily="34" charset="-122"/>
              <a:cs typeface="Times New Roman" panose="0202050305040509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custDataLst>
              <p:tags r:id="rId1"/>
            </p:custDataLst>
          </p:nvPr>
        </p:nvSpPr>
        <p:spPr>
          <a:xfrm>
            <a:off x="495935" y="4058285"/>
            <a:ext cx="3223895" cy="57213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800" b="1">
                <a:latin typeface="微软雅黑" panose="020B0503020204020204" pitchFamily="34" charset="-122"/>
                <a:ea typeface="微软雅黑" panose="020B0503020204020204" pitchFamily="34" charset="-122"/>
              </a:rPr>
              <a:t>硬件同步机制</a:t>
            </a:r>
            <a:endParaRPr lang="zh-CN" altLang="en-US" sz="2800" b="1">
              <a:latin typeface="微软雅黑" panose="020B0503020204020204" pitchFamily="34" charset="-122"/>
              <a:ea typeface="微软雅黑" panose="020B0503020204020204" pitchFamily="34" charset="-122"/>
            </a:endParaRPr>
          </a:p>
        </p:txBody>
      </p:sp>
      <p:sp>
        <p:nvSpPr>
          <p:cNvPr id="17" name="矩形 16"/>
          <p:cNvSpPr/>
          <p:nvPr/>
        </p:nvSpPr>
        <p:spPr>
          <a:xfrm>
            <a:off x="3982085" y="1370330"/>
            <a:ext cx="4293235" cy="572135"/>
          </a:xfrm>
          <a:prstGeom prst="rect">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2800" b="1">
                <a:latin typeface="微软雅黑" panose="020B0503020204020204" pitchFamily="34" charset="-122"/>
                <a:ea typeface="微软雅黑" panose="020B0503020204020204" pitchFamily="34" charset="-122"/>
              </a:rPr>
              <a:t>进程同步的基本概念</a:t>
            </a:r>
            <a:endParaRPr lang="zh-CN" altLang="en-US" sz="2800" b="1">
              <a:latin typeface="微软雅黑" panose="020B0503020204020204" pitchFamily="34" charset="-122"/>
              <a:ea typeface="微软雅黑" panose="020B0503020204020204" pitchFamily="34" charset="-122"/>
            </a:endParaRPr>
          </a:p>
        </p:txBody>
      </p:sp>
      <p:sp>
        <p:nvSpPr>
          <p:cNvPr id="24" name="矩形 23"/>
          <p:cNvSpPr/>
          <p:nvPr>
            <p:custDataLst>
              <p:tags r:id="rId2"/>
            </p:custDataLst>
          </p:nvPr>
        </p:nvSpPr>
        <p:spPr>
          <a:xfrm>
            <a:off x="3982085" y="2389505"/>
            <a:ext cx="4293235" cy="901065"/>
          </a:xfrm>
          <a:prstGeom prst="rect">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sz="2800" b="1">
                <a:latin typeface="微软雅黑" panose="020B0503020204020204" pitchFamily="34" charset="-122"/>
                <a:ea typeface="微软雅黑" panose="020B0503020204020204" pitchFamily="34" charset="-122"/>
              </a:rPr>
              <a:t>多道程序系统</a:t>
            </a:r>
            <a:endParaRPr lang="zh-CN" altLang="en-US" sz="2800" b="1">
              <a:latin typeface="微软雅黑" panose="020B0503020204020204" pitchFamily="34" charset="-122"/>
              <a:ea typeface="微软雅黑" panose="020B0503020204020204" pitchFamily="34" charset="-122"/>
            </a:endParaRPr>
          </a:p>
          <a:p>
            <a:pPr algn="ctr"/>
            <a:r>
              <a:rPr lang="zh-CN" altLang="en-US" sz="2800" b="1">
                <a:latin typeface="微软雅黑" panose="020B0503020204020204" pitchFamily="34" charset="-122"/>
                <a:ea typeface="微软雅黑" panose="020B0503020204020204" pitchFamily="34" charset="-122"/>
              </a:rPr>
              <a:t>进程同步机制</a:t>
            </a:r>
            <a:endParaRPr lang="zh-CN" altLang="en-US" sz="2800" b="1">
              <a:latin typeface="微软雅黑" panose="020B0503020204020204" pitchFamily="34" charset="-122"/>
              <a:ea typeface="微软雅黑" panose="020B0503020204020204" pitchFamily="34" charset="-122"/>
            </a:endParaRPr>
          </a:p>
        </p:txBody>
      </p:sp>
      <p:sp>
        <p:nvSpPr>
          <p:cNvPr id="26" name="矩形 25"/>
          <p:cNvSpPr/>
          <p:nvPr>
            <p:custDataLst>
              <p:tags r:id="rId3"/>
            </p:custDataLst>
          </p:nvPr>
        </p:nvSpPr>
        <p:spPr>
          <a:xfrm>
            <a:off x="4501515" y="4058285"/>
            <a:ext cx="3223895" cy="57213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800" b="1">
                <a:latin typeface="微软雅黑" panose="020B0503020204020204" pitchFamily="34" charset="-122"/>
                <a:ea typeface="微软雅黑" panose="020B0503020204020204" pitchFamily="34" charset="-122"/>
              </a:rPr>
              <a:t>信号量机制</a:t>
            </a:r>
            <a:endParaRPr lang="zh-CN" altLang="en-US" sz="2800" b="1">
              <a:latin typeface="微软雅黑" panose="020B0503020204020204" pitchFamily="34" charset="-122"/>
              <a:ea typeface="微软雅黑" panose="020B0503020204020204" pitchFamily="34" charset="-122"/>
            </a:endParaRPr>
          </a:p>
        </p:txBody>
      </p:sp>
      <p:sp>
        <p:nvSpPr>
          <p:cNvPr id="27" name="矩形 26"/>
          <p:cNvSpPr/>
          <p:nvPr>
            <p:custDataLst>
              <p:tags r:id="rId4"/>
            </p:custDataLst>
          </p:nvPr>
        </p:nvSpPr>
        <p:spPr>
          <a:xfrm>
            <a:off x="8761095" y="4058285"/>
            <a:ext cx="3223895" cy="57213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2800" b="1">
                <a:latin typeface="微软雅黑" panose="020B0503020204020204" pitchFamily="34" charset="-122"/>
                <a:ea typeface="微软雅黑" panose="020B0503020204020204" pitchFamily="34" charset="-122"/>
              </a:rPr>
              <a:t>管程机制</a:t>
            </a:r>
            <a:endParaRPr lang="zh-CN" altLang="en-US" sz="2800" b="1">
              <a:latin typeface="微软雅黑" panose="020B0503020204020204" pitchFamily="34" charset="-122"/>
              <a:ea typeface="微软雅黑" panose="020B0503020204020204" pitchFamily="34" charset="-122"/>
            </a:endParaRPr>
          </a:p>
        </p:txBody>
      </p:sp>
      <p:cxnSp>
        <p:nvCxnSpPr>
          <p:cNvPr id="28" name="直接箭头连接符 27"/>
          <p:cNvCxnSpPr>
            <a:stCxn id="17" idx="2"/>
            <a:endCxn id="24" idx="0"/>
          </p:cNvCxnSpPr>
          <p:nvPr/>
        </p:nvCxnSpPr>
        <p:spPr>
          <a:xfrm>
            <a:off x="6129020" y="1942465"/>
            <a:ext cx="0" cy="44704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24" idx="2"/>
            <a:endCxn id="26" idx="0"/>
          </p:cNvCxnSpPr>
          <p:nvPr>
            <p:custDataLst>
              <p:tags r:id="rId5"/>
            </p:custDataLst>
          </p:nvPr>
        </p:nvCxnSpPr>
        <p:spPr>
          <a:xfrm flipH="1">
            <a:off x="6113780" y="3290570"/>
            <a:ext cx="15240" cy="767715"/>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0" name="肘形连接符 29"/>
          <p:cNvCxnSpPr>
            <a:stCxn id="24" idx="2"/>
            <a:endCxn id="25" idx="0"/>
          </p:cNvCxnSpPr>
          <p:nvPr/>
        </p:nvCxnSpPr>
        <p:spPr>
          <a:xfrm rot="5400000">
            <a:off x="3734753" y="1664018"/>
            <a:ext cx="767715" cy="4020820"/>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1" name="肘形连接符 30"/>
          <p:cNvCxnSpPr>
            <a:stCxn id="24" idx="2"/>
            <a:endCxn id="27" idx="0"/>
          </p:cNvCxnSpPr>
          <p:nvPr>
            <p:custDataLst>
              <p:tags r:id="rId6"/>
            </p:custDataLst>
          </p:nvPr>
        </p:nvCxnSpPr>
        <p:spPr>
          <a:xfrm rot="5400000" flipV="1">
            <a:off x="7867333" y="1552258"/>
            <a:ext cx="767715" cy="4244340"/>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 name="圆角矩形 1"/>
          <p:cNvSpPr/>
          <p:nvPr/>
        </p:nvSpPr>
        <p:spPr>
          <a:xfrm>
            <a:off x="495935" y="1370330"/>
            <a:ext cx="3200400" cy="192024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marL="285750" lvl="1" indent="-285750" algn="l">
              <a:buFont typeface="Wingdings" panose="05000000000000000000" charset="0"/>
              <a:buChar char="Ø"/>
            </a:pP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endParaRPr>
          </a:p>
          <a:p>
            <a:pPr marL="285750" lvl="1" indent="-285750" algn="l">
              <a:buFont typeface="Wingdings" panose="05000000000000000000" charset="0"/>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进程</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endParaRPr>
          </a:p>
          <a:p>
            <a:pPr marL="285750" lvl="1" indent="-285750" algn="l">
              <a:buFont typeface="Wingdings" panose="05000000000000000000" charset="0"/>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多道程序并发执行</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endParaRPr>
          </a:p>
          <a:p>
            <a:pPr marL="285750" lvl="1" indent="-285750" algn="l">
              <a:buFont typeface="Wingdings" panose="05000000000000000000" charset="0"/>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资源利用率</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endParaRPr>
          </a:p>
          <a:p>
            <a:pPr marL="285750" lvl="1" indent="-285750" algn="l">
              <a:buFont typeface="Wingdings" panose="05000000000000000000" charset="0"/>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系统吞吐量</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endParaRPr>
          </a:p>
          <a:p>
            <a:pPr marL="285750" lvl="1" indent="-285750" algn="l">
              <a:buFont typeface="Wingdings" panose="05000000000000000000" charset="0"/>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系统更加复杂</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l">
              <a:buFont typeface="Wingdings" panose="05000000000000000000" charset="0"/>
              <a:buChar char="Ø"/>
            </a:pPr>
            <a:endParaRPr lang="zh-CN" altLang="en-US"/>
          </a:p>
        </p:txBody>
      </p:sp>
      <p:sp>
        <p:nvSpPr>
          <p:cNvPr id="3" name="圆角矩形 2"/>
          <p:cNvSpPr/>
          <p:nvPr/>
        </p:nvSpPr>
        <p:spPr>
          <a:xfrm>
            <a:off x="8784590" y="1370330"/>
            <a:ext cx="3200400" cy="1920240"/>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marL="285750" lvl="1" indent="-285750" algn="l">
              <a:buFont typeface="Wingdings" panose="05000000000000000000" charset="0"/>
              <a:buChar char="Ø"/>
            </a:pP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endParaRPr>
          </a:p>
          <a:p>
            <a:pPr marL="285750" lvl="1" indent="-285750" algn="l">
              <a:buFont typeface="Wingdings" panose="05000000000000000000" charset="0"/>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进程运行管理</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endParaRPr>
          </a:p>
          <a:p>
            <a:pPr marL="285750" lvl="1" indent="-285750" algn="l">
              <a:buFont typeface="Wingdings" panose="05000000000000000000" charset="0"/>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对系统资源的无序争夺</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endParaRPr>
          </a:p>
          <a:p>
            <a:pPr marL="285750" lvl="1" indent="-285750" algn="l">
              <a:buFont typeface="Wingdings" panose="05000000000000000000" charset="0"/>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系统混乱</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endParaRPr>
          </a:p>
          <a:p>
            <a:pPr marL="285750" lvl="1" indent="-285750" algn="l">
              <a:buFont typeface="Wingdings" panose="05000000000000000000" charset="0"/>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结果不确定性</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endParaRPr>
          </a:p>
          <a:p>
            <a:pPr marL="285750" lvl="1" indent="-285750" algn="l">
              <a:buFont typeface="Wingdings" panose="05000000000000000000" charset="0"/>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结果不可再现性</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indent="0" algn="l">
              <a:buFont typeface="Wingdings" panose="05000000000000000000" charset="0"/>
              <a:buNone/>
            </a:pPr>
            <a:endParaRPr lang="zh-CN" altLang="en-US"/>
          </a:p>
        </p:txBody>
      </p:sp>
      <p:sp>
        <p:nvSpPr>
          <p:cNvPr id="4" name="左大括号 3"/>
          <p:cNvSpPr/>
          <p:nvPr/>
        </p:nvSpPr>
        <p:spPr>
          <a:xfrm rot="16200000">
            <a:off x="5940425" y="958850"/>
            <a:ext cx="600075" cy="8265160"/>
          </a:xfrm>
          <a:prstGeom prst="leftBrace">
            <a:avLst>
              <a:gd name="adj1" fmla="val 81011"/>
              <a:gd name="adj2" fmla="val 50000"/>
            </a:avLst>
          </a:prstGeom>
          <a:ln w="28575">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文本框 4"/>
          <p:cNvSpPr txBox="1"/>
          <p:nvPr/>
        </p:nvSpPr>
        <p:spPr>
          <a:xfrm>
            <a:off x="495935" y="5713095"/>
            <a:ext cx="11489055" cy="829945"/>
          </a:xfrm>
          <a:prstGeom prst="rect">
            <a:avLst/>
          </a:prstGeom>
          <a:noFill/>
          <a:ln w="19050">
            <a:solidFill>
              <a:srgbClr val="C00000"/>
            </a:solidFill>
          </a:ln>
        </p:spPr>
        <p:txBody>
          <a:bodyPr wrap="square" rtlCol="0">
            <a:spAutoFit/>
          </a:bodyPr>
          <a:lstStyle/>
          <a:p>
            <a:pPr algn="ctr"/>
            <a:r>
              <a:rPr lang="zh-CN" altLang="en-US" sz="2400" b="1">
                <a:solidFill>
                  <a:srgbClr val="C00000"/>
                </a:solidFill>
                <a:latin typeface="微软雅黑" panose="020B0503020204020204" pitchFamily="34" charset="-122"/>
                <a:ea typeface="微软雅黑" panose="020B0503020204020204" pitchFamily="34" charset="-122"/>
              </a:rPr>
              <a:t>任务：对多个相关进程在执行次序上进行协调，使并发执行的诸进程之间按照一定的规则(或时序)共享系统资源，并能很好地相互合作，从而使程序的执行具有可再现性</a:t>
            </a:r>
            <a:endParaRPr lang="zh-CN" altLang="en-US" sz="2400" b="1">
              <a:solidFill>
                <a:srgbClr val="C00000"/>
              </a:solidFill>
              <a:latin typeface="微软雅黑" panose="020B0503020204020204" pitchFamily="34" charset="-122"/>
              <a:ea typeface="微软雅黑" panose="020B0503020204020204" pitchFamily="34" charset="-122"/>
            </a:endParaRPr>
          </a:p>
        </p:txBody>
      </p:sp>
      <p:sp>
        <p:nvSpPr>
          <p:cNvPr id="6" name="矩形 5"/>
          <p:cNvSpPr/>
          <p:nvPr>
            <p:custDataLst>
              <p:tags r:id="rId7"/>
            </p:custDataLst>
          </p:nvPr>
        </p:nvSpPr>
        <p:spPr>
          <a:xfrm>
            <a:off x="0" y="0"/>
            <a:ext cx="12192000" cy="1026160"/>
          </a:xfrm>
          <a:prstGeom prst="rect">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p:cNvSpPr txBox="1"/>
          <p:nvPr>
            <p:custDataLst>
              <p:tags r:id="rId8"/>
            </p:custDataLst>
          </p:nvPr>
        </p:nvSpPr>
        <p:spPr>
          <a:xfrm>
            <a:off x="-635" y="24765"/>
            <a:ext cx="8842375" cy="10013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b="1" dirty="0">
                <a:solidFill>
                  <a:schemeClr val="bg1"/>
                </a:solidFill>
                <a:latin typeface="微软雅黑" panose="020B0503020204020204" pitchFamily="34" charset="-122"/>
                <a:ea typeface="微软雅黑" panose="020B0503020204020204" pitchFamily="34" charset="-122"/>
                <a:sym typeface="+mn-ea"/>
              </a:rPr>
              <a:t>回顾</a:t>
            </a:r>
            <a:r>
              <a:rPr lang="en-US" altLang="zh-CN" b="1" dirty="0">
                <a:solidFill>
                  <a:schemeClr val="bg1"/>
                </a:solidFill>
                <a:latin typeface="微软雅黑" panose="020B0503020204020204" pitchFamily="34" charset="-122"/>
                <a:ea typeface="微软雅黑" panose="020B0503020204020204" pitchFamily="34" charset="-122"/>
                <a:sym typeface="+mn-ea"/>
              </a:rPr>
              <a:t>——</a:t>
            </a:r>
            <a:r>
              <a:rPr lang="zh-CN" altLang="en-US" b="1" dirty="0">
                <a:solidFill>
                  <a:schemeClr val="bg1"/>
                </a:solidFill>
                <a:latin typeface="微软雅黑" panose="020B0503020204020204" pitchFamily="34" charset="-122"/>
                <a:ea typeface="微软雅黑" panose="020B0503020204020204" pitchFamily="34" charset="-122"/>
                <a:sym typeface="+mn-ea"/>
              </a:rPr>
              <a:t>进程同步机制</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270" y="-6985"/>
            <a:ext cx="12195175" cy="1076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091" y="-11907"/>
            <a:ext cx="9508215" cy="10813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2.4.1 </a:t>
            </a:r>
            <a:r>
              <a:rPr lang="zh-CN" altLang="en-US" sz="3900" b="1" dirty="0">
                <a:latin typeface="微软雅黑" panose="020B0503020204020204" pitchFamily="34" charset="-122"/>
                <a:ea typeface="微软雅黑" panose="020B0503020204020204" pitchFamily="34" charset="-122"/>
              </a:rPr>
              <a:t>进程同步的基本概念</a:t>
            </a:r>
            <a:endParaRPr lang="zh-CN" altLang="en-US" sz="3900" b="1" dirty="0">
              <a:latin typeface="微软雅黑" panose="020B0503020204020204" pitchFamily="34" charset="-122"/>
              <a:ea typeface="微软雅黑" panose="020B0503020204020204" pitchFamily="34" charset="-122"/>
            </a:endParaRPr>
          </a:p>
        </p:txBody>
      </p:sp>
      <p:sp>
        <p:nvSpPr>
          <p:cNvPr id="3" name="矩形 2"/>
          <p:cNvSpPr/>
          <p:nvPr/>
        </p:nvSpPr>
        <p:spPr>
          <a:xfrm>
            <a:off x="443230" y="1069340"/>
            <a:ext cx="11311255" cy="5370830"/>
          </a:xfrm>
          <a:prstGeom prst="rect">
            <a:avLst/>
          </a:prstGeom>
        </p:spPr>
        <p:txBody>
          <a:bodyPr wrap="square">
            <a:spAutoFit/>
          </a:bodyPr>
          <a:lstStyle/>
          <a:p>
            <a:pPr marL="285750" indent="-285750" algn="just">
              <a:lnSpc>
                <a:spcPct val="125000"/>
              </a:lnSpc>
              <a:buFont typeface="Wingdings" panose="05000000000000000000" pitchFamily="2" charset="2"/>
              <a:buChar char="u"/>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同步机制应遵循的规则</a:t>
            </a:r>
            <a:endPar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marR="0" lvl="2" indent="-342900" algn="just" fontAlgn="base">
              <a:lnSpc>
                <a:spcPct val="125000"/>
              </a:lnSpc>
              <a:spcBef>
                <a:spcPts val="1030"/>
              </a:spcBef>
              <a:spcAft>
                <a:spcPts val="600"/>
              </a:spcAft>
              <a:buClrTx/>
              <a:buSzTx/>
              <a:buFont typeface="Wingdings" panose="05000000000000000000" pitchFamily="2" charset="2"/>
              <a:buChar char="Ø"/>
              <a:defRPr/>
            </a:pPr>
            <a:r>
              <a:rPr lang="zh-CN" altLang="en-US" sz="2400" b="1" dirty="0">
                <a:solidFill>
                  <a:srgbClr val="C00000"/>
                </a:solidFill>
                <a:latin typeface="微软雅黑" panose="020B0503020204020204" pitchFamily="34" charset="-122"/>
                <a:ea typeface="微软雅黑" panose="020B0503020204020204" pitchFamily="34" charset="-122"/>
              </a:rPr>
              <a:t>空闲让进：</a:t>
            </a:r>
            <a:endParaRPr lang="zh-CN" altLang="en-US" sz="2400" b="1" dirty="0">
              <a:solidFill>
                <a:srgbClr val="C00000"/>
              </a:solidFill>
              <a:latin typeface="微软雅黑" panose="020B0503020204020204" pitchFamily="34" charset="-122"/>
              <a:ea typeface="微软雅黑" panose="020B0503020204020204" pitchFamily="34" charset="-122"/>
            </a:endParaRPr>
          </a:p>
          <a:p>
            <a:pPr marL="1257300" marR="0" lvl="3" indent="-342900" algn="just" fontAlgn="base">
              <a:lnSpc>
                <a:spcPct val="125000"/>
              </a:lnSpc>
              <a:spcBef>
                <a:spcPct val="15000"/>
              </a:spcBef>
              <a:spcAft>
                <a:spcPts val="600"/>
              </a:spcAft>
              <a:buClrTx/>
              <a:buSzTx/>
              <a:buFont typeface="Arial" panose="020B0604020202090204" pitchFamily="34" charset="0"/>
              <a:buChar char="•"/>
              <a:defRPr/>
            </a:pPr>
            <a:r>
              <a:rPr lang="zh-CN" altLang="en-US" sz="2000" dirty="0">
                <a:latin typeface="微软雅黑" panose="020B0503020204020204" pitchFamily="34" charset="-122"/>
                <a:ea typeface="微软雅黑" panose="020B0503020204020204" pitchFamily="34" charset="-122"/>
              </a:rPr>
              <a:t>当无进程在互斥区时，任何有权使用互斥区的进程可进入</a:t>
            </a:r>
            <a:endParaRPr lang="zh-CN" altLang="en-US" sz="2000" dirty="0">
              <a:latin typeface="微软雅黑" panose="020B0503020204020204" pitchFamily="34" charset="-122"/>
              <a:ea typeface="微软雅黑" panose="020B0503020204020204" pitchFamily="34" charset="-122"/>
            </a:endParaRPr>
          </a:p>
          <a:p>
            <a:pPr marL="800100" marR="0" lvl="2" indent="-342900" algn="just" fontAlgn="base">
              <a:lnSpc>
                <a:spcPct val="125000"/>
              </a:lnSpc>
              <a:spcBef>
                <a:spcPts val="1300"/>
              </a:spcBef>
              <a:spcAft>
                <a:spcPts val="600"/>
              </a:spcAft>
              <a:buClrTx/>
              <a:buSzTx/>
              <a:buFont typeface="Wingdings" panose="05000000000000000000" pitchFamily="2" charset="2"/>
              <a:buChar char="Ø"/>
              <a:defRPr/>
            </a:pPr>
            <a:r>
              <a:rPr lang="zh-CN" altLang="en-US" sz="2400" b="1" dirty="0">
                <a:solidFill>
                  <a:srgbClr val="C00000"/>
                </a:solidFill>
                <a:latin typeface="微软雅黑" panose="020B0503020204020204" pitchFamily="34" charset="-122"/>
                <a:ea typeface="微软雅黑" panose="020B0503020204020204" pitchFamily="34" charset="-122"/>
              </a:rPr>
              <a:t>忙则等待：</a:t>
            </a:r>
            <a:endParaRPr lang="zh-CN" altLang="en-US" sz="2400" b="1" dirty="0">
              <a:solidFill>
                <a:srgbClr val="C00000"/>
              </a:solidFill>
              <a:latin typeface="微软雅黑" panose="020B0503020204020204" pitchFamily="34" charset="-122"/>
              <a:ea typeface="微软雅黑" panose="020B0503020204020204" pitchFamily="34" charset="-122"/>
            </a:endParaRPr>
          </a:p>
          <a:p>
            <a:pPr marL="1257300" marR="0" lvl="3" indent="-342900" algn="just" fontAlgn="base">
              <a:lnSpc>
                <a:spcPct val="125000"/>
              </a:lnSpc>
              <a:spcBef>
                <a:spcPct val="15000"/>
              </a:spcBef>
              <a:spcAft>
                <a:spcPts val="600"/>
              </a:spcAft>
              <a:buClrTx/>
              <a:buSzTx/>
              <a:buFont typeface="Arial" panose="020B0604020202090204" pitchFamily="34" charset="0"/>
              <a:buChar char="•"/>
              <a:defRPr/>
            </a:pPr>
            <a:r>
              <a:rPr lang="zh-CN" altLang="en-US" sz="2000" dirty="0">
                <a:latin typeface="微软雅黑" panose="020B0503020204020204" pitchFamily="34" charset="-122"/>
                <a:ea typeface="微软雅黑" panose="020B0503020204020204" pitchFamily="34" charset="-122"/>
                <a:sym typeface="Arial" panose="020B0604020202090204" pitchFamily="34" charset="0"/>
              </a:rPr>
              <a:t>不允许两个以上的进程同时进入互斥区</a:t>
            </a:r>
            <a:endParaRPr lang="zh-CN" altLang="en-US" sz="2000" dirty="0">
              <a:latin typeface="微软雅黑" panose="020B0503020204020204" pitchFamily="34" charset="-122"/>
              <a:ea typeface="微软雅黑" panose="020B0503020204020204" pitchFamily="34" charset="-122"/>
              <a:sym typeface="Arial" panose="020B0604020202090204" pitchFamily="34" charset="0"/>
            </a:endParaRPr>
          </a:p>
          <a:p>
            <a:pPr marL="800100" marR="0" lvl="2" indent="-342900" algn="just" fontAlgn="base">
              <a:lnSpc>
                <a:spcPct val="125000"/>
              </a:lnSpc>
              <a:spcBef>
                <a:spcPts val="1300"/>
              </a:spcBef>
              <a:spcAft>
                <a:spcPts val="600"/>
              </a:spcAft>
              <a:buClrTx/>
              <a:buSzTx/>
              <a:buFont typeface="Wingdings" panose="05000000000000000000" pitchFamily="2" charset="2"/>
              <a:buChar char="Ø"/>
              <a:defRPr/>
            </a:pPr>
            <a:r>
              <a:rPr lang="zh-CN" altLang="en-US" sz="2400" b="1" dirty="0">
                <a:solidFill>
                  <a:srgbClr val="C00000"/>
                </a:solidFill>
                <a:latin typeface="微软雅黑" panose="020B0503020204020204" pitchFamily="34" charset="-122"/>
                <a:ea typeface="微软雅黑" panose="020B0503020204020204" pitchFamily="34" charset="-122"/>
              </a:rPr>
              <a:t>有限等待：</a:t>
            </a:r>
            <a:endParaRPr lang="zh-CN" altLang="en-US" sz="2400" b="1" dirty="0">
              <a:solidFill>
                <a:srgbClr val="C00000"/>
              </a:solidFill>
              <a:latin typeface="微软雅黑" panose="020B0503020204020204" pitchFamily="34" charset="-122"/>
              <a:ea typeface="微软雅黑" panose="020B0503020204020204" pitchFamily="34" charset="-122"/>
            </a:endParaRPr>
          </a:p>
          <a:p>
            <a:pPr marL="1257300" marR="0" lvl="3" indent="-342900" algn="just" fontAlgn="base">
              <a:lnSpc>
                <a:spcPct val="125000"/>
              </a:lnSpc>
              <a:spcBef>
                <a:spcPct val="15000"/>
              </a:spcBef>
              <a:spcAft>
                <a:spcPts val="600"/>
              </a:spcAft>
              <a:buClrTx/>
              <a:buSzTx/>
              <a:buFont typeface="Arial" panose="020B0604020202090204" pitchFamily="34" charset="0"/>
              <a:buChar char="•"/>
              <a:defRPr/>
            </a:pPr>
            <a:r>
              <a:rPr lang="zh-CN" altLang="en-US" sz="2000" dirty="0">
                <a:latin typeface="微软雅黑" panose="020B0503020204020204" pitchFamily="34" charset="-122"/>
                <a:ea typeface="微软雅黑" panose="020B0503020204020204" pitchFamily="34" charset="-122"/>
                <a:sym typeface="Arial" panose="020B0604020202090204" pitchFamily="34" charset="0"/>
              </a:rPr>
              <a:t>任何进入互斥区的要求应在有限的时间内得到满足</a:t>
            </a:r>
            <a:endParaRPr lang="zh-CN" altLang="en-US" sz="2000" dirty="0">
              <a:latin typeface="微软雅黑" panose="020B0503020204020204" pitchFamily="34" charset="-122"/>
              <a:ea typeface="微软雅黑" panose="020B0503020204020204" pitchFamily="34" charset="-122"/>
              <a:sym typeface="Arial" panose="020B0604020202090204" pitchFamily="34" charset="0"/>
            </a:endParaRPr>
          </a:p>
          <a:p>
            <a:pPr marL="800100" marR="0" lvl="2" indent="-342900" algn="just" fontAlgn="base">
              <a:lnSpc>
                <a:spcPct val="125000"/>
              </a:lnSpc>
              <a:spcBef>
                <a:spcPts val="1300"/>
              </a:spcBef>
              <a:spcAft>
                <a:spcPts val="600"/>
              </a:spcAft>
              <a:buClrTx/>
              <a:buSzTx/>
              <a:buFont typeface="Wingdings" panose="05000000000000000000" pitchFamily="2" charset="2"/>
              <a:buChar char="Ø"/>
              <a:defRPr/>
            </a:pPr>
            <a:r>
              <a:rPr lang="zh-CN" altLang="en-US" sz="2400" b="1" dirty="0">
                <a:solidFill>
                  <a:srgbClr val="C00000"/>
                </a:solidFill>
                <a:latin typeface="微软雅黑" panose="020B0503020204020204" pitchFamily="34" charset="-122"/>
                <a:ea typeface="微软雅黑" panose="020B0503020204020204" pitchFamily="34" charset="-122"/>
              </a:rPr>
              <a:t>让权等待：</a:t>
            </a:r>
            <a:endParaRPr lang="zh-CN" altLang="en-US" sz="2400" b="1" dirty="0">
              <a:solidFill>
                <a:srgbClr val="C00000"/>
              </a:solidFill>
              <a:latin typeface="微软雅黑" panose="020B0503020204020204" pitchFamily="34" charset="-122"/>
              <a:ea typeface="微软雅黑" panose="020B0503020204020204" pitchFamily="34" charset="-122"/>
            </a:endParaRPr>
          </a:p>
          <a:p>
            <a:pPr marL="1257300" marR="0" lvl="3" indent="-342900" algn="just" fontAlgn="base">
              <a:lnSpc>
                <a:spcPct val="125000"/>
              </a:lnSpc>
              <a:spcBef>
                <a:spcPct val="15000"/>
              </a:spcBef>
              <a:spcAft>
                <a:spcPts val="600"/>
              </a:spcAft>
              <a:buClrTx/>
              <a:buSzTx/>
              <a:buFont typeface="Arial" panose="020B0604020202090204" pitchFamily="34" charset="0"/>
              <a:buChar char="•"/>
              <a:defRPr/>
            </a:pPr>
            <a:r>
              <a:rPr lang="zh-CN" altLang="en-US" sz="2000" dirty="0">
                <a:latin typeface="微软雅黑" panose="020B0503020204020204" pitchFamily="34" charset="-122"/>
                <a:ea typeface="微软雅黑" panose="020B0503020204020204" pitchFamily="34" charset="-122"/>
                <a:sym typeface="Arial" panose="020B0604020202090204" pitchFamily="34" charset="0"/>
              </a:rPr>
              <a:t>处于等待状态的进程应放弃占用</a:t>
            </a:r>
            <a:r>
              <a:rPr lang="en-US" altLang="zh-CN" sz="2000" dirty="0">
                <a:latin typeface="微软雅黑" panose="020B0503020204020204" pitchFamily="34" charset="-122"/>
                <a:ea typeface="微软雅黑" panose="020B0503020204020204" pitchFamily="34" charset="-122"/>
                <a:sym typeface="Arial" panose="020B0604020202090204" pitchFamily="34" charset="0"/>
              </a:rPr>
              <a:t>CPU</a:t>
            </a:r>
            <a:r>
              <a:rPr lang="zh-CN" altLang="en-US" sz="2000" dirty="0">
                <a:latin typeface="微软雅黑" panose="020B0503020204020204" pitchFamily="34" charset="-122"/>
                <a:ea typeface="微软雅黑" panose="020B0503020204020204" pitchFamily="34" charset="-122"/>
                <a:sym typeface="Arial" panose="020B0604020202090204" pitchFamily="34" charset="0"/>
              </a:rPr>
              <a:t>，以使其他进程有机会得到</a:t>
            </a:r>
            <a:r>
              <a:rPr lang="en-US" altLang="zh-CN" sz="2000" dirty="0">
                <a:latin typeface="微软雅黑" panose="020B0503020204020204" pitchFamily="34" charset="-122"/>
                <a:ea typeface="微软雅黑" panose="020B0503020204020204" pitchFamily="34" charset="-122"/>
                <a:sym typeface="Arial" panose="020B0604020202090204" pitchFamily="34" charset="0"/>
              </a:rPr>
              <a:t>CPU</a:t>
            </a:r>
            <a:r>
              <a:rPr lang="zh-CN" altLang="en-US" sz="2000" dirty="0">
                <a:latin typeface="微软雅黑" panose="020B0503020204020204" pitchFamily="34" charset="-122"/>
                <a:ea typeface="微软雅黑" panose="020B0503020204020204" pitchFamily="34" charset="-122"/>
                <a:sym typeface="Arial" panose="020B0604020202090204" pitchFamily="34" charset="0"/>
              </a:rPr>
              <a:t>的使用权</a:t>
            </a:r>
            <a:endParaRPr lang="zh-CN" altLang="en-US" sz="2000" dirty="0">
              <a:latin typeface="微软雅黑" panose="020B0503020204020204" pitchFamily="34" charset="-122"/>
              <a:ea typeface="微软雅黑" panose="020B0503020204020204" pitchFamily="34" charset="-122"/>
              <a:sym typeface="Arial" panose="020B0604020202090204" pitchFamily="34" charset="0"/>
            </a:endParaRPr>
          </a:p>
        </p:txBody>
      </p:sp>
      <p:sp>
        <p:nvSpPr>
          <p:cNvPr id="4" name="矩形 3"/>
          <p:cNvSpPr/>
          <p:nvPr>
            <p:custDataLst>
              <p:tags r:id="rId1"/>
            </p:custDataLst>
          </p:nvPr>
        </p:nvSpPr>
        <p:spPr>
          <a:xfrm>
            <a:off x="0" y="0"/>
            <a:ext cx="12192000" cy="1026160"/>
          </a:xfrm>
          <a:prstGeom prst="rect">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1"/>
          <p:cNvSpPr txBox="1"/>
          <p:nvPr>
            <p:custDataLst>
              <p:tags r:id="rId2"/>
            </p:custDataLst>
          </p:nvPr>
        </p:nvSpPr>
        <p:spPr>
          <a:xfrm>
            <a:off x="-635" y="24765"/>
            <a:ext cx="8842375" cy="10013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b="1" dirty="0">
                <a:solidFill>
                  <a:schemeClr val="bg1"/>
                </a:solidFill>
                <a:latin typeface="微软雅黑" panose="020B0503020204020204" pitchFamily="34" charset="-122"/>
                <a:ea typeface="微软雅黑" panose="020B0503020204020204" pitchFamily="34" charset="-122"/>
                <a:sym typeface="+mn-ea"/>
              </a:rPr>
              <a:t>回顾</a:t>
            </a:r>
            <a:r>
              <a:rPr lang="en-US" altLang="zh-CN" b="1" dirty="0">
                <a:solidFill>
                  <a:schemeClr val="bg1"/>
                </a:solidFill>
                <a:latin typeface="微软雅黑" panose="020B0503020204020204" pitchFamily="34" charset="-122"/>
                <a:ea typeface="微软雅黑" panose="020B0503020204020204" pitchFamily="34" charset="-122"/>
                <a:sym typeface="+mn-ea"/>
              </a:rPr>
              <a:t>——</a:t>
            </a:r>
            <a:r>
              <a:rPr lang="zh-CN" altLang="en-US" b="1" dirty="0">
                <a:solidFill>
                  <a:schemeClr val="bg1"/>
                </a:solidFill>
                <a:latin typeface="微软雅黑" panose="020B0503020204020204" pitchFamily="34" charset="-122"/>
                <a:ea typeface="微软雅黑" panose="020B0503020204020204" pitchFamily="34" charset="-122"/>
                <a:sym typeface="+mn-ea"/>
              </a:rPr>
              <a:t>进程同步机制</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37" name="矩形 36"/>
          <p:cNvSpPr/>
          <p:nvPr/>
        </p:nvSpPr>
        <p:spPr>
          <a:xfrm>
            <a:off x="249789" y="1194059"/>
            <a:ext cx="7006781" cy="5350183"/>
          </a:xfrm>
          <a:prstGeom prst="rect">
            <a:avLst/>
          </a:prstGeom>
        </p:spPr>
        <p:txBody>
          <a:bodyPr wrap="square">
            <a:spAutoFit/>
          </a:bodyPr>
          <a:lstStyle/>
          <a:p>
            <a:pPr marL="285750" indent="-285750" algn="just">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硬件同步机制</a:t>
            </a:r>
            <a:endPar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marR="0" lvl="2" indent="-342900" algn="just" fontAlgn="base">
              <a:spcBef>
                <a:spcPts val="1030"/>
              </a:spcBef>
              <a:spcAft>
                <a:spcPts val="600"/>
              </a:spcAft>
              <a:buClrTx/>
              <a:buSzTx/>
              <a:buFont typeface="Wingdings" panose="05000000000000000000" pitchFamily="2" charset="2"/>
              <a:buChar char="Ø"/>
              <a:defRPr/>
            </a:pPr>
            <a:r>
              <a:rPr lang="zh-CN" altLang="en-US" sz="2400" b="1" dirty="0">
                <a:latin typeface="微软雅黑" panose="020B0503020204020204" pitchFamily="34" charset="-122"/>
                <a:ea typeface="微软雅黑" panose="020B0503020204020204" pitchFamily="34" charset="-122"/>
              </a:rPr>
              <a:t>关中断</a:t>
            </a:r>
            <a:endParaRPr lang="en-US" altLang="zh-CN" sz="2400" b="1" dirty="0">
              <a:latin typeface="微软雅黑" panose="020B0503020204020204" pitchFamily="34" charset="-122"/>
              <a:ea typeface="微软雅黑" panose="020B0503020204020204" pitchFamily="34" charset="-122"/>
            </a:endParaRPr>
          </a:p>
          <a:p>
            <a:pPr marL="800100" marR="0" lvl="2" indent="-342900" algn="just" fontAlgn="base">
              <a:spcBef>
                <a:spcPts val="1030"/>
              </a:spcBef>
              <a:spcAft>
                <a:spcPts val="600"/>
              </a:spcAft>
              <a:buClrTx/>
              <a:buSzTx/>
              <a:buFont typeface="Wingdings" panose="05000000000000000000" pitchFamily="2" charset="2"/>
              <a:buChar char="Ø"/>
              <a:defRPr/>
            </a:pPr>
            <a:r>
              <a:rPr lang="zh-CN" altLang="en-US" sz="2400" b="1" dirty="0">
                <a:latin typeface="微软雅黑" panose="020B0503020204020204" pitchFamily="34" charset="-122"/>
                <a:ea typeface="微软雅黑" panose="020B0503020204020204" pitchFamily="34" charset="-122"/>
              </a:rPr>
              <a:t>利用</a:t>
            </a:r>
            <a:r>
              <a:rPr lang="en-US" altLang="zh-CN" sz="2400" b="1" dirty="0">
                <a:latin typeface="微软雅黑" panose="020B0503020204020204" pitchFamily="34" charset="-122"/>
                <a:ea typeface="微软雅黑" panose="020B0503020204020204" pitchFamily="34" charset="-122"/>
              </a:rPr>
              <a:t>test-and-set</a:t>
            </a:r>
            <a:r>
              <a:rPr lang="zh-CN" altLang="en-US" sz="2400" b="1" dirty="0">
                <a:latin typeface="微软雅黑" panose="020B0503020204020204" pitchFamily="34" charset="-122"/>
                <a:ea typeface="微软雅黑" panose="020B0503020204020204" pitchFamily="34" charset="-122"/>
              </a:rPr>
              <a:t>指令实现互斥</a:t>
            </a:r>
            <a:endParaRPr lang="en-US" altLang="zh-CN" sz="2400" b="1" dirty="0">
              <a:latin typeface="微软雅黑" panose="020B0503020204020204" pitchFamily="34" charset="-122"/>
              <a:ea typeface="微软雅黑" panose="020B0503020204020204" pitchFamily="34" charset="-122"/>
            </a:endParaRPr>
          </a:p>
          <a:p>
            <a:pPr marL="800100" marR="0" lvl="2" indent="-342900" algn="just" fontAlgn="base">
              <a:spcBef>
                <a:spcPts val="1030"/>
              </a:spcBef>
              <a:spcAft>
                <a:spcPts val="600"/>
              </a:spcAft>
              <a:buClrTx/>
              <a:buSzTx/>
              <a:buFont typeface="Wingdings" panose="05000000000000000000" pitchFamily="2" charset="2"/>
              <a:buChar char="Ø"/>
              <a:defRPr/>
            </a:pPr>
            <a:r>
              <a:rPr lang="zh-CN" altLang="en-US" sz="2400" b="1" dirty="0">
                <a:latin typeface="微软雅黑" panose="020B0503020204020204" pitchFamily="34" charset="-122"/>
                <a:ea typeface="微软雅黑" panose="020B0503020204020204" pitchFamily="34" charset="-122"/>
              </a:rPr>
              <a:t>利用</a:t>
            </a:r>
            <a:r>
              <a:rPr lang="en-US" altLang="zh-CN" sz="2400" b="1" dirty="0">
                <a:latin typeface="微软雅黑" panose="020B0503020204020204" pitchFamily="34" charset="-122"/>
                <a:ea typeface="微软雅黑" panose="020B0503020204020204" pitchFamily="34" charset="-122"/>
              </a:rPr>
              <a:t>swap</a:t>
            </a:r>
            <a:r>
              <a:rPr lang="zh-CN" altLang="en-US" sz="2400" b="1" dirty="0">
                <a:latin typeface="微软雅黑" panose="020B0503020204020204" pitchFamily="34" charset="-122"/>
                <a:ea typeface="微软雅黑" panose="020B0503020204020204" pitchFamily="34" charset="-122"/>
              </a:rPr>
              <a:t>指令实现进程互斥</a:t>
            </a:r>
            <a:endParaRPr lang="en-US" altLang="zh-CN" sz="2400" b="1" dirty="0">
              <a:latin typeface="微软雅黑" panose="020B0503020204020204" pitchFamily="34" charset="-122"/>
              <a:ea typeface="微软雅黑" panose="020B0503020204020204" pitchFamily="34" charset="-122"/>
            </a:endParaRPr>
          </a:p>
          <a:p>
            <a:pPr marL="800100" marR="0" lvl="2" indent="-342900" algn="just" fontAlgn="base">
              <a:spcBef>
                <a:spcPts val="1030"/>
              </a:spcBef>
              <a:spcAft>
                <a:spcPts val="600"/>
              </a:spcAft>
              <a:buClrTx/>
              <a:buSzTx/>
              <a:buFont typeface="Wingdings" panose="05000000000000000000" pitchFamily="2" charset="2"/>
              <a:buChar char="Ø"/>
              <a:defRPr/>
            </a:pPr>
            <a:endParaRPr lang="en-US" altLang="zh-CN" sz="2400" b="1" dirty="0">
              <a:latin typeface="微软雅黑" panose="020B0503020204020204" pitchFamily="34" charset="-122"/>
              <a:ea typeface="微软雅黑" panose="020B0503020204020204" pitchFamily="34" charset="-122"/>
            </a:endParaRPr>
          </a:p>
          <a:p>
            <a:pPr marL="285750" indent="-285750" algn="just">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400" b="1" dirty="0">
                <a:solidFill>
                  <a:srgbClr val="C00000"/>
                </a:solidFill>
                <a:latin typeface="微软雅黑" panose="020B0503020204020204" pitchFamily="34" charset="-122"/>
                <a:ea typeface="微软雅黑" panose="020B0503020204020204" pitchFamily="34" charset="-122"/>
              </a:rPr>
              <a:t>信号量机制（</a:t>
            </a:r>
            <a:r>
              <a:rPr lang="en-US" altLang="zh-CN" sz="2400" b="1" dirty="0">
                <a:solidFill>
                  <a:srgbClr val="C00000"/>
                </a:solidFill>
                <a:latin typeface="微软雅黑" panose="020B0503020204020204" pitchFamily="34" charset="-122"/>
                <a:ea typeface="微软雅黑" panose="020B0503020204020204" pitchFamily="34" charset="-122"/>
              </a:rPr>
              <a:t>PV</a:t>
            </a:r>
            <a:r>
              <a:rPr lang="zh-CN" altLang="en-US" sz="2400" b="1" dirty="0">
                <a:solidFill>
                  <a:srgbClr val="C00000"/>
                </a:solidFill>
                <a:latin typeface="微软雅黑" panose="020B0503020204020204" pitchFamily="34" charset="-122"/>
                <a:ea typeface="微软雅黑" panose="020B0503020204020204" pitchFamily="34" charset="-122"/>
              </a:rPr>
              <a:t>操作）</a:t>
            </a:r>
            <a:endPar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marR="0" lvl="2" indent="-342900" algn="just" fontAlgn="base">
              <a:spcBef>
                <a:spcPts val="1030"/>
              </a:spcBef>
              <a:spcAft>
                <a:spcPts val="600"/>
              </a:spcAft>
              <a:buClrTx/>
              <a:buSzTx/>
              <a:buFont typeface="Wingdings" panose="05000000000000000000" pitchFamily="2" charset="2"/>
              <a:buChar char="Ø"/>
              <a:defRPr/>
            </a:pPr>
            <a:r>
              <a:rPr lang="zh-CN" altLang="en-US" sz="2400" b="1" dirty="0">
                <a:latin typeface="微软雅黑" panose="020B0503020204020204" pitchFamily="34" charset="-122"/>
                <a:ea typeface="微软雅黑" panose="020B0503020204020204" pitchFamily="34" charset="-122"/>
              </a:rPr>
              <a:t>整型信号量</a:t>
            </a:r>
            <a:endParaRPr lang="zh-CN" altLang="en-US" sz="2400" b="1" dirty="0">
              <a:latin typeface="微软雅黑" panose="020B0503020204020204" pitchFamily="34" charset="-122"/>
              <a:ea typeface="微软雅黑" panose="020B0503020204020204" pitchFamily="34" charset="-122"/>
            </a:endParaRPr>
          </a:p>
          <a:p>
            <a:pPr marL="800100" marR="0" lvl="2" indent="-342900" algn="just" fontAlgn="base">
              <a:spcBef>
                <a:spcPts val="1030"/>
              </a:spcBef>
              <a:spcAft>
                <a:spcPts val="600"/>
              </a:spcAft>
              <a:buClrTx/>
              <a:buSzTx/>
              <a:buFont typeface="Wingdings" panose="05000000000000000000" pitchFamily="2" charset="2"/>
              <a:buChar char="Ø"/>
              <a:defRPr/>
            </a:pPr>
            <a:r>
              <a:rPr lang="zh-CN" altLang="en-US" sz="2400" b="1" dirty="0">
                <a:latin typeface="微软雅黑" panose="020B0503020204020204" pitchFamily="34" charset="-122"/>
                <a:ea typeface="微软雅黑" panose="020B0503020204020204" pitchFamily="34" charset="-122"/>
              </a:rPr>
              <a:t>记录型信号量（结构型信号量）</a:t>
            </a:r>
            <a:endParaRPr lang="zh-CN" altLang="en-US" sz="2400" dirty="0">
              <a:latin typeface="微软雅黑" panose="020B0503020204020204" pitchFamily="34" charset="-122"/>
              <a:ea typeface="微软雅黑" panose="020B0503020204020204" pitchFamily="34" charset="-122"/>
            </a:endParaRPr>
          </a:p>
          <a:p>
            <a:pPr marL="800100" marR="0" lvl="2" indent="-342900" algn="just" fontAlgn="base">
              <a:spcBef>
                <a:spcPts val="1030"/>
              </a:spcBef>
              <a:spcAft>
                <a:spcPts val="600"/>
              </a:spcAft>
              <a:buClrTx/>
              <a:buSzTx/>
              <a:buFont typeface="Wingdings" panose="05000000000000000000" pitchFamily="2" charset="2"/>
              <a:buChar char="Ø"/>
              <a:defRPr/>
            </a:pPr>
            <a:r>
              <a:rPr lang="en-US" altLang="zh-CN" sz="2400" b="1" dirty="0">
                <a:latin typeface="微软雅黑" panose="020B0503020204020204" pitchFamily="34" charset="-122"/>
                <a:ea typeface="微软雅黑" panose="020B0503020204020204" pitchFamily="34" charset="-122"/>
              </a:rPr>
              <a:t>AND</a:t>
            </a:r>
            <a:r>
              <a:rPr lang="zh-CN" altLang="en-US" sz="2400" b="1" dirty="0">
                <a:latin typeface="微软雅黑" panose="020B0503020204020204" pitchFamily="34" charset="-122"/>
                <a:ea typeface="微软雅黑" panose="020B0503020204020204" pitchFamily="34" charset="-122"/>
              </a:rPr>
              <a:t>型信号量</a:t>
            </a:r>
            <a:endParaRPr lang="zh-CN" altLang="en-US" sz="2400" b="1" dirty="0">
              <a:latin typeface="微软雅黑" panose="020B0503020204020204" pitchFamily="34" charset="-122"/>
              <a:ea typeface="微软雅黑" panose="020B0503020204020204" pitchFamily="34" charset="-122"/>
            </a:endParaRPr>
          </a:p>
          <a:p>
            <a:pPr marL="800100" marR="0" lvl="2" indent="-342900" algn="just" fontAlgn="base">
              <a:spcBef>
                <a:spcPts val="1030"/>
              </a:spcBef>
              <a:spcAft>
                <a:spcPts val="600"/>
              </a:spcAft>
              <a:buClrTx/>
              <a:buSzTx/>
              <a:buFont typeface="Wingdings" panose="05000000000000000000" pitchFamily="2" charset="2"/>
              <a:buChar char="Ø"/>
              <a:defRPr/>
            </a:pPr>
            <a:r>
              <a:rPr lang="zh-CN" altLang="en-US" sz="2400" b="1" dirty="0">
                <a:latin typeface="微软雅黑" panose="020B0503020204020204" pitchFamily="34" charset="-122"/>
                <a:ea typeface="微软雅黑" panose="020B0503020204020204" pitchFamily="34" charset="-122"/>
              </a:rPr>
              <a:t>信号量集</a:t>
            </a:r>
            <a:endParaRPr lang="zh-CN" altLang="en-US" sz="2400" b="1" dirty="0">
              <a:latin typeface="微软雅黑" panose="020B0503020204020204" pitchFamily="34" charset="-122"/>
              <a:ea typeface="微软雅黑" panose="020B0503020204020204" pitchFamily="34" charset="-122"/>
            </a:endParaRPr>
          </a:p>
        </p:txBody>
      </p:sp>
      <p:sp>
        <p:nvSpPr>
          <p:cNvPr id="3" name="矩形 2"/>
          <p:cNvSpPr/>
          <p:nvPr/>
        </p:nvSpPr>
        <p:spPr>
          <a:xfrm>
            <a:off x="1270" y="-6985"/>
            <a:ext cx="12195175" cy="1076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1"/>
          <p:cNvSpPr txBox="1"/>
          <p:nvPr/>
        </p:nvSpPr>
        <p:spPr>
          <a:xfrm>
            <a:off x="1091" y="-11907"/>
            <a:ext cx="9508215" cy="10813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 </a:t>
            </a:r>
            <a:r>
              <a:rPr lang="zh-CN" altLang="en-US" sz="3900" b="1" dirty="0">
                <a:latin typeface="微软雅黑" panose="020B0503020204020204" pitchFamily="34" charset="-122"/>
                <a:ea typeface="微软雅黑" panose="020B0503020204020204" pitchFamily="34" charset="-122"/>
              </a:rPr>
              <a:t>进程同步机制</a:t>
            </a:r>
            <a:endParaRPr lang="zh-CN" altLang="en-US" sz="3900" b="1" dirty="0">
              <a:latin typeface="微软雅黑" panose="020B0503020204020204" pitchFamily="34" charset="-122"/>
              <a:ea typeface="微软雅黑" panose="020B0503020204020204" pitchFamily="34" charset="-122"/>
            </a:endParaRPr>
          </a:p>
        </p:txBody>
      </p:sp>
      <p:sp>
        <p:nvSpPr>
          <p:cNvPr id="5" name="矩形 4"/>
          <p:cNvSpPr/>
          <p:nvPr>
            <p:custDataLst>
              <p:tags r:id="rId1"/>
            </p:custDataLst>
          </p:nvPr>
        </p:nvSpPr>
        <p:spPr>
          <a:xfrm>
            <a:off x="0" y="0"/>
            <a:ext cx="12192000" cy="1026160"/>
          </a:xfrm>
          <a:prstGeom prst="rect">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
          <p:cNvSpPr txBox="1"/>
          <p:nvPr>
            <p:custDataLst>
              <p:tags r:id="rId2"/>
            </p:custDataLst>
          </p:nvPr>
        </p:nvSpPr>
        <p:spPr>
          <a:xfrm>
            <a:off x="-635" y="24765"/>
            <a:ext cx="8842375" cy="10013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b="1" dirty="0">
                <a:solidFill>
                  <a:schemeClr val="bg1"/>
                </a:solidFill>
                <a:latin typeface="微软雅黑" panose="020B0503020204020204" pitchFamily="34" charset="-122"/>
                <a:ea typeface="微软雅黑" panose="020B0503020204020204" pitchFamily="34" charset="-122"/>
                <a:sym typeface="+mn-ea"/>
              </a:rPr>
              <a:t>回顾</a:t>
            </a:r>
            <a:r>
              <a:rPr lang="en-US" altLang="zh-CN" b="1" dirty="0">
                <a:solidFill>
                  <a:schemeClr val="bg1"/>
                </a:solidFill>
                <a:latin typeface="微软雅黑" panose="020B0503020204020204" pitchFamily="34" charset="-122"/>
                <a:ea typeface="微软雅黑" panose="020B0503020204020204" pitchFamily="34" charset="-122"/>
                <a:sym typeface="+mn-ea"/>
              </a:rPr>
              <a:t>——</a:t>
            </a:r>
            <a:r>
              <a:rPr lang="zh-CN" altLang="en-US" b="1" dirty="0">
                <a:solidFill>
                  <a:schemeClr val="bg1"/>
                </a:solidFill>
                <a:latin typeface="微软雅黑" panose="020B0503020204020204" pitchFamily="34" charset="-122"/>
                <a:ea typeface="微软雅黑" panose="020B0503020204020204" pitchFamily="34" charset="-122"/>
                <a:sym typeface="+mn-ea"/>
              </a:rPr>
              <a:t>进程同步机制</a:t>
            </a:r>
            <a:endParaRPr lang="zh-CN" altLang="en-US" sz="4400" b="1" dirty="0">
              <a:solidFill>
                <a:schemeClr val="bg1"/>
              </a:solidFill>
              <a:latin typeface="微软雅黑" panose="020B0503020204020204" pitchFamily="34" charset="-122"/>
              <a:ea typeface="微软雅黑" panose="020B0503020204020204" pitchFamily="34" charset="-122"/>
            </a:endParaRPr>
          </a:p>
        </p:txBody>
      </p:sp>
      <p:pic>
        <p:nvPicPr>
          <p:cNvPr id="8"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7829" t="73" r="25582"/>
          <a:stretch>
            <a:fillRect/>
          </a:stretch>
        </p:blipFill>
        <p:spPr bwMode="auto">
          <a:xfrm>
            <a:off x="5906410" y="1891442"/>
            <a:ext cx="2583180" cy="395541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8652149" y="1899602"/>
            <a:ext cx="3290062" cy="39472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custDataLst>
              <p:tags r:id="rId1"/>
            </p:custDataLst>
          </p:nvPr>
        </p:nvSpPr>
        <p:spPr>
          <a:xfrm>
            <a:off x="463232" y="2455397"/>
            <a:ext cx="3223895" cy="57213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生产者和消费者问题</a:t>
            </a:r>
            <a:endParaRPr lang="zh-CN" altLang="en-US" sz="2400" b="1" dirty="0">
              <a:latin typeface="微软雅黑" panose="020B0503020204020204" pitchFamily="34" charset="-122"/>
              <a:ea typeface="微软雅黑" panose="020B0503020204020204" pitchFamily="34" charset="-122"/>
            </a:endParaRPr>
          </a:p>
        </p:txBody>
      </p:sp>
      <p:sp>
        <p:nvSpPr>
          <p:cNvPr id="5" name="矩形 4"/>
          <p:cNvSpPr/>
          <p:nvPr>
            <p:custDataLst>
              <p:tags r:id="rId2"/>
            </p:custDataLst>
          </p:nvPr>
        </p:nvSpPr>
        <p:spPr>
          <a:xfrm>
            <a:off x="3934142" y="1176414"/>
            <a:ext cx="4293235" cy="739876"/>
          </a:xfrm>
          <a:prstGeom prst="rect">
            <a:avLst/>
          </a:prstGeom>
          <a:effectLst>
            <a:outerShdw blurRad="50800" dist="38100" dir="2700000" algn="tl" rotWithShape="0">
              <a:prstClr val="black">
                <a:alpha val="40000"/>
              </a:prstClr>
            </a:outerShdw>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lvl="0" indent="0" algn="ctr" defTabSz="1466850">
              <a:lnSpc>
                <a:spcPct val="90000"/>
              </a:lnSpc>
              <a:spcBef>
                <a:spcPct val="0"/>
              </a:spcBef>
              <a:spcAft>
                <a:spcPct val="35000"/>
              </a:spcAft>
              <a:buNone/>
            </a:pPr>
            <a:r>
              <a:rPr lang="zh-CN" altLang="en-US" sz="3200" b="1" kern="1200" dirty="0">
                <a:solidFill>
                  <a:schemeClr val="bg1"/>
                </a:solidFill>
                <a:latin typeface="微软雅黑" panose="020B0503020204020204" pitchFamily="34" charset="-122"/>
                <a:ea typeface="微软雅黑" panose="020B0503020204020204" pitchFamily="34" charset="-122"/>
                <a:cs typeface="+mn-cs"/>
              </a:rPr>
              <a:t>经典进程的同步问题</a:t>
            </a:r>
            <a:endParaRPr lang="zh-CN" altLang="en-US" sz="3200" b="1" kern="1200" dirty="0">
              <a:solidFill>
                <a:schemeClr val="bg1"/>
              </a:solidFill>
              <a:latin typeface="微软雅黑" panose="020B0503020204020204" pitchFamily="34" charset="-122"/>
              <a:ea typeface="微软雅黑" panose="020B0503020204020204" pitchFamily="34" charset="-122"/>
              <a:cs typeface="+mn-cs"/>
            </a:endParaRPr>
          </a:p>
        </p:txBody>
      </p:sp>
      <p:sp>
        <p:nvSpPr>
          <p:cNvPr id="6" name="矩形 5"/>
          <p:cNvSpPr/>
          <p:nvPr>
            <p:custDataLst>
              <p:tags r:id="rId3"/>
            </p:custDataLst>
          </p:nvPr>
        </p:nvSpPr>
        <p:spPr>
          <a:xfrm>
            <a:off x="4468812" y="2455397"/>
            <a:ext cx="3223895" cy="57213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哲学家就餐问题</a:t>
            </a:r>
            <a:endParaRPr lang="zh-CN" altLang="en-US" sz="2400" b="1" dirty="0">
              <a:latin typeface="微软雅黑" panose="020B0503020204020204" pitchFamily="34" charset="-122"/>
              <a:ea typeface="微软雅黑" panose="020B0503020204020204" pitchFamily="34" charset="-122"/>
            </a:endParaRPr>
          </a:p>
        </p:txBody>
      </p:sp>
      <p:sp>
        <p:nvSpPr>
          <p:cNvPr id="7" name="矩形 6"/>
          <p:cNvSpPr/>
          <p:nvPr>
            <p:custDataLst>
              <p:tags r:id="rId4"/>
            </p:custDataLst>
          </p:nvPr>
        </p:nvSpPr>
        <p:spPr>
          <a:xfrm>
            <a:off x="8728392" y="2455397"/>
            <a:ext cx="3223895" cy="57213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2400" b="1" dirty="0">
                <a:latin typeface="微软雅黑" panose="020B0503020204020204" pitchFamily="34" charset="-122"/>
                <a:ea typeface="微软雅黑" panose="020B0503020204020204" pitchFamily="34" charset="-122"/>
              </a:rPr>
              <a:t>读者和写者问题</a:t>
            </a:r>
            <a:endParaRPr lang="zh-CN" altLang="en-US" sz="2400" b="1" dirty="0">
              <a:latin typeface="微软雅黑" panose="020B0503020204020204" pitchFamily="34" charset="-122"/>
              <a:ea typeface="微软雅黑" panose="020B0503020204020204" pitchFamily="34" charset="-122"/>
            </a:endParaRPr>
          </a:p>
        </p:txBody>
      </p:sp>
      <p:cxnSp>
        <p:nvCxnSpPr>
          <p:cNvPr id="8" name="直接箭头连接符 28"/>
          <p:cNvCxnSpPr>
            <a:stCxn id="5" idx="2"/>
            <a:endCxn id="6" idx="0"/>
          </p:cNvCxnSpPr>
          <p:nvPr>
            <p:custDataLst>
              <p:tags r:id="rId5"/>
            </p:custDataLst>
          </p:nvPr>
        </p:nvCxnSpPr>
        <p:spPr>
          <a:xfrm>
            <a:off x="6080760" y="1916290"/>
            <a:ext cx="0" cy="539107"/>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9" name="肘形连接符 8"/>
          <p:cNvCxnSpPr>
            <a:stCxn id="5" idx="2"/>
            <a:endCxn id="4" idx="0"/>
          </p:cNvCxnSpPr>
          <p:nvPr/>
        </p:nvCxnSpPr>
        <p:spPr>
          <a:xfrm rot="5400000">
            <a:off x="3808417" y="183053"/>
            <a:ext cx="539107" cy="4005580"/>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1" name="肘形连接符 10"/>
          <p:cNvCxnSpPr>
            <a:stCxn id="5" idx="2"/>
            <a:endCxn id="7" idx="0"/>
          </p:cNvCxnSpPr>
          <p:nvPr>
            <p:custDataLst>
              <p:tags r:id="rId6"/>
            </p:custDataLst>
          </p:nvPr>
        </p:nvCxnSpPr>
        <p:spPr>
          <a:xfrm rot="16200000" flipH="1">
            <a:off x="7940997" y="56053"/>
            <a:ext cx="539107" cy="4259580"/>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pic>
        <p:nvPicPr>
          <p:cNvPr id="2151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03452" y="3262239"/>
            <a:ext cx="4288548" cy="2770640"/>
          </a:xfrm>
          <a:prstGeom prst="rect">
            <a:avLst/>
          </a:prstGeom>
          <a:noFill/>
          <a:extLst>
            <a:ext uri="{909E8E84-426E-40DD-AFC4-6F175D3DCCD1}">
              <a14:hiddenFill xmlns:a14="http://schemas.microsoft.com/office/drawing/2010/main">
                <a:solidFill>
                  <a:srgbClr val="FFFFFF"/>
                </a:solidFill>
              </a14:hiddenFill>
            </a:ext>
          </a:extLst>
        </p:spPr>
      </p:pic>
      <p:pic>
        <p:nvPicPr>
          <p:cNvPr id="21506" name="Picture 2"/>
          <p:cNvPicPr>
            <a:picLocks noChangeAspect="1" noChangeArrowheads="1"/>
          </p:cNvPicPr>
          <p:nvPr/>
        </p:nvPicPr>
        <p:blipFill rotWithShape="1">
          <a:blip r:embed="rId8">
            <a:extLst>
              <a:ext uri="{28A0092B-C50C-407E-A947-70E740481C1C}">
                <a14:useLocalDpi xmlns:a14="http://schemas.microsoft.com/office/drawing/2010/main" val="0"/>
              </a:ext>
            </a:extLst>
          </a:blip>
          <a:srcRect r="34032"/>
          <a:stretch>
            <a:fillRect/>
          </a:stretch>
        </p:blipFill>
        <p:spPr bwMode="auto">
          <a:xfrm>
            <a:off x="463232" y="3262239"/>
            <a:ext cx="3735790" cy="3316760"/>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p:cNvPicPr>
            <a:picLocks noChangeAspect="1" noChangeArrowheads="1"/>
          </p:cNvPicPr>
          <p:nvPr/>
        </p:nvPicPr>
        <p:blipFill rotWithShape="1">
          <a:blip r:embed="rId9">
            <a:extLst>
              <a:ext uri="{28A0092B-C50C-407E-A947-70E740481C1C}">
                <a14:useLocalDpi xmlns:a14="http://schemas.microsoft.com/office/drawing/2010/main" val="0"/>
              </a:ext>
            </a:extLst>
          </a:blip>
          <a:srcRect l="8482" r="7558"/>
          <a:stretch>
            <a:fillRect/>
          </a:stretch>
        </p:blipFill>
        <p:spPr bwMode="auto">
          <a:xfrm>
            <a:off x="4288548" y="3068447"/>
            <a:ext cx="3507915" cy="3316761"/>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custDataLst>
              <p:tags r:id="rId10"/>
            </p:custDataLst>
          </p:nvPr>
        </p:nvSpPr>
        <p:spPr>
          <a:xfrm>
            <a:off x="0" y="0"/>
            <a:ext cx="12192000" cy="1026160"/>
          </a:xfrm>
          <a:prstGeom prst="rect">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1"/>
          <p:cNvSpPr txBox="1"/>
          <p:nvPr>
            <p:custDataLst>
              <p:tags r:id="rId11"/>
            </p:custDataLst>
          </p:nvPr>
        </p:nvSpPr>
        <p:spPr>
          <a:xfrm>
            <a:off x="-635" y="24765"/>
            <a:ext cx="8842375" cy="10013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b="1" dirty="0">
                <a:solidFill>
                  <a:schemeClr val="bg1"/>
                </a:solidFill>
                <a:latin typeface="微软雅黑" panose="020B0503020204020204" pitchFamily="34" charset="-122"/>
                <a:ea typeface="微软雅黑" panose="020B0503020204020204" pitchFamily="34" charset="-122"/>
                <a:sym typeface="+mn-ea"/>
              </a:rPr>
              <a:t>回顾</a:t>
            </a:r>
            <a:r>
              <a:rPr lang="en-US" altLang="zh-CN" b="1" dirty="0">
                <a:solidFill>
                  <a:schemeClr val="bg1"/>
                </a:solidFill>
                <a:latin typeface="微软雅黑" panose="020B0503020204020204" pitchFamily="34" charset="-122"/>
                <a:ea typeface="微软雅黑" panose="020B0503020204020204" pitchFamily="34" charset="-122"/>
                <a:sym typeface="+mn-ea"/>
              </a:rPr>
              <a:t>——</a:t>
            </a:r>
            <a:r>
              <a:rPr lang="zh-CN" altLang="en-US" b="1" dirty="0">
                <a:solidFill>
                  <a:schemeClr val="bg1"/>
                </a:solidFill>
                <a:latin typeface="微软雅黑" panose="020B0503020204020204" pitchFamily="34" charset="-122"/>
                <a:ea typeface="微软雅黑" panose="020B0503020204020204" pitchFamily="34" charset="-122"/>
                <a:sym typeface="+mn-ea"/>
              </a:rPr>
              <a:t>经典进程的同步问题</a:t>
            </a:r>
            <a:endParaRPr lang="zh-CN" altLang="en-US" b="1" dirty="0">
              <a:solidFill>
                <a:schemeClr val="bg1"/>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419100" y="868680"/>
            <a:ext cx="9014813" cy="5815965"/>
          </a:xfrm>
          <a:prstGeom prst="rect">
            <a:avLst/>
          </a:prstGeom>
        </p:spPr>
        <p:txBody>
          <a:bodyPr wrap="square">
            <a:spAutoFit/>
          </a:bodyPr>
          <a:lstStyle/>
          <a:p>
            <a:pPr marL="285750" indent="-285750" algn="just">
              <a:lnSpc>
                <a:spcPct val="150000"/>
              </a:lnSpc>
              <a:buFont typeface="Wingdings" panose="05000000000000000000" pitchFamily="2" charset="2"/>
              <a:buChar char="u"/>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 可重用性资源：用户重复使用多次的资源</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设备、文件、临界资源</a:t>
            </a:r>
            <a:endParaRPr lang="en-US" altLang="zh-CN" sz="2000"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endParaRPr>
          </a:p>
          <a:p>
            <a:pPr marL="285750" indent="-285750" algn="just">
              <a:lnSpc>
                <a:spcPct val="15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可消耗性资源</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临时性资源：进程动态创建和消耗</a:t>
            </a:r>
            <a:endPar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用于进程通信的消息 </a:t>
            </a:r>
            <a:endParaRPr lang="en-US" altLang="zh-CN" sz="2000" dirty="0">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 可抢占</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剥夺性资源</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en-US" altLang="zh-CN" sz="2000" dirty="0">
                <a:latin typeface="Times New Roman" panose="02020503050405090304" pitchFamily="18" charset="0"/>
                <a:ea typeface="微软雅黑" panose="020B0503020204020204" pitchFamily="34" charset="-122"/>
                <a:cs typeface="Times New Roman" panose="02020503050405090304" pitchFamily="18" charset="0"/>
              </a:rPr>
              <a:t>CPU</a:t>
            </a: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和主存均属于可剥夺性资源</a:t>
            </a:r>
            <a:endParaRPr lang="en-US" altLang="zh-CN" sz="2000" dirty="0">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不可抢占</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非剥夺性资源</a:t>
            </a:r>
            <a:endPar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150000"/>
              </a:lnSpc>
              <a:buFont typeface="Wingdings" panose="05000000000000000000" pitchFamily="2" charset="2"/>
              <a:buChar char="Ø"/>
            </a:pP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磁带机、打印机属于不可剥夺性资源</a:t>
            </a:r>
            <a:endParaRPr lang="en-US" altLang="zh-CN" sz="2000" dirty="0">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15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导致死锁的原因</a:t>
            </a:r>
            <a:endPar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竞争不可抢占性资源、可消耗性资源引起死锁</a:t>
            </a:r>
            <a:endParaRPr lang="en-US" altLang="zh-CN" sz="240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50000"/>
              </a:lnSpc>
              <a:buFont typeface="Wingdings" panose="05000000000000000000" pitchFamily="2" charset="2"/>
              <a:buChar char="Ø"/>
            </a:pPr>
            <a:r>
              <a:rPr lang="zh-CN" altLang="en-US" sz="240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进程推进顺序不当引起死锁</a:t>
            </a:r>
            <a:endParaRPr lang="zh-CN" altLang="en-US" sz="2400"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52400" y="33655"/>
            <a:ext cx="1013460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3.5.1</a:t>
            </a:r>
            <a:r>
              <a:rPr lang="zh-CN" altLang="en-US" sz="3900" b="1" dirty="0">
                <a:latin typeface="微软雅黑" panose="020B0503020204020204" pitchFamily="34" charset="-122"/>
                <a:ea typeface="微软雅黑" panose="020B0503020204020204" pitchFamily="34" charset="-122"/>
              </a:rPr>
              <a:t> 资源问题</a:t>
            </a:r>
            <a:endParaRPr lang="zh-CN" altLang="en-US" sz="3900" b="1" dirty="0">
              <a:latin typeface="微软雅黑" panose="020B0503020204020204" pitchFamily="34" charset="-122"/>
              <a:ea typeface="微软雅黑" panose="020B0503020204020204" pitchFamily="34" charset="-122"/>
            </a:endParaRPr>
          </a:p>
        </p:txBody>
      </p:sp>
      <p:pic>
        <p:nvPicPr>
          <p:cNvPr id="49" name="图片 48"/>
          <p:cNvPicPr>
            <a:picLocks noChangeAspect="1"/>
          </p:cNvPicPr>
          <p:nvPr/>
        </p:nvPicPr>
        <p:blipFill>
          <a:blip r:embed="rId1"/>
          <a:stretch>
            <a:fillRect/>
          </a:stretch>
        </p:blipFill>
        <p:spPr>
          <a:xfrm>
            <a:off x="8629423" y="2272645"/>
            <a:ext cx="2892632" cy="2373893"/>
          </a:xfrm>
          <a:prstGeom prst="rect">
            <a:avLst/>
          </a:prstGeom>
        </p:spPr>
      </p:pic>
      <p:pic>
        <p:nvPicPr>
          <p:cNvPr id="50" name="图片 4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03895" y="4615815"/>
            <a:ext cx="3459480" cy="2068830"/>
          </a:xfrm>
          <a:prstGeom prst="rect">
            <a:avLst/>
          </a:prstGeom>
        </p:spPr>
      </p:pic>
      <p:pic>
        <p:nvPicPr>
          <p:cNvPr id="51" name="图片 5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56010" y="33486"/>
            <a:ext cx="2442395" cy="2238862"/>
          </a:xfrm>
          <a:prstGeom prst="rect">
            <a:avLst/>
          </a:prstGeom>
        </p:spPr>
      </p:pic>
      <p:sp>
        <p:nvSpPr>
          <p:cNvPr id="52" name="矩形 51"/>
          <p:cNvSpPr/>
          <p:nvPr/>
        </p:nvSpPr>
        <p:spPr>
          <a:xfrm>
            <a:off x="9524365" y="5375275"/>
            <a:ext cx="526415" cy="350520"/>
          </a:xfrm>
          <a:prstGeom prst="rect">
            <a:avLst/>
          </a:prstGeom>
          <a:solidFill>
            <a:schemeClr val="accent6">
              <a:alpha val="50000"/>
            </a:schemeClr>
          </a:solidFill>
          <a:ln>
            <a:solidFill>
              <a:srgbClr val="FF0000"/>
            </a:solidFill>
          </a:ln>
        </p:spPr>
        <p:style>
          <a:lnRef idx="0">
            <a:scrgbClr r="0" g="0" b="0"/>
          </a:lnRef>
          <a:fillRef idx="0">
            <a:scrgbClr r="0" g="0" b="0"/>
          </a:fillRef>
          <a:effectRef idx="0">
            <a:scrgbClr r="0" g="0" b="0"/>
          </a:effectRef>
          <a:fontRef idx="minor">
            <a:schemeClr val="lt1"/>
          </a:fontRef>
        </p:style>
        <p:txBody>
          <a:bodyPr rtlCol="0" anchor="ctr"/>
          <a:p>
            <a:pPr algn="ctr"/>
            <a:endParaRPr lang="zh-CN" altLang="en-US"/>
          </a:p>
        </p:txBody>
      </p:sp>
      <p:sp>
        <p:nvSpPr>
          <p:cNvPr id="4" name="矩形 3"/>
          <p:cNvSpPr/>
          <p:nvPr>
            <p:custDataLst>
              <p:tags r:id="rId4"/>
            </p:custDataLst>
          </p:nvPr>
        </p:nvSpPr>
        <p:spPr>
          <a:xfrm>
            <a:off x="0" y="0"/>
            <a:ext cx="12192000" cy="1026160"/>
          </a:xfrm>
          <a:prstGeom prst="rect">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4400" b="1" dirty="0">
                <a:solidFill>
                  <a:schemeClr val="bg1"/>
                </a:solidFill>
                <a:latin typeface="微软雅黑" panose="020B0503020204020204" pitchFamily="34" charset="-122"/>
                <a:ea typeface="微软雅黑" panose="020B0503020204020204" pitchFamily="34" charset="-122"/>
                <a:sym typeface="+mn-ea"/>
              </a:rPr>
              <a:t>回顾</a:t>
            </a:r>
            <a:r>
              <a:rPr lang="en-US" altLang="zh-CN" sz="4400" b="1" dirty="0">
                <a:solidFill>
                  <a:schemeClr val="bg1"/>
                </a:solidFill>
                <a:latin typeface="微软雅黑" panose="020B0503020204020204" pitchFamily="34" charset="-122"/>
                <a:ea typeface="微软雅黑" panose="020B0503020204020204" pitchFamily="34" charset="-122"/>
                <a:sym typeface="+mn-ea"/>
              </a:rPr>
              <a:t>——</a:t>
            </a:r>
            <a:r>
              <a:rPr lang="zh-CN" altLang="en-US" sz="4400" b="1"/>
              <a:t>资源的</a:t>
            </a:r>
            <a:r>
              <a:rPr lang="zh-CN" altLang="en-US" sz="4400" b="1"/>
              <a:t>问题</a:t>
            </a:r>
            <a:endParaRPr lang="zh-CN" altLang="en-US" sz="4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363855" y="822325"/>
            <a:ext cx="11464925" cy="5877560"/>
          </a:xfrm>
          <a:prstGeom prst="rect">
            <a:avLst/>
          </a:prstGeom>
        </p:spPr>
        <p:txBody>
          <a:bodyPr wrap="square">
            <a:spAutoFit/>
          </a:bodyPr>
          <a:lstStyle/>
          <a:p>
            <a:pPr marL="285750" indent="-285750" algn="just">
              <a:lnSpc>
                <a:spcPct val="20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死锁（</a:t>
            </a:r>
            <a:r>
              <a:rPr lang="en-US" altLang="zh-CN"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deadlock</a:t>
            </a: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）的定义</a:t>
            </a:r>
            <a:endPar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800100" lvl="1" indent="-342900" algn="just">
              <a:lnSpc>
                <a:spcPct val="20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一组进程中，每个进程都无限等待被该组进程中另一进程所</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占有的资源</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，因而永远无法得到的资源的现象，这一组进程就称为</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死锁进程</a:t>
            </a:r>
            <a:endParaRPr lang="en-US" altLang="zh-CN"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200000"/>
              </a:lnSpc>
              <a:buFont typeface="Wingdings" panose="05000000000000000000" pitchFamily="2" charset="2"/>
              <a:buChar char="u"/>
            </a:pPr>
            <a:r>
              <a:rPr lang="zh-CN" altLang="en-US" sz="24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产生死锁的四个必要条件</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互斥条件：</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进程对所分配到资源进行排它性使用，即在一段时间内某资源只由一个进程占用</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请求和保持条件：</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指进程已经保持了至少一个资源，但又提出了新的资源请求，而该资源又已被其它进程占有，此时请求进程阻塞，但又对自己已获得的其它资源保持不放 </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不剥夺条件：</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指进程已获得的资源，在未使用完之前，不能被剥夺，只能在使用完时释放</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环路等待条件：</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发生死锁时必然存在进程资源的环形链</a:t>
            </a:r>
            <a:endParaRPr lang="en-US" altLang="zh-CN" sz="16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65100" y="33655"/>
            <a:ext cx="1012190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3.5.3</a:t>
            </a:r>
            <a:r>
              <a:rPr lang="zh-CN" altLang="en-US" sz="3900" b="1" dirty="0">
                <a:latin typeface="微软雅黑" panose="020B0503020204020204" pitchFamily="34" charset="-122"/>
                <a:ea typeface="微软雅黑" panose="020B0503020204020204" pitchFamily="34" charset="-122"/>
              </a:rPr>
              <a:t> 死锁定义、必要条件和处理方法</a:t>
            </a:r>
            <a:endParaRPr lang="zh-CN" altLang="en-US" sz="3900" b="1" dirty="0">
              <a:latin typeface="微软雅黑" panose="020B0503020204020204" pitchFamily="34" charset="-122"/>
              <a:ea typeface="微软雅黑" panose="020B0503020204020204" pitchFamily="34" charset="-122"/>
            </a:endParaRPr>
          </a:p>
        </p:txBody>
      </p:sp>
      <p:sp>
        <p:nvSpPr>
          <p:cNvPr id="4" name="矩形 3"/>
          <p:cNvSpPr/>
          <p:nvPr>
            <p:custDataLst>
              <p:tags r:id="rId1"/>
            </p:custDataLst>
          </p:nvPr>
        </p:nvSpPr>
        <p:spPr>
          <a:xfrm>
            <a:off x="0" y="0"/>
            <a:ext cx="12192000" cy="1026160"/>
          </a:xfrm>
          <a:prstGeom prst="rect">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4400" b="1" dirty="0">
                <a:solidFill>
                  <a:schemeClr val="bg1"/>
                </a:solidFill>
                <a:latin typeface="微软雅黑" panose="020B0503020204020204" pitchFamily="34" charset="-122"/>
                <a:ea typeface="微软雅黑" panose="020B0503020204020204" pitchFamily="34" charset="-122"/>
                <a:sym typeface="+mn-ea"/>
              </a:rPr>
              <a:t>回顾</a:t>
            </a:r>
            <a:r>
              <a:rPr lang="en-US" altLang="zh-CN" sz="4400" b="1" dirty="0">
                <a:solidFill>
                  <a:schemeClr val="bg1"/>
                </a:solidFill>
                <a:latin typeface="微软雅黑" panose="020B0503020204020204" pitchFamily="34" charset="-122"/>
                <a:ea typeface="微软雅黑" panose="020B0503020204020204" pitchFamily="34" charset="-122"/>
                <a:sym typeface="+mn-ea"/>
              </a:rPr>
              <a:t>——</a:t>
            </a:r>
            <a:r>
              <a:rPr lang="zh-CN" altLang="en-US" sz="4400" b="1"/>
              <a:t>死锁定义、必要条件和处理方法</a:t>
            </a:r>
            <a:endParaRPr lang="zh-CN" altLang="en-US" sz="4400"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48285" y="822960"/>
            <a:ext cx="11328400" cy="6369685"/>
          </a:xfrm>
          <a:prstGeom prst="rect">
            <a:avLst/>
          </a:prstGeom>
        </p:spPr>
        <p:txBody>
          <a:bodyPr wrap="square">
            <a:spAutoFit/>
          </a:bodyPr>
          <a:lstStyle/>
          <a:p>
            <a:pPr marL="285750" indent="-285750" algn="just">
              <a:lnSpc>
                <a:spcPct val="200000"/>
              </a:lnSpc>
              <a:buFont typeface="Wingdings" panose="05000000000000000000" pitchFamily="2" charset="2"/>
              <a:buChar char="u"/>
            </a:pPr>
            <a:r>
              <a:rPr lang="zh-CN" altLang="en-US" sz="28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 处理死锁的基本方法</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预防死锁</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（较简单和直观的事先预防方法）：破坏</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“请求和保持”、“不可抢占”、“循环等待”</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条件</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避免死锁</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（事先预防的策略）：系统资源分配前先计算安全性，若此次分配会导致系统进入不安全状态，则等待</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银行家算法</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检测死锁：</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利用</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资源分配图</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来检测系统是否已进入死锁状态</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当且仅当描述系统资源分配情况的资源分配图是不能完全简化的</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解除死锁</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（与检测死锁相配套）：抢占</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剥夺</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资源</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、终止</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撤消</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进程</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回退</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释放资源、</a:t>
            </a: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重启</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计算机操作系统</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200000"/>
              </a:lnSpc>
              <a:buFont typeface="Wingdings" panose="05000000000000000000" pitchFamily="2" charset="2"/>
              <a:buChar char="Ø"/>
            </a:pPr>
            <a:endParaRPr lang="en-US" altLang="zh-CN" sz="16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83515" y="33655"/>
            <a:ext cx="1010348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3.5.3</a:t>
            </a:r>
            <a:r>
              <a:rPr lang="zh-CN" altLang="en-US" sz="3900" b="1" dirty="0">
                <a:latin typeface="微软雅黑" panose="020B0503020204020204" pitchFamily="34" charset="-122"/>
                <a:ea typeface="微软雅黑" panose="020B0503020204020204" pitchFamily="34" charset="-122"/>
              </a:rPr>
              <a:t> 死锁定义、必要条件和处理方法</a:t>
            </a:r>
            <a:endParaRPr lang="zh-CN" altLang="en-US" sz="3900" b="1" dirty="0">
              <a:latin typeface="微软雅黑" panose="020B0503020204020204" pitchFamily="34" charset="-122"/>
              <a:ea typeface="微软雅黑" panose="020B0503020204020204" pitchFamily="34" charset="-122"/>
            </a:endParaRPr>
          </a:p>
        </p:txBody>
      </p:sp>
      <p:sp>
        <p:nvSpPr>
          <p:cNvPr id="4" name="矩形 3"/>
          <p:cNvSpPr/>
          <p:nvPr>
            <p:custDataLst>
              <p:tags r:id="rId1"/>
            </p:custDataLst>
          </p:nvPr>
        </p:nvSpPr>
        <p:spPr>
          <a:xfrm>
            <a:off x="0" y="0"/>
            <a:ext cx="12192000" cy="1026160"/>
          </a:xfrm>
          <a:prstGeom prst="rect">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4400" b="1" dirty="0">
                <a:solidFill>
                  <a:schemeClr val="bg1"/>
                </a:solidFill>
                <a:latin typeface="微软雅黑" panose="020B0503020204020204" pitchFamily="34" charset="-122"/>
                <a:ea typeface="微软雅黑" panose="020B0503020204020204" pitchFamily="34" charset="-122"/>
                <a:sym typeface="+mn-ea"/>
              </a:rPr>
              <a:t>回顾</a:t>
            </a:r>
            <a:r>
              <a:rPr lang="en-US" altLang="zh-CN" sz="4400" b="1" dirty="0">
                <a:solidFill>
                  <a:schemeClr val="bg1"/>
                </a:solidFill>
                <a:latin typeface="微软雅黑" panose="020B0503020204020204" pitchFamily="34" charset="-122"/>
                <a:ea typeface="微软雅黑" panose="020B0503020204020204" pitchFamily="34" charset="-122"/>
                <a:sym typeface="+mn-ea"/>
              </a:rPr>
              <a:t>——</a:t>
            </a:r>
            <a:r>
              <a:rPr lang="zh-CN" altLang="en-US" sz="4400" b="1"/>
              <a:t>死锁定义、必要条件和处理方法</a:t>
            </a:r>
            <a:endParaRPr lang="zh-CN" altLang="en-US" sz="4400"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00660" y="1133475"/>
            <a:ext cx="11791315" cy="5615940"/>
          </a:xfrm>
          <a:prstGeom prst="rect">
            <a:avLst/>
          </a:prstGeom>
        </p:spPr>
        <p:txBody>
          <a:bodyPr wrap="square">
            <a:spAutoFit/>
          </a:bodyPr>
          <a:lstStyle/>
          <a:p>
            <a:pPr marL="914400" lvl="1" indent="-457200" algn="just">
              <a:lnSpc>
                <a:spcPct val="100000"/>
              </a:lnSpc>
              <a:buFont typeface="Wingdings" panose="05000000000000000000" charset="0"/>
              <a:buChar char="p"/>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步骤一：设置两个变量</a:t>
            </a:r>
            <a:endParaRPr lang="en-US" altLang="zh-CN"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00000"/>
              </a:lnSpc>
              <a:buFont typeface="Wingdings" panose="05000000000000000000" pitchFamily="2" charset="2"/>
              <a:buChar char="Ø"/>
            </a:pPr>
            <a:r>
              <a:rPr lang="zh-CN" altLang="en-US"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工作向量</a:t>
            </a:r>
            <a:r>
              <a:rPr lang="en-US" altLang="zh-CN"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Work:</a:t>
            </a:r>
            <a:endParaRPr lang="en-US" altLang="zh-CN"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828800" lvl="3" indent="-457200" algn="just">
              <a:lnSpc>
                <a:spcPct val="100000"/>
              </a:lnSpc>
              <a:buFont typeface="Arial" panose="020B0604020202090204" pitchFamily="34" charset="0"/>
              <a:buChar char="•"/>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它表示系统可提供给进程继续运行所需的各类资源数目，它含有</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m</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个元素</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1828800" lvl="3" indent="-457200" algn="just">
              <a:lnSpc>
                <a:spcPct val="100000"/>
              </a:lnSpc>
              <a:buFont typeface="Arial" panose="020B0604020202090204" pitchFamily="34" charset="0"/>
              <a:buChar char="•"/>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在执行安全算法开始时，</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Work∶=Available;</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00000"/>
              </a:lnSpc>
              <a:buFont typeface="Wingdings" panose="05000000000000000000" pitchFamily="2" charset="2"/>
              <a:buChar char="Ø"/>
            </a:pPr>
            <a:r>
              <a:rPr lang="en-US" altLang="zh-CN"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Finish:</a:t>
            </a:r>
            <a:endParaRPr lang="en-US" altLang="zh-CN"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828800" lvl="3" indent="-457200" algn="just">
              <a:lnSpc>
                <a:spcPct val="100000"/>
              </a:lnSpc>
              <a:buFont typeface="Arial" panose="020B0604020202090204" pitchFamily="34" charset="0"/>
              <a:buChar char="•"/>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它表示系统是否有足够的资源分配给进程，使之运行完成。</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1828800" lvl="3" indent="-457200" algn="just">
              <a:lnSpc>
                <a:spcPct val="100000"/>
              </a:lnSpc>
              <a:buFont typeface="Arial" panose="020B0604020202090204" pitchFamily="34" charset="0"/>
              <a:buChar char="•"/>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开始时先做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Finish</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=false;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当有足够资源分配给进程时， 再令</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Finish</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rPr>
              <a:t>i</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=true</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00000"/>
              </a:lnSpc>
              <a:buClrTx/>
              <a:buSzTx/>
              <a:buFont typeface="Wingdings" panose="05000000000000000000" charset="0"/>
              <a:buChar char="p"/>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sym typeface="+mn-ea"/>
              </a:rPr>
              <a:t>步骤二：</a:t>
            </a:r>
            <a:endPar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00000"/>
              </a:lnSpc>
              <a:buFont typeface="Arial" panose="020B0604020202090204" pitchFamily="34" charset="0"/>
              <a:buChar char="•"/>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从进程集合中找到一个能满足下述条件的进程：</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00000"/>
              </a:lnSpc>
              <a:buFont typeface="Arial" panose="020B0604020202090204" pitchFamily="34" charset="0"/>
              <a:buChar char="•"/>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①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rPr>
              <a:t>Finish</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sym typeface="+mn-ea"/>
              </a:rPr>
              <a:t>i</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rPr>
              <a:t>=false; ② Need</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sym typeface="+mn-ea"/>
              </a:rPr>
              <a:t>i,j</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rPr>
              <a:t>Work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rPr>
              <a:t>j</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00000"/>
              </a:lnSpc>
              <a:buFont typeface="Arial" panose="020B0604020202090204" pitchFamily="34" charset="0"/>
              <a:buChar char="•"/>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若找到， 执行步骤三， 否则，执行步骤四；</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00000"/>
              </a:lnSpc>
              <a:buClrTx/>
              <a:buSzTx/>
              <a:buFont typeface="Wingdings" panose="05000000000000000000" charset="0"/>
              <a:buChar char="p"/>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sym typeface="+mn-ea"/>
              </a:rPr>
              <a:t>步骤三：</a:t>
            </a:r>
            <a:endPar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00000"/>
              </a:lnSpc>
              <a:buFont typeface="Arial" panose="020B0604020202090204" pitchFamily="34" charset="0"/>
              <a:buChar char="•"/>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当进程</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rPr>
              <a:t>Pi</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获得资源后，可顺利执行，直至完成，并释放出分配给它的资源，故应执行：</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00000"/>
              </a:lnSpc>
              <a:buFont typeface="Arial" panose="020B0604020202090204" pitchFamily="34" charset="0"/>
              <a:buChar char="•"/>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rPr>
              <a:t>Work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rPr>
              <a:t>j</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rPr>
              <a:t>= Work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sym typeface="+mn-ea"/>
              </a:rPr>
              <a:t>i</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rPr>
              <a:t>+Allocation</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sym typeface="+mn-ea"/>
              </a:rPr>
              <a:t>i,j</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00000"/>
              </a:lnSpc>
              <a:buFont typeface="Arial" panose="020B0604020202090204" pitchFamily="34" charset="0"/>
              <a:buChar char="•"/>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rPr>
              <a:t> Finish</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sym typeface="+mn-ea"/>
              </a:rPr>
              <a:t>i</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rPr>
              <a:t>= true;</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00000"/>
              </a:lnSpc>
              <a:buFont typeface="Arial" panose="020B0604020202090204" pitchFamily="34" charset="0"/>
              <a:buChar char="•"/>
            </a:pP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rPr>
              <a:t> go to step 2; </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1" indent="-457200" algn="just">
              <a:lnSpc>
                <a:spcPct val="100000"/>
              </a:lnSpc>
              <a:buClrTx/>
              <a:buSzTx/>
              <a:buFont typeface="Wingdings" panose="05000000000000000000" charset="0"/>
              <a:buChar char="p"/>
            </a:pPr>
            <a:r>
              <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sym typeface="+mn-ea"/>
              </a:rPr>
              <a:t>步骤四：</a:t>
            </a:r>
            <a:endParaRPr lang="zh-CN" altLang="en-US" sz="2000" b="1" dirty="0">
              <a:solidFill>
                <a:srgbClr val="C00000"/>
              </a:solidFill>
              <a:latin typeface="Times New Roman" panose="02020503050405090304" pitchFamily="18" charset="0"/>
              <a:ea typeface="微软雅黑" panose="020B0503020204020204" pitchFamily="34" charset="-122"/>
              <a:cs typeface="Times New Roman" panose="02020503050405090304" pitchFamily="18" charset="0"/>
            </a:endParaRPr>
          </a:p>
          <a:p>
            <a:pPr marL="1371600" lvl="2" indent="-457200" algn="just">
              <a:lnSpc>
                <a:spcPct val="100000"/>
              </a:lnSpc>
              <a:buFont typeface="Arial" panose="020B0604020202090204" pitchFamily="34" charset="0"/>
              <a:buChar char="•"/>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如果所有进程的</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rPr>
              <a:t>Finish</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sym typeface="+mn-ea"/>
              </a:rPr>
              <a:t>i</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mn-ea"/>
              </a:rPr>
              <a:t>=true</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mn-ea"/>
              </a:rPr>
              <a:t>都满足， 则表示系统处于安全状态；否则，系统处于不安全状态。</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1828800" lvl="3" indent="-457200" algn="just">
              <a:lnSpc>
                <a:spcPct val="150000"/>
              </a:lnSpc>
              <a:buFont typeface="Arial" panose="020B0604020202090204" pitchFamily="34" charset="0"/>
              <a:buChar char="•"/>
            </a:pP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73025" y="33655"/>
            <a:ext cx="1021397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3900" b="1" dirty="0">
                <a:latin typeface="微软雅黑" panose="020B0503020204020204" pitchFamily="34" charset="-122"/>
                <a:ea typeface="微软雅黑" panose="020B0503020204020204" pitchFamily="34" charset="-122"/>
              </a:rPr>
              <a:t>3.7.2 </a:t>
            </a:r>
            <a:r>
              <a:rPr lang="zh-CN" altLang="en-US" sz="3900" b="1" dirty="0">
                <a:latin typeface="微软雅黑" panose="020B0503020204020204" pitchFamily="34" charset="-122"/>
                <a:ea typeface="微软雅黑" panose="020B0503020204020204" pitchFamily="34" charset="-122"/>
              </a:rPr>
              <a:t>利用银行家算法避免死锁</a:t>
            </a:r>
            <a:endParaRPr lang="zh-CN" altLang="en-US" sz="3900" b="1" dirty="0">
              <a:latin typeface="微软雅黑" panose="020B0503020204020204" pitchFamily="34" charset="-122"/>
              <a:ea typeface="微软雅黑" panose="020B0503020204020204" pitchFamily="34" charset="-122"/>
            </a:endParaRPr>
          </a:p>
        </p:txBody>
      </p:sp>
      <p:sp>
        <p:nvSpPr>
          <p:cNvPr id="4" name="矩形 3"/>
          <p:cNvSpPr/>
          <p:nvPr>
            <p:custDataLst>
              <p:tags r:id="rId1"/>
            </p:custDataLst>
          </p:nvPr>
        </p:nvSpPr>
        <p:spPr>
          <a:xfrm>
            <a:off x="0" y="0"/>
            <a:ext cx="12192000" cy="1026160"/>
          </a:xfrm>
          <a:prstGeom prst="rect">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4400" b="1" dirty="0">
                <a:solidFill>
                  <a:schemeClr val="bg1"/>
                </a:solidFill>
                <a:latin typeface="微软雅黑" panose="020B0503020204020204" pitchFamily="34" charset="-122"/>
                <a:ea typeface="微软雅黑" panose="020B0503020204020204" pitchFamily="34" charset="-122"/>
                <a:sym typeface="+mn-ea"/>
              </a:rPr>
              <a:t>回顾</a:t>
            </a:r>
            <a:r>
              <a:rPr lang="en-US" altLang="zh-CN" sz="4400" b="1" dirty="0">
                <a:solidFill>
                  <a:schemeClr val="bg1"/>
                </a:solidFill>
                <a:latin typeface="微软雅黑" panose="020B0503020204020204" pitchFamily="34" charset="-122"/>
                <a:ea typeface="微软雅黑" panose="020B0503020204020204" pitchFamily="34" charset="-122"/>
                <a:sym typeface="+mn-ea"/>
              </a:rPr>
              <a:t>——</a:t>
            </a:r>
            <a:r>
              <a:rPr lang="zh-CN" altLang="en-US" sz="4400" b="1"/>
              <a:t>银行家</a:t>
            </a:r>
            <a:r>
              <a:rPr lang="zh-CN" altLang="en-US" sz="4400" b="1"/>
              <a:t>算法</a:t>
            </a:r>
            <a:endParaRPr lang="zh-CN" altLang="en-US" sz="4400"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183515" y="33655"/>
            <a:ext cx="10164445" cy="109601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1.4 OS</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的主要功能</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33" name="矩形 32"/>
          <p:cNvSpPr/>
          <p:nvPr/>
        </p:nvSpPr>
        <p:spPr>
          <a:xfrm>
            <a:off x="10795" y="938530"/>
            <a:ext cx="11530330" cy="1691640"/>
          </a:xfrm>
          <a:prstGeom prst="rect">
            <a:avLst/>
          </a:prstGeom>
        </p:spPr>
        <p:txBody>
          <a:bodyPr wrap="square">
            <a:spAutoFit/>
          </a:bodyPr>
          <a:lstStyle/>
          <a:p>
            <a:pPr marL="800100" lvl="1" indent="-342900">
              <a:lnSpc>
                <a:spcPct val="150000"/>
              </a:lnSpc>
              <a:spcBef>
                <a:spcPts val="600"/>
              </a:spcBef>
              <a:spcAft>
                <a:spcPts val="600"/>
              </a:spcAft>
              <a:buFont typeface="Wingdings" panose="05000000000000000000" pitchFamily="2" charset="2"/>
              <a:buChar char="u"/>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引入</a:t>
            </a:r>
            <a:r>
              <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rPr>
              <a:t>OS</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的目的：管理资源、提供接口</a:t>
            </a:r>
            <a:endParaRPr lang="en-US" altLang="zh-CN"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spcBef>
                <a:spcPts val="600"/>
              </a:spcBef>
              <a:spcAft>
                <a:spcPts val="600"/>
              </a:spcAft>
              <a:buFont typeface="Wingdings" panose="05000000000000000000" pitchFamily="2" charset="2"/>
              <a:buChar char="Ø"/>
            </a:pPr>
            <a:r>
              <a:rPr lang="zh-CN" altLang="en-US" sz="2400" dirty="0">
                <a:latin typeface="Times New Roman" panose="02020503050405090304" pitchFamily="18" charset="0"/>
                <a:ea typeface="微软雅黑" panose="020B0503020204020204" pitchFamily="34" charset="-122"/>
                <a:cs typeface="Times New Roman" panose="02020503050405090304" pitchFamily="18" charset="0"/>
              </a:rPr>
              <a:t>有条不紊地、高效地运行，提高系统资源的利用率和吞吐量</a:t>
            </a:r>
            <a:endParaRPr lang="zh-CN" altLang="en-US" sz="2400" dirty="0">
              <a:latin typeface="Times New Roman" panose="02020503050405090304" pitchFamily="18" charset="0"/>
              <a:ea typeface="微软雅黑" panose="020B0503020204020204" pitchFamily="34" charset="-122"/>
              <a:cs typeface="Times New Roman" panose="02020503050405090304" pitchFamily="18" charset="0"/>
            </a:endParaRPr>
          </a:p>
          <a:p>
            <a:pPr marL="1257300" lvl="2" indent="-342900">
              <a:spcBef>
                <a:spcPts val="600"/>
              </a:spcBef>
              <a:spcAft>
                <a:spcPts val="600"/>
              </a:spcAft>
              <a:buFont typeface="Wingdings" panose="05000000000000000000" pitchFamily="2" charset="2"/>
              <a:buChar char="Ø"/>
            </a:pPr>
            <a:r>
              <a:rPr lang="zh-CN" altLang="en-US" sz="2400" dirty="0">
                <a:latin typeface="Times New Roman" panose="02020503050405090304" pitchFamily="18" charset="0"/>
                <a:ea typeface="微软雅黑" panose="020B0503020204020204" pitchFamily="34" charset="-122"/>
                <a:cs typeface="Times New Roman" panose="02020503050405090304" pitchFamily="18" charset="0"/>
              </a:rPr>
              <a:t>方便用户的使用</a:t>
            </a:r>
            <a:endParaRPr lang="en-US" altLang="zh-CN" sz="2400" dirty="0">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5" name="组合 4"/>
          <p:cNvGrpSpPr/>
          <p:nvPr/>
        </p:nvGrpSpPr>
        <p:grpSpPr>
          <a:xfrm>
            <a:off x="8229862" y="184665"/>
            <a:ext cx="3649718" cy="611540"/>
            <a:chOff x="5494282" y="112021"/>
            <a:chExt cx="3649718" cy="611540"/>
          </a:xfrm>
        </p:grpSpPr>
        <p:pic>
          <p:nvPicPr>
            <p:cNvPr id="6" name="Picture 6"/>
            <p:cNvPicPr>
              <a:picLocks noChangeAspect="1" noChangeArrowheads="1"/>
            </p:cNvPicPr>
            <p:nvPr/>
          </p:nvPicPr>
          <p:blipFill rotWithShape="1">
            <a:blip r:embed="rId1">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9" name="图示 8"/>
          <p:cNvGraphicFramePr/>
          <p:nvPr/>
        </p:nvGraphicFramePr>
        <p:xfrm>
          <a:off x="2351599" y="2389519"/>
          <a:ext cx="7819747" cy="4396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文本框 9"/>
          <p:cNvSpPr txBox="1"/>
          <p:nvPr/>
        </p:nvSpPr>
        <p:spPr>
          <a:xfrm>
            <a:off x="5443385" y="4036892"/>
            <a:ext cx="1636172" cy="954107"/>
          </a:xfrm>
          <a:prstGeom prst="rect">
            <a:avLst/>
          </a:prstGeom>
          <a:noFill/>
        </p:spPr>
        <p:txBody>
          <a:bodyPr wrap="square">
            <a:spAutoFit/>
          </a:bodyPr>
          <a:lstStyle/>
          <a:p>
            <a:pPr algn="ctr"/>
            <a:r>
              <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rPr>
              <a:t>OS</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algn="ctr"/>
            <a:r>
              <a:rPr lang="zh-CN" altLang="en-US" sz="2800" b="1" dirty="0">
                <a:latin typeface="Times New Roman" panose="02020503050405090304" pitchFamily="18" charset="0"/>
                <a:ea typeface="微软雅黑" panose="020B0503020204020204" pitchFamily="34" charset="-122"/>
                <a:cs typeface="Times New Roman" panose="02020503050405090304" pitchFamily="18" charset="0"/>
              </a:rPr>
              <a:t>功能</a:t>
            </a:r>
            <a:endParaRPr lang="zh-CN" altLang="en-US" sz="2800" dirty="0"/>
          </a:p>
        </p:txBody>
      </p:sp>
      <p:sp>
        <p:nvSpPr>
          <p:cNvPr id="4" name="矩形 3"/>
          <p:cNvSpPr/>
          <p:nvPr>
            <p:custDataLst>
              <p:tags r:id="rId7"/>
            </p:custDataLst>
          </p:nvPr>
        </p:nvSpPr>
        <p:spPr>
          <a:xfrm>
            <a:off x="0" y="0"/>
            <a:ext cx="12192000" cy="1026160"/>
          </a:xfrm>
          <a:prstGeom prst="rect">
            <a:avLst/>
          </a:prstGeom>
          <a:solidFill>
            <a:srgbClr val="820000"/>
          </a:solidFill>
          <a:ln>
            <a:solidFill>
              <a:srgbClr val="82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4400" b="1" dirty="0">
                <a:solidFill>
                  <a:schemeClr val="bg1"/>
                </a:solidFill>
                <a:latin typeface="微软雅黑" panose="020B0503020204020204" pitchFamily="34" charset="-122"/>
                <a:ea typeface="微软雅黑" panose="020B0503020204020204" pitchFamily="34" charset="-122"/>
                <a:sym typeface="+mn-ea"/>
              </a:rPr>
              <a:t>回顾</a:t>
            </a:r>
            <a:r>
              <a:rPr lang="en-US" altLang="zh-CN" sz="4400" b="1" dirty="0">
                <a:solidFill>
                  <a:schemeClr val="bg1"/>
                </a:solidFill>
                <a:latin typeface="微软雅黑" panose="020B0503020204020204" pitchFamily="34" charset="-122"/>
                <a:ea typeface="微软雅黑" panose="020B0503020204020204" pitchFamily="34" charset="-122"/>
                <a:sym typeface="+mn-ea"/>
              </a:rPr>
              <a:t>——</a:t>
            </a:r>
            <a:r>
              <a:rPr lang="en-US" altLang="zh-CN" sz="4400" b="1"/>
              <a:t>OS</a:t>
            </a:r>
            <a:r>
              <a:rPr lang="zh-CN" altLang="en-US" sz="4400" b="1"/>
              <a:t>的</a:t>
            </a:r>
            <a:r>
              <a:rPr lang="zh-CN" altLang="en-US" sz="4400" b="1"/>
              <a:t>主要功能</a:t>
            </a:r>
            <a:endParaRPr lang="zh-CN" altLang="en-US" sz="4400" b="1"/>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nvGrpSpPr>
        <p:grpSpPr>
          <a:xfrm>
            <a:off x="156" y="1"/>
            <a:ext cx="12192000" cy="6734729"/>
            <a:chOff x="-1523844" y="1"/>
            <a:chExt cx="12192000" cy="6734729"/>
          </a:xfrm>
        </p:grpSpPr>
        <p:pic>
          <p:nvPicPr>
            <p:cNvPr id="3076" name="Picture 4" descr="Types of Operating System - Top 10 Popular Operating System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3844" y="1"/>
              <a:ext cx="12192000" cy="616585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2458943" y="2521951"/>
              <a:ext cx="4412121" cy="2068057"/>
            </a:xfrm>
            <a:prstGeom prst="rect">
              <a:avLst/>
            </a:prstGeom>
            <a:solidFill>
              <a:srgbClr val="1C6FA1"/>
            </a:solidFill>
            <a:ln>
              <a:solidFill>
                <a:srgbClr val="1C6F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a:blip r:embed="rId2"/>
            <a:stretch>
              <a:fillRect/>
            </a:stretch>
          </p:blipFill>
          <p:spPr>
            <a:xfrm>
              <a:off x="-28419" y="6266730"/>
              <a:ext cx="1800913" cy="468000"/>
            </a:xfrm>
            <a:prstGeom prst="rect">
              <a:avLst/>
            </a:prstGeom>
          </p:spPr>
        </p:pic>
        <p:pic>
          <p:nvPicPr>
            <p:cNvPr id="12" name="图片 11"/>
            <p:cNvPicPr>
              <a:picLocks noChangeAspect="1"/>
            </p:cNvPicPr>
            <p:nvPr/>
          </p:nvPicPr>
          <p:blipFill>
            <a:blip r:embed="rId3"/>
            <a:stretch>
              <a:fillRect/>
            </a:stretch>
          </p:blipFill>
          <p:spPr>
            <a:xfrm>
              <a:off x="1747344" y="6266730"/>
              <a:ext cx="1033307" cy="468000"/>
            </a:xfrm>
            <a:prstGeom prst="rect">
              <a:avLst/>
            </a:prstGeom>
          </p:spPr>
        </p:pic>
        <p:pic>
          <p:nvPicPr>
            <p:cNvPr id="15" name="图片 14"/>
            <p:cNvPicPr>
              <a:picLocks noChangeAspect="1"/>
            </p:cNvPicPr>
            <p:nvPr/>
          </p:nvPicPr>
          <p:blipFill>
            <a:blip r:embed="rId4"/>
            <a:stretch>
              <a:fillRect/>
            </a:stretch>
          </p:blipFill>
          <p:spPr>
            <a:xfrm>
              <a:off x="2755501" y="6266730"/>
              <a:ext cx="596535" cy="468000"/>
            </a:xfrm>
            <a:prstGeom prst="rect">
              <a:avLst/>
            </a:prstGeom>
          </p:spPr>
        </p:pic>
        <p:pic>
          <p:nvPicPr>
            <p:cNvPr id="17" name="图片 16"/>
            <p:cNvPicPr>
              <a:picLocks noChangeAspect="1"/>
            </p:cNvPicPr>
            <p:nvPr/>
          </p:nvPicPr>
          <p:blipFill>
            <a:blip r:embed="rId5"/>
            <a:stretch>
              <a:fillRect/>
            </a:stretch>
          </p:blipFill>
          <p:spPr>
            <a:xfrm>
              <a:off x="7279346" y="6266730"/>
              <a:ext cx="1919478" cy="468000"/>
            </a:xfrm>
            <a:prstGeom prst="rect">
              <a:avLst/>
            </a:prstGeom>
          </p:spPr>
        </p:pic>
        <p:pic>
          <p:nvPicPr>
            <p:cNvPr id="19" name="图片 18"/>
            <p:cNvPicPr>
              <a:picLocks noChangeAspect="1"/>
            </p:cNvPicPr>
            <p:nvPr/>
          </p:nvPicPr>
          <p:blipFill>
            <a:blip r:embed="rId6"/>
            <a:stretch>
              <a:fillRect/>
            </a:stretch>
          </p:blipFill>
          <p:spPr>
            <a:xfrm>
              <a:off x="6017496" y="6266730"/>
              <a:ext cx="1287000" cy="468000"/>
            </a:xfrm>
            <a:prstGeom prst="rect">
              <a:avLst/>
            </a:prstGeom>
          </p:spPr>
        </p:pic>
        <p:pic>
          <p:nvPicPr>
            <p:cNvPr id="21" name="图片 20"/>
            <p:cNvPicPr>
              <a:picLocks noChangeAspect="1"/>
            </p:cNvPicPr>
            <p:nvPr/>
          </p:nvPicPr>
          <p:blipFill>
            <a:blip r:embed="rId7"/>
            <a:stretch>
              <a:fillRect/>
            </a:stretch>
          </p:blipFill>
          <p:spPr>
            <a:xfrm>
              <a:off x="4444990" y="6266730"/>
              <a:ext cx="1597656" cy="468000"/>
            </a:xfrm>
            <a:prstGeom prst="rect">
              <a:avLst/>
            </a:prstGeom>
          </p:spPr>
        </p:pic>
        <p:pic>
          <p:nvPicPr>
            <p:cNvPr id="25" name="图片 24"/>
            <p:cNvPicPr>
              <a:picLocks noChangeAspect="1"/>
            </p:cNvPicPr>
            <p:nvPr/>
          </p:nvPicPr>
          <p:blipFill>
            <a:blip r:embed="rId8"/>
            <a:stretch>
              <a:fillRect/>
            </a:stretch>
          </p:blipFill>
          <p:spPr>
            <a:xfrm>
              <a:off x="3959400" y="6266730"/>
              <a:ext cx="510740" cy="468000"/>
            </a:xfrm>
            <a:prstGeom prst="rect">
              <a:avLst/>
            </a:prstGeom>
          </p:spPr>
        </p:pic>
        <p:pic>
          <p:nvPicPr>
            <p:cNvPr id="27" name="图片 26"/>
            <p:cNvPicPr>
              <a:picLocks noChangeAspect="1"/>
            </p:cNvPicPr>
            <p:nvPr/>
          </p:nvPicPr>
          <p:blipFill>
            <a:blip r:embed="rId9"/>
            <a:stretch>
              <a:fillRect/>
            </a:stretch>
          </p:blipFill>
          <p:spPr>
            <a:xfrm>
              <a:off x="3326886" y="6266730"/>
              <a:ext cx="657664" cy="468000"/>
            </a:xfrm>
            <a:prstGeom prst="rect">
              <a:avLst/>
            </a:prstGeom>
          </p:spPr>
        </p:pic>
      </p:gr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灯片编号占位符 5"/>
          <p:cNvSpPr>
            <a:spLocks noGrp="1"/>
          </p:cNvSpPr>
          <p:nvPr>
            <p:ph type="sldNum" sz="quarter" idx="12"/>
          </p:nvPr>
        </p:nvSpPr>
        <p:spPr/>
        <p:txBody>
          <a:bodyPr/>
          <a:lstStyle/>
          <a:p>
            <a:fld id="{0D4EF626-F2E7-47E8-A3E5-EAE9C4555C6D}" type="slidenum">
              <a:rPr lang="zh-CN" altLang="en-US" smtClean="0"/>
            </a:fld>
            <a:endParaRPr lang="zh-CN" altLang="en-US"/>
          </a:p>
        </p:txBody>
      </p:sp>
      <p:sp>
        <p:nvSpPr>
          <p:cNvPr id="11" name="文本框 10"/>
          <p:cNvSpPr txBox="1"/>
          <p:nvPr/>
        </p:nvSpPr>
        <p:spPr>
          <a:xfrm>
            <a:off x="3796937" y="2427187"/>
            <a:ext cx="4865914" cy="2122805"/>
          </a:xfrm>
          <a:prstGeom prst="rect">
            <a:avLst/>
          </a:prstGeom>
          <a:noFill/>
        </p:spPr>
        <p:txBody>
          <a:bodyPr wrap="square">
            <a:spAutoFit/>
          </a:bodyPr>
          <a:lstStyle/>
          <a:p>
            <a:pPr algn="ctr">
              <a:lnSpc>
                <a:spcPct val="150000"/>
              </a:lnSpc>
            </a:pPr>
            <a:r>
              <a:rPr lang="zh-CN" altLang="en-US" sz="44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第四章</a:t>
            </a:r>
            <a:endParaRPr lang="en-US" altLang="zh-CN" sz="44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a:p>
            <a:pPr algn="ctr">
              <a:lnSpc>
                <a:spcPct val="150000"/>
              </a:lnSpc>
            </a:pPr>
            <a:r>
              <a:rPr lang="zh-CN" altLang="en-US" sz="44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存储器管理</a:t>
            </a:r>
            <a:endParaRPr lang="zh-CN" altLang="en-US" sz="44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nvGrpSpPr>
        <p:grpSpPr>
          <a:xfrm>
            <a:off x="0" y="-13335"/>
            <a:ext cx="12244705" cy="6734810"/>
            <a:chOff x="-28419" y="1"/>
            <a:chExt cx="9227243" cy="6734729"/>
          </a:xfrm>
        </p:grpSpPr>
        <p:pic>
          <p:nvPicPr>
            <p:cNvPr id="3076" name="Picture 4" descr="Types of Operating System - Top 10 Popular Operating System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
              <a:ext cx="9144000" cy="6165668"/>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0" y="1"/>
              <a:ext cx="9144000" cy="6165668"/>
            </a:xfrm>
            <a:prstGeom prst="rect">
              <a:avLst/>
            </a:prstGeom>
            <a:solidFill>
              <a:srgbClr val="2F559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9" name="图片 8"/>
            <p:cNvPicPr>
              <a:picLocks noChangeAspect="1"/>
            </p:cNvPicPr>
            <p:nvPr/>
          </p:nvPicPr>
          <p:blipFill>
            <a:blip r:embed="rId2"/>
            <a:stretch>
              <a:fillRect/>
            </a:stretch>
          </p:blipFill>
          <p:spPr>
            <a:xfrm>
              <a:off x="-28419" y="6266730"/>
              <a:ext cx="1800913" cy="468000"/>
            </a:xfrm>
            <a:prstGeom prst="rect">
              <a:avLst/>
            </a:prstGeom>
          </p:spPr>
        </p:pic>
        <p:pic>
          <p:nvPicPr>
            <p:cNvPr id="12" name="图片 11"/>
            <p:cNvPicPr>
              <a:picLocks noChangeAspect="1"/>
            </p:cNvPicPr>
            <p:nvPr/>
          </p:nvPicPr>
          <p:blipFill>
            <a:blip r:embed="rId3"/>
            <a:stretch>
              <a:fillRect/>
            </a:stretch>
          </p:blipFill>
          <p:spPr>
            <a:xfrm>
              <a:off x="1747344" y="6266730"/>
              <a:ext cx="1033307" cy="468000"/>
            </a:xfrm>
            <a:prstGeom prst="rect">
              <a:avLst/>
            </a:prstGeom>
          </p:spPr>
        </p:pic>
        <p:pic>
          <p:nvPicPr>
            <p:cNvPr id="15" name="图片 14"/>
            <p:cNvPicPr>
              <a:picLocks noChangeAspect="1"/>
            </p:cNvPicPr>
            <p:nvPr/>
          </p:nvPicPr>
          <p:blipFill>
            <a:blip r:embed="rId4"/>
            <a:stretch>
              <a:fillRect/>
            </a:stretch>
          </p:blipFill>
          <p:spPr>
            <a:xfrm>
              <a:off x="2755501" y="6266730"/>
              <a:ext cx="596535" cy="468000"/>
            </a:xfrm>
            <a:prstGeom prst="rect">
              <a:avLst/>
            </a:prstGeom>
          </p:spPr>
        </p:pic>
        <p:pic>
          <p:nvPicPr>
            <p:cNvPr id="17" name="图片 16"/>
            <p:cNvPicPr>
              <a:picLocks noChangeAspect="1"/>
            </p:cNvPicPr>
            <p:nvPr/>
          </p:nvPicPr>
          <p:blipFill>
            <a:blip r:embed="rId5"/>
            <a:stretch>
              <a:fillRect/>
            </a:stretch>
          </p:blipFill>
          <p:spPr>
            <a:xfrm>
              <a:off x="7279346" y="6266730"/>
              <a:ext cx="1919478" cy="468000"/>
            </a:xfrm>
            <a:prstGeom prst="rect">
              <a:avLst/>
            </a:prstGeom>
          </p:spPr>
        </p:pic>
        <p:pic>
          <p:nvPicPr>
            <p:cNvPr id="19" name="图片 18"/>
            <p:cNvPicPr>
              <a:picLocks noChangeAspect="1"/>
            </p:cNvPicPr>
            <p:nvPr/>
          </p:nvPicPr>
          <p:blipFill>
            <a:blip r:embed="rId6"/>
            <a:stretch>
              <a:fillRect/>
            </a:stretch>
          </p:blipFill>
          <p:spPr>
            <a:xfrm>
              <a:off x="6017496" y="6266730"/>
              <a:ext cx="1287000" cy="468000"/>
            </a:xfrm>
            <a:prstGeom prst="rect">
              <a:avLst/>
            </a:prstGeom>
          </p:spPr>
        </p:pic>
        <p:pic>
          <p:nvPicPr>
            <p:cNvPr id="21" name="图片 20"/>
            <p:cNvPicPr>
              <a:picLocks noChangeAspect="1"/>
            </p:cNvPicPr>
            <p:nvPr/>
          </p:nvPicPr>
          <p:blipFill>
            <a:blip r:embed="rId7"/>
            <a:stretch>
              <a:fillRect/>
            </a:stretch>
          </p:blipFill>
          <p:spPr>
            <a:xfrm>
              <a:off x="4444990" y="6266730"/>
              <a:ext cx="1597656" cy="468000"/>
            </a:xfrm>
            <a:prstGeom prst="rect">
              <a:avLst/>
            </a:prstGeom>
          </p:spPr>
        </p:pic>
        <p:pic>
          <p:nvPicPr>
            <p:cNvPr id="25" name="图片 24"/>
            <p:cNvPicPr>
              <a:picLocks noChangeAspect="1"/>
            </p:cNvPicPr>
            <p:nvPr/>
          </p:nvPicPr>
          <p:blipFill>
            <a:blip r:embed="rId8"/>
            <a:stretch>
              <a:fillRect/>
            </a:stretch>
          </p:blipFill>
          <p:spPr>
            <a:xfrm>
              <a:off x="3959400" y="6266730"/>
              <a:ext cx="510740" cy="468000"/>
            </a:xfrm>
            <a:prstGeom prst="rect">
              <a:avLst/>
            </a:prstGeom>
          </p:spPr>
        </p:pic>
        <p:pic>
          <p:nvPicPr>
            <p:cNvPr id="27" name="图片 26"/>
            <p:cNvPicPr>
              <a:picLocks noChangeAspect="1"/>
            </p:cNvPicPr>
            <p:nvPr/>
          </p:nvPicPr>
          <p:blipFill>
            <a:blip r:embed="rId9"/>
            <a:stretch>
              <a:fillRect/>
            </a:stretch>
          </p:blipFill>
          <p:spPr>
            <a:xfrm>
              <a:off x="3326886" y="6266730"/>
              <a:ext cx="657664" cy="468000"/>
            </a:xfrm>
            <a:prstGeom prst="rect">
              <a:avLst/>
            </a:prstGeom>
          </p:spPr>
        </p:pic>
      </p:gr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灯片编号占位符 5"/>
          <p:cNvSpPr>
            <a:spLocks noGrp="1"/>
          </p:cNvSpPr>
          <p:nvPr>
            <p:ph type="sldNum" sz="quarter" idx="12"/>
          </p:nvPr>
        </p:nvSpPr>
        <p:spPr/>
        <p:txBody>
          <a:bodyPr/>
          <a:lstStyle/>
          <a:p>
            <a:fld id="{0D4EF626-F2E7-47E8-A3E5-EAE9C4555C6D}" type="slidenum">
              <a:rPr lang="zh-CN" altLang="en-US" smtClean="0"/>
            </a:fld>
            <a:endParaRPr lang="zh-CN" altLang="en-US"/>
          </a:p>
        </p:txBody>
      </p:sp>
      <p:sp>
        <p:nvSpPr>
          <p:cNvPr id="11" name="文本框 10"/>
          <p:cNvSpPr txBox="1"/>
          <p:nvPr/>
        </p:nvSpPr>
        <p:spPr>
          <a:xfrm>
            <a:off x="390525" y="69215"/>
            <a:ext cx="11265535" cy="6000750"/>
          </a:xfrm>
          <a:prstGeom prst="rect">
            <a:avLst/>
          </a:prstGeom>
          <a:noFill/>
        </p:spPr>
        <p:txBody>
          <a:bodyPr wrap="square">
            <a:spAutoFit/>
          </a:bodyPr>
          <a:lstStyle/>
          <a:p>
            <a:pPr>
              <a:lnSpc>
                <a:spcPct val="200000"/>
              </a:lnSpc>
            </a:pPr>
            <a:r>
              <a:rPr lang="zh-CN" altLang="en-US" sz="32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3200" b="1" dirty="0">
                <a:solidFill>
                  <a:srgbClr val="FFFF00"/>
                </a:solidFill>
                <a:latin typeface="Times New Roman" panose="02020503050405090304" pitchFamily="18" charset="0"/>
                <a:ea typeface="微软雅黑" panose="020B0503020204020204" pitchFamily="34" charset="-122"/>
                <a:cs typeface="Times New Roman" panose="02020503050405090304" pitchFamily="18" charset="0"/>
              </a:rPr>
              <a:t>存储器</a:t>
            </a:r>
            <a:r>
              <a:rPr lang="zh-CN" altLang="en-US" sz="32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是计算机的重要组成部分，存储器是一种宝贵且紧俏的资源，如何对存储器有效的管理不但直接影响到存储器的</a:t>
            </a:r>
            <a:r>
              <a:rPr lang="zh-CN" altLang="en-US" sz="3200" b="1" dirty="0">
                <a:solidFill>
                  <a:srgbClr val="FFFF00"/>
                </a:solidFill>
                <a:latin typeface="Times New Roman" panose="02020503050405090304" pitchFamily="18" charset="0"/>
                <a:ea typeface="微软雅黑" panose="020B0503020204020204" pitchFamily="34" charset="-122"/>
                <a:cs typeface="Times New Roman" panose="02020503050405090304" pitchFamily="18" charset="0"/>
              </a:rPr>
              <a:t>利用率</a:t>
            </a:r>
            <a:r>
              <a:rPr lang="zh-CN" altLang="en-US" sz="32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，还影响到系统的</a:t>
            </a:r>
            <a:r>
              <a:rPr lang="zh-CN" altLang="en-US" sz="3200" b="1" dirty="0">
                <a:solidFill>
                  <a:srgbClr val="FFFF00"/>
                </a:solidFill>
                <a:latin typeface="Times New Roman" panose="02020503050405090304" pitchFamily="18" charset="0"/>
                <a:ea typeface="微软雅黑" panose="020B0503020204020204" pitchFamily="34" charset="-122"/>
                <a:cs typeface="Times New Roman" panose="02020503050405090304" pitchFamily="18" charset="0"/>
              </a:rPr>
              <a:t>性能</a:t>
            </a:r>
            <a:r>
              <a:rPr lang="zh-CN" altLang="en-US" sz="32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32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a:p>
            <a:pPr>
              <a:lnSpc>
                <a:spcPct val="200000"/>
              </a:lnSpc>
            </a:pPr>
            <a:r>
              <a:rPr lang="zh-CN" altLang="en-US" sz="32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        本章讨论的主要对象是</a:t>
            </a:r>
            <a:r>
              <a:rPr lang="zh-CN" altLang="en-US" sz="3200" b="1" dirty="0">
                <a:solidFill>
                  <a:srgbClr val="FFFF00"/>
                </a:solidFill>
                <a:latin typeface="Times New Roman" panose="02020503050405090304" pitchFamily="18" charset="0"/>
                <a:ea typeface="微软雅黑" panose="020B0503020204020204" pitchFamily="34" charset="-122"/>
                <a:cs typeface="Times New Roman" panose="02020503050405090304" pitchFamily="18" charset="0"/>
              </a:rPr>
              <a:t>内存</a:t>
            </a:r>
            <a:r>
              <a:rPr lang="zh-CN" altLang="en-US" sz="32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。对</a:t>
            </a:r>
            <a:r>
              <a:rPr lang="zh-CN" altLang="en-US" sz="3200" b="1" dirty="0">
                <a:solidFill>
                  <a:srgbClr val="FFFF00"/>
                </a:solidFill>
                <a:latin typeface="Times New Roman" panose="02020503050405090304" pitchFamily="18" charset="0"/>
                <a:ea typeface="微软雅黑" panose="020B0503020204020204" pitchFamily="34" charset="-122"/>
                <a:cs typeface="Times New Roman" panose="02020503050405090304" pitchFamily="18" charset="0"/>
              </a:rPr>
              <a:t>外存</a:t>
            </a:r>
            <a:r>
              <a:rPr lang="zh-CN" altLang="en-US" sz="32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的管理与对内存的管理相似，只是用途不同，外存主要用来存放文件，将在</a:t>
            </a:r>
            <a:r>
              <a:rPr lang="zh-CN" altLang="en-US" sz="3200" b="1" dirty="0">
                <a:solidFill>
                  <a:srgbClr val="FFFF00"/>
                </a:solidFill>
                <a:latin typeface="Times New Roman" panose="02020503050405090304" pitchFamily="18" charset="0"/>
                <a:ea typeface="微软雅黑" panose="020B0503020204020204" pitchFamily="34" charset="-122"/>
                <a:cs typeface="Times New Roman" panose="02020503050405090304" pitchFamily="18" charset="0"/>
              </a:rPr>
              <a:t>文件管理</a:t>
            </a:r>
            <a:r>
              <a:rPr lang="zh-CN" altLang="en-US" sz="32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中介绍。</a:t>
            </a:r>
            <a:endParaRPr lang="zh-CN" altLang="en-US" sz="32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nvGrpSpPr>
        <p:grpSpPr>
          <a:xfrm>
            <a:off x="-45720" y="-13335"/>
            <a:ext cx="12237720" cy="6734810"/>
            <a:chOff x="-28419" y="1"/>
            <a:chExt cx="9227243" cy="6734729"/>
          </a:xfrm>
        </p:grpSpPr>
        <p:pic>
          <p:nvPicPr>
            <p:cNvPr id="3076" name="Picture 4" descr="Types of Operating System - Top 10 Popular Operating System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
              <a:ext cx="9144000" cy="6165668"/>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0" y="1"/>
              <a:ext cx="9144000" cy="6165668"/>
            </a:xfrm>
            <a:prstGeom prst="rect">
              <a:avLst/>
            </a:prstGeom>
            <a:solidFill>
              <a:srgbClr val="2F559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9" name="图片 8"/>
            <p:cNvPicPr>
              <a:picLocks noChangeAspect="1"/>
            </p:cNvPicPr>
            <p:nvPr/>
          </p:nvPicPr>
          <p:blipFill>
            <a:blip r:embed="rId2"/>
            <a:stretch>
              <a:fillRect/>
            </a:stretch>
          </p:blipFill>
          <p:spPr>
            <a:xfrm>
              <a:off x="-28419" y="6266730"/>
              <a:ext cx="1800913" cy="468000"/>
            </a:xfrm>
            <a:prstGeom prst="rect">
              <a:avLst/>
            </a:prstGeom>
          </p:spPr>
        </p:pic>
        <p:pic>
          <p:nvPicPr>
            <p:cNvPr id="12" name="图片 11"/>
            <p:cNvPicPr>
              <a:picLocks noChangeAspect="1"/>
            </p:cNvPicPr>
            <p:nvPr/>
          </p:nvPicPr>
          <p:blipFill>
            <a:blip r:embed="rId3"/>
            <a:stretch>
              <a:fillRect/>
            </a:stretch>
          </p:blipFill>
          <p:spPr>
            <a:xfrm>
              <a:off x="1747344" y="6266730"/>
              <a:ext cx="1033307" cy="468000"/>
            </a:xfrm>
            <a:prstGeom prst="rect">
              <a:avLst/>
            </a:prstGeom>
          </p:spPr>
        </p:pic>
        <p:pic>
          <p:nvPicPr>
            <p:cNvPr id="15" name="图片 14"/>
            <p:cNvPicPr>
              <a:picLocks noChangeAspect="1"/>
            </p:cNvPicPr>
            <p:nvPr/>
          </p:nvPicPr>
          <p:blipFill>
            <a:blip r:embed="rId4"/>
            <a:stretch>
              <a:fillRect/>
            </a:stretch>
          </p:blipFill>
          <p:spPr>
            <a:xfrm>
              <a:off x="2755501" y="6266730"/>
              <a:ext cx="596535" cy="468000"/>
            </a:xfrm>
            <a:prstGeom prst="rect">
              <a:avLst/>
            </a:prstGeom>
          </p:spPr>
        </p:pic>
        <p:pic>
          <p:nvPicPr>
            <p:cNvPr id="17" name="图片 16"/>
            <p:cNvPicPr>
              <a:picLocks noChangeAspect="1"/>
            </p:cNvPicPr>
            <p:nvPr/>
          </p:nvPicPr>
          <p:blipFill>
            <a:blip r:embed="rId5"/>
            <a:stretch>
              <a:fillRect/>
            </a:stretch>
          </p:blipFill>
          <p:spPr>
            <a:xfrm>
              <a:off x="7279346" y="6266730"/>
              <a:ext cx="1919478" cy="468000"/>
            </a:xfrm>
            <a:prstGeom prst="rect">
              <a:avLst/>
            </a:prstGeom>
          </p:spPr>
        </p:pic>
        <p:pic>
          <p:nvPicPr>
            <p:cNvPr id="19" name="图片 18"/>
            <p:cNvPicPr>
              <a:picLocks noChangeAspect="1"/>
            </p:cNvPicPr>
            <p:nvPr/>
          </p:nvPicPr>
          <p:blipFill>
            <a:blip r:embed="rId6"/>
            <a:stretch>
              <a:fillRect/>
            </a:stretch>
          </p:blipFill>
          <p:spPr>
            <a:xfrm>
              <a:off x="6017496" y="6266730"/>
              <a:ext cx="1287000" cy="468000"/>
            </a:xfrm>
            <a:prstGeom prst="rect">
              <a:avLst/>
            </a:prstGeom>
          </p:spPr>
        </p:pic>
        <p:pic>
          <p:nvPicPr>
            <p:cNvPr id="21" name="图片 20"/>
            <p:cNvPicPr>
              <a:picLocks noChangeAspect="1"/>
            </p:cNvPicPr>
            <p:nvPr/>
          </p:nvPicPr>
          <p:blipFill>
            <a:blip r:embed="rId7"/>
            <a:stretch>
              <a:fillRect/>
            </a:stretch>
          </p:blipFill>
          <p:spPr>
            <a:xfrm>
              <a:off x="4444990" y="6266730"/>
              <a:ext cx="1597656" cy="468000"/>
            </a:xfrm>
            <a:prstGeom prst="rect">
              <a:avLst/>
            </a:prstGeom>
          </p:spPr>
        </p:pic>
        <p:pic>
          <p:nvPicPr>
            <p:cNvPr id="25" name="图片 24"/>
            <p:cNvPicPr>
              <a:picLocks noChangeAspect="1"/>
            </p:cNvPicPr>
            <p:nvPr/>
          </p:nvPicPr>
          <p:blipFill>
            <a:blip r:embed="rId8"/>
            <a:stretch>
              <a:fillRect/>
            </a:stretch>
          </p:blipFill>
          <p:spPr>
            <a:xfrm>
              <a:off x="3959400" y="6266730"/>
              <a:ext cx="510740" cy="468000"/>
            </a:xfrm>
            <a:prstGeom prst="rect">
              <a:avLst/>
            </a:prstGeom>
          </p:spPr>
        </p:pic>
        <p:pic>
          <p:nvPicPr>
            <p:cNvPr id="27" name="图片 26"/>
            <p:cNvPicPr>
              <a:picLocks noChangeAspect="1"/>
            </p:cNvPicPr>
            <p:nvPr/>
          </p:nvPicPr>
          <p:blipFill>
            <a:blip r:embed="rId9"/>
            <a:stretch>
              <a:fillRect/>
            </a:stretch>
          </p:blipFill>
          <p:spPr>
            <a:xfrm>
              <a:off x="3326886" y="6266730"/>
              <a:ext cx="657664" cy="468000"/>
            </a:xfrm>
            <a:prstGeom prst="rect">
              <a:avLst/>
            </a:prstGeom>
          </p:spPr>
        </p:pic>
      </p:grpSp>
      <p:sp>
        <p:nvSpPr>
          <p:cNvPr id="14" name="AutoShape 4" descr="“data”的图片搜索结果"/>
          <p:cNvSpPr>
            <a:spLocks noChangeAspect="1" noChangeArrowheads="1"/>
          </p:cNvSpPr>
          <p:nvPr/>
        </p:nvSpPr>
        <p:spPr bwMode="auto">
          <a:xfrm>
            <a:off x="1458535" y="-538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灯片编号占位符 5"/>
          <p:cNvSpPr>
            <a:spLocks noGrp="1"/>
          </p:cNvSpPr>
          <p:nvPr>
            <p:ph type="sldNum" sz="quarter" idx="12"/>
          </p:nvPr>
        </p:nvSpPr>
        <p:spPr/>
        <p:txBody>
          <a:bodyPr/>
          <a:lstStyle/>
          <a:p>
            <a:fld id="{0D4EF626-F2E7-47E8-A3E5-EAE9C4555C6D}" type="slidenum">
              <a:rPr lang="zh-CN" altLang="en-US" smtClean="0"/>
            </a:fld>
            <a:endParaRPr lang="zh-CN" altLang="en-US"/>
          </a:p>
        </p:txBody>
      </p:sp>
      <p:sp>
        <p:nvSpPr>
          <p:cNvPr id="16" name="Rectangle 3"/>
          <p:cNvSpPr txBox="1">
            <a:spLocks noChangeArrowheads="1"/>
          </p:cNvSpPr>
          <p:nvPr/>
        </p:nvSpPr>
        <p:spPr>
          <a:xfrm>
            <a:off x="2042795" y="76200"/>
            <a:ext cx="8024495" cy="5986145"/>
          </a:xfrm>
          <a:prstGeom prst="rect">
            <a:avLst/>
          </a:prstGeom>
        </p:spPr>
        <p:txBody>
          <a:bodyPr/>
          <a:lstStyle/>
          <a:p>
            <a:pPr marL="342900" lvl="0" indent="-342900" algn="l" eaLnBrk="0" hangingPunct="0">
              <a:lnSpc>
                <a:spcPct val="125000"/>
              </a:lnSpc>
              <a:spcBef>
                <a:spcPts val="1200"/>
              </a:spcBef>
              <a:spcAft>
                <a:spcPts val="1200"/>
              </a:spcAft>
              <a:buClr>
                <a:srgbClr val="FFFF00"/>
              </a:buClr>
              <a:buSzPct val="100000"/>
              <a:buFont typeface="Wingdings" panose="05000000000000000000" pitchFamily="2" charset="2"/>
              <a:buChar char="u"/>
            </a:pPr>
            <a:r>
              <a:rPr kumimoji="1" lang="zh-CN" altLang="en-US" sz="2800" b="1" i="0" u="none" strike="noStrike" kern="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rPr>
              <a:t> 存储管理的目的</a:t>
            </a:r>
            <a:endParaRPr kumimoji="1" lang="en-US" altLang="zh-CN" sz="2800" b="1" i="0" u="none" strike="noStrike" kern="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endParaRPr>
          </a:p>
          <a:p>
            <a:pPr marL="800100" lvl="1" indent="-342900" eaLnBrk="0" hangingPunct="0">
              <a:lnSpc>
                <a:spcPct val="125000"/>
              </a:lnSpc>
              <a:spcBef>
                <a:spcPts val="1200"/>
              </a:spcBef>
              <a:spcAft>
                <a:spcPts val="600"/>
              </a:spcAft>
              <a:buClr>
                <a:srgbClr val="FFFF00"/>
              </a:buClr>
              <a:buSzPct val="100000"/>
              <a:buFont typeface="Wingdings" panose="05000000000000000000" pitchFamily="2" charset="2"/>
              <a:buChar char="Ø"/>
            </a:pPr>
            <a:r>
              <a:rPr kumimoji="1" lang="zh-CN" sz="2400" b="1" kern="0" dirty="0">
                <a:solidFill>
                  <a:srgbClr val="FFFF00"/>
                </a:solidFill>
                <a:latin typeface="微软雅黑" panose="020B0503020204020204" pitchFamily="34" charset="-122"/>
                <a:ea typeface="微软雅黑" panose="020B0503020204020204" pitchFamily="34" charset="-122"/>
              </a:rPr>
              <a:t>操作系统的</a:t>
            </a:r>
            <a:r>
              <a:rPr kumimoji="1" lang="zh-CN" altLang="en-US" sz="2400" b="1" kern="0" dirty="0">
                <a:solidFill>
                  <a:srgbClr val="FFFF00"/>
                </a:solidFill>
                <a:latin typeface="微软雅黑" panose="020B0503020204020204" pitchFamily="34" charset="-122"/>
                <a:ea typeface="微软雅黑" panose="020B0503020204020204" pitchFamily="34" charset="-122"/>
              </a:rPr>
              <a:t>“方便性”</a:t>
            </a:r>
            <a:endParaRPr kumimoji="1" lang="zh-CN" sz="2400" b="1" kern="0" dirty="0">
              <a:solidFill>
                <a:srgbClr val="FFFF00"/>
              </a:solidFill>
              <a:latin typeface="微软雅黑" panose="020B0503020204020204" pitchFamily="34" charset="-122"/>
              <a:ea typeface="微软雅黑" panose="020B0503020204020204" pitchFamily="34" charset="-122"/>
            </a:endParaRPr>
          </a:p>
          <a:p>
            <a:pPr marL="1200150" lvl="2" indent="-285750" eaLnBrk="0" fontAlgn="base" latinLnBrk="1" hangingPunct="0">
              <a:lnSpc>
                <a:spcPct val="125000"/>
              </a:lnSpc>
              <a:spcBef>
                <a:spcPct val="20000"/>
              </a:spcBef>
              <a:spcAft>
                <a:spcPct val="0"/>
              </a:spcAft>
              <a:buFontTx/>
              <a:buChar char="–"/>
              <a:defRPr/>
            </a:pPr>
            <a:r>
              <a:rPr kumimoji="1" lang="zh-CN"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便于用户装入程序，无须了解底层细节</a:t>
            </a:r>
            <a:endParaRPr kumimoji="1" lang="zh-CN"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1200150" lvl="2" indent="-285750" eaLnBrk="0" fontAlgn="base" latinLnBrk="1" hangingPunct="0">
              <a:lnSpc>
                <a:spcPct val="125000"/>
              </a:lnSpc>
              <a:spcBef>
                <a:spcPct val="20000"/>
              </a:spcBef>
              <a:spcAft>
                <a:spcPct val="0"/>
              </a:spcAft>
              <a:buFontTx/>
              <a:buChar char="–"/>
              <a:defRPr/>
            </a:pPr>
            <a:r>
              <a:rPr kumimoji="1" lang="zh-CN"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rPr>
              <a:t>可实现动态的存储空间伸缩，适应不同程序的需要</a:t>
            </a:r>
            <a:endParaRPr kumimoji="1" lang="zh-CN" sz="2000" b="1" i="0" u="none" strike="noStrike" kern="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endParaRPr>
          </a:p>
          <a:p>
            <a:pPr marL="800100" lvl="1" indent="-342900" eaLnBrk="0" hangingPunct="0">
              <a:lnSpc>
                <a:spcPct val="125000"/>
              </a:lnSpc>
              <a:spcBef>
                <a:spcPts val="1200"/>
              </a:spcBef>
              <a:spcAft>
                <a:spcPts val="600"/>
              </a:spcAft>
              <a:buClr>
                <a:srgbClr val="FFFF00"/>
              </a:buClr>
              <a:buSzPct val="100000"/>
              <a:buFont typeface="Wingdings" panose="05000000000000000000" pitchFamily="2" charset="2"/>
              <a:buChar char="Ø"/>
            </a:pPr>
            <a:r>
              <a:rPr kumimoji="1" lang="zh-CN" sz="2400" b="1" kern="0" dirty="0">
                <a:solidFill>
                  <a:srgbClr val="FFFF00"/>
                </a:solidFill>
                <a:latin typeface="微软雅黑" panose="020B0503020204020204" pitchFamily="34" charset="-122"/>
                <a:ea typeface="微软雅黑" panose="020B0503020204020204" pitchFamily="34" charset="-122"/>
              </a:rPr>
              <a:t>操作系统的</a:t>
            </a:r>
            <a:r>
              <a:rPr kumimoji="1" lang="zh-CN" altLang="en-US" sz="2400" b="1" kern="0" dirty="0">
                <a:solidFill>
                  <a:srgbClr val="FFFF00"/>
                </a:solidFill>
                <a:latin typeface="微软雅黑" panose="020B0503020204020204" pitchFamily="34" charset="-122"/>
                <a:ea typeface="微软雅黑" panose="020B0503020204020204" pitchFamily="34" charset="-122"/>
              </a:rPr>
              <a:t>“合理性”</a:t>
            </a:r>
            <a:endParaRPr kumimoji="1" lang="zh-CN" altLang="en-US" sz="2400" b="1" kern="0" dirty="0">
              <a:solidFill>
                <a:srgbClr val="FFFF00"/>
              </a:solidFill>
              <a:latin typeface="微软雅黑" panose="020B0503020204020204" pitchFamily="34" charset="-122"/>
              <a:ea typeface="微软雅黑" panose="020B0503020204020204" pitchFamily="34" charset="-122"/>
            </a:endParaRPr>
          </a:p>
          <a:p>
            <a:pPr marL="1200150" lvl="2" indent="-285750" eaLnBrk="0" fontAlgn="base" latinLnBrk="1" hangingPunct="0">
              <a:lnSpc>
                <a:spcPct val="125000"/>
              </a:lnSpc>
              <a:spcBef>
                <a:spcPct val="20000"/>
              </a:spcBef>
              <a:spcAft>
                <a:spcPct val="0"/>
              </a:spcAft>
              <a:buFontTx/>
              <a:buChar char="–"/>
              <a:defRPr/>
            </a:pPr>
            <a:r>
              <a:rPr kumimoji="1" lang="zh-CN" sz="2000" b="1" kern="0" dirty="0">
                <a:solidFill>
                  <a:schemeClr val="bg1"/>
                </a:solidFill>
                <a:latin typeface="微软雅黑" panose="020B0503020204020204" pitchFamily="34" charset="-122"/>
                <a:ea typeface="微软雅黑" panose="020B0503020204020204" pitchFamily="34" charset="-122"/>
              </a:rPr>
              <a:t>合理分配内存空间，保证多道程序的顺利运行</a:t>
            </a:r>
            <a:endParaRPr kumimoji="1" lang="zh-CN" sz="2000" b="1" kern="0" dirty="0">
              <a:solidFill>
                <a:schemeClr val="bg1"/>
              </a:solidFill>
              <a:latin typeface="微软雅黑" panose="020B0503020204020204" pitchFamily="34" charset="-122"/>
              <a:ea typeface="微软雅黑" panose="020B0503020204020204" pitchFamily="34" charset="-122"/>
            </a:endParaRPr>
          </a:p>
          <a:p>
            <a:pPr marL="1200150" lvl="2" indent="-285750" eaLnBrk="0" fontAlgn="base" latinLnBrk="1" hangingPunct="0">
              <a:lnSpc>
                <a:spcPct val="125000"/>
              </a:lnSpc>
              <a:spcBef>
                <a:spcPct val="20000"/>
              </a:spcBef>
              <a:spcAft>
                <a:spcPct val="0"/>
              </a:spcAft>
              <a:buFontTx/>
              <a:buChar char="–"/>
              <a:defRPr/>
            </a:pPr>
            <a:r>
              <a:rPr kumimoji="1" lang="zh-CN" sz="2000" b="1" kern="0" dirty="0">
                <a:solidFill>
                  <a:schemeClr val="bg1"/>
                </a:solidFill>
                <a:latin typeface="微软雅黑" panose="020B0503020204020204" pitchFamily="34" charset="-122"/>
                <a:ea typeface="微软雅黑" panose="020B0503020204020204" pitchFamily="34" charset="-122"/>
              </a:rPr>
              <a:t>合理保护内存空间，防止各种可能的破坏泄漏</a:t>
            </a:r>
            <a:endParaRPr kumimoji="1" lang="zh-CN" sz="2000" b="1" kern="0" dirty="0">
              <a:solidFill>
                <a:schemeClr val="bg1"/>
              </a:solidFill>
              <a:latin typeface="微软雅黑" panose="020B0503020204020204" pitchFamily="34" charset="-122"/>
              <a:ea typeface="微软雅黑" panose="020B0503020204020204" pitchFamily="34" charset="-122"/>
            </a:endParaRPr>
          </a:p>
          <a:p>
            <a:pPr marL="800100" marR="0" lvl="1" indent="-342900" eaLnBrk="0" hangingPunct="0">
              <a:lnSpc>
                <a:spcPct val="125000"/>
              </a:lnSpc>
              <a:spcBef>
                <a:spcPts val="1200"/>
              </a:spcBef>
              <a:spcAft>
                <a:spcPts val="600"/>
              </a:spcAft>
              <a:buClr>
                <a:srgbClr val="FFFF00"/>
              </a:buClr>
              <a:buSzPct val="100000"/>
              <a:buFont typeface="Wingdings" panose="05000000000000000000" pitchFamily="2" charset="2"/>
              <a:buChar char="Ø"/>
              <a:defRPr/>
            </a:pPr>
            <a:r>
              <a:rPr kumimoji="1" lang="zh-CN" sz="2400" b="1" kern="0" dirty="0">
                <a:solidFill>
                  <a:srgbClr val="FFFF00"/>
                </a:solidFill>
                <a:latin typeface="微软雅黑" panose="020B0503020204020204" pitchFamily="34" charset="-122"/>
                <a:ea typeface="微软雅黑" panose="020B0503020204020204" pitchFamily="34" charset="-122"/>
              </a:rPr>
              <a:t>操作系统的“</a:t>
            </a:r>
            <a:r>
              <a:rPr kumimoji="1" lang="zh-CN" altLang="en-US" sz="2400" b="1" kern="0" dirty="0">
                <a:solidFill>
                  <a:srgbClr val="FFFF00"/>
                </a:solidFill>
                <a:latin typeface="微软雅黑" panose="020B0503020204020204" pitchFamily="34" charset="-122"/>
                <a:ea typeface="微软雅黑" panose="020B0503020204020204" pitchFamily="34" charset="-122"/>
              </a:rPr>
              <a:t>有效性”</a:t>
            </a:r>
            <a:endParaRPr kumimoji="1" lang="zh-CN" altLang="en-US" sz="2400" b="1" kern="0" dirty="0">
              <a:solidFill>
                <a:srgbClr val="FFFF00"/>
              </a:solidFill>
              <a:latin typeface="微软雅黑" panose="020B0503020204020204" pitchFamily="34" charset="-122"/>
              <a:ea typeface="微软雅黑" panose="020B0503020204020204" pitchFamily="34" charset="-122"/>
            </a:endParaRPr>
          </a:p>
          <a:p>
            <a:pPr marL="1200150" lvl="2" indent="-285750" eaLnBrk="0" fontAlgn="base" latinLnBrk="1" hangingPunct="0">
              <a:lnSpc>
                <a:spcPct val="125000"/>
              </a:lnSpc>
              <a:spcBef>
                <a:spcPct val="20000"/>
              </a:spcBef>
              <a:spcAft>
                <a:spcPct val="0"/>
              </a:spcAft>
              <a:buFontTx/>
              <a:buChar char="–"/>
              <a:defRPr/>
            </a:pPr>
            <a:r>
              <a:rPr kumimoji="1" lang="zh-CN" sz="2000" b="1" kern="0" dirty="0">
                <a:solidFill>
                  <a:schemeClr val="bg1"/>
                </a:solidFill>
                <a:latin typeface="微软雅黑" panose="020B0503020204020204" pitchFamily="34" charset="-122"/>
                <a:ea typeface="微软雅黑" panose="020B0503020204020204" pitchFamily="34" charset="-122"/>
              </a:rPr>
              <a:t>有效保持内存空间的可用性，防止对资源的浪费</a:t>
            </a:r>
            <a:endParaRPr kumimoji="1" lang="zh-CN" sz="2000" b="1" kern="0" dirty="0">
              <a:solidFill>
                <a:schemeClr val="bg1"/>
              </a:solidFill>
              <a:latin typeface="微软雅黑" panose="020B0503020204020204" pitchFamily="34" charset="-122"/>
              <a:ea typeface="微软雅黑" panose="020B0503020204020204" pitchFamily="34" charset="-122"/>
            </a:endParaRPr>
          </a:p>
          <a:p>
            <a:pPr marL="1200150" lvl="2" indent="-285750" eaLnBrk="0" fontAlgn="base" latinLnBrk="1" hangingPunct="0">
              <a:lnSpc>
                <a:spcPct val="125000"/>
              </a:lnSpc>
              <a:spcBef>
                <a:spcPct val="20000"/>
              </a:spcBef>
              <a:spcAft>
                <a:spcPct val="0"/>
              </a:spcAft>
              <a:buFontTx/>
              <a:buChar char="–"/>
              <a:defRPr/>
            </a:pPr>
            <a:r>
              <a:rPr kumimoji="1" lang="zh-CN" sz="2000" b="1" kern="0" dirty="0">
                <a:solidFill>
                  <a:schemeClr val="bg1"/>
                </a:solidFill>
                <a:latin typeface="微软雅黑" panose="020B0503020204020204" pitchFamily="34" charset="-122"/>
                <a:ea typeface="微软雅黑" panose="020B0503020204020204" pitchFamily="34" charset="-122"/>
              </a:rPr>
              <a:t>有效实现“小空间大容量”，提高计算机的适应性</a:t>
            </a:r>
            <a:endParaRPr kumimoji="1" lang="zh-CN" sz="2000" b="1" kern="0" dirty="0">
              <a:solidFill>
                <a:schemeClr val="bg1"/>
              </a:solidFill>
              <a:latin typeface="微软雅黑" panose="020B0503020204020204" pitchFamily="34" charset="-122"/>
              <a:ea typeface="微软雅黑" panose="020B0503020204020204" pitchFamily="34" charset="-122"/>
            </a:endParaRPr>
          </a:p>
          <a:p>
            <a:pPr marL="1200150" lvl="2" indent="-285750" eaLnBrk="0" fontAlgn="base" latinLnBrk="1" hangingPunct="0">
              <a:lnSpc>
                <a:spcPct val="125000"/>
              </a:lnSpc>
              <a:spcBef>
                <a:spcPct val="20000"/>
              </a:spcBef>
              <a:spcAft>
                <a:spcPct val="0"/>
              </a:spcAft>
              <a:buFontTx/>
              <a:buChar char="–"/>
              <a:defRPr/>
            </a:pPr>
            <a:r>
              <a:rPr kumimoji="1" lang="zh-CN" sz="2000" b="1" kern="0" dirty="0">
                <a:solidFill>
                  <a:schemeClr val="bg1"/>
                </a:solidFill>
                <a:latin typeface="微软雅黑" panose="020B0503020204020204" pitchFamily="34" charset="-122"/>
                <a:ea typeface="微软雅黑" panose="020B0503020204020204" pitchFamily="34" charset="-122"/>
              </a:rPr>
              <a:t>有效配合</a:t>
            </a:r>
            <a:r>
              <a:rPr kumimoji="1" lang="en-US" altLang="zh-CN" sz="2000" b="1" kern="0" dirty="0">
                <a:solidFill>
                  <a:schemeClr val="bg1"/>
                </a:solidFill>
                <a:latin typeface="微软雅黑" panose="020B0503020204020204" pitchFamily="34" charset="-122"/>
                <a:ea typeface="微软雅黑" panose="020B0503020204020204" pitchFamily="34" charset="-122"/>
              </a:rPr>
              <a:t>CPU</a:t>
            </a:r>
            <a:r>
              <a:rPr kumimoji="1" lang="zh-CN" sz="2000" b="1" kern="0" dirty="0">
                <a:solidFill>
                  <a:schemeClr val="bg1"/>
                </a:solidFill>
                <a:latin typeface="微软雅黑" panose="020B0503020204020204" pitchFamily="34" charset="-122"/>
                <a:ea typeface="微软雅黑" panose="020B0503020204020204" pitchFamily="34" charset="-122"/>
              </a:rPr>
              <a:t>的调度过程，实现系统运行的稳定</a:t>
            </a:r>
            <a:endParaRPr kumimoji="1" lang="zh-CN" sz="2000" b="1" kern="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xEl>
                                              <p:pRg st="2" end="2"/>
                                            </p:txEl>
                                          </p:spTgt>
                                        </p:tgtEl>
                                        <p:attrNameLst>
                                          <p:attrName>style.visibility</p:attrName>
                                        </p:attrNameLst>
                                      </p:cBhvr>
                                      <p:to>
                                        <p:strVal val="visible"/>
                                      </p:to>
                                    </p:set>
                                    <p:animEffect transition="in" filter="dissolve">
                                      <p:cBhvr>
                                        <p:cTn id="7" dur="1000"/>
                                        <p:tgtEl>
                                          <p:spTgt spid="16">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16">
                                            <p:txEl>
                                              <p:pRg st="3" end="3"/>
                                            </p:txEl>
                                          </p:spTgt>
                                        </p:tgtEl>
                                        <p:attrNameLst>
                                          <p:attrName>style.visibility</p:attrName>
                                        </p:attrNameLst>
                                      </p:cBhvr>
                                      <p:to>
                                        <p:strVal val="visible"/>
                                      </p:to>
                                    </p:set>
                                    <p:animEffect transition="in" filter="dissolve">
                                      <p:cBhvr>
                                        <p:cTn id="10" dur="1000"/>
                                        <p:tgtEl>
                                          <p:spTgt spid="16">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6">
                                            <p:txEl>
                                              <p:pRg st="5" end="5"/>
                                            </p:txEl>
                                          </p:spTgt>
                                        </p:tgtEl>
                                        <p:attrNameLst>
                                          <p:attrName>style.visibility</p:attrName>
                                        </p:attrNameLst>
                                      </p:cBhvr>
                                      <p:to>
                                        <p:strVal val="visible"/>
                                      </p:to>
                                    </p:set>
                                    <p:animEffect transition="in" filter="dissolve">
                                      <p:cBhvr>
                                        <p:cTn id="15" dur="1000"/>
                                        <p:tgtEl>
                                          <p:spTgt spid="16">
                                            <p:txEl>
                                              <p:pRg st="5" end="5"/>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16">
                                            <p:txEl>
                                              <p:pRg st="6" end="6"/>
                                            </p:txEl>
                                          </p:spTgt>
                                        </p:tgtEl>
                                        <p:attrNameLst>
                                          <p:attrName>style.visibility</p:attrName>
                                        </p:attrNameLst>
                                      </p:cBhvr>
                                      <p:to>
                                        <p:strVal val="visible"/>
                                      </p:to>
                                    </p:set>
                                    <p:animEffect transition="in" filter="dissolve">
                                      <p:cBhvr>
                                        <p:cTn id="18" dur="1000"/>
                                        <p:tgtEl>
                                          <p:spTgt spid="16">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16">
                                            <p:txEl>
                                              <p:pRg st="8" end="8"/>
                                            </p:txEl>
                                          </p:spTgt>
                                        </p:tgtEl>
                                        <p:attrNameLst>
                                          <p:attrName>style.visibility</p:attrName>
                                        </p:attrNameLst>
                                      </p:cBhvr>
                                      <p:to>
                                        <p:strVal val="visible"/>
                                      </p:to>
                                    </p:set>
                                    <p:animEffect transition="in" filter="dissolve">
                                      <p:cBhvr>
                                        <p:cTn id="23" dur="1000"/>
                                        <p:tgtEl>
                                          <p:spTgt spid="16">
                                            <p:txEl>
                                              <p:pRg st="8" end="8"/>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16">
                                            <p:txEl>
                                              <p:pRg st="9" end="9"/>
                                            </p:txEl>
                                          </p:spTgt>
                                        </p:tgtEl>
                                        <p:attrNameLst>
                                          <p:attrName>style.visibility</p:attrName>
                                        </p:attrNameLst>
                                      </p:cBhvr>
                                      <p:to>
                                        <p:strVal val="visible"/>
                                      </p:to>
                                    </p:set>
                                    <p:animEffect transition="in" filter="dissolve">
                                      <p:cBhvr>
                                        <p:cTn id="26" dur="1000"/>
                                        <p:tgtEl>
                                          <p:spTgt spid="16">
                                            <p:txEl>
                                              <p:pRg st="9" end="9"/>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16">
                                            <p:txEl>
                                              <p:pRg st="10" end="10"/>
                                            </p:txEl>
                                          </p:spTgt>
                                        </p:tgtEl>
                                        <p:attrNameLst>
                                          <p:attrName>style.visibility</p:attrName>
                                        </p:attrNameLst>
                                      </p:cBhvr>
                                      <p:to>
                                        <p:strVal val="visible"/>
                                      </p:to>
                                    </p:set>
                                    <p:animEffect transition="in" filter="dissolve">
                                      <p:cBhvr>
                                        <p:cTn id="29" dur="1000"/>
                                        <p:tgtEl>
                                          <p:spTgt spid="1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nvGrpSpPr>
        <p:grpSpPr>
          <a:xfrm>
            <a:off x="0" y="-13335"/>
            <a:ext cx="12272010" cy="6734810"/>
            <a:chOff x="-28419" y="1"/>
            <a:chExt cx="9227243" cy="6734729"/>
          </a:xfrm>
        </p:grpSpPr>
        <p:pic>
          <p:nvPicPr>
            <p:cNvPr id="3076" name="Picture 4" descr="Types of Operating System - Top 10 Popular Operating System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
              <a:ext cx="9144000" cy="6165668"/>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p:nvSpPr>
          <p:spPr>
            <a:xfrm>
              <a:off x="0" y="1"/>
              <a:ext cx="9144000" cy="6165668"/>
            </a:xfrm>
            <a:prstGeom prst="rect">
              <a:avLst/>
            </a:prstGeom>
            <a:solidFill>
              <a:srgbClr val="2F5597"/>
            </a:solidFill>
            <a:ln>
              <a:solidFill>
                <a:srgbClr val="2F559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9" name="图片 8"/>
            <p:cNvPicPr>
              <a:picLocks noChangeAspect="1"/>
            </p:cNvPicPr>
            <p:nvPr/>
          </p:nvPicPr>
          <p:blipFill>
            <a:blip r:embed="rId2"/>
            <a:stretch>
              <a:fillRect/>
            </a:stretch>
          </p:blipFill>
          <p:spPr>
            <a:xfrm>
              <a:off x="-28419" y="6266730"/>
              <a:ext cx="1800913" cy="468000"/>
            </a:xfrm>
            <a:prstGeom prst="rect">
              <a:avLst/>
            </a:prstGeom>
          </p:spPr>
        </p:pic>
        <p:pic>
          <p:nvPicPr>
            <p:cNvPr id="12" name="图片 11"/>
            <p:cNvPicPr>
              <a:picLocks noChangeAspect="1"/>
            </p:cNvPicPr>
            <p:nvPr/>
          </p:nvPicPr>
          <p:blipFill>
            <a:blip r:embed="rId3"/>
            <a:stretch>
              <a:fillRect/>
            </a:stretch>
          </p:blipFill>
          <p:spPr>
            <a:xfrm>
              <a:off x="1747344" y="6266730"/>
              <a:ext cx="1033307" cy="468000"/>
            </a:xfrm>
            <a:prstGeom prst="rect">
              <a:avLst/>
            </a:prstGeom>
          </p:spPr>
        </p:pic>
        <p:pic>
          <p:nvPicPr>
            <p:cNvPr id="15" name="图片 14"/>
            <p:cNvPicPr>
              <a:picLocks noChangeAspect="1"/>
            </p:cNvPicPr>
            <p:nvPr/>
          </p:nvPicPr>
          <p:blipFill>
            <a:blip r:embed="rId4"/>
            <a:stretch>
              <a:fillRect/>
            </a:stretch>
          </p:blipFill>
          <p:spPr>
            <a:xfrm>
              <a:off x="2755501" y="6266730"/>
              <a:ext cx="596535" cy="468000"/>
            </a:xfrm>
            <a:prstGeom prst="rect">
              <a:avLst/>
            </a:prstGeom>
          </p:spPr>
        </p:pic>
        <p:pic>
          <p:nvPicPr>
            <p:cNvPr id="17" name="图片 16"/>
            <p:cNvPicPr>
              <a:picLocks noChangeAspect="1"/>
            </p:cNvPicPr>
            <p:nvPr/>
          </p:nvPicPr>
          <p:blipFill>
            <a:blip r:embed="rId5"/>
            <a:stretch>
              <a:fillRect/>
            </a:stretch>
          </p:blipFill>
          <p:spPr>
            <a:xfrm>
              <a:off x="7279346" y="6266730"/>
              <a:ext cx="1919478" cy="468000"/>
            </a:xfrm>
            <a:prstGeom prst="rect">
              <a:avLst/>
            </a:prstGeom>
          </p:spPr>
        </p:pic>
        <p:pic>
          <p:nvPicPr>
            <p:cNvPr id="19" name="图片 18"/>
            <p:cNvPicPr>
              <a:picLocks noChangeAspect="1"/>
            </p:cNvPicPr>
            <p:nvPr/>
          </p:nvPicPr>
          <p:blipFill>
            <a:blip r:embed="rId6"/>
            <a:stretch>
              <a:fillRect/>
            </a:stretch>
          </p:blipFill>
          <p:spPr>
            <a:xfrm>
              <a:off x="6017496" y="6266730"/>
              <a:ext cx="1287000" cy="468000"/>
            </a:xfrm>
            <a:prstGeom prst="rect">
              <a:avLst/>
            </a:prstGeom>
          </p:spPr>
        </p:pic>
        <p:pic>
          <p:nvPicPr>
            <p:cNvPr id="21" name="图片 20"/>
            <p:cNvPicPr>
              <a:picLocks noChangeAspect="1"/>
            </p:cNvPicPr>
            <p:nvPr/>
          </p:nvPicPr>
          <p:blipFill>
            <a:blip r:embed="rId7"/>
            <a:stretch>
              <a:fillRect/>
            </a:stretch>
          </p:blipFill>
          <p:spPr>
            <a:xfrm>
              <a:off x="4444990" y="6266730"/>
              <a:ext cx="1597656" cy="468000"/>
            </a:xfrm>
            <a:prstGeom prst="rect">
              <a:avLst/>
            </a:prstGeom>
          </p:spPr>
        </p:pic>
        <p:pic>
          <p:nvPicPr>
            <p:cNvPr id="25" name="图片 24"/>
            <p:cNvPicPr>
              <a:picLocks noChangeAspect="1"/>
            </p:cNvPicPr>
            <p:nvPr/>
          </p:nvPicPr>
          <p:blipFill>
            <a:blip r:embed="rId8"/>
            <a:stretch>
              <a:fillRect/>
            </a:stretch>
          </p:blipFill>
          <p:spPr>
            <a:xfrm>
              <a:off x="3959400" y="6266730"/>
              <a:ext cx="510740" cy="468000"/>
            </a:xfrm>
            <a:prstGeom prst="rect">
              <a:avLst/>
            </a:prstGeom>
          </p:spPr>
        </p:pic>
        <p:pic>
          <p:nvPicPr>
            <p:cNvPr id="27" name="图片 26"/>
            <p:cNvPicPr>
              <a:picLocks noChangeAspect="1"/>
            </p:cNvPicPr>
            <p:nvPr/>
          </p:nvPicPr>
          <p:blipFill>
            <a:blip r:embed="rId9"/>
            <a:stretch>
              <a:fillRect/>
            </a:stretch>
          </p:blipFill>
          <p:spPr>
            <a:xfrm>
              <a:off x="3326886" y="6266730"/>
              <a:ext cx="657664" cy="468000"/>
            </a:xfrm>
            <a:prstGeom prst="rect">
              <a:avLst/>
            </a:prstGeom>
          </p:spPr>
        </p:pic>
      </p:grpSp>
      <p:sp>
        <p:nvSpPr>
          <p:cNvPr id="14" name="AutoShape 4" descr="“data”的图片搜索结果"/>
          <p:cNvSpPr>
            <a:spLocks noChangeAspect="1" noChangeArrowheads="1"/>
          </p:cNvSpPr>
          <p:nvPr/>
        </p:nvSpPr>
        <p:spPr bwMode="auto">
          <a:xfrm>
            <a:off x="1458535" y="-538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灯片编号占位符 5"/>
          <p:cNvSpPr>
            <a:spLocks noGrp="1"/>
          </p:cNvSpPr>
          <p:nvPr>
            <p:ph type="sldNum" sz="quarter" idx="12"/>
          </p:nvPr>
        </p:nvSpPr>
        <p:spPr/>
        <p:txBody>
          <a:bodyPr/>
          <a:lstStyle/>
          <a:p>
            <a:fld id="{0D4EF626-F2E7-47E8-A3E5-EAE9C4555C6D}" type="slidenum">
              <a:rPr lang="zh-CN" altLang="en-US" smtClean="0"/>
            </a:fld>
            <a:endParaRPr lang="zh-CN" altLang="en-US"/>
          </a:p>
        </p:txBody>
      </p:sp>
      <p:sp>
        <p:nvSpPr>
          <p:cNvPr id="16" name="Rectangle 3"/>
          <p:cNvSpPr txBox="1">
            <a:spLocks noChangeArrowheads="1"/>
          </p:cNvSpPr>
          <p:nvPr/>
        </p:nvSpPr>
        <p:spPr>
          <a:xfrm>
            <a:off x="1641964" y="136524"/>
            <a:ext cx="8240231" cy="5986350"/>
          </a:xfrm>
          <a:prstGeom prst="rect">
            <a:avLst/>
          </a:prstGeom>
        </p:spPr>
        <p:txBody>
          <a:bodyPr/>
          <a:lstStyle/>
          <a:p>
            <a:pPr marL="342900" lvl="0" indent="-342900" algn="l" eaLnBrk="0" hangingPunct="0">
              <a:lnSpc>
                <a:spcPct val="125000"/>
              </a:lnSpc>
              <a:spcBef>
                <a:spcPts val="1200"/>
              </a:spcBef>
              <a:spcAft>
                <a:spcPts val="1200"/>
              </a:spcAft>
              <a:buClr>
                <a:srgbClr val="FFFF00"/>
              </a:buClr>
              <a:buSzPct val="100000"/>
              <a:buFont typeface="Wingdings" panose="05000000000000000000" pitchFamily="2" charset="2"/>
              <a:buChar char="u"/>
            </a:pPr>
            <a:r>
              <a:rPr kumimoji="1" lang="zh-CN" altLang="en-US" sz="2800" b="1" i="0" u="none" strike="noStrike" kern="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rPr>
              <a:t> 存储管理的功能</a:t>
            </a:r>
            <a:endParaRPr kumimoji="1" lang="en-US" altLang="zh-CN" sz="2800" b="1" i="0" u="none" strike="noStrike" kern="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endParaRPr>
          </a:p>
          <a:p>
            <a:pPr marL="800100" lvl="1" indent="-342900" eaLnBrk="0" hangingPunct="0">
              <a:lnSpc>
                <a:spcPct val="125000"/>
              </a:lnSpc>
              <a:buClr>
                <a:srgbClr val="FFFF00"/>
              </a:buClr>
              <a:buSzPct val="100000"/>
              <a:buFont typeface="Wingdings" panose="05000000000000000000" pitchFamily="2" charset="2"/>
              <a:buChar char="Ø"/>
            </a:pPr>
            <a:r>
              <a:rPr kumimoji="1" lang="zh-CN" altLang="en-US" sz="2400" b="1" kern="0" dirty="0">
                <a:solidFill>
                  <a:srgbClr val="FFFF00"/>
                </a:solidFill>
                <a:latin typeface="微软雅黑" panose="020B0503020204020204" pitchFamily="34" charset="-122"/>
                <a:ea typeface="微软雅黑" panose="020B0503020204020204" pitchFamily="34" charset="-122"/>
              </a:rPr>
              <a:t>内存的管理、分配与回收</a:t>
            </a:r>
            <a:endParaRPr kumimoji="1" lang="zh-CN" altLang="en-US" sz="2400" b="1" kern="0" dirty="0">
              <a:solidFill>
                <a:srgbClr val="FFFF00"/>
              </a:solidFill>
              <a:latin typeface="微软雅黑" panose="020B0503020204020204" pitchFamily="34" charset="-122"/>
              <a:ea typeface="微软雅黑" panose="020B0503020204020204" pitchFamily="34" charset="-122"/>
            </a:endParaRPr>
          </a:p>
          <a:p>
            <a:pPr marL="1200150" lvl="2" indent="-285750" eaLnBrk="0" fontAlgn="base" latinLnBrk="1" hangingPunct="0">
              <a:lnSpc>
                <a:spcPct val="125000"/>
              </a:lnSpc>
              <a:spcBef>
                <a:spcPct val="20000"/>
              </a:spcBef>
              <a:spcAft>
                <a:spcPct val="0"/>
              </a:spcAft>
              <a:buFontTx/>
              <a:buChar char="–"/>
              <a:defRPr/>
            </a:pPr>
            <a:r>
              <a:rPr kumimoji="1" lang="zh-CN" altLang="en-US" sz="2000" b="1" kern="0" dirty="0">
                <a:solidFill>
                  <a:schemeClr val="bg1"/>
                </a:solidFill>
                <a:latin typeface="微软雅黑" panose="020B0503020204020204" pitchFamily="34" charset="-122"/>
                <a:ea typeface="微软雅黑" panose="020B0503020204020204" pitchFamily="34" charset="-122"/>
              </a:rPr>
              <a:t>空间的使用情况记录</a:t>
            </a:r>
            <a:r>
              <a:rPr kumimoji="1" lang="en-US" altLang="zh-CN" sz="2000" b="1" kern="0" dirty="0">
                <a:solidFill>
                  <a:schemeClr val="bg1"/>
                </a:solidFill>
                <a:latin typeface="微软雅黑" panose="020B0503020204020204" pitchFamily="34" charset="-122"/>
                <a:ea typeface="微软雅黑" panose="020B0503020204020204" pitchFamily="34" charset="-122"/>
              </a:rPr>
              <a:t>—</a:t>
            </a:r>
            <a:r>
              <a:rPr kumimoji="1" lang="zh-CN" altLang="en-US" sz="2000" b="1" kern="0" dirty="0">
                <a:solidFill>
                  <a:schemeClr val="bg1"/>
                </a:solidFill>
                <a:latin typeface="微软雅黑" panose="020B0503020204020204" pitchFamily="34" charset="-122"/>
                <a:ea typeface="微软雅黑" panose="020B0503020204020204" pitchFamily="34" charset="-122"/>
              </a:rPr>
              <a:t>位图、分配表、分区表</a:t>
            </a:r>
            <a:endParaRPr kumimoji="1" lang="zh-CN" altLang="en-US" sz="2000" b="1" kern="0" dirty="0">
              <a:solidFill>
                <a:schemeClr val="bg1"/>
              </a:solidFill>
              <a:latin typeface="微软雅黑" panose="020B0503020204020204" pitchFamily="34" charset="-122"/>
              <a:ea typeface="微软雅黑" panose="020B0503020204020204" pitchFamily="34" charset="-122"/>
            </a:endParaRPr>
          </a:p>
          <a:p>
            <a:pPr marL="1200150" lvl="2" indent="-285750" eaLnBrk="0" fontAlgn="base" latinLnBrk="1" hangingPunct="0">
              <a:lnSpc>
                <a:spcPct val="125000"/>
              </a:lnSpc>
              <a:spcBef>
                <a:spcPct val="20000"/>
              </a:spcBef>
              <a:spcAft>
                <a:spcPct val="0"/>
              </a:spcAft>
              <a:buFontTx/>
              <a:buChar char="–"/>
              <a:defRPr/>
            </a:pPr>
            <a:r>
              <a:rPr kumimoji="1" lang="zh-CN" altLang="en-US" sz="2000" b="1" kern="0" dirty="0">
                <a:solidFill>
                  <a:schemeClr val="bg1"/>
                </a:solidFill>
                <a:latin typeface="微软雅黑" panose="020B0503020204020204" pitchFamily="34" charset="-122"/>
                <a:ea typeface="微软雅黑" panose="020B0503020204020204" pitchFamily="34" charset="-122"/>
              </a:rPr>
              <a:t>空间的分配与回收</a:t>
            </a:r>
            <a:r>
              <a:rPr kumimoji="1" lang="en-US" altLang="zh-CN" sz="2000" b="1" kern="0" dirty="0">
                <a:solidFill>
                  <a:schemeClr val="bg1"/>
                </a:solidFill>
                <a:latin typeface="微软雅黑" panose="020B0503020204020204" pitchFamily="34" charset="-122"/>
                <a:ea typeface="微软雅黑" panose="020B0503020204020204" pitchFamily="34" charset="-122"/>
              </a:rPr>
              <a:t>—</a:t>
            </a:r>
            <a:r>
              <a:rPr kumimoji="1" lang="zh-CN" altLang="en-US" sz="2000" b="1" kern="0" dirty="0">
                <a:solidFill>
                  <a:schemeClr val="bg1"/>
                </a:solidFill>
                <a:latin typeface="微软雅黑" panose="020B0503020204020204" pitchFamily="34" charset="-122"/>
                <a:ea typeface="微软雅黑" panose="020B0503020204020204" pitchFamily="34" charset="-122"/>
              </a:rPr>
              <a:t>定长与不定长、静态与动态</a:t>
            </a:r>
            <a:endParaRPr kumimoji="1" lang="zh-CN" altLang="en-US" sz="2000" b="1" kern="0" dirty="0">
              <a:solidFill>
                <a:schemeClr val="bg1"/>
              </a:solidFill>
              <a:latin typeface="微软雅黑" panose="020B0503020204020204" pitchFamily="34" charset="-122"/>
              <a:ea typeface="微软雅黑" panose="020B0503020204020204" pitchFamily="34" charset="-122"/>
            </a:endParaRPr>
          </a:p>
          <a:p>
            <a:pPr marL="800100" lvl="1" indent="-342900" eaLnBrk="0" hangingPunct="0">
              <a:lnSpc>
                <a:spcPct val="125000"/>
              </a:lnSpc>
              <a:buClr>
                <a:srgbClr val="FFFF00"/>
              </a:buClr>
              <a:buSzPct val="100000"/>
              <a:buFont typeface="Wingdings" panose="05000000000000000000" pitchFamily="2" charset="2"/>
              <a:buChar char="Ø"/>
            </a:pPr>
            <a:r>
              <a:rPr kumimoji="1" lang="zh-CN" altLang="en-US" sz="2400" b="1" kern="0" dirty="0">
                <a:solidFill>
                  <a:srgbClr val="FFFF00"/>
                </a:solidFill>
                <a:latin typeface="微软雅黑" panose="020B0503020204020204" pitchFamily="34" charset="-122"/>
                <a:ea typeface="微软雅黑" panose="020B0503020204020204" pitchFamily="34" charset="-122"/>
              </a:rPr>
              <a:t>地址重定位（地址映射）</a:t>
            </a:r>
            <a:endParaRPr kumimoji="1" lang="zh-CN" altLang="en-US" sz="2400" b="1" kern="0" dirty="0">
              <a:solidFill>
                <a:srgbClr val="FFFF00"/>
              </a:solidFill>
              <a:latin typeface="微软雅黑" panose="020B0503020204020204" pitchFamily="34" charset="-122"/>
              <a:ea typeface="微软雅黑" panose="020B0503020204020204" pitchFamily="34" charset="-122"/>
            </a:endParaRPr>
          </a:p>
          <a:p>
            <a:pPr marL="1200150" lvl="2" indent="-285750" eaLnBrk="0" fontAlgn="base" latinLnBrk="1" hangingPunct="0">
              <a:lnSpc>
                <a:spcPct val="125000"/>
              </a:lnSpc>
              <a:spcBef>
                <a:spcPct val="20000"/>
              </a:spcBef>
              <a:spcAft>
                <a:spcPct val="0"/>
              </a:spcAft>
              <a:buFontTx/>
              <a:buChar char="–"/>
              <a:defRPr/>
            </a:pPr>
            <a:r>
              <a:rPr kumimoji="1" lang="zh-CN" altLang="en-US" sz="2000" b="1" kern="0" dirty="0">
                <a:solidFill>
                  <a:schemeClr val="bg1"/>
                </a:solidFill>
                <a:latin typeface="微软雅黑" panose="020B0503020204020204" pitchFamily="34" charset="-122"/>
                <a:ea typeface="微软雅黑" panose="020B0503020204020204" pitchFamily="34" charset="-122"/>
              </a:rPr>
              <a:t>物理地址与逻辑地址的差别</a:t>
            </a:r>
            <a:endParaRPr kumimoji="1" lang="zh-CN" altLang="en-US" sz="2000" b="1" kern="0" dirty="0">
              <a:solidFill>
                <a:schemeClr val="bg1"/>
              </a:solidFill>
              <a:latin typeface="微软雅黑" panose="020B0503020204020204" pitchFamily="34" charset="-122"/>
              <a:ea typeface="微软雅黑" panose="020B0503020204020204" pitchFamily="34" charset="-122"/>
            </a:endParaRPr>
          </a:p>
          <a:p>
            <a:pPr marL="1200150" lvl="2" indent="-285750" eaLnBrk="0" fontAlgn="base" latinLnBrk="1" hangingPunct="0">
              <a:lnSpc>
                <a:spcPct val="125000"/>
              </a:lnSpc>
              <a:spcBef>
                <a:spcPct val="20000"/>
              </a:spcBef>
              <a:spcAft>
                <a:spcPct val="0"/>
              </a:spcAft>
              <a:buFontTx/>
              <a:buChar char="–"/>
              <a:defRPr/>
            </a:pPr>
            <a:r>
              <a:rPr kumimoji="1" lang="zh-CN" altLang="en-US" sz="2000" b="1" kern="0" dirty="0">
                <a:solidFill>
                  <a:schemeClr val="bg1"/>
                </a:solidFill>
                <a:latin typeface="微软雅黑" panose="020B0503020204020204" pitchFamily="34" charset="-122"/>
                <a:ea typeface="微软雅黑" panose="020B0503020204020204" pitchFamily="34" charset="-122"/>
              </a:rPr>
              <a:t>实模式与保护模式</a:t>
            </a:r>
            <a:endParaRPr kumimoji="1" lang="zh-CN" altLang="en-US" sz="2000" b="1" kern="0" dirty="0">
              <a:solidFill>
                <a:schemeClr val="bg1"/>
              </a:solidFill>
              <a:latin typeface="微软雅黑" panose="020B0503020204020204" pitchFamily="34" charset="-122"/>
              <a:ea typeface="微软雅黑" panose="020B0503020204020204" pitchFamily="34" charset="-122"/>
            </a:endParaRPr>
          </a:p>
          <a:p>
            <a:pPr marL="800100" marR="0" lvl="1" indent="-342900" eaLnBrk="0" hangingPunct="0">
              <a:lnSpc>
                <a:spcPct val="125000"/>
              </a:lnSpc>
              <a:buClr>
                <a:srgbClr val="FFFF00"/>
              </a:buClr>
              <a:buSzPct val="100000"/>
              <a:buFont typeface="Wingdings" panose="05000000000000000000" pitchFamily="2" charset="2"/>
              <a:buChar char="Ø"/>
              <a:defRPr/>
            </a:pPr>
            <a:r>
              <a:rPr kumimoji="1" lang="zh-CN" altLang="en-US" sz="2400" b="1" kern="0" dirty="0">
                <a:solidFill>
                  <a:srgbClr val="FFFF00"/>
                </a:solidFill>
                <a:latin typeface="微软雅黑" panose="020B0503020204020204" pitchFamily="34" charset="-122"/>
                <a:ea typeface="微软雅黑" panose="020B0503020204020204" pitchFamily="34" charset="-122"/>
              </a:rPr>
              <a:t>共享与保护</a:t>
            </a:r>
            <a:endParaRPr kumimoji="1" lang="zh-CN" altLang="en-US" sz="2400" b="1" kern="0" dirty="0">
              <a:solidFill>
                <a:srgbClr val="FFFF00"/>
              </a:solidFill>
              <a:latin typeface="微软雅黑" panose="020B0503020204020204" pitchFamily="34" charset="-122"/>
              <a:ea typeface="微软雅黑" panose="020B0503020204020204" pitchFamily="34" charset="-122"/>
            </a:endParaRPr>
          </a:p>
          <a:p>
            <a:pPr marL="1200150" lvl="2" indent="-285750" eaLnBrk="0" fontAlgn="base" latinLnBrk="1" hangingPunct="0">
              <a:lnSpc>
                <a:spcPct val="125000"/>
              </a:lnSpc>
              <a:spcBef>
                <a:spcPct val="20000"/>
              </a:spcBef>
              <a:spcAft>
                <a:spcPct val="0"/>
              </a:spcAft>
              <a:buFontTx/>
              <a:buChar char="–"/>
              <a:defRPr/>
            </a:pPr>
            <a:r>
              <a:rPr kumimoji="1" lang="zh-CN" altLang="en-US" sz="2000" b="1" kern="0" dirty="0">
                <a:solidFill>
                  <a:schemeClr val="bg1"/>
                </a:solidFill>
                <a:latin typeface="微软雅黑" panose="020B0503020204020204" pitchFamily="34" charset="-122"/>
                <a:ea typeface="微软雅黑" panose="020B0503020204020204" pitchFamily="34" charset="-122"/>
              </a:rPr>
              <a:t>内存共享：进程与线程、中间件应用</a:t>
            </a:r>
            <a:endParaRPr kumimoji="1" lang="zh-CN" altLang="en-US" sz="2000" b="1" kern="0" dirty="0">
              <a:solidFill>
                <a:schemeClr val="bg1"/>
              </a:solidFill>
              <a:latin typeface="微软雅黑" panose="020B0503020204020204" pitchFamily="34" charset="-122"/>
              <a:ea typeface="微软雅黑" panose="020B0503020204020204" pitchFamily="34" charset="-122"/>
            </a:endParaRPr>
          </a:p>
          <a:p>
            <a:pPr marL="1200150" lvl="2" indent="-285750" eaLnBrk="0" fontAlgn="base" latinLnBrk="1" hangingPunct="0">
              <a:lnSpc>
                <a:spcPct val="125000"/>
              </a:lnSpc>
              <a:spcBef>
                <a:spcPct val="20000"/>
              </a:spcBef>
              <a:spcAft>
                <a:spcPct val="0"/>
              </a:spcAft>
              <a:buFontTx/>
              <a:buChar char="–"/>
              <a:defRPr/>
            </a:pPr>
            <a:r>
              <a:rPr kumimoji="1" lang="zh-CN" altLang="en-US" sz="2000" b="1" kern="0" dirty="0">
                <a:solidFill>
                  <a:schemeClr val="bg1"/>
                </a:solidFill>
                <a:latin typeface="微软雅黑" panose="020B0503020204020204" pitchFamily="34" charset="-122"/>
                <a:ea typeface="微软雅黑" panose="020B0503020204020204" pitchFamily="34" charset="-122"/>
              </a:rPr>
              <a:t>内存保护：如何防止地址越界或操作越权？</a:t>
            </a:r>
            <a:endParaRPr kumimoji="1" lang="en-US" altLang="zh-CN" sz="2000" b="1" kern="0" dirty="0">
              <a:solidFill>
                <a:schemeClr val="bg1"/>
              </a:solidFill>
              <a:latin typeface="微软雅黑" panose="020B0503020204020204" pitchFamily="34" charset="-122"/>
              <a:ea typeface="微软雅黑" panose="020B0503020204020204" pitchFamily="34" charset="-122"/>
            </a:endParaRPr>
          </a:p>
          <a:p>
            <a:pPr marL="800100" marR="0" lvl="1" indent="-342900" eaLnBrk="0" hangingPunct="0">
              <a:lnSpc>
                <a:spcPct val="125000"/>
              </a:lnSpc>
              <a:buClr>
                <a:srgbClr val="FFFF00"/>
              </a:buClr>
              <a:buSzPct val="100000"/>
              <a:buFont typeface="Wingdings" panose="05000000000000000000" pitchFamily="2" charset="2"/>
              <a:buChar char="Ø"/>
              <a:defRPr/>
            </a:pPr>
            <a:r>
              <a:rPr kumimoji="1" lang="zh-CN" altLang="en-US" sz="2400" b="1" kern="0" dirty="0">
                <a:solidFill>
                  <a:srgbClr val="FFFF00"/>
                </a:solidFill>
                <a:latin typeface="微软雅黑" panose="020B0503020204020204" pitchFamily="34" charset="-122"/>
                <a:ea typeface="微软雅黑" panose="020B0503020204020204" pitchFamily="34" charset="-122"/>
              </a:rPr>
              <a:t>内存的扩充</a:t>
            </a:r>
            <a:endParaRPr kumimoji="1" lang="zh-CN" altLang="en-US" sz="2400" b="1" kern="0" dirty="0">
              <a:solidFill>
                <a:srgbClr val="FFFF00"/>
              </a:solidFill>
              <a:latin typeface="微软雅黑" panose="020B0503020204020204" pitchFamily="34" charset="-122"/>
              <a:ea typeface="微软雅黑" panose="020B0503020204020204" pitchFamily="34" charset="-122"/>
            </a:endParaRPr>
          </a:p>
          <a:p>
            <a:pPr marL="1200150" lvl="2" indent="-285750" eaLnBrk="0" fontAlgn="base" latinLnBrk="1" hangingPunct="0">
              <a:lnSpc>
                <a:spcPct val="125000"/>
              </a:lnSpc>
              <a:spcBef>
                <a:spcPct val="20000"/>
              </a:spcBef>
              <a:spcAft>
                <a:spcPct val="0"/>
              </a:spcAft>
              <a:buFontTx/>
              <a:buChar char="–"/>
              <a:defRPr/>
            </a:pPr>
            <a:r>
              <a:rPr kumimoji="1" lang="zh-CN" altLang="en-US" sz="2000" b="1" kern="0" dirty="0">
                <a:solidFill>
                  <a:schemeClr val="bg1"/>
                </a:solidFill>
                <a:latin typeface="微软雅黑" panose="020B0503020204020204" pitchFamily="34" charset="-122"/>
                <a:ea typeface="微软雅黑" panose="020B0503020204020204" pitchFamily="34" charset="-122"/>
              </a:rPr>
              <a:t>虚拟存储：如何使用小内存空间来运行大的程序？</a:t>
            </a:r>
            <a:endParaRPr kumimoji="1" lang="zh-CN" altLang="en-US" sz="2000" b="1" kern="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Effect transition="in" filter="dissolve">
                                      <p:cBhvr>
                                        <p:cTn id="7" dur="1000"/>
                                        <p:tgtEl>
                                          <p:spTgt spid="1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
                                            <p:txEl>
                                              <p:pRg st="4" end="4"/>
                                            </p:txEl>
                                          </p:spTgt>
                                        </p:tgtEl>
                                        <p:attrNameLst>
                                          <p:attrName>style.visibility</p:attrName>
                                        </p:attrNameLst>
                                      </p:cBhvr>
                                      <p:to>
                                        <p:strVal val="visible"/>
                                      </p:to>
                                    </p:set>
                                    <p:animEffect transition="in" filter="dissolve">
                                      <p:cBhvr>
                                        <p:cTn id="12" dur="1000"/>
                                        <p:tgtEl>
                                          <p:spTgt spid="16">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dissolve">
                                      <p:cBhvr>
                                        <p:cTn id="17" dur="10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dissolve">
                                      <p:cBhvr>
                                        <p:cTn id="22" dur="1000"/>
                                        <p:tgtEl>
                                          <p:spTgt spid="1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6">
                                            <p:txEl>
                                              <p:pRg st="7" end="7"/>
                                            </p:txEl>
                                          </p:spTgt>
                                        </p:tgtEl>
                                        <p:attrNameLst>
                                          <p:attrName>style.visibility</p:attrName>
                                        </p:attrNameLst>
                                      </p:cBhvr>
                                      <p:to>
                                        <p:strVal val="visible"/>
                                      </p:to>
                                    </p:set>
                                    <p:animEffect transition="in" filter="dissolve">
                                      <p:cBhvr>
                                        <p:cTn id="27" dur="1000"/>
                                        <p:tgtEl>
                                          <p:spTgt spid="16">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6">
                                            <p:txEl>
                                              <p:pRg st="5" end="5"/>
                                            </p:txEl>
                                          </p:spTgt>
                                        </p:tgtEl>
                                        <p:attrNameLst>
                                          <p:attrName>style.visibility</p:attrName>
                                        </p:attrNameLst>
                                      </p:cBhvr>
                                      <p:to>
                                        <p:strVal val="visible"/>
                                      </p:to>
                                    </p:set>
                                    <p:animEffect transition="in" filter="dissolve">
                                      <p:cBhvr>
                                        <p:cTn id="32" dur="1000"/>
                                        <p:tgtEl>
                                          <p:spTgt spid="1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16">
                                            <p:txEl>
                                              <p:pRg st="6" end="6"/>
                                            </p:txEl>
                                          </p:spTgt>
                                        </p:tgtEl>
                                        <p:attrNameLst>
                                          <p:attrName>style.visibility</p:attrName>
                                        </p:attrNameLst>
                                      </p:cBhvr>
                                      <p:to>
                                        <p:strVal val="visible"/>
                                      </p:to>
                                    </p:set>
                                    <p:animEffect transition="in" filter="dissolve">
                                      <p:cBhvr>
                                        <p:cTn id="37" dur="1000"/>
                                        <p:tgtEl>
                                          <p:spTgt spid="1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11" name="组合 10"/>
          <p:cNvGrpSpPr/>
          <p:nvPr/>
        </p:nvGrpSpPr>
        <p:grpSpPr>
          <a:xfrm>
            <a:off x="8389882" y="168155"/>
            <a:ext cx="3649718" cy="611540"/>
            <a:chOff x="5494282" y="112021"/>
            <a:chExt cx="3649718" cy="611540"/>
          </a:xfrm>
        </p:grpSpPr>
        <p:pic>
          <p:nvPicPr>
            <p:cNvPr id="12" name="Picture 6"/>
            <p:cNvPicPr>
              <a:picLocks noChangeAspect="1" noChangeArrowheads="1"/>
            </p:cNvPicPr>
            <p:nvPr/>
          </p:nvPicPr>
          <p:blipFill rotWithShape="1">
            <a:blip r:embed="rId1">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2" name="图示 1"/>
          <p:cNvGraphicFramePr/>
          <p:nvPr/>
        </p:nvGraphicFramePr>
        <p:xfrm>
          <a:off x="2167467" y="1115029"/>
          <a:ext cx="7335520" cy="56277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 name="标题 1"/>
          <p:cNvSpPr txBox="1"/>
          <p:nvPr/>
        </p:nvSpPr>
        <p:spPr>
          <a:xfrm>
            <a:off x="0" y="-123"/>
            <a:ext cx="5432213" cy="9589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sz="4400" b="1" dirty="0">
                <a:latin typeface="微软雅黑" panose="020B0503020204020204" pitchFamily="34" charset="-122"/>
                <a:ea typeface="微软雅黑" panose="020B0503020204020204" pitchFamily="34" charset="-122"/>
              </a:rPr>
              <a:t>存储器管理</a:t>
            </a:r>
            <a:endParaRPr lang="zh-CN" altLang="en-US" sz="4400" b="1" dirty="0">
              <a:latin typeface="微软雅黑" panose="020B0503020204020204" pitchFamily="34" charset="-122"/>
              <a:ea typeface="微软雅黑" panose="020B0503020204020204" pitchFamily="34" charset="-122"/>
            </a:endParaRPr>
          </a:p>
        </p:txBody>
      </p:sp>
      <p:sp>
        <p:nvSpPr>
          <p:cNvPr id="15" name="星形: 五角 14"/>
          <p:cNvSpPr/>
          <p:nvPr/>
        </p:nvSpPr>
        <p:spPr>
          <a:xfrm>
            <a:off x="8718367" y="5094141"/>
            <a:ext cx="535754" cy="500776"/>
          </a:xfrm>
          <a:prstGeom prst="star5">
            <a:avLst/>
          </a:prstGeom>
          <a:solidFill>
            <a:srgbClr val="FFFF00"/>
          </a:solidFill>
          <a:ln>
            <a:solidFill>
              <a:srgbClr val="FFFF0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11" name="组合 10"/>
          <p:cNvGrpSpPr/>
          <p:nvPr/>
        </p:nvGrpSpPr>
        <p:grpSpPr>
          <a:xfrm>
            <a:off x="8403217" y="168155"/>
            <a:ext cx="3649718" cy="611540"/>
            <a:chOff x="5494282" y="112021"/>
            <a:chExt cx="3649718" cy="611540"/>
          </a:xfrm>
        </p:grpSpPr>
        <p:pic>
          <p:nvPicPr>
            <p:cNvPr id="12" name="Picture 6"/>
            <p:cNvPicPr>
              <a:picLocks noChangeAspect="1" noChangeArrowheads="1"/>
            </p:cNvPicPr>
            <p:nvPr/>
          </p:nvPicPr>
          <p:blipFill rotWithShape="1">
            <a:blip r:embed="rId1">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2" name="图示 1"/>
          <p:cNvGraphicFramePr/>
          <p:nvPr/>
        </p:nvGraphicFramePr>
        <p:xfrm>
          <a:off x="2167467" y="1115029"/>
          <a:ext cx="7335520" cy="56277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 name="标题 1"/>
          <p:cNvSpPr txBox="1"/>
          <p:nvPr/>
        </p:nvSpPr>
        <p:spPr>
          <a:xfrm>
            <a:off x="99060" y="24130"/>
            <a:ext cx="6857365" cy="9588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sz="4400" b="1" dirty="0">
                <a:latin typeface="微软雅黑" panose="020B0503020204020204" pitchFamily="34" charset="-122"/>
                <a:ea typeface="微软雅黑" panose="020B0503020204020204" pitchFamily="34" charset="-122"/>
              </a:rPr>
              <a:t>存储器管理</a:t>
            </a:r>
            <a:endParaRPr lang="zh-CN" altLang="en-US" sz="4400" b="1" dirty="0">
              <a:latin typeface="微软雅黑" panose="020B0503020204020204" pitchFamily="34" charset="-122"/>
              <a:ea typeface="微软雅黑" panose="020B0503020204020204" pitchFamily="34" charset="-122"/>
            </a:endParaRPr>
          </a:p>
        </p:txBody>
      </p:sp>
      <p:sp>
        <p:nvSpPr>
          <p:cNvPr id="15" name="星形: 五角 14"/>
          <p:cNvSpPr/>
          <p:nvPr/>
        </p:nvSpPr>
        <p:spPr>
          <a:xfrm>
            <a:off x="8718367" y="5094141"/>
            <a:ext cx="535754" cy="500776"/>
          </a:xfrm>
          <a:prstGeom prst="star5">
            <a:avLst/>
          </a:prstGeom>
          <a:solidFill>
            <a:srgbClr val="FFFF00"/>
          </a:solidFill>
          <a:ln>
            <a:solidFill>
              <a:srgbClr val="FFFF0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11" name="组合 10"/>
          <p:cNvGrpSpPr/>
          <p:nvPr/>
        </p:nvGrpSpPr>
        <p:grpSpPr>
          <a:xfrm>
            <a:off x="8222877" y="168155"/>
            <a:ext cx="3649718" cy="611540"/>
            <a:chOff x="5494282" y="112021"/>
            <a:chExt cx="3649718" cy="611540"/>
          </a:xfrm>
        </p:grpSpPr>
        <p:pic>
          <p:nvPicPr>
            <p:cNvPr id="12" name="Picture 6"/>
            <p:cNvPicPr>
              <a:picLocks noChangeAspect="1" noChangeArrowheads="1"/>
            </p:cNvPicPr>
            <p:nvPr/>
          </p:nvPicPr>
          <p:blipFill rotWithShape="1">
            <a:blip r:embed="rId1">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标题 1"/>
          <p:cNvSpPr txBox="1"/>
          <p:nvPr/>
        </p:nvSpPr>
        <p:spPr>
          <a:xfrm>
            <a:off x="179070" y="24130"/>
            <a:ext cx="6777355" cy="9588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sz="4400" b="1" dirty="0">
                <a:latin typeface="微软雅黑" panose="020B0503020204020204" pitchFamily="34" charset="-122"/>
                <a:ea typeface="微软雅黑" panose="020B0503020204020204" pitchFamily="34" charset="-122"/>
              </a:rPr>
              <a:t>存储器管理</a:t>
            </a:r>
            <a:endParaRPr lang="zh-CN" altLang="en-US" sz="4400" b="1" dirty="0">
              <a:latin typeface="微软雅黑" panose="020B0503020204020204" pitchFamily="34" charset="-122"/>
              <a:ea typeface="微软雅黑" panose="020B0503020204020204" pitchFamily="34" charset="-122"/>
            </a:endParaRPr>
          </a:p>
        </p:txBody>
      </p:sp>
      <p:grpSp>
        <p:nvGrpSpPr>
          <p:cNvPr id="17" name="组合 16"/>
          <p:cNvGrpSpPr/>
          <p:nvPr/>
        </p:nvGrpSpPr>
        <p:grpSpPr>
          <a:xfrm>
            <a:off x="2204336" y="1278935"/>
            <a:ext cx="7571495" cy="926700"/>
            <a:chOff x="0" y="404"/>
            <a:chExt cx="7335520" cy="926700"/>
          </a:xfrm>
        </p:grpSpPr>
        <p:sp>
          <p:nvSpPr>
            <p:cNvPr id="19" name="矩形: 圆角 18"/>
            <p:cNvSpPr/>
            <p:nvPr/>
          </p:nvSpPr>
          <p:spPr>
            <a:xfrm>
              <a:off x="0" y="404"/>
              <a:ext cx="7335520" cy="926700"/>
            </a:xfrm>
            <a:prstGeom prst="roundRect">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20" name="矩形: 圆角 4"/>
            <p:cNvSpPr txBox="1"/>
            <p:nvPr/>
          </p:nvSpPr>
          <p:spPr>
            <a:xfrm>
              <a:off x="45238" y="45642"/>
              <a:ext cx="7245044" cy="83622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58556" tIns="83820" rIns="83820" bIns="83820" numCol="1" spcCol="1270" anchor="ctr" anchorCtr="0">
              <a:noAutofit/>
            </a:body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存储器的层次结构</a:t>
              </a:r>
              <a:endParaRPr lang="zh-CN" altLang="en-US" sz="3200" b="1" kern="1200" dirty="0">
                <a:solidFill>
                  <a:prstClr val="white"/>
                </a:solidFill>
                <a:latin typeface="微软雅黑" panose="020B0503020204020204" pitchFamily="34" charset="-122"/>
                <a:ea typeface="微软雅黑" panose="020B0503020204020204" pitchFamily="34" charset="-122"/>
                <a:cs typeface="+mn-cs"/>
              </a:endParaRPr>
            </a:p>
          </p:txBody>
        </p:sp>
      </p:grpSp>
      <p:graphicFrame>
        <p:nvGraphicFramePr>
          <p:cNvPr id="3" name="图示 2"/>
          <p:cNvGraphicFramePr/>
          <p:nvPr/>
        </p:nvGraphicFramePr>
        <p:xfrm>
          <a:off x="3289447" y="2487356"/>
          <a:ext cx="6486385"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7" name="直接连接符 6"/>
          <p:cNvCxnSpPr/>
          <p:nvPr/>
        </p:nvCxnSpPr>
        <p:spPr>
          <a:xfrm>
            <a:off x="2770239" y="2212873"/>
            <a:ext cx="0" cy="3982346"/>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2770239" y="3368304"/>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2770239" y="4766943"/>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2770239" y="6195219"/>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989580" y="902970"/>
            <a:ext cx="8662162" cy="3046095"/>
          </a:xfrm>
          <a:prstGeom prst="rect">
            <a:avLst/>
          </a:prstGeom>
        </p:spPr>
        <p:txBody>
          <a:bodyPr wrap="square">
            <a:spAutoFit/>
          </a:bodyPr>
          <a:lstStyle/>
          <a:p>
            <a:pPr marL="285750" indent="-285750" algn="just">
              <a:lnSpc>
                <a:spcPct val="200000"/>
              </a:lnSpc>
              <a:buFont typeface="Wingdings" panose="05000000000000000000" pitchFamily="2" charset="2"/>
              <a:buChar char="u"/>
            </a:pPr>
            <a:r>
              <a:rPr lang="zh-CN" altLang="en-US" sz="2400" b="1" dirty="0">
                <a:solidFill>
                  <a:srgbClr val="2F5597"/>
                </a:solidFill>
                <a:latin typeface="Times New Roman" panose="02020503050405090304" pitchFamily="18" charset="0"/>
                <a:ea typeface="微软雅黑" panose="020B0503020204020204" pitchFamily="34" charset="-122"/>
                <a:cs typeface="Times New Roman" panose="02020503050405090304" pitchFamily="18" charset="0"/>
              </a:rPr>
              <a:t> 速度：</a:t>
            </a:r>
            <a:r>
              <a:rPr lang="zh-CN" altLang="en-US" sz="2400" dirty="0">
                <a:latin typeface="Times New Roman" panose="02020503050405090304" pitchFamily="18" charset="0"/>
                <a:ea typeface="微软雅黑" panose="020B0503020204020204" pitchFamily="34" charset="-122"/>
                <a:cs typeface="Times New Roman" panose="02020503050405090304" pitchFamily="18" charset="0"/>
              </a:rPr>
              <a:t>要求对存储器的访问速度能跟的上处理机的运行速度</a:t>
            </a:r>
            <a:endParaRPr lang="en-US" altLang="zh-CN" sz="2400" dirty="0">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200000"/>
              </a:lnSpc>
              <a:buFont typeface="Wingdings" panose="05000000000000000000" pitchFamily="2" charset="2"/>
              <a:buChar char="u"/>
            </a:pPr>
            <a:r>
              <a:rPr lang="zh-CN" altLang="en-US" sz="2400" b="1" dirty="0">
                <a:solidFill>
                  <a:srgbClr val="2F5597"/>
                </a:solidFill>
                <a:latin typeface="Times New Roman" panose="02020503050405090304" pitchFamily="18" charset="0"/>
                <a:ea typeface="微软雅黑" panose="020B0503020204020204" pitchFamily="34" charset="-122"/>
                <a:cs typeface="Times New Roman" panose="02020503050405090304" pitchFamily="18" charset="0"/>
              </a:rPr>
              <a:t> 容量：</a:t>
            </a:r>
            <a:r>
              <a:rPr lang="zh-CN" altLang="en-US" sz="2400" dirty="0">
                <a:latin typeface="Times New Roman" panose="02020503050405090304" pitchFamily="18" charset="0"/>
                <a:ea typeface="微软雅黑" panose="020B0503020204020204" pitchFamily="34" charset="-122"/>
                <a:cs typeface="Times New Roman" panose="02020503050405090304" pitchFamily="18" charset="0"/>
              </a:rPr>
              <a:t>要求存储器具有非常大的容量</a:t>
            </a:r>
            <a:endParaRPr lang="en-US" altLang="zh-CN" sz="2400" dirty="0">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200000"/>
              </a:lnSpc>
              <a:buFont typeface="Wingdings" panose="05000000000000000000" pitchFamily="2" charset="2"/>
              <a:buChar char="u"/>
            </a:pPr>
            <a:r>
              <a:rPr lang="zh-CN" altLang="en-US" sz="2400" b="1" dirty="0">
                <a:solidFill>
                  <a:srgbClr val="2F5597"/>
                </a:solidFill>
                <a:latin typeface="Times New Roman" panose="02020503050405090304" pitchFamily="18" charset="0"/>
                <a:ea typeface="微软雅黑" panose="020B0503020204020204" pitchFamily="34" charset="-122"/>
                <a:cs typeface="Times New Roman" panose="02020503050405090304" pitchFamily="18" charset="0"/>
              </a:rPr>
              <a:t> 价格：</a:t>
            </a:r>
            <a:r>
              <a:rPr lang="zh-CN" altLang="en-US" sz="2400" dirty="0">
                <a:latin typeface="Times New Roman" panose="02020503050405090304" pitchFamily="18" charset="0"/>
                <a:ea typeface="微软雅黑" panose="020B0503020204020204" pitchFamily="34" charset="-122"/>
                <a:cs typeface="Times New Roman" panose="02020503050405090304" pitchFamily="18" charset="0"/>
              </a:rPr>
              <a:t>存储器的价格还应很便宜</a:t>
            </a:r>
            <a:endParaRPr lang="en-US" altLang="zh-CN" sz="2400" dirty="0">
              <a:latin typeface="Times New Roman" panose="02020503050405090304" pitchFamily="18" charset="0"/>
              <a:ea typeface="微软雅黑" panose="020B0503020204020204" pitchFamily="34" charset="-122"/>
              <a:cs typeface="Times New Roman" panose="02020503050405090304" pitchFamily="18" charset="0"/>
            </a:endParaRPr>
          </a:p>
          <a:p>
            <a:pPr marL="285750" indent="-285750" algn="just">
              <a:lnSpc>
                <a:spcPct val="200000"/>
              </a:lnSpc>
              <a:buFont typeface="Wingdings" panose="05000000000000000000" pitchFamily="2" charset="2"/>
              <a:buChar char="u"/>
            </a:pPr>
            <a:endParaRPr lang="en-US" altLang="zh-CN" sz="24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标题 1"/>
          <p:cNvSpPr txBox="1"/>
          <p:nvPr/>
        </p:nvSpPr>
        <p:spPr>
          <a:xfrm>
            <a:off x="80010" y="33655"/>
            <a:ext cx="1096073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4.1 </a:t>
            </a:r>
            <a:r>
              <a:rPr lang="zh-CN" altLang="en-US" sz="3900" b="1" dirty="0">
                <a:latin typeface="微软雅黑" panose="020B0503020204020204" pitchFamily="34" charset="-122"/>
                <a:ea typeface="微软雅黑" panose="020B0503020204020204" pitchFamily="34" charset="-122"/>
              </a:rPr>
              <a:t>存储器的层次结构</a:t>
            </a:r>
            <a:endParaRPr lang="zh-CN" altLang="en-US" sz="39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3731772" y="5174103"/>
            <a:ext cx="4564625" cy="829945"/>
          </a:xfrm>
          <a:prstGeom prst="rect">
            <a:avLst/>
          </a:prstGeom>
          <a:noFill/>
        </p:spPr>
        <p:txBody>
          <a:bodyPr wrap="square">
            <a:spAutoFit/>
          </a:bodyPr>
          <a:lstStyle/>
          <a:p>
            <a:pPr algn="just">
              <a:lnSpc>
                <a:spcPct val="150000"/>
              </a:lnSpc>
            </a:pPr>
            <a:r>
              <a:rPr lang="zh-CN" altLang="en-US" sz="32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多层结构的存储器系统</a:t>
            </a:r>
            <a:endParaRPr lang="zh-CN" altLang="en-US" sz="32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3" name="右大括号 2"/>
          <p:cNvSpPr/>
          <p:nvPr/>
        </p:nvSpPr>
        <p:spPr>
          <a:xfrm rot="5400000">
            <a:off x="5758815" y="-2056130"/>
            <a:ext cx="508635" cy="11277600"/>
          </a:xfrm>
          <a:prstGeom prst="rightBrace">
            <a:avLst/>
          </a:prstGeom>
          <a:ln w="38100">
            <a:solidFill>
              <a:srgbClr val="2F559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文本框 8"/>
          <p:cNvSpPr txBox="1"/>
          <p:nvPr/>
        </p:nvSpPr>
        <p:spPr>
          <a:xfrm>
            <a:off x="374650" y="6178550"/>
            <a:ext cx="4637405" cy="460375"/>
          </a:xfrm>
          <a:prstGeom prst="rect">
            <a:avLst/>
          </a:prstGeom>
          <a:noFill/>
        </p:spPr>
        <p:txBody>
          <a:bodyPr wrap="square">
            <a:spAutoFit/>
          </a:bodyPr>
          <a:lstStyle/>
          <a:p>
            <a:pPr marL="285750" marR="0" lvl="0" indent="-285750" algn="l" defTabSz="914400" rtl="0" eaLnBrk="1" fontAlgn="base" latinLnBrk="0" hangingPunct="1">
              <a:lnSpc>
                <a:spcPct val="100000"/>
              </a:lnSpc>
              <a:spcBef>
                <a:spcPts val="350"/>
              </a:spcBef>
              <a:spcAft>
                <a:spcPts val="325"/>
              </a:spcAft>
              <a:buClrTx/>
              <a:buSzTx/>
              <a:buFont typeface="Wingdings" panose="05000000000000000000" pitchFamily="2" charset="2"/>
              <a:buChar char="Ø"/>
            </a:pPr>
            <a:r>
              <a:rPr kumimoji="0" lang="zh-CN" altLang="zh-CN" sz="2400" b="1" i="0" u="none" strike="noStrike" cap="none" normalizeH="0" baseline="0" dirty="0">
                <a:ln>
                  <a:noFill/>
                </a:ln>
                <a:effectLst/>
                <a:latin typeface="微软雅黑" panose="020B0503020204020204" pitchFamily="34" charset="-122"/>
                <a:ea typeface="微软雅黑" panose="020B0503020204020204" pitchFamily="34" charset="-122"/>
              </a:rPr>
              <a:t>存储器系统包括哪些基本层次？</a:t>
            </a:r>
            <a:endParaRPr kumimoji="0" lang="zh-CN" altLang="zh-CN" sz="2400" b="0" i="0" u="none" strike="noStrike" cap="none" normalizeH="0" baseline="0" dirty="0">
              <a:ln>
                <a:noFill/>
              </a:ln>
              <a:effectLst/>
              <a:latin typeface="微软雅黑" panose="020B0503020204020204" pitchFamily="34" charset="-122"/>
              <a:ea typeface="微软雅黑" panose="020B0503020204020204" pitchFamily="34" charset="-122"/>
            </a:endParaRPr>
          </a:p>
        </p:txBody>
      </p:sp>
      <p:sp>
        <p:nvSpPr>
          <p:cNvPr id="5" name="箭头: 下 4"/>
          <p:cNvSpPr/>
          <p:nvPr/>
        </p:nvSpPr>
        <p:spPr>
          <a:xfrm>
            <a:off x="5735297" y="4610235"/>
            <a:ext cx="557067" cy="618003"/>
          </a:xfrm>
          <a:prstGeom prst="downArrow">
            <a:avLst/>
          </a:prstGeom>
          <a:ln w="38100">
            <a:solidFill>
              <a:srgbClr val="2F559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solidFill>
            </a:endParaRPr>
          </a:p>
        </p:txBody>
      </p:sp>
      <p:sp>
        <p:nvSpPr>
          <p:cNvPr id="2" name="右箭头标注 1"/>
          <p:cNvSpPr/>
          <p:nvPr/>
        </p:nvSpPr>
        <p:spPr>
          <a:xfrm>
            <a:off x="264795" y="1167765"/>
            <a:ext cx="2588895" cy="2073910"/>
          </a:xfrm>
          <a:prstGeom prst="rightArrowCallout">
            <a:avLst>
              <a:gd name="adj1" fmla="val 25000"/>
              <a:gd name="adj2" fmla="val 27893"/>
              <a:gd name="adj3" fmla="val 25000"/>
              <a:gd name="adj4" fmla="val 7220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000" b="1">
                <a:latin typeface="微软雅黑" panose="020B0503020204020204" pitchFamily="34" charset="-122"/>
                <a:ea typeface="微软雅黑" panose="020B0503020204020204" pitchFamily="34" charset="-122"/>
              </a:rPr>
              <a:t>计算机执行时每条指令都涉及对存储器的访问，存在三个严格的要求</a:t>
            </a:r>
            <a:endParaRPr lang="zh-CN" altLang="en-US" sz="2000" b="1">
              <a:latin typeface="微软雅黑" panose="020B0503020204020204" pitchFamily="34" charset="-122"/>
              <a:ea typeface="微软雅黑" panose="020B0503020204020204" pitchFamily="34" charset="-122"/>
            </a:endParaRPr>
          </a:p>
        </p:txBody>
      </p:sp>
      <p:sp>
        <p:nvSpPr>
          <p:cNvPr id="4" name="文本框 3"/>
          <p:cNvSpPr txBox="1"/>
          <p:nvPr/>
        </p:nvSpPr>
        <p:spPr>
          <a:xfrm>
            <a:off x="6897370" y="6178550"/>
            <a:ext cx="4637405" cy="460375"/>
          </a:xfrm>
          <a:prstGeom prst="rect">
            <a:avLst/>
          </a:prstGeom>
          <a:noFill/>
        </p:spPr>
        <p:txBody>
          <a:bodyPr wrap="square">
            <a:spAutoFit/>
          </a:bodyPr>
          <a:p>
            <a:pPr marL="285750" marR="0" lvl="0" indent="-285750" algn="l" defTabSz="914400" rtl="0" eaLnBrk="1" fontAlgn="base" latinLnBrk="0" hangingPunct="1">
              <a:lnSpc>
                <a:spcPct val="100000"/>
              </a:lnSpc>
              <a:spcBef>
                <a:spcPts val="350"/>
              </a:spcBef>
              <a:spcAft>
                <a:spcPts val="325"/>
              </a:spcAft>
              <a:buClrTx/>
              <a:buSzTx/>
              <a:buFont typeface="Wingdings" panose="05000000000000000000" pitchFamily="2" charset="2"/>
              <a:buChar char="Ø"/>
            </a:pPr>
            <a:r>
              <a:rPr kumimoji="0" lang="zh-CN" altLang="zh-CN" sz="2400" b="1" i="0" u="none" strike="noStrike" cap="none" normalizeH="0" baseline="0" dirty="0">
                <a:ln>
                  <a:noFill/>
                </a:ln>
                <a:effectLst/>
                <a:latin typeface="微软雅黑" panose="020B0503020204020204" pitchFamily="34" charset="-122"/>
                <a:ea typeface="微软雅黑" panose="020B0503020204020204" pitchFamily="34" charset="-122"/>
              </a:rPr>
              <a:t>层次之间的关系是怎样的？</a:t>
            </a:r>
            <a:endParaRPr kumimoji="0" lang="zh-CN" altLang="zh-CN" sz="2400" b="0" i="0" u="none" strike="noStrike" cap="none" normalizeH="0" baseline="0" dirty="0">
              <a:ln>
                <a:noFill/>
              </a:ln>
              <a:effectLst/>
              <a:latin typeface="微软雅黑" panose="020B0503020204020204" pitchFamily="34" charset="-122"/>
              <a:ea typeface="微软雅黑" panose="020B0503020204020204" pitchFamily="34" charset="-122"/>
            </a:endParaRPr>
          </a:p>
        </p:txBody>
      </p:sp>
      <p:sp>
        <p:nvSpPr>
          <p:cNvPr id="7" name="文本框 6"/>
          <p:cNvSpPr txBox="1"/>
          <p:nvPr/>
        </p:nvSpPr>
        <p:spPr>
          <a:xfrm>
            <a:off x="3693672" y="3695188"/>
            <a:ext cx="4564625" cy="829945"/>
          </a:xfrm>
          <a:prstGeom prst="rect">
            <a:avLst/>
          </a:prstGeom>
          <a:noFill/>
        </p:spPr>
        <p:txBody>
          <a:bodyPr wrap="square">
            <a:spAutoFit/>
          </a:bodyPr>
          <a:p>
            <a:pPr algn="ctr">
              <a:lnSpc>
                <a:spcPct val="150000"/>
              </a:lnSpc>
            </a:pPr>
            <a:r>
              <a:rPr lang="zh-CN" altLang="en-US" sz="32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无法同时满足</a:t>
            </a:r>
            <a:endParaRPr lang="zh-CN" altLang="en-US" sz="32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43230" y="1115060"/>
            <a:ext cx="11519535" cy="2322195"/>
          </a:xfrm>
        </p:spPr>
        <p:txBody>
          <a:bodyPr vert="horz" wrap="square" lIns="91440" tIns="45720" rIns="91440" bIns="45720" anchor="t" anchorCtr="0">
            <a:normAutofit lnSpcReduction="10000"/>
          </a:bodyPr>
          <a:lstStyle/>
          <a:p>
            <a:pPr marL="457200" indent="-457200" algn="l" eaLnBrk="1" hangingPunct="1">
              <a:buClr>
                <a:srgbClr val="0000FF"/>
              </a:buClr>
              <a:buFont typeface="Wingdings" panose="05000000000000000000" pitchFamily="2" charset="2"/>
              <a:buChar char="n"/>
            </a:pPr>
            <a:r>
              <a:rPr lang="zh-CN" altLang="en-US" sz="2400" dirty="0">
                <a:latin typeface="Times New Roman" panose="02020503050405090304" pitchFamily="18" charset="0"/>
                <a:ea typeface="微软雅黑" panose="020B0503020204020204" pitchFamily="34" charset="-122"/>
                <a:cs typeface="Times New Roman" panose="02020503050405090304" pitchFamily="18" charset="0"/>
              </a:rPr>
              <a:t>对于通用计算机而言，存储层次至少应具有三级：最高层为ＣＰＵ寄存器，中间为主存，最底层是辅存</a:t>
            </a:r>
            <a:endParaRPr lang="en-US" altLang="zh-CN" sz="2400" dirty="0">
              <a:latin typeface="Times New Roman" panose="02020503050405090304" pitchFamily="18" charset="0"/>
              <a:ea typeface="微软雅黑" panose="020B0503020204020204" pitchFamily="34" charset="-122"/>
              <a:cs typeface="Times New Roman" panose="02020503050405090304" pitchFamily="18" charset="0"/>
            </a:endParaRPr>
          </a:p>
          <a:p>
            <a:pPr marL="457200" indent="-457200" algn="l" eaLnBrk="1" hangingPunct="1">
              <a:buClr>
                <a:srgbClr val="0000FF"/>
              </a:buClr>
              <a:buFont typeface="Wingdings" panose="05000000000000000000" pitchFamily="2" charset="2"/>
              <a:buChar char="n"/>
            </a:pPr>
            <a:r>
              <a:rPr lang="zh-CN" altLang="en-US" sz="2400" dirty="0">
                <a:latin typeface="Times New Roman" panose="02020503050405090304" pitchFamily="18" charset="0"/>
                <a:ea typeface="微软雅黑" panose="020B0503020204020204" pitchFamily="34" charset="-122"/>
                <a:cs typeface="Times New Roman" panose="02020503050405090304" pitchFamily="18" charset="0"/>
              </a:rPr>
              <a:t>高档的计算机中，根据具体的功能细分为寄存器、高速缓存、主存储器、磁盘缓存、固定磁盘、可移动存储介质等６层</a:t>
            </a:r>
            <a:endParaRPr lang="en-US" altLang="zh-CN" sz="2400" dirty="0">
              <a:latin typeface="Times New Roman" panose="02020503050405090304" pitchFamily="18" charset="0"/>
              <a:ea typeface="微软雅黑" panose="020B0503020204020204" pitchFamily="34" charset="-122"/>
              <a:cs typeface="Times New Roman" panose="02020503050405090304" pitchFamily="18" charset="0"/>
            </a:endParaRPr>
          </a:p>
          <a:p>
            <a:pPr marL="457200" indent="-457200" algn="l" eaLnBrk="1" hangingPunct="1">
              <a:buClr>
                <a:srgbClr val="0000FF"/>
              </a:buClr>
              <a:buFont typeface="Wingdings" panose="05000000000000000000" pitchFamily="2" charset="2"/>
              <a:buChar char="n"/>
            </a:pPr>
            <a:r>
              <a:rPr lang="zh-CN" altLang="en-US" sz="2400" dirty="0">
                <a:latin typeface="Times New Roman" panose="02020503050405090304" pitchFamily="18" charset="0"/>
                <a:ea typeface="微软雅黑" panose="020B0503020204020204" pitchFamily="34" charset="-122"/>
                <a:cs typeface="Times New Roman" panose="02020503050405090304" pitchFamily="18" charset="0"/>
              </a:rPr>
              <a:t>在存储器层次中，层次越高（越靠近ＣＰＵ），存储介质的访问速度越快，价格也越高，相对所配置的存储容量也越小。</a:t>
            </a:r>
            <a:endParaRPr lang="zh-CN" altLang="en-US" sz="24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93980" y="33655"/>
            <a:ext cx="1094676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4.1.1 </a:t>
            </a:r>
            <a:r>
              <a:rPr lang="zh-CN" altLang="en-US" sz="3900" b="1" dirty="0">
                <a:latin typeface="微软雅黑" panose="020B0503020204020204" pitchFamily="34" charset="-122"/>
                <a:ea typeface="微软雅黑" panose="020B0503020204020204" pitchFamily="34" charset="-122"/>
              </a:rPr>
              <a:t>多层结构的存储器系统</a:t>
            </a:r>
            <a:endParaRPr lang="zh-CN" altLang="en-US" sz="3900" b="1" dirty="0">
              <a:latin typeface="微软雅黑" panose="020B0503020204020204" pitchFamily="34" charset="-122"/>
              <a:ea typeface="微软雅黑" panose="020B0503020204020204" pitchFamily="34" charset="-122"/>
            </a:endParaRPr>
          </a:p>
        </p:txBody>
      </p:sp>
      <p:sp>
        <p:nvSpPr>
          <p:cNvPr id="2" name="梯形 1"/>
          <p:cNvSpPr/>
          <p:nvPr/>
        </p:nvSpPr>
        <p:spPr>
          <a:xfrm>
            <a:off x="2629273" y="3440060"/>
            <a:ext cx="1214859" cy="1091382"/>
          </a:xfrm>
          <a:prstGeom prst="trapezoid">
            <a:avLst>
              <a:gd name="adj" fmla="val 25675"/>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600" b="1" dirty="0">
                <a:latin typeface="微软雅黑" panose="020B0503020204020204" pitchFamily="34" charset="-122"/>
                <a:ea typeface="微软雅黑" panose="020B0503020204020204" pitchFamily="34" charset="-122"/>
                <a:cs typeface="Times New Roman" panose="02020503050405090304" pitchFamily="18" charset="0"/>
              </a:rPr>
              <a:t>ＣＰＵ</a:t>
            </a:r>
            <a:endParaRPr lang="en-US" altLang="zh-CN" sz="1600" b="1" dirty="0">
              <a:latin typeface="微软雅黑" panose="020B0503020204020204" pitchFamily="34" charset="-122"/>
              <a:ea typeface="微软雅黑" panose="020B0503020204020204" pitchFamily="34" charset="-122"/>
              <a:cs typeface="Times New Roman" panose="02020503050405090304" pitchFamily="18" charset="0"/>
            </a:endParaRPr>
          </a:p>
          <a:p>
            <a:pPr algn="ctr"/>
            <a:r>
              <a:rPr lang="zh-CN" altLang="en-US" sz="1600" b="1" dirty="0">
                <a:latin typeface="微软雅黑" panose="020B0503020204020204" pitchFamily="34" charset="-122"/>
                <a:ea typeface="微软雅黑" panose="020B0503020204020204" pitchFamily="34" charset="-122"/>
                <a:cs typeface="Times New Roman" panose="02020503050405090304" pitchFamily="18" charset="0"/>
              </a:rPr>
              <a:t>寄存器</a:t>
            </a:r>
            <a:endParaRPr lang="zh-CN" altLang="en-US" sz="1600" b="1" dirty="0">
              <a:latin typeface="微软雅黑" panose="020B0503020204020204" pitchFamily="34" charset="-122"/>
              <a:ea typeface="微软雅黑" panose="020B0503020204020204" pitchFamily="34" charset="-122"/>
              <a:cs typeface="Times New Roman" panose="02020503050405090304" pitchFamily="18" charset="0"/>
            </a:endParaRPr>
          </a:p>
        </p:txBody>
      </p:sp>
      <p:sp>
        <p:nvSpPr>
          <p:cNvPr id="11" name="梯形 10"/>
          <p:cNvSpPr/>
          <p:nvPr/>
        </p:nvSpPr>
        <p:spPr>
          <a:xfrm>
            <a:off x="2345371" y="4529782"/>
            <a:ext cx="1811216" cy="1091382"/>
          </a:xfrm>
          <a:prstGeom prst="trapezoid">
            <a:avLst>
              <a:gd name="adj" fmla="val 25675"/>
            </a:avLst>
          </a:prstGeom>
          <a:ln>
            <a:solidFill>
              <a:srgbClr val="2F5597"/>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600" b="1" dirty="0">
                <a:latin typeface="微软雅黑" panose="020B0503020204020204" pitchFamily="34" charset="-122"/>
                <a:ea typeface="微软雅黑" panose="020B0503020204020204" pitchFamily="34" charset="-122"/>
                <a:cs typeface="Times New Roman" panose="02020503050405090304" pitchFamily="18" charset="0"/>
              </a:rPr>
              <a:t>主存</a:t>
            </a:r>
            <a:endParaRPr lang="zh-CN" altLang="en-US" sz="1600" b="1" dirty="0">
              <a:latin typeface="微软雅黑" panose="020B0503020204020204" pitchFamily="34" charset="-122"/>
              <a:ea typeface="微软雅黑" panose="020B0503020204020204" pitchFamily="34" charset="-122"/>
            </a:endParaRPr>
          </a:p>
        </p:txBody>
      </p:sp>
      <p:sp>
        <p:nvSpPr>
          <p:cNvPr id="13" name="梯形 12"/>
          <p:cNvSpPr/>
          <p:nvPr/>
        </p:nvSpPr>
        <p:spPr>
          <a:xfrm>
            <a:off x="2099271" y="5619504"/>
            <a:ext cx="2320984" cy="1093042"/>
          </a:xfrm>
          <a:prstGeom prst="trapezoid">
            <a:avLst>
              <a:gd name="adj" fmla="val 243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微软雅黑" panose="020B0503020204020204" pitchFamily="34" charset="-122"/>
                <a:ea typeface="微软雅黑" panose="020B0503020204020204" pitchFamily="34" charset="-122"/>
                <a:cs typeface="Times New Roman" panose="02020503050405090304" pitchFamily="18" charset="0"/>
              </a:rPr>
              <a:t>辅存</a:t>
            </a:r>
            <a:endParaRPr lang="zh-CN" altLang="en-US" sz="1600" b="1" dirty="0">
              <a:latin typeface="微软雅黑" panose="020B0503020204020204" pitchFamily="34" charset="-122"/>
              <a:ea typeface="微软雅黑" panose="020B0503020204020204" pitchFamily="34" charset="-122"/>
            </a:endParaRPr>
          </a:p>
        </p:txBody>
      </p:sp>
      <p:sp>
        <p:nvSpPr>
          <p:cNvPr id="14" name="梯形 13"/>
          <p:cNvSpPr/>
          <p:nvPr/>
        </p:nvSpPr>
        <p:spPr>
          <a:xfrm>
            <a:off x="7179625" y="3440060"/>
            <a:ext cx="1777181" cy="545691"/>
          </a:xfrm>
          <a:prstGeom prst="trapezoid">
            <a:avLst>
              <a:gd name="adj" fmla="val 4932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b="1" dirty="0">
                <a:latin typeface="微软雅黑" panose="020B0503020204020204" pitchFamily="34" charset="-122"/>
                <a:ea typeface="微软雅黑" panose="020B0503020204020204" pitchFamily="34" charset="-122"/>
                <a:cs typeface="Times New Roman" panose="02020503050405090304" pitchFamily="18" charset="0"/>
              </a:rPr>
              <a:t>寄存器</a:t>
            </a:r>
            <a:endParaRPr lang="zh-CN" altLang="en-US" b="1" dirty="0">
              <a:solidFill>
                <a:schemeClr val="dk1"/>
              </a:solidFill>
              <a:latin typeface="微软雅黑" panose="020B0503020204020204" pitchFamily="34" charset="-122"/>
              <a:ea typeface="微软雅黑" panose="020B0503020204020204" pitchFamily="34" charset="-122"/>
            </a:endParaRPr>
          </a:p>
        </p:txBody>
      </p:sp>
      <p:sp>
        <p:nvSpPr>
          <p:cNvPr id="15" name="梯形 14"/>
          <p:cNvSpPr/>
          <p:nvPr/>
        </p:nvSpPr>
        <p:spPr>
          <a:xfrm>
            <a:off x="6905550" y="3985751"/>
            <a:ext cx="2325330" cy="545691"/>
          </a:xfrm>
          <a:prstGeom prst="trapezoid">
            <a:avLst>
              <a:gd name="adj" fmla="val 49324"/>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1" dirty="0">
                <a:latin typeface="微软雅黑" panose="020B0503020204020204" pitchFamily="34" charset="-122"/>
                <a:ea typeface="微软雅黑" panose="020B0503020204020204" pitchFamily="34" charset="-122"/>
                <a:cs typeface="Times New Roman" panose="02020503050405090304" pitchFamily="18" charset="0"/>
              </a:rPr>
              <a:t>高速缓存</a:t>
            </a:r>
            <a:endParaRPr lang="zh-CN" altLang="en-US" b="1" dirty="0">
              <a:solidFill>
                <a:schemeClr val="dk1"/>
              </a:solidFill>
              <a:latin typeface="微软雅黑" panose="020B0503020204020204" pitchFamily="34" charset="-122"/>
              <a:ea typeface="微软雅黑" panose="020B0503020204020204" pitchFamily="34" charset="-122"/>
            </a:endParaRPr>
          </a:p>
        </p:txBody>
      </p:sp>
      <p:sp>
        <p:nvSpPr>
          <p:cNvPr id="16" name="梯形 15"/>
          <p:cNvSpPr/>
          <p:nvPr/>
        </p:nvSpPr>
        <p:spPr>
          <a:xfrm>
            <a:off x="6643766" y="4531442"/>
            <a:ext cx="2848898" cy="545691"/>
          </a:xfrm>
          <a:prstGeom prst="trapezoid">
            <a:avLst>
              <a:gd name="adj" fmla="val 49324"/>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1" dirty="0">
                <a:latin typeface="微软雅黑" panose="020B0503020204020204" pitchFamily="34" charset="-122"/>
                <a:ea typeface="微软雅黑" panose="020B0503020204020204" pitchFamily="34" charset="-122"/>
                <a:cs typeface="Times New Roman" panose="02020503050405090304" pitchFamily="18" charset="0"/>
              </a:rPr>
              <a:t>主存储器</a:t>
            </a:r>
            <a:endParaRPr lang="zh-CN" altLang="en-US" b="1" dirty="0">
              <a:solidFill>
                <a:schemeClr val="dk1"/>
              </a:solidFill>
              <a:latin typeface="微软雅黑" panose="020B0503020204020204" pitchFamily="34" charset="-122"/>
              <a:ea typeface="微软雅黑" panose="020B0503020204020204" pitchFamily="34" charset="-122"/>
            </a:endParaRPr>
          </a:p>
        </p:txBody>
      </p:sp>
      <p:sp>
        <p:nvSpPr>
          <p:cNvPr id="17" name="梯形 16"/>
          <p:cNvSpPr/>
          <p:nvPr/>
        </p:nvSpPr>
        <p:spPr>
          <a:xfrm>
            <a:off x="6378295" y="5077133"/>
            <a:ext cx="3379840" cy="545691"/>
          </a:xfrm>
          <a:prstGeom prst="trapezoid">
            <a:avLst>
              <a:gd name="adj" fmla="val 49324"/>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1">
                <a:latin typeface="微软雅黑" panose="020B0503020204020204" pitchFamily="34" charset="-122"/>
                <a:ea typeface="微软雅黑" panose="020B0503020204020204" pitchFamily="34" charset="-122"/>
                <a:cs typeface="Times New Roman" panose="02020503050405090304" pitchFamily="18" charset="0"/>
              </a:rPr>
              <a:t>磁盘缓存</a:t>
            </a:r>
            <a:endParaRPr lang="zh-CN" altLang="en-US" b="1">
              <a:solidFill>
                <a:schemeClr val="dk1"/>
              </a:solidFill>
              <a:latin typeface="微软雅黑" panose="020B0503020204020204" pitchFamily="34" charset="-122"/>
              <a:ea typeface="微软雅黑" panose="020B0503020204020204" pitchFamily="34" charset="-122"/>
            </a:endParaRPr>
          </a:p>
        </p:txBody>
      </p:sp>
      <p:sp>
        <p:nvSpPr>
          <p:cNvPr id="18" name="梯形 17"/>
          <p:cNvSpPr/>
          <p:nvPr/>
        </p:nvSpPr>
        <p:spPr>
          <a:xfrm>
            <a:off x="6112824" y="5622824"/>
            <a:ext cx="3910782" cy="545691"/>
          </a:xfrm>
          <a:prstGeom prst="trapezoid">
            <a:avLst>
              <a:gd name="adj" fmla="val 4932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latin typeface="微软雅黑" panose="020B0503020204020204" pitchFamily="34" charset="-122"/>
                <a:ea typeface="微软雅黑" panose="020B0503020204020204" pitchFamily="34" charset="-122"/>
                <a:cs typeface="Times New Roman" panose="02020503050405090304" pitchFamily="18" charset="0"/>
              </a:rPr>
              <a:t>固定磁盘</a:t>
            </a:r>
            <a:endParaRPr lang="zh-CN" altLang="en-US" b="1" dirty="0">
              <a:latin typeface="微软雅黑" panose="020B0503020204020204" pitchFamily="34" charset="-122"/>
              <a:ea typeface="微软雅黑" panose="020B0503020204020204" pitchFamily="34" charset="-122"/>
            </a:endParaRPr>
          </a:p>
        </p:txBody>
      </p:sp>
      <p:sp>
        <p:nvSpPr>
          <p:cNvPr id="19" name="梯形 18"/>
          <p:cNvSpPr/>
          <p:nvPr/>
        </p:nvSpPr>
        <p:spPr>
          <a:xfrm>
            <a:off x="5853116" y="6168515"/>
            <a:ext cx="4451937" cy="545691"/>
          </a:xfrm>
          <a:prstGeom prst="trapezoid">
            <a:avLst>
              <a:gd name="adj" fmla="val 4932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latin typeface="微软雅黑" panose="020B0503020204020204" pitchFamily="34" charset="-122"/>
                <a:ea typeface="微软雅黑" panose="020B0503020204020204" pitchFamily="34" charset="-122"/>
                <a:cs typeface="Times New Roman" panose="02020503050405090304" pitchFamily="18" charset="0"/>
              </a:rPr>
              <a:t>可移动存储介质</a:t>
            </a:r>
            <a:endParaRPr lang="zh-CN" altLang="en-US" b="1" dirty="0">
              <a:latin typeface="微软雅黑" panose="020B0503020204020204" pitchFamily="34" charset="-122"/>
              <a:ea typeface="微软雅黑" panose="020B0503020204020204" pitchFamily="34" charset="-122"/>
            </a:endParaRPr>
          </a:p>
        </p:txBody>
      </p:sp>
      <p:cxnSp>
        <p:nvCxnSpPr>
          <p:cNvPr id="4" name="直接箭头连接符 3"/>
          <p:cNvCxnSpPr/>
          <p:nvPr/>
        </p:nvCxnSpPr>
        <p:spPr>
          <a:xfrm>
            <a:off x="8997966" y="3440060"/>
            <a:ext cx="1566795" cy="3274146"/>
          </a:xfrm>
          <a:prstGeom prst="straightConnector1">
            <a:avLst/>
          </a:prstGeom>
          <a:ln w="28575">
            <a:solidFill>
              <a:srgbClr val="2F559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rot="3850059">
            <a:off x="8816326" y="4659312"/>
            <a:ext cx="1747512" cy="398780"/>
          </a:xfrm>
          <a:prstGeom prst="rect">
            <a:avLst/>
          </a:prstGeom>
          <a:solidFill>
            <a:schemeClr val="bg1"/>
          </a:solidFill>
        </p:spPr>
        <p:txBody>
          <a:bodyPr wrap="square">
            <a:spAutoFit/>
          </a:bodyPr>
          <a:lstStyle/>
          <a:p>
            <a:r>
              <a:rPr lang="zh-CN" altLang="en-US" sz="2000" b="1" dirty="0">
                <a:solidFill>
                  <a:srgbClr val="2F5597"/>
                </a:solidFill>
                <a:latin typeface="Times New Roman" panose="02020503050405090304" pitchFamily="18" charset="0"/>
                <a:ea typeface="微软雅黑" panose="020B0503020204020204" pitchFamily="34" charset="-122"/>
                <a:cs typeface="Times New Roman" panose="02020503050405090304" pitchFamily="18" charset="0"/>
              </a:rPr>
              <a:t>存储容量递增</a:t>
            </a:r>
            <a:endParaRPr lang="zh-CN" altLang="en-US" sz="2000" b="1" dirty="0">
              <a:solidFill>
                <a:srgbClr val="2F5597"/>
              </a:solidFill>
            </a:endParaRPr>
          </a:p>
        </p:txBody>
      </p:sp>
      <p:cxnSp>
        <p:nvCxnSpPr>
          <p:cNvPr id="24" name="直接箭头连接符 23"/>
          <p:cNvCxnSpPr/>
          <p:nvPr/>
        </p:nvCxnSpPr>
        <p:spPr>
          <a:xfrm flipV="1">
            <a:off x="1752323" y="3429000"/>
            <a:ext cx="975363" cy="3285206"/>
          </a:xfrm>
          <a:prstGeom prst="straightConnector1">
            <a:avLst/>
          </a:prstGeom>
          <a:ln w="28575">
            <a:solidFill>
              <a:srgbClr val="2F559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rot="17235472">
            <a:off x="1328835" y="4801844"/>
            <a:ext cx="1747512" cy="398780"/>
          </a:xfrm>
          <a:prstGeom prst="rect">
            <a:avLst/>
          </a:prstGeom>
          <a:solidFill>
            <a:schemeClr val="bg1"/>
          </a:solidFill>
        </p:spPr>
        <p:txBody>
          <a:bodyPr wrap="square">
            <a:spAutoFit/>
          </a:bodyPr>
          <a:lstStyle>
            <a:defPPr>
              <a:defRPr lang="zh-CN"/>
            </a:defPPr>
            <a:lvl1pPr>
              <a:defRPr sz="2000" b="1">
                <a:solidFill>
                  <a:srgbClr val="2F5597"/>
                </a:solidFill>
                <a:latin typeface="Times New Roman" panose="02020503050405090304" pitchFamily="18" charset="0"/>
                <a:ea typeface="微软雅黑" panose="020B0503020204020204" pitchFamily="34" charset="-122"/>
                <a:cs typeface="Times New Roman" panose="02020503050405090304" pitchFamily="18" charset="0"/>
              </a:defRPr>
            </a:lvl1pPr>
          </a:lstStyle>
          <a:p>
            <a:r>
              <a:rPr lang="zh-CN" altLang="en-US" dirty="0"/>
              <a:t>存储速度递增</a:t>
            </a:r>
            <a:endParaRPr lang="zh-CN" altLang="en-US" dirty="0"/>
          </a:p>
        </p:txBody>
      </p:sp>
      <p:cxnSp>
        <p:nvCxnSpPr>
          <p:cNvPr id="34" name="直接箭头连接符 33"/>
          <p:cNvCxnSpPr>
            <a:stCxn id="2" idx="3"/>
            <a:endCxn id="14" idx="1"/>
          </p:cNvCxnSpPr>
          <p:nvPr/>
        </p:nvCxnSpPr>
        <p:spPr>
          <a:xfrm flipV="1">
            <a:off x="3704026" y="3712906"/>
            <a:ext cx="3610177" cy="272845"/>
          </a:xfrm>
          <a:prstGeom prst="straightConnector1">
            <a:avLst/>
          </a:prstGeom>
          <a:ln w="12700">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11" idx="3"/>
            <a:endCxn id="15" idx="1"/>
          </p:cNvCxnSpPr>
          <p:nvPr/>
        </p:nvCxnSpPr>
        <p:spPr>
          <a:xfrm flipV="1">
            <a:off x="4016481" y="4258597"/>
            <a:ext cx="3023647" cy="816876"/>
          </a:xfrm>
          <a:prstGeom prst="straightConnector1">
            <a:avLst/>
          </a:prstGeom>
          <a:ln w="12700">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a:stCxn id="11" idx="3"/>
            <a:endCxn id="16" idx="1"/>
          </p:cNvCxnSpPr>
          <p:nvPr/>
        </p:nvCxnSpPr>
        <p:spPr>
          <a:xfrm flipV="1">
            <a:off x="4016481" y="4804288"/>
            <a:ext cx="2761863" cy="271185"/>
          </a:xfrm>
          <a:prstGeom prst="straightConnector1">
            <a:avLst/>
          </a:prstGeom>
          <a:ln w="12700">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11" idx="3"/>
            <a:endCxn id="17" idx="1"/>
          </p:cNvCxnSpPr>
          <p:nvPr/>
        </p:nvCxnSpPr>
        <p:spPr>
          <a:xfrm>
            <a:off x="4016481" y="5075473"/>
            <a:ext cx="2496392" cy="274506"/>
          </a:xfrm>
          <a:prstGeom prst="straightConnector1">
            <a:avLst/>
          </a:prstGeom>
          <a:ln w="12700">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a:stCxn id="13" idx="3"/>
            <a:endCxn id="19" idx="1"/>
          </p:cNvCxnSpPr>
          <p:nvPr/>
        </p:nvCxnSpPr>
        <p:spPr>
          <a:xfrm>
            <a:off x="4287112" y="6166025"/>
            <a:ext cx="1700582" cy="275336"/>
          </a:xfrm>
          <a:prstGeom prst="straightConnector1">
            <a:avLst/>
          </a:prstGeom>
          <a:ln w="12700">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49" name="直接箭头连接符 48"/>
          <p:cNvCxnSpPr>
            <a:stCxn id="13" idx="3"/>
            <a:endCxn id="18" idx="1"/>
          </p:cNvCxnSpPr>
          <p:nvPr/>
        </p:nvCxnSpPr>
        <p:spPr>
          <a:xfrm flipV="1">
            <a:off x="4287112" y="5895670"/>
            <a:ext cx="1960290" cy="270355"/>
          </a:xfrm>
          <a:prstGeom prst="straightConnector1">
            <a:avLst/>
          </a:prstGeom>
          <a:ln w="12700">
            <a:solidFill>
              <a:schemeClr val="tx1"/>
            </a:solidFill>
            <a:prstDash val="dash"/>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376555" y="1115060"/>
            <a:ext cx="11634470" cy="2247265"/>
          </a:xfrm>
        </p:spPr>
        <p:txBody>
          <a:bodyPr vert="horz" wrap="square" lIns="91440" tIns="45720" rIns="91440" bIns="45720" anchor="t" anchorCtr="0">
            <a:normAutofit/>
          </a:bodyPr>
          <a:lstStyle/>
          <a:p>
            <a:pPr marL="457200" indent="-457200" eaLnBrk="1" hangingPunct="1">
              <a:buClr>
                <a:srgbClr val="0000FF"/>
              </a:buClr>
              <a:buFont typeface="Wingdings" panose="05000000000000000000" pitchFamily="2" charset="2"/>
              <a:buChar char="n"/>
            </a:pPr>
            <a:r>
              <a:rPr lang="zh-CN" altLang="en-US" sz="2400" dirty="0">
                <a:latin typeface="Times New Roman" panose="02020503050405090304" pitchFamily="18" charset="0"/>
                <a:ea typeface="微软雅黑" panose="020B0503020204020204" pitchFamily="34" charset="-122"/>
                <a:cs typeface="Times New Roman" panose="02020503050405090304" pitchFamily="18" charset="0"/>
              </a:rPr>
              <a:t>可执行存储器：</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寄存器 </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主存储器</a:t>
            </a:r>
            <a:endPar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457200" indent="-457200" eaLnBrk="1" hangingPunct="1">
              <a:buClr>
                <a:srgbClr val="0000FF"/>
              </a:buClr>
              <a:buFont typeface="Wingdings" panose="05000000000000000000" pitchFamily="2" charset="2"/>
              <a:buChar char="n"/>
            </a:pPr>
            <a:r>
              <a:rPr lang="zh-CN" altLang="en-US" sz="2400" dirty="0">
                <a:latin typeface="Times New Roman" panose="02020503050405090304" pitchFamily="18" charset="0"/>
                <a:ea typeface="微软雅黑" panose="020B0503020204020204" pitchFamily="34" charset="-122"/>
                <a:cs typeface="Times New Roman" panose="02020503050405090304" pitchFamily="18" charset="0"/>
              </a:rPr>
              <a:t>寄存器、高速缓存、主存储器和磁盘缓存均属于操作系统</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存储管理</a:t>
            </a:r>
            <a:r>
              <a:rPr lang="zh-CN" altLang="en-US" sz="2400" dirty="0">
                <a:latin typeface="Times New Roman" panose="02020503050405090304" pitchFamily="18" charset="0"/>
                <a:ea typeface="微软雅黑" panose="020B0503020204020204" pitchFamily="34" charset="-122"/>
                <a:cs typeface="Times New Roman" panose="02020503050405090304" pitchFamily="18" charset="0"/>
              </a:rPr>
              <a:t>的管辖范畴，掉电后，它们中存储的信息不再存在。</a:t>
            </a:r>
            <a:endParaRPr lang="en-US" altLang="zh-CN" sz="2400" dirty="0">
              <a:latin typeface="Times New Roman" panose="02020503050405090304" pitchFamily="18" charset="0"/>
              <a:ea typeface="微软雅黑" panose="020B0503020204020204" pitchFamily="34" charset="-122"/>
              <a:cs typeface="Times New Roman" panose="02020503050405090304" pitchFamily="18" charset="0"/>
            </a:endParaRPr>
          </a:p>
          <a:p>
            <a:pPr marL="457200" indent="-457200" eaLnBrk="1" hangingPunct="1">
              <a:buClr>
                <a:srgbClr val="0000FF"/>
              </a:buClr>
              <a:buFont typeface="Wingdings" panose="05000000000000000000" pitchFamily="2" charset="2"/>
              <a:buChar char="n"/>
            </a:pPr>
            <a:r>
              <a:rPr lang="zh-CN" altLang="en-US" sz="2400" dirty="0">
                <a:latin typeface="Times New Roman" panose="02020503050405090304" pitchFamily="18" charset="0"/>
                <a:ea typeface="微软雅黑" panose="020B0503020204020204" pitchFamily="34" charset="-122"/>
                <a:cs typeface="Times New Roman" panose="02020503050405090304" pitchFamily="18" charset="0"/>
              </a:rPr>
              <a:t>低层的固定磁盘和可移动存储介质则属于</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设备管理</a:t>
            </a:r>
            <a:r>
              <a:rPr lang="zh-CN" altLang="en-US" sz="2400" dirty="0">
                <a:latin typeface="Times New Roman" panose="02020503050405090304" pitchFamily="18" charset="0"/>
                <a:ea typeface="微软雅黑" panose="020B0503020204020204" pitchFamily="34" charset="-122"/>
                <a:cs typeface="Times New Roman" panose="02020503050405090304" pitchFamily="18" charset="0"/>
              </a:rPr>
              <a:t>的管理范畴，它们存储的信息将被长期保存。</a:t>
            </a:r>
            <a:endParaRPr lang="zh-CN" altLang="en-US" sz="24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93980" y="33655"/>
            <a:ext cx="1094676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4.1.1 </a:t>
            </a:r>
            <a:r>
              <a:rPr lang="zh-CN" altLang="en-US" sz="3900" b="1" dirty="0">
                <a:latin typeface="微软雅黑" panose="020B0503020204020204" pitchFamily="34" charset="-122"/>
                <a:ea typeface="微软雅黑" panose="020B0503020204020204" pitchFamily="34" charset="-122"/>
              </a:rPr>
              <a:t>多层结构的存储器系统</a:t>
            </a:r>
            <a:endParaRPr lang="zh-CN" altLang="en-US" sz="3900" b="1" dirty="0">
              <a:latin typeface="微软雅黑" panose="020B0503020204020204" pitchFamily="34" charset="-122"/>
              <a:ea typeface="微软雅黑" panose="020B0503020204020204" pitchFamily="34" charset="-122"/>
            </a:endParaRPr>
          </a:p>
        </p:txBody>
      </p:sp>
      <p:sp>
        <p:nvSpPr>
          <p:cNvPr id="14" name="梯形 13"/>
          <p:cNvSpPr/>
          <p:nvPr/>
        </p:nvSpPr>
        <p:spPr>
          <a:xfrm>
            <a:off x="3636693" y="3475267"/>
            <a:ext cx="1777181" cy="545691"/>
          </a:xfrm>
          <a:prstGeom prst="trapezoid">
            <a:avLst>
              <a:gd name="adj" fmla="val 4932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b="1" dirty="0">
                <a:latin typeface="微软雅黑" panose="020B0503020204020204" pitchFamily="34" charset="-122"/>
                <a:ea typeface="微软雅黑" panose="020B0503020204020204" pitchFamily="34" charset="-122"/>
                <a:cs typeface="Times New Roman" panose="02020503050405090304" pitchFamily="18" charset="0"/>
              </a:rPr>
              <a:t>寄存器</a:t>
            </a:r>
            <a:endParaRPr lang="zh-CN" altLang="en-US" b="1" dirty="0">
              <a:solidFill>
                <a:schemeClr val="dk1"/>
              </a:solidFill>
              <a:latin typeface="微软雅黑" panose="020B0503020204020204" pitchFamily="34" charset="-122"/>
              <a:ea typeface="微软雅黑" panose="020B0503020204020204" pitchFamily="34" charset="-122"/>
            </a:endParaRPr>
          </a:p>
        </p:txBody>
      </p:sp>
      <p:sp>
        <p:nvSpPr>
          <p:cNvPr id="15" name="梯形 14"/>
          <p:cNvSpPr/>
          <p:nvPr/>
        </p:nvSpPr>
        <p:spPr>
          <a:xfrm>
            <a:off x="3362618" y="4020958"/>
            <a:ext cx="2325330" cy="545691"/>
          </a:xfrm>
          <a:prstGeom prst="trapezoid">
            <a:avLst>
              <a:gd name="adj" fmla="val 49324"/>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1" dirty="0">
                <a:latin typeface="微软雅黑" panose="020B0503020204020204" pitchFamily="34" charset="-122"/>
                <a:ea typeface="微软雅黑" panose="020B0503020204020204" pitchFamily="34" charset="-122"/>
                <a:cs typeface="Times New Roman" panose="02020503050405090304" pitchFamily="18" charset="0"/>
              </a:rPr>
              <a:t>高速缓存</a:t>
            </a:r>
            <a:endParaRPr lang="zh-CN" altLang="en-US" b="1" dirty="0">
              <a:solidFill>
                <a:schemeClr val="dk1"/>
              </a:solidFill>
              <a:latin typeface="微软雅黑" panose="020B0503020204020204" pitchFamily="34" charset="-122"/>
              <a:ea typeface="微软雅黑" panose="020B0503020204020204" pitchFamily="34" charset="-122"/>
            </a:endParaRPr>
          </a:p>
        </p:txBody>
      </p:sp>
      <p:sp>
        <p:nvSpPr>
          <p:cNvPr id="16" name="梯形 15"/>
          <p:cNvSpPr/>
          <p:nvPr/>
        </p:nvSpPr>
        <p:spPr>
          <a:xfrm>
            <a:off x="3100834" y="4566649"/>
            <a:ext cx="2848898" cy="545691"/>
          </a:xfrm>
          <a:prstGeom prst="trapezoid">
            <a:avLst>
              <a:gd name="adj" fmla="val 49324"/>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1" dirty="0">
                <a:latin typeface="微软雅黑" panose="020B0503020204020204" pitchFamily="34" charset="-122"/>
                <a:ea typeface="微软雅黑" panose="020B0503020204020204" pitchFamily="34" charset="-122"/>
                <a:cs typeface="Times New Roman" panose="02020503050405090304" pitchFamily="18" charset="0"/>
              </a:rPr>
              <a:t>主存储器</a:t>
            </a:r>
            <a:endParaRPr lang="zh-CN" altLang="en-US" b="1" dirty="0">
              <a:solidFill>
                <a:schemeClr val="dk1"/>
              </a:solidFill>
              <a:latin typeface="微软雅黑" panose="020B0503020204020204" pitchFamily="34" charset="-122"/>
              <a:ea typeface="微软雅黑" panose="020B0503020204020204" pitchFamily="34" charset="-122"/>
            </a:endParaRPr>
          </a:p>
        </p:txBody>
      </p:sp>
      <p:sp>
        <p:nvSpPr>
          <p:cNvPr id="17" name="梯形 16"/>
          <p:cNvSpPr/>
          <p:nvPr/>
        </p:nvSpPr>
        <p:spPr>
          <a:xfrm>
            <a:off x="2835363" y="5112340"/>
            <a:ext cx="3379840" cy="545691"/>
          </a:xfrm>
          <a:prstGeom prst="trapezoid">
            <a:avLst>
              <a:gd name="adj" fmla="val 49324"/>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1">
                <a:latin typeface="微软雅黑" panose="020B0503020204020204" pitchFamily="34" charset="-122"/>
                <a:ea typeface="微软雅黑" panose="020B0503020204020204" pitchFamily="34" charset="-122"/>
                <a:cs typeface="Times New Roman" panose="02020503050405090304" pitchFamily="18" charset="0"/>
              </a:rPr>
              <a:t>磁盘缓存</a:t>
            </a:r>
            <a:endParaRPr lang="zh-CN" altLang="en-US" b="1">
              <a:solidFill>
                <a:schemeClr val="dk1"/>
              </a:solidFill>
              <a:latin typeface="微软雅黑" panose="020B0503020204020204" pitchFamily="34" charset="-122"/>
              <a:ea typeface="微软雅黑" panose="020B0503020204020204" pitchFamily="34" charset="-122"/>
            </a:endParaRPr>
          </a:p>
        </p:txBody>
      </p:sp>
      <p:sp>
        <p:nvSpPr>
          <p:cNvPr id="18" name="梯形 17"/>
          <p:cNvSpPr/>
          <p:nvPr/>
        </p:nvSpPr>
        <p:spPr>
          <a:xfrm>
            <a:off x="2569892" y="5658031"/>
            <a:ext cx="3910782" cy="545691"/>
          </a:xfrm>
          <a:prstGeom prst="trapezoid">
            <a:avLst>
              <a:gd name="adj" fmla="val 4932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latin typeface="微软雅黑" panose="020B0503020204020204" pitchFamily="34" charset="-122"/>
                <a:ea typeface="微软雅黑" panose="020B0503020204020204" pitchFamily="34" charset="-122"/>
                <a:cs typeface="Times New Roman" panose="02020503050405090304" pitchFamily="18" charset="0"/>
              </a:rPr>
              <a:t>固定磁盘</a:t>
            </a:r>
            <a:endParaRPr lang="zh-CN" altLang="en-US" b="1" dirty="0">
              <a:latin typeface="微软雅黑" panose="020B0503020204020204" pitchFamily="34" charset="-122"/>
              <a:ea typeface="微软雅黑" panose="020B0503020204020204" pitchFamily="34" charset="-122"/>
            </a:endParaRPr>
          </a:p>
        </p:txBody>
      </p:sp>
      <p:sp>
        <p:nvSpPr>
          <p:cNvPr id="19" name="梯形 18"/>
          <p:cNvSpPr/>
          <p:nvPr/>
        </p:nvSpPr>
        <p:spPr>
          <a:xfrm>
            <a:off x="2310184" y="6203722"/>
            <a:ext cx="4451937" cy="545691"/>
          </a:xfrm>
          <a:prstGeom prst="trapezoid">
            <a:avLst>
              <a:gd name="adj" fmla="val 4932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a:latin typeface="微软雅黑" panose="020B0503020204020204" pitchFamily="34" charset="-122"/>
                <a:ea typeface="微软雅黑" panose="020B0503020204020204" pitchFamily="34" charset="-122"/>
                <a:cs typeface="Times New Roman" panose="02020503050405090304" pitchFamily="18" charset="0"/>
              </a:rPr>
              <a:t>可移动存储介质</a:t>
            </a:r>
            <a:endParaRPr lang="zh-CN" altLang="en-US" b="1" dirty="0">
              <a:latin typeface="微软雅黑" panose="020B0503020204020204" pitchFamily="34" charset="-122"/>
              <a:ea typeface="微软雅黑" panose="020B0503020204020204" pitchFamily="34" charset="-122"/>
            </a:endParaRPr>
          </a:p>
        </p:txBody>
      </p:sp>
      <p:cxnSp>
        <p:nvCxnSpPr>
          <p:cNvPr id="27" name="直接箭头连接符 26"/>
          <p:cNvCxnSpPr>
            <a:stCxn id="28" idx="3"/>
            <a:endCxn id="14" idx="1"/>
          </p:cNvCxnSpPr>
          <p:nvPr/>
        </p:nvCxnSpPr>
        <p:spPr>
          <a:xfrm flipV="1">
            <a:off x="2983007" y="3748360"/>
            <a:ext cx="788035" cy="353695"/>
          </a:xfrm>
          <a:prstGeom prst="straightConnector1">
            <a:avLst/>
          </a:prstGeom>
          <a:ln w="28575">
            <a:solidFill>
              <a:srgbClr val="2F559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1872589" y="3748112"/>
            <a:ext cx="1110418" cy="706755"/>
          </a:xfrm>
          <a:prstGeom prst="rect">
            <a:avLst/>
          </a:prstGeom>
          <a:solidFill>
            <a:schemeClr val="bg1"/>
          </a:solidFill>
        </p:spPr>
        <p:txBody>
          <a:bodyPr wrap="square">
            <a:spAutoFit/>
          </a:bodyPr>
          <a:lstStyle>
            <a:defPPr>
              <a:defRPr lang="zh-CN"/>
            </a:defPPr>
            <a:lvl1pPr>
              <a:defRPr sz="2000" b="1">
                <a:solidFill>
                  <a:srgbClr val="2F5597"/>
                </a:solidFill>
                <a:latin typeface="Times New Roman" panose="02020503050405090304" pitchFamily="18" charset="0"/>
                <a:ea typeface="微软雅黑" panose="020B0503020204020204" pitchFamily="34" charset="-122"/>
                <a:cs typeface="Times New Roman" panose="02020503050405090304" pitchFamily="18" charset="0"/>
              </a:defRPr>
            </a:lvl1pPr>
          </a:lstStyle>
          <a:p>
            <a:r>
              <a:rPr lang="zh-CN" altLang="en-US" dirty="0"/>
              <a:t>可执行存储器</a:t>
            </a:r>
            <a:endParaRPr lang="zh-CN" altLang="en-US" dirty="0"/>
          </a:p>
        </p:txBody>
      </p:sp>
      <p:cxnSp>
        <p:nvCxnSpPr>
          <p:cNvPr id="29" name="直接箭头连接符 28"/>
          <p:cNvCxnSpPr>
            <a:stCxn id="28" idx="3"/>
            <a:endCxn id="16" idx="1"/>
          </p:cNvCxnSpPr>
          <p:nvPr/>
        </p:nvCxnSpPr>
        <p:spPr>
          <a:xfrm>
            <a:off x="2983007" y="4101420"/>
            <a:ext cx="252095" cy="737870"/>
          </a:xfrm>
          <a:prstGeom prst="straightConnector1">
            <a:avLst/>
          </a:prstGeom>
          <a:ln w="28575">
            <a:solidFill>
              <a:srgbClr val="2F5597"/>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3" name="Rectangle 4"/>
          <p:cNvSpPr>
            <a:spLocks noChangeArrowheads="1"/>
          </p:cNvSpPr>
          <p:nvPr/>
        </p:nvSpPr>
        <p:spPr bwMode="auto">
          <a:xfrm>
            <a:off x="5151025" y="3296266"/>
            <a:ext cx="5246040" cy="818532"/>
          </a:xfrm>
          <a:prstGeom prst="leftArrow">
            <a:avLst/>
          </a:prstGeom>
          <a:solidFill>
            <a:schemeClr val="bg1"/>
          </a:solidFill>
          <a:ln w="9525">
            <a:solidFill>
              <a:srgbClr val="2F5597"/>
            </a:solidFill>
            <a:miter lim="800000"/>
          </a:ln>
          <a:effectLst/>
          <a:scene3d>
            <a:camera prst="orthographicFront"/>
            <a:lightRig rig="threePt" dir="t"/>
          </a:scene3d>
          <a:sp3d>
            <a:bevelT/>
          </a:sp3d>
        </p:spPr>
        <p:txBody>
          <a:bodyPr/>
          <a:lstStyle/>
          <a:p>
            <a:pPr marL="9525" indent="-9525" algn="l" latinLnBrk="1">
              <a:spcBef>
                <a:spcPts val="600"/>
              </a:spcBef>
              <a:buClr>
                <a:srgbClr val="33CCFF"/>
              </a:buClr>
              <a:buFont typeface="Wingdings" panose="05000000000000000000" pitchFamily="2" charset="2"/>
              <a:buNone/>
            </a:pPr>
            <a:r>
              <a:rPr lang="zh-CN" b="1" dirty="0">
                <a:latin typeface="Times New Roman" panose="02020503050405090304" pitchFamily="18" charset="0"/>
                <a:ea typeface="微软雅黑" panose="020B0503020204020204" pitchFamily="34" charset="-122"/>
                <a:cs typeface="Times New Roman" panose="02020503050405090304" pitchFamily="18" charset="0"/>
              </a:rPr>
              <a:t>解决主存访问速度</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与</a:t>
            </a:r>
            <a:r>
              <a:rPr lang="zh-CN" b="1" dirty="0">
                <a:latin typeface="Times New Roman" panose="02020503050405090304" pitchFamily="18" charset="0"/>
                <a:ea typeface="微软雅黑" panose="020B0503020204020204" pitchFamily="34" charset="-122"/>
                <a:cs typeface="Times New Roman" panose="02020503050405090304" pitchFamily="18" charset="0"/>
              </a:rPr>
              <a:t>CPU指令执行速度的矛盾</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4" name="Rectangle 5"/>
          <p:cNvSpPr>
            <a:spLocks noChangeArrowheads="1"/>
          </p:cNvSpPr>
          <p:nvPr/>
        </p:nvSpPr>
        <p:spPr bwMode="auto">
          <a:xfrm>
            <a:off x="5559677" y="3865660"/>
            <a:ext cx="4837389" cy="866771"/>
          </a:xfrm>
          <a:prstGeom prst="leftArrow">
            <a:avLst/>
          </a:prstGeom>
          <a:solidFill>
            <a:schemeClr val="bg1"/>
          </a:solidFill>
          <a:ln w="9525">
            <a:solidFill>
              <a:srgbClr val="2F5597"/>
            </a:solidFill>
            <a:miter lim="800000"/>
          </a:ln>
          <a:effectLst/>
          <a:scene3d>
            <a:camera prst="orthographicFront"/>
            <a:lightRig rig="threePt" dir="t"/>
          </a:scene3d>
          <a:sp3d>
            <a:bevelT/>
          </a:sp3d>
        </p:spPr>
        <p:txBody>
          <a:bodyPr/>
          <a:lstStyle/>
          <a:p>
            <a:pPr marL="9525" indent="-9525" latinLnBrk="1">
              <a:spcBef>
                <a:spcPts val="600"/>
              </a:spcBef>
              <a:buClr>
                <a:srgbClr val="33CCFF"/>
              </a:buClr>
            </a:pPr>
            <a:r>
              <a:rPr lang="ko-KR" altLang="en-US" b="1" dirty="0">
                <a:latin typeface="Times New Roman" panose="02020503050405090304" pitchFamily="18" charset="0"/>
                <a:ea typeface="微软雅黑" panose="020B0503020204020204" pitchFamily="34" charset="-122"/>
                <a:cs typeface="Times New Roman" panose="02020503050405090304" pitchFamily="18" charset="0"/>
                <a:sym typeface="Arial" panose="020B0604020202090204" pitchFamily="34" charset="0"/>
              </a:rPr>
              <a:t>减少访存次数，提高程序执行速度</a:t>
            </a:r>
            <a:endParaRPr lang="ko-KR" altLang="en-US" b="1" dirty="0">
              <a:latin typeface="Times New Roman" panose="02020503050405090304" pitchFamily="18" charset="0"/>
              <a:ea typeface="微软雅黑" panose="020B0503020204020204" pitchFamily="34" charset="-122"/>
              <a:cs typeface="Times New Roman" panose="02020503050405090304" pitchFamily="18" charset="0"/>
              <a:sym typeface="Arial" panose="020B0604020202090204" pitchFamily="34" charset="0"/>
            </a:endParaRPr>
          </a:p>
        </p:txBody>
      </p:sp>
      <p:sp>
        <p:nvSpPr>
          <p:cNvPr id="45" name="Rectangle 6"/>
          <p:cNvSpPr>
            <a:spLocks noChangeArrowheads="1"/>
          </p:cNvSpPr>
          <p:nvPr/>
        </p:nvSpPr>
        <p:spPr bwMode="auto">
          <a:xfrm>
            <a:off x="6008644" y="4951798"/>
            <a:ext cx="4388421" cy="866774"/>
          </a:xfrm>
          <a:prstGeom prst="leftArrow">
            <a:avLst/>
          </a:prstGeom>
          <a:solidFill>
            <a:schemeClr val="bg1"/>
          </a:solidFill>
          <a:ln w="9525">
            <a:solidFill>
              <a:srgbClr val="2F5597"/>
            </a:solidFill>
            <a:miter lim="800000"/>
          </a:ln>
          <a:effectLst/>
          <a:scene3d>
            <a:camera prst="orthographicFront"/>
            <a:lightRig rig="threePt" dir="t"/>
          </a:scene3d>
          <a:sp3d>
            <a:bevelT/>
          </a:sp3d>
        </p:spPr>
        <p:txBody>
          <a:bodyPr/>
          <a:lstStyle/>
          <a:p>
            <a:pPr marL="9525" indent="-9525" latinLnBrk="1">
              <a:spcBef>
                <a:spcPts val="600"/>
              </a:spcBef>
              <a:buClr>
                <a:srgbClr val="33CCFF"/>
              </a:buClr>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Arial" panose="020B0604020202090204" pitchFamily="34" charset="0"/>
              </a:rPr>
              <a:t>减少访问磁盘的次数，对主存空间扩充</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Arial" panose="020B060402020209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dissolve">
                                      <p:cBhvr>
                                        <p:cTn id="7" dur="10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dissolve">
                                      <p:cBhvr>
                                        <p:cTn id="12" dur="10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dissolve">
                                      <p:cBhvr>
                                        <p:cTn id="17"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ldLvl="0" animBg="1" autoUpdateAnimBg="0"/>
      <p:bldP spid="44" grpId="0" bldLvl="0" animBg="1" autoUpdateAnimBg="0"/>
      <p:bldP spid="45" grpId="0" bldLvl="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332105" y="935990"/>
            <a:ext cx="11675745" cy="3997960"/>
          </a:xfrm>
        </p:spPr>
        <p:txBody>
          <a:bodyPr vert="horz" wrap="square" lIns="91440" tIns="45720" rIns="91440" bIns="45720" anchor="t" anchorCtr="0">
            <a:noAutofit/>
          </a:bodyPr>
          <a:lstStyle/>
          <a:p>
            <a:pPr marL="457200" indent="-457200" eaLnBrk="1" hangingPunct="1">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可执行存储器：访问机制</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指令、时间</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很少的时钟周期</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内</a:t>
            </a:r>
            <a:endPar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eaLnBrk="1" hangingPunct="1">
              <a:lnSpc>
                <a:spcPct val="150000"/>
              </a:lnSpc>
              <a:buClr>
                <a:srgbClr val="0000FF"/>
              </a:buClr>
              <a:buFont typeface="Wingdings" panose="05000000000000000000" charset="0"/>
              <a:buChar char="Ø"/>
            </a:pP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主存储器</a:t>
            </a:r>
            <a:r>
              <a:rPr lang="en-US" altLang="zh-CN" sz="2000"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内存</a:t>
            </a:r>
            <a:r>
              <a:rPr lang="en-US" altLang="zh-CN" sz="2000"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主存</a:t>
            </a:r>
            <a:endPar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2" eaLnBrk="1" hangingPunct="1">
              <a:lnSpc>
                <a:spcPct val="150000"/>
              </a:lnSpc>
              <a:buClr>
                <a:srgbClr val="0000FF"/>
              </a:buClr>
              <a:buFont typeface="Arial" panose="020B0604020202090204" pitchFamily="34" charset="0"/>
              <a:buChar char="•"/>
            </a:pPr>
            <a:r>
              <a:rPr lang="zh-CN" altLang="en-US" sz="1665" dirty="0">
                <a:latin typeface="Times New Roman" panose="02020503050405090304" pitchFamily="18" charset="0"/>
                <a:ea typeface="微软雅黑" panose="020B0503020204020204" pitchFamily="34" charset="-122"/>
                <a:cs typeface="Times New Roman" panose="02020503050405090304" pitchFamily="18" charset="0"/>
              </a:rPr>
              <a:t>用于保存进程运行时的程序和数据；</a:t>
            </a:r>
            <a:endParaRPr lang="zh-CN" altLang="en-US" sz="1665" dirty="0">
              <a:latin typeface="Times New Roman" panose="02020503050405090304" pitchFamily="18" charset="0"/>
              <a:ea typeface="微软雅黑" panose="020B0503020204020204" pitchFamily="34" charset="-122"/>
              <a:cs typeface="Times New Roman" panose="02020503050405090304" pitchFamily="18" charset="0"/>
            </a:endParaRPr>
          </a:p>
          <a:p>
            <a:pPr lvl="2" eaLnBrk="1" hangingPunct="1">
              <a:lnSpc>
                <a:spcPct val="150000"/>
              </a:lnSpc>
              <a:buClr>
                <a:srgbClr val="0000FF"/>
              </a:buClr>
              <a:buFont typeface="Arial" panose="020B0604020202090204" pitchFamily="34" charset="0"/>
              <a:buChar char="•"/>
            </a:pPr>
            <a:r>
              <a:rPr lang="zh-CN" altLang="en-US" sz="1665" dirty="0">
                <a:latin typeface="Times New Roman" panose="02020503050405090304" pitchFamily="18" charset="0"/>
                <a:ea typeface="微软雅黑" panose="020B0503020204020204" pitchFamily="34" charset="-122"/>
                <a:cs typeface="Times New Roman" panose="02020503050405090304" pitchFamily="18" charset="0"/>
              </a:rPr>
              <a:t>处理机从主存储器中取</a:t>
            </a:r>
            <a:r>
              <a:rPr lang="en-US" altLang="zh-CN" sz="1665"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665" dirty="0">
                <a:latin typeface="Times New Roman" panose="02020503050405090304" pitchFamily="18" charset="0"/>
                <a:ea typeface="微软雅黑" panose="020B0503020204020204" pitchFamily="34" charset="-122"/>
                <a:cs typeface="Times New Roman" panose="02020503050405090304" pitchFamily="18" charset="0"/>
              </a:rPr>
              <a:t>存指令（放指令寄存器）和数据</a:t>
            </a:r>
            <a:r>
              <a:rPr lang="zh-CN" altLang="en-US" sz="1665" dirty="0">
                <a:latin typeface="Times New Roman" panose="02020503050405090304" pitchFamily="18" charset="0"/>
                <a:ea typeface="微软雅黑" panose="020B0503020204020204" pitchFamily="34" charset="-122"/>
                <a:cs typeface="Times New Roman" panose="02020503050405090304" pitchFamily="18" charset="0"/>
                <a:sym typeface="+mn-ea"/>
              </a:rPr>
              <a:t>（放</a:t>
            </a:r>
            <a:r>
              <a:rPr lang="zh-CN" altLang="en-US" sz="1665" dirty="0">
                <a:latin typeface="Times New Roman" panose="02020503050405090304" pitchFamily="18" charset="0"/>
                <a:ea typeface="微软雅黑" panose="020B0503020204020204" pitchFamily="34" charset="-122"/>
                <a:cs typeface="Times New Roman" panose="02020503050405090304" pitchFamily="18" charset="0"/>
                <a:sym typeface="+mn-ea"/>
              </a:rPr>
              <a:t>数据寄存器）</a:t>
            </a:r>
            <a:endParaRPr lang="zh-CN" altLang="en-US" sz="1665" dirty="0">
              <a:latin typeface="Times New Roman" panose="02020503050405090304" pitchFamily="18" charset="0"/>
              <a:ea typeface="微软雅黑" panose="020B0503020204020204" pitchFamily="34" charset="-122"/>
              <a:cs typeface="Times New Roman" panose="02020503050405090304" pitchFamily="18" charset="0"/>
              <a:sym typeface="+mn-ea"/>
            </a:endParaRPr>
          </a:p>
          <a:p>
            <a:pPr lvl="2" eaLnBrk="1" hangingPunct="1">
              <a:lnSpc>
                <a:spcPct val="150000"/>
              </a:lnSpc>
              <a:buClr>
                <a:srgbClr val="0000FF"/>
              </a:buClr>
              <a:buFont typeface="Arial" panose="020B0604020202090204" pitchFamily="34" charset="0"/>
              <a:buChar char="•"/>
            </a:pPr>
            <a:r>
              <a:rPr lang="zh-CN" altLang="en-US" sz="1665" dirty="0">
                <a:latin typeface="Times New Roman" panose="02020503050405090304" pitchFamily="18" charset="0"/>
                <a:ea typeface="微软雅黑" panose="020B0503020204020204" pitchFamily="34" charset="-122"/>
                <a:cs typeface="Times New Roman" panose="02020503050405090304" pitchFamily="18" charset="0"/>
              </a:rPr>
              <a:t>缓和</a:t>
            </a:r>
            <a:r>
              <a:rPr lang="en-US" altLang="zh-CN" sz="1665" dirty="0">
                <a:latin typeface="Times New Roman" panose="02020503050405090304" pitchFamily="18" charset="0"/>
                <a:ea typeface="微软雅黑" panose="020B0503020204020204" pitchFamily="34" charset="-122"/>
                <a:cs typeface="Times New Roman" panose="02020503050405090304" pitchFamily="18" charset="0"/>
              </a:rPr>
              <a:t>CPU</a:t>
            </a:r>
            <a:r>
              <a:rPr lang="zh-CN" altLang="en-US" sz="1665" dirty="0">
                <a:latin typeface="Times New Roman" panose="02020503050405090304" pitchFamily="18" charset="0"/>
                <a:ea typeface="微软雅黑" panose="020B0503020204020204" pitchFamily="34" charset="-122"/>
                <a:cs typeface="Times New Roman" panose="02020503050405090304" pitchFamily="18" charset="0"/>
              </a:rPr>
              <a:t>和主存储器矛盾：引入寄存器和高速</a:t>
            </a:r>
            <a:r>
              <a:rPr lang="zh-CN" altLang="en-US" sz="1665" dirty="0">
                <a:latin typeface="Times New Roman" panose="02020503050405090304" pitchFamily="18" charset="0"/>
                <a:ea typeface="微软雅黑" panose="020B0503020204020204" pitchFamily="34" charset="-122"/>
                <a:cs typeface="Times New Roman" panose="02020503050405090304" pitchFamily="18" charset="0"/>
              </a:rPr>
              <a:t>缓存</a:t>
            </a:r>
            <a:endParaRPr lang="zh-CN" altLang="en-US" sz="1665" dirty="0">
              <a:latin typeface="Times New Roman" panose="02020503050405090304" pitchFamily="18" charset="0"/>
              <a:ea typeface="微软雅黑" panose="020B0503020204020204" pitchFamily="34" charset="-122"/>
              <a:cs typeface="Times New Roman" panose="02020503050405090304" pitchFamily="18" charset="0"/>
            </a:endParaRPr>
          </a:p>
          <a:p>
            <a:pPr lvl="1" eaLnBrk="1" hangingPunct="1">
              <a:lnSpc>
                <a:spcPct val="150000"/>
              </a:lnSpc>
              <a:buClr>
                <a:srgbClr val="0000FF"/>
              </a:buClr>
              <a:buFont typeface="Wingdings" panose="05000000000000000000" charset="0"/>
              <a:buChar char="Ø"/>
            </a:pP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寄存器</a:t>
            </a:r>
            <a:endPar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2" algn="l" eaLnBrk="1" hangingPunct="1">
              <a:lnSpc>
                <a:spcPct val="150000"/>
              </a:lnSpc>
              <a:buClr>
                <a:srgbClr val="0000FF"/>
              </a:buClr>
              <a:buSzTx/>
              <a:buChar char="•"/>
            </a:pPr>
            <a:r>
              <a:rPr lang="zh-CN" altLang="en-US" sz="1665" dirty="0">
                <a:latin typeface="Times New Roman" panose="02020503050405090304" pitchFamily="18" charset="0"/>
                <a:ea typeface="微软雅黑" panose="020B0503020204020204" pitchFamily="34" charset="-122"/>
                <a:cs typeface="Times New Roman" panose="02020503050405090304" pitchFamily="18" charset="0"/>
              </a:rPr>
              <a:t>具有与处理机相同的速度，故对寄存器的访问速度最快，完全能与ＣＰＵ协调工作</a:t>
            </a:r>
            <a:endParaRPr lang="zh-CN" altLang="en-US" sz="1665" dirty="0">
              <a:latin typeface="Times New Roman" panose="02020503050405090304" pitchFamily="18" charset="0"/>
              <a:ea typeface="微软雅黑" panose="020B0503020204020204" pitchFamily="34" charset="-122"/>
              <a:cs typeface="Times New Roman" panose="02020503050405090304" pitchFamily="18" charset="0"/>
            </a:endParaRPr>
          </a:p>
          <a:p>
            <a:pPr lvl="2" algn="l" eaLnBrk="1" hangingPunct="1">
              <a:lnSpc>
                <a:spcPct val="150000"/>
              </a:lnSpc>
              <a:buClr>
                <a:srgbClr val="0000FF"/>
              </a:buClr>
              <a:buSzTx/>
              <a:buChar char="•"/>
            </a:pPr>
            <a:r>
              <a:rPr lang="zh-CN" altLang="en-US" sz="1665" dirty="0">
                <a:latin typeface="Times New Roman" panose="02020503050405090304" pitchFamily="18" charset="0"/>
                <a:ea typeface="微软雅黑" panose="020B0503020204020204" pitchFamily="34" charset="-122"/>
                <a:cs typeface="Times New Roman" panose="02020503050405090304" pitchFamily="18" charset="0"/>
              </a:rPr>
              <a:t>价格十分昂贵，且容量较小（只存放处理机运行时的</a:t>
            </a:r>
            <a:r>
              <a:rPr lang="zh-CN" altLang="en-US" sz="1665" dirty="0">
                <a:latin typeface="Times New Roman" panose="02020503050405090304" pitchFamily="18" charset="0"/>
                <a:ea typeface="微软雅黑" panose="020B0503020204020204" pitchFamily="34" charset="-122"/>
                <a:cs typeface="Times New Roman" panose="02020503050405090304" pitchFamily="18" charset="0"/>
              </a:rPr>
              <a:t>数据）</a:t>
            </a:r>
            <a:endParaRPr lang="zh-CN" altLang="en-US" sz="1665"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67310" y="33655"/>
            <a:ext cx="1097343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4.1.2 </a:t>
            </a:r>
            <a:r>
              <a:rPr lang="zh-CN" altLang="en-US" sz="3900" b="1" dirty="0">
                <a:latin typeface="微软雅黑" panose="020B0503020204020204" pitchFamily="34" charset="-122"/>
                <a:ea typeface="微软雅黑" panose="020B0503020204020204" pitchFamily="34" charset="-122"/>
              </a:rPr>
              <a:t>主存储器与寄存器</a:t>
            </a:r>
            <a:endParaRPr lang="zh-CN" altLang="en-US" sz="3900" b="1" dirty="0">
              <a:latin typeface="微软雅黑" panose="020B0503020204020204" pitchFamily="34" charset="-122"/>
              <a:ea typeface="微软雅黑" panose="020B0503020204020204" pitchFamily="34" charset="-122"/>
            </a:endParaRPr>
          </a:p>
        </p:txBody>
      </p:sp>
      <p:sp>
        <p:nvSpPr>
          <p:cNvPr id="14" name="梯形 13"/>
          <p:cNvSpPr/>
          <p:nvPr/>
        </p:nvSpPr>
        <p:spPr>
          <a:xfrm>
            <a:off x="6125046" y="5188994"/>
            <a:ext cx="1777181" cy="545691"/>
          </a:xfrm>
          <a:prstGeom prst="trapezoid">
            <a:avLst>
              <a:gd name="adj" fmla="val 49324"/>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800" b="1" dirty="0">
                <a:latin typeface="微软雅黑" panose="020B0503020204020204" pitchFamily="34" charset="-122"/>
                <a:ea typeface="微软雅黑" panose="020B0503020204020204" pitchFamily="34" charset="-122"/>
                <a:cs typeface="Times New Roman" panose="02020503050405090304" pitchFamily="18" charset="0"/>
              </a:rPr>
              <a:t>寄存器</a:t>
            </a:r>
            <a:endParaRPr lang="zh-CN" altLang="en-US" b="1" dirty="0">
              <a:solidFill>
                <a:schemeClr val="dk1"/>
              </a:solidFill>
              <a:latin typeface="微软雅黑" panose="020B0503020204020204" pitchFamily="34" charset="-122"/>
              <a:ea typeface="微软雅黑" panose="020B0503020204020204" pitchFamily="34" charset="-122"/>
            </a:endParaRPr>
          </a:p>
        </p:txBody>
      </p:sp>
      <p:sp>
        <p:nvSpPr>
          <p:cNvPr id="15" name="梯形 14"/>
          <p:cNvSpPr/>
          <p:nvPr/>
        </p:nvSpPr>
        <p:spPr>
          <a:xfrm>
            <a:off x="5851606" y="5734685"/>
            <a:ext cx="2325330" cy="545691"/>
          </a:xfrm>
          <a:prstGeom prst="trapezoid">
            <a:avLst>
              <a:gd name="adj" fmla="val 49324"/>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1" dirty="0">
                <a:latin typeface="微软雅黑" panose="020B0503020204020204" pitchFamily="34" charset="-122"/>
                <a:ea typeface="微软雅黑" panose="020B0503020204020204" pitchFamily="34" charset="-122"/>
                <a:cs typeface="Times New Roman" panose="02020503050405090304" pitchFamily="18" charset="0"/>
              </a:rPr>
              <a:t>高速缓存</a:t>
            </a:r>
            <a:endParaRPr lang="zh-CN" altLang="en-US" b="1" dirty="0">
              <a:solidFill>
                <a:schemeClr val="dk1"/>
              </a:solidFill>
              <a:latin typeface="微软雅黑" panose="020B0503020204020204" pitchFamily="34" charset="-122"/>
              <a:ea typeface="微软雅黑" panose="020B0503020204020204" pitchFamily="34" charset="-122"/>
            </a:endParaRPr>
          </a:p>
        </p:txBody>
      </p:sp>
      <p:sp>
        <p:nvSpPr>
          <p:cNvPr id="16" name="梯形 15"/>
          <p:cNvSpPr/>
          <p:nvPr/>
        </p:nvSpPr>
        <p:spPr>
          <a:xfrm>
            <a:off x="5589822" y="6280376"/>
            <a:ext cx="2848898" cy="545691"/>
          </a:xfrm>
          <a:prstGeom prst="trapezoid">
            <a:avLst>
              <a:gd name="adj" fmla="val 49324"/>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1" dirty="0">
                <a:solidFill>
                  <a:srgbClr val="FF0000"/>
                </a:solidFill>
                <a:latin typeface="微软雅黑" panose="020B0503020204020204" pitchFamily="34" charset="-122"/>
                <a:ea typeface="微软雅黑" panose="020B0503020204020204" pitchFamily="34" charset="-122"/>
                <a:cs typeface="Times New Roman" panose="02020503050405090304" pitchFamily="18" charset="0"/>
              </a:rPr>
              <a:t>主存储器</a:t>
            </a:r>
            <a:r>
              <a:rPr lang="en-US" altLang="zh-CN" sz="1800" b="1" dirty="0">
                <a:solidFill>
                  <a:srgbClr val="FF0000"/>
                </a:solidFill>
                <a:latin typeface="微软雅黑" panose="020B0503020204020204" pitchFamily="34" charset="-122"/>
                <a:ea typeface="微软雅黑" panose="020B0503020204020204" pitchFamily="34" charset="-122"/>
                <a:cs typeface="Times New Roman" panose="02020503050405090304" pitchFamily="18" charset="0"/>
              </a:rPr>
              <a:t>/</a:t>
            </a:r>
            <a:r>
              <a:rPr lang="zh-CN" altLang="en-US" sz="1800" b="1" dirty="0">
                <a:solidFill>
                  <a:srgbClr val="FF0000"/>
                </a:solidFill>
                <a:latin typeface="微软雅黑" panose="020B0503020204020204" pitchFamily="34" charset="-122"/>
                <a:ea typeface="微软雅黑" panose="020B0503020204020204" pitchFamily="34" charset="-122"/>
                <a:cs typeface="Times New Roman" panose="02020503050405090304" pitchFamily="18" charset="0"/>
              </a:rPr>
              <a:t>内存</a:t>
            </a:r>
            <a:r>
              <a:rPr lang="en-US" altLang="zh-CN" sz="1800" b="1" dirty="0">
                <a:solidFill>
                  <a:srgbClr val="FF0000"/>
                </a:solidFill>
                <a:latin typeface="微软雅黑" panose="020B0503020204020204" pitchFamily="34" charset="-122"/>
                <a:ea typeface="微软雅黑" panose="020B0503020204020204" pitchFamily="34" charset="-122"/>
                <a:cs typeface="Times New Roman" panose="02020503050405090304" pitchFamily="18" charset="0"/>
              </a:rPr>
              <a:t>/</a:t>
            </a:r>
            <a:r>
              <a:rPr lang="zh-CN" altLang="en-US" b="1" dirty="0">
                <a:solidFill>
                  <a:srgbClr val="FF0000"/>
                </a:solidFill>
                <a:latin typeface="微软雅黑" panose="020B0503020204020204" pitchFamily="34" charset="-122"/>
                <a:ea typeface="微软雅黑" panose="020B0503020204020204" pitchFamily="34" charset="-122"/>
                <a:cs typeface="Times New Roman" panose="02020503050405090304" pitchFamily="18" charset="0"/>
              </a:rPr>
              <a:t>主存</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43" name="Rectangle 4"/>
          <p:cNvSpPr>
            <a:spLocks noChangeArrowheads="1"/>
          </p:cNvSpPr>
          <p:nvPr/>
        </p:nvSpPr>
        <p:spPr bwMode="auto">
          <a:xfrm flipH="1">
            <a:off x="1057275" y="5052695"/>
            <a:ext cx="5067300" cy="818515"/>
          </a:xfrm>
          <a:prstGeom prst="leftArrow">
            <a:avLst/>
          </a:prstGeom>
          <a:solidFill>
            <a:schemeClr val="bg1"/>
          </a:solidFill>
          <a:ln w="9525">
            <a:solidFill>
              <a:srgbClr val="2F5597"/>
            </a:solidFill>
            <a:miter lim="800000"/>
          </a:ln>
          <a:effectLst/>
          <a:scene3d>
            <a:camera prst="orthographicFront"/>
            <a:lightRig rig="threePt" dir="t"/>
          </a:scene3d>
          <a:sp3d>
            <a:bevelT/>
          </a:sp3d>
        </p:spPr>
        <p:txBody>
          <a:bodyPr/>
          <a:lstStyle/>
          <a:p>
            <a:pPr marL="9525" indent="-9525" algn="l" latinLnBrk="1">
              <a:spcBef>
                <a:spcPts val="600"/>
              </a:spcBef>
              <a:buClr>
                <a:srgbClr val="33CCFF"/>
              </a:buClr>
              <a:buFont typeface="Wingdings" panose="05000000000000000000" pitchFamily="2" charset="2"/>
              <a:buNone/>
            </a:pPr>
            <a:r>
              <a:rPr lang="zh-CN" b="1" dirty="0">
                <a:latin typeface="Times New Roman" panose="02020503050405090304" pitchFamily="18" charset="0"/>
                <a:ea typeface="微软雅黑" panose="020B0503020204020204" pitchFamily="34" charset="-122"/>
                <a:cs typeface="Times New Roman" panose="02020503050405090304" pitchFamily="18" charset="0"/>
              </a:rPr>
              <a:t>解决主存访问速度</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与</a:t>
            </a:r>
            <a:r>
              <a:rPr lang="zh-CN" b="1" dirty="0">
                <a:latin typeface="Times New Roman" panose="02020503050405090304" pitchFamily="18" charset="0"/>
                <a:ea typeface="微软雅黑" panose="020B0503020204020204" pitchFamily="34" charset="-122"/>
                <a:cs typeface="Times New Roman" panose="02020503050405090304" pitchFamily="18" charset="0"/>
              </a:rPr>
              <a:t>CPU指令执行速度的矛盾</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44" name="Rectangle 5"/>
          <p:cNvSpPr>
            <a:spLocks noChangeArrowheads="1"/>
          </p:cNvSpPr>
          <p:nvPr/>
        </p:nvSpPr>
        <p:spPr bwMode="auto">
          <a:xfrm>
            <a:off x="8048625" y="5579110"/>
            <a:ext cx="3909695" cy="866775"/>
          </a:xfrm>
          <a:prstGeom prst="leftArrow">
            <a:avLst/>
          </a:prstGeom>
          <a:solidFill>
            <a:schemeClr val="bg1"/>
          </a:solidFill>
          <a:ln w="9525">
            <a:solidFill>
              <a:srgbClr val="2F5597"/>
            </a:solidFill>
            <a:miter lim="800000"/>
          </a:ln>
          <a:effectLst/>
          <a:scene3d>
            <a:camera prst="orthographicFront"/>
            <a:lightRig rig="threePt" dir="t"/>
          </a:scene3d>
          <a:sp3d>
            <a:bevelT/>
          </a:sp3d>
        </p:spPr>
        <p:txBody>
          <a:bodyPr/>
          <a:lstStyle/>
          <a:p>
            <a:pPr marL="9525" indent="-9525" latinLnBrk="1">
              <a:spcBef>
                <a:spcPts val="600"/>
              </a:spcBef>
              <a:buClr>
                <a:srgbClr val="33CCFF"/>
              </a:buClr>
            </a:pPr>
            <a:r>
              <a:rPr lang="ko-KR" altLang="en-US" b="1" dirty="0">
                <a:latin typeface="Times New Roman" panose="02020503050405090304" pitchFamily="18" charset="0"/>
                <a:ea typeface="微软雅黑" panose="020B0503020204020204" pitchFamily="34" charset="-122"/>
                <a:cs typeface="Times New Roman" panose="02020503050405090304" pitchFamily="18" charset="0"/>
                <a:sym typeface="Arial" panose="020B0604020202090204" pitchFamily="34" charset="0"/>
              </a:rPr>
              <a:t>减少访存次数，提高程序执行速度</a:t>
            </a:r>
            <a:endParaRPr lang="ko-KR" altLang="en-US" b="1" dirty="0">
              <a:latin typeface="Times New Roman" panose="02020503050405090304" pitchFamily="18" charset="0"/>
              <a:ea typeface="微软雅黑" panose="020B0503020204020204" pitchFamily="34" charset="-122"/>
              <a:cs typeface="Times New Roman" panose="02020503050405090304" pitchFamily="18" charset="0"/>
              <a:sym typeface="Arial" panose="020B060402020209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dissolve">
                                      <p:cBhvr>
                                        <p:cTn id="7" dur="1000"/>
                                        <p:tgtEl>
                                          <p:spTgt spid="4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dissolve">
                                      <p:cBhvr>
                                        <p:cTn id="12"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ldLvl="0" animBg="1" autoUpdateAnimBg="0"/>
      <p:bldP spid="44" grpId="0" bldLvl="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334645" y="1021715"/>
            <a:ext cx="11522075" cy="2242820"/>
          </a:xfrm>
        </p:spPr>
        <p:txBody>
          <a:bodyPr vert="horz" wrap="square" lIns="91440" tIns="45720" rIns="91440" bIns="45720" anchor="t" anchorCtr="0">
            <a:noAutofit/>
          </a:bodyPr>
          <a:lstStyle/>
          <a:p>
            <a:pPr marL="457200" indent="-457200" eaLnBrk="1" hangingPunct="1">
              <a:lnSpc>
                <a:spcPct val="150000"/>
              </a:lnSpc>
              <a:buClr>
                <a:srgbClr val="0000FF"/>
              </a:buClr>
              <a:buFont typeface="Wingdings" panose="05000000000000000000" pitchFamily="2" charset="2"/>
              <a:buChar char="n"/>
            </a:pP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高速缓存</a:t>
            </a:r>
            <a:endPar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eaLnBrk="1" hangingPunct="1">
              <a:lnSpc>
                <a:spcPct val="150000"/>
              </a:lnSpc>
              <a:buClr>
                <a:srgbClr val="0000FF"/>
              </a:buClr>
              <a:buFont typeface="Wingdings" panose="05000000000000000000" charset="0"/>
              <a:buChar char="Ø"/>
            </a:pPr>
            <a:r>
              <a:rPr lang="zh-CN" altLang="en-US" sz="1710" dirty="0">
                <a:latin typeface="Times New Roman" panose="02020503050405090304" pitchFamily="18" charset="0"/>
                <a:ea typeface="微软雅黑" panose="020B0503020204020204" pitchFamily="34" charset="-122"/>
                <a:cs typeface="Times New Roman" panose="02020503050405090304" pitchFamily="18" charset="0"/>
              </a:rPr>
              <a:t>备份主存中较常用的数据，以减少处理机对主存储器的访问次数，大幅度提高程序执行速度。</a:t>
            </a:r>
            <a:endParaRPr lang="zh-CN" altLang="en-US" sz="1710" dirty="0">
              <a:latin typeface="Times New Roman" panose="02020503050405090304" pitchFamily="18" charset="0"/>
              <a:ea typeface="微软雅黑" panose="020B0503020204020204" pitchFamily="34" charset="-122"/>
              <a:cs typeface="Times New Roman" panose="02020503050405090304" pitchFamily="18" charset="0"/>
            </a:endParaRPr>
          </a:p>
          <a:p>
            <a:pPr lvl="1" eaLnBrk="1" hangingPunct="1">
              <a:lnSpc>
                <a:spcPct val="150000"/>
              </a:lnSpc>
              <a:buClr>
                <a:srgbClr val="0000FF"/>
              </a:buClr>
              <a:buFont typeface="Wingdings" panose="05000000000000000000" charset="0"/>
              <a:buChar char="Ø"/>
            </a:pPr>
            <a:r>
              <a:rPr lang="zh-CN" altLang="en-US" sz="1710" dirty="0">
                <a:latin typeface="Times New Roman" panose="02020503050405090304" pitchFamily="18" charset="0"/>
                <a:ea typeface="微软雅黑" panose="020B0503020204020204" pitchFamily="34" charset="-122"/>
                <a:cs typeface="Times New Roman" panose="02020503050405090304" pitchFamily="18" charset="0"/>
              </a:rPr>
              <a:t>高速缓存有效性：程序执行的局部性原理，存储下一条将要执行的</a:t>
            </a:r>
            <a:r>
              <a:rPr lang="zh-CN" altLang="en-US" sz="1710" dirty="0">
                <a:latin typeface="Times New Roman" panose="02020503050405090304" pitchFamily="18" charset="0"/>
                <a:ea typeface="微软雅黑" panose="020B0503020204020204" pitchFamily="34" charset="-122"/>
                <a:cs typeface="Times New Roman" panose="02020503050405090304" pitchFamily="18" charset="0"/>
              </a:rPr>
              <a:t>指令</a:t>
            </a:r>
            <a:endParaRPr lang="zh-CN" altLang="en-US" sz="1710" dirty="0">
              <a:latin typeface="Times New Roman" panose="02020503050405090304" pitchFamily="18" charset="0"/>
              <a:ea typeface="微软雅黑" panose="020B0503020204020204" pitchFamily="34" charset="-122"/>
              <a:cs typeface="Times New Roman" panose="02020503050405090304" pitchFamily="18" charset="0"/>
            </a:endParaRPr>
          </a:p>
          <a:p>
            <a:pPr lvl="1" eaLnBrk="1" hangingPunct="1">
              <a:lnSpc>
                <a:spcPct val="150000"/>
              </a:lnSpc>
              <a:buClr>
                <a:srgbClr val="0000FF"/>
              </a:buClr>
              <a:buFont typeface="Wingdings" panose="05000000000000000000" charset="0"/>
              <a:buChar char="Ø"/>
            </a:pPr>
            <a:r>
              <a:rPr lang="zh-CN" altLang="en-US" sz="1710" dirty="0">
                <a:latin typeface="Times New Roman" panose="02020503050405090304" pitchFamily="18" charset="0"/>
                <a:ea typeface="微软雅黑" panose="020B0503020204020204" pitchFamily="34" charset="-122"/>
                <a:cs typeface="Times New Roman" panose="02020503050405090304" pitchFamily="18" charset="0"/>
              </a:rPr>
              <a:t>高速缓存容量远大于寄存器，比内存约小两到三个数量级左右，访问速度快于主存储器。</a:t>
            </a:r>
            <a:endParaRPr lang="zh-CN" altLang="en-US" sz="1710" dirty="0">
              <a:latin typeface="Times New Roman" panose="02020503050405090304" pitchFamily="18" charset="0"/>
              <a:ea typeface="微软雅黑" panose="020B0503020204020204" pitchFamily="34" charset="-122"/>
              <a:cs typeface="Times New Roman" panose="02020503050405090304" pitchFamily="18" charset="0"/>
            </a:endParaRPr>
          </a:p>
          <a:p>
            <a:pPr lvl="1" eaLnBrk="1" hangingPunct="1">
              <a:lnSpc>
                <a:spcPct val="150000"/>
              </a:lnSpc>
              <a:buClr>
                <a:srgbClr val="0000FF"/>
              </a:buClr>
              <a:buFont typeface="Wingdings" panose="05000000000000000000" charset="0"/>
              <a:buChar char="Ø"/>
            </a:pPr>
            <a:r>
              <a:rPr lang="zh-CN" altLang="en-US" sz="1710" dirty="0">
                <a:latin typeface="Times New Roman" panose="02020503050405090304" pitchFamily="18" charset="0"/>
                <a:ea typeface="微软雅黑" panose="020B0503020204020204" pitchFamily="34" charset="-122"/>
                <a:cs typeface="Times New Roman" panose="02020503050405090304" pitchFamily="18" charset="0"/>
              </a:rPr>
              <a:t>两级或多级高速</a:t>
            </a:r>
            <a:r>
              <a:rPr lang="zh-CN" altLang="en-US" sz="1710" dirty="0">
                <a:latin typeface="Times New Roman" panose="02020503050405090304" pitchFamily="18" charset="0"/>
                <a:ea typeface="微软雅黑" panose="020B0503020204020204" pitchFamily="34" charset="-122"/>
                <a:cs typeface="Times New Roman" panose="02020503050405090304" pitchFamily="18" charset="0"/>
              </a:rPr>
              <a:t>缓存</a:t>
            </a:r>
            <a:endParaRPr lang="zh-CN" altLang="en-US" sz="1710" dirty="0">
              <a:latin typeface="Times New Roman" panose="02020503050405090304" pitchFamily="18" charset="0"/>
              <a:ea typeface="微软雅黑" panose="020B0503020204020204" pitchFamily="34" charset="-122"/>
              <a:cs typeface="Times New Roman" panose="02020503050405090304" pitchFamily="18" charset="0"/>
            </a:endParaRPr>
          </a:p>
          <a:p>
            <a:pPr marL="457200" indent="-457200" eaLnBrk="1" hangingPunct="1">
              <a:lnSpc>
                <a:spcPct val="150000"/>
              </a:lnSpc>
              <a:buClr>
                <a:srgbClr val="0000FF"/>
              </a:buClr>
              <a:buFont typeface="Wingdings" panose="05000000000000000000" pitchFamily="2" charset="2"/>
              <a:buChar char="n"/>
            </a:pP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磁盘缓存：</a:t>
            </a:r>
            <a:endPar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gn="l" eaLnBrk="1" hangingPunct="1">
              <a:lnSpc>
                <a:spcPct val="150000"/>
              </a:lnSpc>
              <a:buClr>
                <a:srgbClr val="0000FF"/>
              </a:buClr>
              <a:buSzTx/>
              <a:buFont typeface="Wingdings" panose="05000000000000000000" charset="0"/>
              <a:buChar char="Ø"/>
            </a:pPr>
            <a:r>
              <a:rPr lang="zh-CN" altLang="en-US" sz="1710" dirty="0">
                <a:latin typeface="Times New Roman" panose="02020503050405090304" pitchFamily="18" charset="0"/>
                <a:ea typeface="微软雅黑" panose="020B0503020204020204" pitchFamily="34" charset="-122"/>
                <a:cs typeface="Times New Roman" panose="02020503050405090304" pitchFamily="18" charset="0"/>
              </a:rPr>
              <a:t>暂时存放频繁使用的一部分磁盘数据和信息，以减少访问磁盘的次数</a:t>
            </a:r>
            <a:endParaRPr lang="zh-CN" altLang="en-US" sz="1710" dirty="0">
              <a:latin typeface="Times New Roman" panose="02020503050405090304" pitchFamily="18" charset="0"/>
              <a:ea typeface="微软雅黑" panose="020B0503020204020204" pitchFamily="34" charset="-122"/>
              <a:cs typeface="Times New Roman" panose="02020503050405090304" pitchFamily="18" charset="0"/>
            </a:endParaRPr>
          </a:p>
          <a:p>
            <a:pPr lvl="1" algn="l" eaLnBrk="1" hangingPunct="1">
              <a:lnSpc>
                <a:spcPct val="150000"/>
              </a:lnSpc>
              <a:buClr>
                <a:srgbClr val="0000FF"/>
              </a:buClr>
              <a:buSzTx/>
              <a:buFont typeface="Wingdings" panose="05000000000000000000" charset="0"/>
              <a:buChar char="Ø"/>
            </a:pPr>
            <a:r>
              <a:rPr lang="zh-CN" altLang="en-US" sz="1710" dirty="0">
                <a:latin typeface="Times New Roman" panose="02020503050405090304" pitchFamily="18" charset="0"/>
                <a:ea typeface="微软雅黑" panose="020B0503020204020204" pitchFamily="34" charset="-122"/>
                <a:cs typeface="Times New Roman" panose="02020503050405090304" pitchFamily="18" charset="0"/>
              </a:rPr>
              <a:t>其本身不是一种实际存在的存储器，主存部分存储空间暂时存放磁盘中读出或写入的</a:t>
            </a:r>
            <a:r>
              <a:rPr lang="zh-CN" altLang="en-US" sz="1710" dirty="0">
                <a:latin typeface="Times New Roman" panose="02020503050405090304" pitchFamily="18" charset="0"/>
                <a:ea typeface="微软雅黑" panose="020B0503020204020204" pitchFamily="34" charset="-122"/>
                <a:cs typeface="Times New Roman" panose="02020503050405090304" pitchFamily="18" charset="0"/>
              </a:rPr>
              <a:t>信息</a:t>
            </a:r>
            <a:endParaRPr lang="zh-CN" altLang="en-US" sz="171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20650" y="33655"/>
            <a:ext cx="1092009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4.1.3 </a:t>
            </a:r>
            <a:r>
              <a:rPr lang="zh-CN" altLang="en-US" sz="3900" b="1" dirty="0">
                <a:latin typeface="微软雅黑" panose="020B0503020204020204" pitchFamily="34" charset="-122"/>
                <a:ea typeface="微软雅黑" panose="020B0503020204020204" pitchFamily="34" charset="-122"/>
              </a:rPr>
              <a:t>高速缓存和磁盘缓存</a:t>
            </a:r>
            <a:endParaRPr lang="zh-CN" altLang="en-US" sz="3900" b="1" dirty="0">
              <a:latin typeface="微软雅黑" panose="020B0503020204020204" pitchFamily="34" charset="-122"/>
              <a:ea typeface="微软雅黑" panose="020B0503020204020204" pitchFamily="34" charset="-122"/>
            </a:endParaRPr>
          </a:p>
        </p:txBody>
      </p:sp>
      <p:sp>
        <p:nvSpPr>
          <p:cNvPr id="15" name="梯形 14"/>
          <p:cNvSpPr/>
          <p:nvPr/>
        </p:nvSpPr>
        <p:spPr>
          <a:xfrm>
            <a:off x="4553878" y="5000607"/>
            <a:ext cx="2325330" cy="545691"/>
          </a:xfrm>
          <a:prstGeom prst="trapezoid">
            <a:avLst>
              <a:gd name="adj" fmla="val 49324"/>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1" dirty="0">
                <a:latin typeface="微软雅黑" panose="020B0503020204020204" pitchFamily="34" charset="-122"/>
                <a:ea typeface="微软雅黑" panose="020B0503020204020204" pitchFamily="34" charset="-122"/>
                <a:cs typeface="Times New Roman" panose="02020503050405090304" pitchFamily="18" charset="0"/>
              </a:rPr>
              <a:t>高速缓存</a:t>
            </a:r>
            <a:endParaRPr lang="zh-CN" altLang="en-US" b="1" dirty="0">
              <a:solidFill>
                <a:schemeClr val="dk1"/>
              </a:solidFill>
              <a:latin typeface="微软雅黑" panose="020B0503020204020204" pitchFamily="34" charset="-122"/>
              <a:ea typeface="微软雅黑" panose="020B0503020204020204" pitchFamily="34" charset="-122"/>
            </a:endParaRPr>
          </a:p>
        </p:txBody>
      </p:sp>
      <p:sp>
        <p:nvSpPr>
          <p:cNvPr id="16" name="梯形 15"/>
          <p:cNvSpPr/>
          <p:nvPr/>
        </p:nvSpPr>
        <p:spPr>
          <a:xfrm>
            <a:off x="4292094" y="5546298"/>
            <a:ext cx="2848898" cy="545691"/>
          </a:xfrm>
          <a:prstGeom prst="trapezoid">
            <a:avLst>
              <a:gd name="adj" fmla="val 49324"/>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1" dirty="0">
                <a:solidFill>
                  <a:srgbClr val="FF0000"/>
                </a:solidFill>
                <a:latin typeface="微软雅黑" panose="020B0503020204020204" pitchFamily="34" charset="-122"/>
                <a:ea typeface="微软雅黑" panose="020B0503020204020204" pitchFamily="34" charset="-122"/>
                <a:cs typeface="Times New Roman" panose="02020503050405090304" pitchFamily="18" charset="0"/>
              </a:rPr>
              <a:t>主存储器</a:t>
            </a:r>
            <a:r>
              <a:rPr lang="en-US" altLang="zh-CN" sz="1800" b="1" dirty="0">
                <a:solidFill>
                  <a:srgbClr val="FF0000"/>
                </a:solidFill>
                <a:latin typeface="微软雅黑" panose="020B0503020204020204" pitchFamily="34" charset="-122"/>
                <a:ea typeface="微软雅黑" panose="020B0503020204020204" pitchFamily="34" charset="-122"/>
                <a:cs typeface="Times New Roman" panose="02020503050405090304" pitchFamily="18" charset="0"/>
              </a:rPr>
              <a:t>/</a:t>
            </a:r>
            <a:r>
              <a:rPr lang="zh-CN" altLang="en-US" sz="1800" b="1" dirty="0">
                <a:solidFill>
                  <a:srgbClr val="FF0000"/>
                </a:solidFill>
                <a:latin typeface="微软雅黑" panose="020B0503020204020204" pitchFamily="34" charset="-122"/>
                <a:ea typeface="微软雅黑" panose="020B0503020204020204" pitchFamily="34" charset="-122"/>
                <a:cs typeface="Times New Roman" panose="02020503050405090304" pitchFamily="18" charset="0"/>
              </a:rPr>
              <a:t>内存</a:t>
            </a:r>
            <a:r>
              <a:rPr lang="en-US" altLang="zh-CN" sz="1800" b="1" dirty="0">
                <a:solidFill>
                  <a:srgbClr val="FF0000"/>
                </a:solidFill>
                <a:latin typeface="微软雅黑" panose="020B0503020204020204" pitchFamily="34" charset="-122"/>
                <a:ea typeface="微软雅黑" panose="020B0503020204020204" pitchFamily="34" charset="-122"/>
                <a:cs typeface="Times New Roman" panose="02020503050405090304" pitchFamily="18" charset="0"/>
              </a:rPr>
              <a:t>/</a:t>
            </a:r>
            <a:r>
              <a:rPr lang="zh-CN" altLang="en-US" b="1" dirty="0">
                <a:solidFill>
                  <a:srgbClr val="FF0000"/>
                </a:solidFill>
                <a:latin typeface="微软雅黑" panose="020B0503020204020204" pitchFamily="34" charset="-122"/>
                <a:ea typeface="微软雅黑" panose="020B0503020204020204" pitchFamily="34" charset="-122"/>
                <a:cs typeface="Times New Roman" panose="02020503050405090304" pitchFamily="18" charset="0"/>
              </a:rPr>
              <a:t>主存</a:t>
            </a:r>
            <a:endParaRPr lang="zh-CN" altLang="en-US" b="1" dirty="0">
              <a:solidFill>
                <a:srgbClr val="FF0000"/>
              </a:solidFill>
              <a:latin typeface="微软雅黑" panose="020B0503020204020204" pitchFamily="34" charset="-122"/>
              <a:ea typeface="微软雅黑" panose="020B0503020204020204" pitchFamily="34" charset="-122"/>
            </a:endParaRPr>
          </a:p>
        </p:txBody>
      </p:sp>
      <p:sp>
        <p:nvSpPr>
          <p:cNvPr id="17" name="梯形 16"/>
          <p:cNvSpPr/>
          <p:nvPr/>
        </p:nvSpPr>
        <p:spPr>
          <a:xfrm>
            <a:off x="4026623" y="6091989"/>
            <a:ext cx="3379840" cy="545691"/>
          </a:xfrm>
          <a:prstGeom prst="trapezoid">
            <a:avLst>
              <a:gd name="adj" fmla="val 49324"/>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800" b="1">
                <a:latin typeface="微软雅黑" panose="020B0503020204020204" pitchFamily="34" charset="-122"/>
                <a:ea typeface="微软雅黑" panose="020B0503020204020204" pitchFamily="34" charset="-122"/>
                <a:cs typeface="Times New Roman" panose="02020503050405090304" pitchFamily="18" charset="0"/>
              </a:rPr>
              <a:t>磁盘缓存</a:t>
            </a:r>
            <a:endParaRPr lang="zh-CN" altLang="en-US" b="1">
              <a:solidFill>
                <a:schemeClr val="dk1"/>
              </a:solidFill>
              <a:latin typeface="微软雅黑" panose="020B0503020204020204" pitchFamily="34" charset="-122"/>
              <a:ea typeface="微软雅黑" panose="020B0503020204020204" pitchFamily="34" charset="-122"/>
            </a:endParaRPr>
          </a:p>
        </p:txBody>
      </p:sp>
      <p:sp>
        <p:nvSpPr>
          <p:cNvPr id="44" name="Rectangle 5"/>
          <p:cNvSpPr>
            <a:spLocks noChangeArrowheads="1"/>
          </p:cNvSpPr>
          <p:nvPr/>
        </p:nvSpPr>
        <p:spPr bwMode="auto">
          <a:xfrm flipH="1">
            <a:off x="665480" y="4839970"/>
            <a:ext cx="3980180" cy="866775"/>
          </a:xfrm>
          <a:prstGeom prst="leftArrow">
            <a:avLst/>
          </a:prstGeom>
          <a:solidFill>
            <a:schemeClr val="bg1"/>
          </a:solidFill>
          <a:ln w="9525">
            <a:solidFill>
              <a:srgbClr val="2F5597"/>
            </a:solidFill>
            <a:miter lim="800000"/>
          </a:ln>
          <a:effectLst/>
          <a:scene3d>
            <a:camera prst="orthographicFront"/>
            <a:lightRig rig="threePt" dir="t"/>
          </a:scene3d>
          <a:sp3d>
            <a:bevelT/>
          </a:sp3d>
        </p:spPr>
        <p:txBody>
          <a:bodyPr/>
          <a:lstStyle/>
          <a:p>
            <a:pPr marL="9525" indent="-9525" latinLnBrk="1">
              <a:spcBef>
                <a:spcPts val="600"/>
              </a:spcBef>
              <a:buClr>
                <a:srgbClr val="33CCFF"/>
              </a:buClr>
            </a:pPr>
            <a:r>
              <a:rPr lang="ko-KR" altLang="en-US" b="1" dirty="0">
                <a:latin typeface="Times New Roman" panose="02020503050405090304" pitchFamily="18" charset="0"/>
                <a:ea typeface="微软雅黑" panose="020B0503020204020204" pitchFamily="34" charset="-122"/>
                <a:cs typeface="Times New Roman" panose="02020503050405090304" pitchFamily="18" charset="0"/>
                <a:sym typeface="Arial" panose="020B0604020202090204" pitchFamily="34" charset="0"/>
              </a:rPr>
              <a:t>减少访存次数，提高程序执行速度</a:t>
            </a:r>
            <a:endParaRPr lang="ko-KR" altLang="en-US" b="1" dirty="0">
              <a:latin typeface="Times New Roman" panose="02020503050405090304" pitchFamily="18" charset="0"/>
              <a:ea typeface="微软雅黑" panose="020B0503020204020204" pitchFamily="34" charset="-122"/>
              <a:cs typeface="Times New Roman" panose="02020503050405090304" pitchFamily="18" charset="0"/>
              <a:sym typeface="Arial" panose="020B0604020202090204" pitchFamily="34" charset="0"/>
            </a:endParaRPr>
          </a:p>
        </p:txBody>
      </p:sp>
      <p:sp>
        <p:nvSpPr>
          <p:cNvPr id="45" name="Rectangle 6"/>
          <p:cNvSpPr>
            <a:spLocks noChangeArrowheads="1"/>
          </p:cNvSpPr>
          <p:nvPr/>
        </p:nvSpPr>
        <p:spPr bwMode="auto">
          <a:xfrm>
            <a:off x="7199904" y="5931447"/>
            <a:ext cx="4388421" cy="866774"/>
          </a:xfrm>
          <a:prstGeom prst="leftArrow">
            <a:avLst/>
          </a:prstGeom>
          <a:solidFill>
            <a:schemeClr val="bg1"/>
          </a:solidFill>
          <a:ln w="9525">
            <a:solidFill>
              <a:srgbClr val="2F5597"/>
            </a:solidFill>
            <a:miter lim="800000"/>
          </a:ln>
          <a:effectLst/>
          <a:scene3d>
            <a:camera prst="orthographicFront"/>
            <a:lightRig rig="threePt" dir="t"/>
          </a:scene3d>
          <a:sp3d>
            <a:bevelT/>
          </a:sp3d>
        </p:spPr>
        <p:txBody>
          <a:bodyPr/>
          <a:lstStyle/>
          <a:p>
            <a:pPr marL="9525" indent="-9525" latinLnBrk="1">
              <a:spcBef>
                <a:spcPts val="600"/>
              </a:spcBef>
              <a:buClr>
                <a:srgbClr val="33CCFF"/>
              </a:buClr>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Arial" panose="020B0604020202090204" pitchFamily="34" charset="0"/>
              </a:rPr>
              <a:t>减少访问磁盘的次数，对主存空间扩充</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sym typeface="Arial" panose="020B060402020209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dissolve">
                                      <p:cBhvr>
                                        <p:cTn id="7" dur="10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dissolve">
                                      <p:cBhvr>
                                        <p:cTn id="12"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bldLvl="0" animBg="1" autoUpdateAnimBg="0"/>
      <p:bldP spid="45" grpId="0" bldLvl="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11" name="组合 10"/>
          <p:cNvGrpSpPr/>
          <p:nvPr/>
        </p:nvGrpSpPr>
        <p:grpSpPr>
          <a:xfrm>
            <a:off x="8316222" y="168155"/>
            <a:ext cx="3649718" cy="611540"/>
            <a:chOff x="5494282" y="112021"/>
            <a:chExt cx="3649718" cy="611540"/>
          </a:xfrm>
        </p:grpSpPr>
        <p:pic>
          <p:nvPicPr>
            <p:cNvPr id="12" name="Picture 6"/>
            <p:cNvPicPr>
              <a:picLocks noChangeAspect="1" noChangeArrowheads="1"/>
            </p:cNvPicPr>
            <p:nvPr/>
          </p:nvPicPr>
          <p:blipFill rotWithShape="1">
            <a:blip r:embed="rId1">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2" name="图示 1"/>
          <p:cNvGraphicFramePr/>
          <p:nvPr/>
        </p:nvGraphicFramePr>
        <p:xfrm>
          <a:off x="2167467" y="1115029"/>
          <a:ext cx="7335520" cy="56277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 name="标题 1"/>
          <p:cNvSpPr txBox="1"/>
          <p:nvPr/>
        </p:nvSpPr>
        <p:spPr>
          <a:xfrm>
            <a:off x="193040" y="24130"/>
            <a:ext cx="6763385" cy="9588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sz="4400" b="1" dirty="0">
                <a:latin typeface="微软雅黑" panose="020B0503020204020204" pitchFamily="34" charset="-122"/>
                <a:ea typeface="微软雅黑" panose="020B0503020204020204" pitchFamily="34" charset="-122"/>
              </a:rPr>
              <a:t>存储器管理</a:t>
            </a:r>
            <a:endParaRPr lang="zh-CN" altLang="en-US" sz="4400" b="1" dirty="0">
              <a:latin typeface="微软雅黑" panose="020B0503020204020204" pitchFamily="34" charset="-122"/>
              <a:ea typeface="微软雅黑" panose="020B0503020204020204" pitchFamily="34" charset="-122"/>
            </a:endParaRPr>
          </a:p>
        </p:txBody>
      </p:sp>
      <p:sp>
        <p:nvSpPr>
          <p:cNvPr id="15" name="星形: 五角 14"/>
          <p:cNvSpPr/>
          <p:nvPr/>
        </p:nvSpPr>
        <p:spPr>
          <a:xfrm>
            <a:off x="8718367" y="5094141"/>
            <a:ext cx="535754" cy="500776"/>
          </a:xfrm>
          <a:prstGeom prst="star5">
            <a:avLst/>
          </a:prstGeom>
          <a:solidFill>
            <a:srgbClr val="FFFF00"/>
          </a:solidFill>
          <a:ln>
            <a:solidFill>
              <a:srgbClr val="FFFF0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11" name="组合 10"/>
          <p:cNvGrpSpPr/>
          <p:nvPr/>
        </p:nvGrpSpPr>
        <p:grpSpPr>
          <a:xfrm>
            <a:off x="8316222" y="168155"/>
            <a:ext cx="3649718" cy="611540"/>
            <a:chOff x="5494282" y="112021"/>
            <a:chExt cx="3649718" cy="611540"/>
          </a:xfrm>
        </p:grpSpPr>
        <p:pic>
          <p:nvPicPr>
            <p:cNvPr id="12" name="Picture 6"/>
            <p:cNvPicPr>
              <a:picLocks noChangeAspect="1" noChangeArrowheads="1"/>
            </p:cNvPicPr>
            <p:nvPr/>
          </p:nvPicPr>
          <p:blipFill rotWithShape="1">
            <a:blip r:embed="rId1">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标题 1"/>
          <p:cNvSpPr txBox="1"/>
          <p:nvPr/>
        </p:nvSpPr>
        <p:spPr>
          <a:xfrm>
            <a:off x="126365" y="24130"/>
            <a:ext cx="6830060" cy="9588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sz="4400" b="1" dirty="0">
                <a:latin typeface="微软雅黑" panose="020B0503020204020204" pitchFamily="34" charset="-122"/>
                <a:ea typeface="微软雅黑" panose="020B0503020204020204" pitchFamily="34" charset="-122"/>
              </a:rPr>
              <a:t>存储器管理</a:t>
            </a:r>
            <a:endParaRPr lang="zh-CN" altLang="en-US" sz="4400" b="1" dirty="0">
              <a:latin typeface="微软雅黑" panose="020B0503020204020204" pitchFamily="34" charset="-122"/>
              <a:ea typeface="微软雅黑" panose="020B0503020204020204" pitchFamily="34" charset="-122"/>
            </a:endParaRPr>
          </a:p>
        </p:txBody>
      </p:sp>
      <p:grpSp>
        <p:nvGrpSpPr>
          <p:cNvPr id="17" name="组合 16"/>
          <p:cNvGrpSpPr/>
          <p:nvPr/>
        </p:nvGrpSpPr>
        <p:grpSpPr>
          <a:xfrm>
            <a:off x="2184651" y="1433240"/>
            <a:ext cx="7571495" cy="926700"/>
            <a:chOff x="0" y="404"/>
            <a:chExt cx="7335520" cy="926700"/>
          </a:xfrm>
        </p:grpSpPr>
        <p:sp>
          <p:nvSpPr>
            <p:cNvPr id="19" name="矩形: 圆角 18"/>
            <p:cNvSpPr/>
            <p:nvPr/>
          </p:nvSpPr>
          <p:spPr>
            <a:xfrm>
              <a:off x="0" y="404"/>
              <a:ext cx="7335520" cy="926700"/>
            </a:xfrm>
            <a:prstGeom prst="roundRect">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20" name="矩形: 圆角 4"/>
            <p:cNvSpPr txBox="1"/>
            <p:nvPr/>
          </p:nvSpPr>
          <p:spPr>
            <a:xfrm>
              <a:off x="45238" y="45642"/>
              <a:ext cx="7245044" cy="83622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58556" tIns="83820" rIns="83820" bIns="83820" numCol="1" spcCol="1270" anchor="ctr" anchorCtr="0">
              <a:noAutofit/>
            </a:body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程序的装入和链接</a:t>
              </a:r>
              <a:endParaRPr lang="zh-CN" altLang="en-US" sz="3200" b="1" kern="1200" dirty="0">
                <a:solidFill>
                  <a:prstClr val="white"/>
                </a:solidFill>
                <a:latin typeface="微软雅黑" panose="020B0503020204020204" pitchFamily="34" charset="-122"/>
                <a:ea typeface="微软雅黑" panose="020B0503020204020204" pitchFamily="34" charset="-122"/>
                <a:cs typeface="+mn-cs"/>
              </a:endParaRPr>
            </a:p>
          </p:txBody>
        </p:sp>
      </p:grpSp>
      <p:graphicFrame>
        <p:nvGraphicFramePr>
          <p:cNvPr id="3" name="图示 2"/>
          <p:cNvGraphicFramePr/>
          <p:nvPr/>
        </p:nvGraphicFramePr>
        <p:xfrm>
          <a:off x="3269762" y="2641662"/>
          <a:ext cx="6486385" cy="26739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7" name="直接连接符 6"/>
          <p:cNvCxnSpPr/>
          <p:nvPr/>
        </p:nvCxnSpPr>
        <p:spPr>
          <a:xfrm>
            <a:off x="2750554" y="2367178"/>
            <a:ext cx="0" cy="255407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2750554" y="3522609"/>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2750554" y="4921248"/>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71170" y="1115060"/>
            <a:ext cx="11394440" cy="3641725"/>
          </a:xfrm>
        </p:spPr>
        <p:txBody>
          <a:bodyPr vert="horz" wrap="square" lIns="91440" tIns="45720" rIns="91440" bIns="45720" anchor="t" anchorCtr="0">
            <a:normAutofit/>
          </a:bodyPr>
          <a:lstStyle/>
          <a:p>
            <a:pPr marL="457200" indent="-457200" eaLnBrk="1" hangingPunct="1">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在多道程序环境下，程序要运行必须创建进程</a:t>
            </a:r>
            <a:endPar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457200" indent="-457200" eaLnBrk="1" hangingPunct="1">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创建进程的第一件事就是将程序和数据装入内存</a:t>
            </a:r>
            <a:endPar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457200" indent="-457200" eaLnBrk="1" hangingPunct="1">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如何将一个用户源程序变成一个可以在内存中执行的程序？</a:t>
            </a:r>
            <a:endPar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编译：</a:t>
            </a: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由</a:t>
            </a:r>
            <a:r>
              <a:rPr lang="zh-CN" altLang="en-US" sz="20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编译程序</a:t>
            </a: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将用户源代码译成</a:t>
            </a:r>
            <a:r>
              <a:rPr lang="zh-CN" altLang="en-US" sz="20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若干个目标模块</a:t>
            </a: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sz="2000"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 链接：</a:t>
            </a: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由</a:t>
            </a:r>
            <a:r>
              <a:rPr lang="zh-CN" altLang="en-US" sz="20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链接程序</a:t>
            </a: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将编译后的</a:t>
            </a:r>
            <a:r>
              <a:rPr lang="zh-CN" altLang="en-US" sz="20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目标模块</a:t>
            </a: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及它们所需要的</a:t>
            </a:r>
            <a:r>
              <a:rPr lang="zh-CN" altLang="en-US" sz="20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库函数</a:t>
            </a: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链接在一起，形成一个</a:t>
            </a:r>
            <a:r>
              <a:rPr lang="zh-CN" altLang="en-US" sz="20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装入模块</a:t>
            </a: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sz="2000"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 装入：</a:t>
            </a: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由</a:t>
            </a:r>
            <a:r>
              <a:rPr lang="zh-CN" altLang="en-US" sz="20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装入程序</a:t>
            </a: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将装入模块</a:t>
            </a:r>
            <a:r>
              <a:rPr lang="zh-CN" altLang="en-US" sz="2000"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装入内存</a:t>
            </a: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sz="20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00330" y="33655"/>
            <a:ext cx="1094041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4.2 </a:t>
            </a:r>
            <a:r>
              <a:rPr lang="zh-CN" altLang="en-US" sz="3900" b="1" dirty="0">
                <a:latin typeface="微软雅黑" panose="020B0503020204020204" pitchFamily="34" charset="-122"/>
                <a:ea typeface="微软雅黑" panose="020B0503020204020204" pitchFamily="34" charset="-122"/>
              </a:rPr>
              <a:t>程序的装入和链接</a:t>
            </a:r>
            <a:endParaRPr lang="zh-CN" altLang="en-US" sz="3900" b="1" dirty="0">
              <a:latin typeface="微软雅黑" panose="020B0503020204020204" pitchFamily="34" charset="-122"/>
              <a:ea typeface="微软雅黑" panose="020B0503020204020204" pitchFamily="34" charset="-122"/>
            </a:endParaRPr>
          </a:p>
        </p:txBody>
      </p:sp>
      <p:sp>
        <p:nvSpPr>
          <p:cNvPr id="20" name="Rectangle 15"/>
          <p:cNvSpPr>
            <a:spLocks noChangeArrowheads="1"/>
          </p:cNvSpPr>
          <p:nvPr/>
        </p:nvSpPr>
        <p:spPr bwMode="auto">
          <a:xfrm>
            <a:off x="1037590" y="4896485"/>
            <a:ext cx="10765155" cy="708660"/>
          </a:xfrm>
          <a:prstGeom prst="rect">
            <a:avLst/>
          </a:prstGeom>
          <a:solidFill>
            <a:srgbClr val="004080"/>
          </a:solidFill>
          <a:ln w="28575">
            <a:noFill/>
            <a:miter lim="800000"/>
          </a:ln>
          <a:effectLst/>
        </p:spPr>
        <p:txBody>
          <a:bodyPr/>
          <a:lstStyle/>
          <a:p>
            <a:pPr marL="228600" indent="-228600" algn="ctr" defTabSz="449580">
              <a:lnSpc>
                <a:spcPct val="110000"/>
              </a:lnSpc>
              <a:spcBef>
                <a:spcPct val="30000"/>
              </a:spcBef>
              <a:buClr>
                <a:srgbClr val="FC6204"/>
              </a:buClr>
              <a:buSzPct val="100000"/>
            </a:pPr>
            <a:r>
              <a:rPr lang="zh-CN" altLang="en-US" sz="3600" b="1" dirty="0">
                <a:solidFill>
                  <a:schemeClr val="bg1"/>
                </a:solidFill>
                <a:uFill>
                  <a:solidFill>
                    <a:srgbClr val="FFFF00"/>
                  </a:solidFill>
                </a:uFill>
                <a:latin typeface="微软雅黑" panose="020B0503020204020204" pitchFamily="34" charset="-122"/>
                <a:ea typeface="微软雅黑" panose="020B0503020204020204" pitchFamily="34" charset="-122"/>
              </a:rPr>
              <a:t>相关知识回顾：</a:t>
            </a:r>
            <a:r>
              <a:rPr lang="zh-CN" altLang="en-US" sz="3600" b="1" dirty="0">
                <a:solidFill>
                  <a:schemeClr val="bg1"/>
                </a:solidFill>
                <a:latin typeface="微软雅黑" panose="020B0503020204020204" pitchFamily="34" charset="-122"/>
                <a:ea typeface="微软雅黑" panose="020B0503020204020204" pitchFamily="34" charset="-122"/>
              </a:rPr>
              <a:t>进程创建、高级调度（作业调度）</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610870" y="1115060"/>
            <a:ext cx="11127740" cy="2600960"/>
          </a:xfrm>
        </p:spPr>
        <p:txBody>
          <a:bodyPr vert="horz" wrap="square" lIns="91440" tIns="45720" rIns="91440" bIns="45720" anchor="t" anchorCtr="0">
            <a:normAutofit lnSpcReduction="10000"/>
          </a:bodyPr>
          <a:lstStyle/>
          <a:p>
            <a:pPr marL="457200" indent="-457200" eaLnBrk="1" hangingPunct="1">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如何将一个用户源程序变成一个可以在内存中执行的程序？</a:t>
            </a:r>
            <a:endPar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编译：</a:t>
            </a: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由编译程序将用户源代码译成若干个</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目标模块</a:t>
            </a: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sz="2000"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 链接：</a:t>
            </a: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由链接程序将编译后的目标模块及所需要的库函数链接在一起，形成一个</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装入模块</a:t>
            </a: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sz="2000"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 装入：</a:t>
            </a:r>
            <a:r>
              <a:rPr lang="zh-CN" altLang="en-US" sz="2000" dirty="0">
                <a:latin typeface="Times New Roman" panose="02020503050405090304" pitchFamily="18" charset="0"/>
                <a:ea typeface="微软雅黑" panose="020B0503020204020204" pitchFamily="34" charset="-122"/>
                <a:cs typeface="Times New Roman" panose="02020503050405090304" pitchFamily="18" charset="0"/>
              </a:rPr>
              <a:t>由装入程序将装入模块装入内存。</a:t>
            </a:r>
            <a:endParaRPr lang="zh-CN" altLang="en-US" sz="2000"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67005" y="33655"/>
            <a:ext cx="1087374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4.2 </a:t>
            </a:r>
            <a:r>
              <a:rPr lang="zh-CN" altLang="en-US" sz="3900" b="1" dirty="0">
                <a:latin typeface="微软雅黑" panose="020B0503020204020204" pitchFamily="34" charset="-122"/>
                <a:ea typeface="微软雅黑" panose="020B0503020204020204" pitchFamily="34" charset="-122"/>
              </a:rPr>
              <a:t>程序的装入和链接</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6" name="Object 7"/>
          <p:cNvGraphicFramePr>
            <a:graphicFrameLocks noChangeAspect="1"/>
          </p:cNvGraphicFramePr>
          <p:nvPr/>
        </p:nvGraphicFramePr>
        <p:xfrm>
          <a:off x="1847850" y="3353912"/>
          <a:ext cx="8569325" cy="3470275"/>
        </p:xfrm>
        <a:graphic>
          <a:graphicData uri="http://schemas.openxmlformats.org/presentationml/2006/ole">
            <mc:AlternateContent xmlns:mc="http://schemas.openxmlformats.org/markup-compatibility/2006">
              <mc:Choice xmlns:v="urn:schemas-microsoft-com:vml" Requires="v">
                <p:oleObj spid="_x0000_s8205" name="Visio" r:id="rId1" imgW="7747000" imgH="3289300" progId="Visio.Drawing.11">
                  <p:embed/>
                </p:oleObj>
              </mc:Choice>
              <mc:Fallback>
                <p:oleObj name="Visio" r:id="rId1" imgW="7747000" imgH="3289300" progId="Visio.Drawing.11">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850" y="3353912"/>
                        <a:ext cx="8569325" cy="3470275"/>
                      </a:xfrm>
                      <a:prstGeom prst="rect">
                        <a:avLst/>
                      </a:prstGeom>
                      <a:noFill/>
                      <a:effectLst/>
                    </p:spPr>
                  </p:pic>
                </p:oleObj>
              </mc:Fallback>
            </mc:AlternateContent>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35610" y="959485"/>
            <a:ext cx="11292840" cy="5753100"/>
          </a:xfrm>
        </p:spPr>
        <p:txBody>
          <a:bodyPr vert="horz" wrap="square" lIns="91440" tIns="45720" rIns="91440" bIns="45720" anchor="t" anchorCtr="0">
            <a:normAutofit/>
          </a:bodyPr>
          <a:lstStyle/>
          <a:p>
            <a:pPr marL="457200" indent="-457200">
              <a:lnSpc>
                <a:spcPct val="150000"/>
              </a:lnSpc>
              <a:buClr>
                <a:srgbClr val="0000FF"/>
              </a:buClr>
              <a:buFont typeface="Wingdings" panose="05000000000000000000" pitchFamily="2" charset="2"/>
              <a:buChar char="n"/>
            </a:pPr>
            <a:r>
              <a:rPr lang="zh-CN" altLang="en-US" sz="22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功能：</a:t>
            </a:r>
            <a:r>
              <a:rPr lang="zh-CN" altLang="en-US" sz="2200" b="1" dirty="0">
                <a:latin typeface="Times New Roman" panose="02020503050405090304" pitchFamily="18" charset="0"/>
                <a:ea typeface="微软雅黑" panose="020B0503020204020204" pitchFamily="34" charset="-122"/>
                <a:cs typeface="Times New Roman" panose="02020503050405090304" pitchFamily="18" charset="0"/>
              </a:rPr>
              <a:t>将编译或汇编后的一组目标模块及它们所需库函数装配成一个完整的装入模块</a:t>
            </a:r>
            <a:endParaRPr lang="zh-CN" altLang="en-US" sz="22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charset="0"/>
              <a:buChar char="Ø"/>
            </a:pPr>
            <a:r>
              <a:rPr lang="zh-CN" altLang="en-US" sz="1710" b="1" dirty="0">
                <a:latin typeface="Times New Roman" panose="02020503050405090304" pitchFamily="18" charset="0"/>
                <a:ea typeface="微软雅黑" panose="020B0503020204020204" pitchFamily="34" charset="-122"/>
                <a:cs typeface="Times New Roman" panose="02020503050405090304" pitchFamily="18" charset="0"/>
              </a:rPr>
              <a:t>根据链接的时间不同：</a:t>
            </a:r>
            <a:endParaRPr lang="zh-CN" altLang="en-US" sz="1710"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Font typeface="Arial" panose="020B0604020202090204" pitchFamily="34" charset="0"/>
              <a:buChar char="•"/>
            </a:pPr>
            <a:r>
              <a:rPr lang="zh-CN" altLang="en-US" sz="15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静态链接</a:t>
            </a:r>
            <a:r>
              <a:rPr lang="en-US" altLang="zh-CN" sz="15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static linking</a:t>
            </a:r>
            <a:r>
              <a:rPr lang="zh-CN" altLang="en-US" sz="15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500" b="1" dirty="0">
                <a:latin typeface="Times New Roman" panose="02020503050405090304" pitchFamily="18" charset="0"/>
                <a:ea typeface="微软雅黑" panose="020B0503020204020204" pitchFamily="34" charset="-122"/>
                <a:cs typeface="Times New Roman" panose="02020503050405090304" pitchFamily="18" charset="0"/>
              </a:rPr>
              <a:t>将几个目标模块链接成一个完整的装配模块，要运行时直接装入内存。由两步完成：对相对地址修改（</a:t>
            </a:r>
            <a:r>
              <a:rPr lang="en-US" altLang="zh-CN" sz="1500" b="1" dirty="0">
                <a:latin typeface="Times New Roman" panose="02020503050405090304" pitchFamily="18" charset="0"/>
                <a:ea typeface="微软雅黑" panose="020B0503020204020204" pitchFamily="34" charset="-122"/>
                <a:cs typeface="Times New Roman" panose="02020503050405090304" pitchFamily="18" charset="0"/>
              </a:rPr>
              <a:t>0——L</a:t>
            </a:r>
            <a:r>
              <a:rPr lang="zh-CN" altLang="en-US" sz="1500" b="1" dirty="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500" b="1" dirty="0">
                <a:latin typeface="Times New Roman" panose="02020503050405090304" pitchFamily="18" charset="0"/>
                <a:ea typeface="微软雅黑" panose="020B0503020204020204" pitchFamily="34" charset="-122"/>
                <a:cs typeface="Times New Roman" panose="02020503050405090304" pitchFamily="18" charset="0"/>
              </a:rPr>
              <a:t>0——L+M</a:t>
            </a:r>
            <a:r>
              <a:rPr lang="zh-CN" altLang="en-US" sz="1500" b="1" dirty="0">
                <a:latin typeface="Times New Roman" panose="02020503050405090304" pitchFamily="18" charset="0"/>
                <a:ea typeface="微软雅黑" panose="020B0503020204020204" pitchFamily="34" charset="-122"/>
                <a:cs typeface="Times New Roman" panose="02020503050405090304" pitchFamily="18" charset="0"/>
              </a:rPr>
              <a:t>）；变换外部调用符号（</a:t>
            </a:r>
            <a:r>
              <a:rPr lang="en-US" altLang="zh-CN" sz="1500" b="1" dirty="0">
                <a:latin typeface="Times New Roman" panose="02020503050405090304" pitchFamily="18" charset="0"/>
                <a:ea typeface="微软雅黑" panose="020B0503020204020204" pitchFamily="34" charset="-122"/>
                <a:cs typeface="Times New Roman" panose="02020503050405090304" pitchFamily="18" charset="0"/>
              </a:rPr>
              <a:t>call B —— JSR L</a:t>
            </a:r>
            <a:r>
              <a:rPr lang="zh-CN" altLang="en-US" sz="15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15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（简单）</a:t>
            </a:r>
            <a:endParaRPr lang="zh-CN" altLang="en-US" sz="15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Font typeface="Arial" panose="020B0604020202090204" pitchFamily="34" charset="0"/>
              <a:buChar char="•"/>
            </a:pPr>
            <a:r>
              <a:rPr lang="zh-CN" altLang="en-US" sz="15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装入时动态链接：</a:t>
            </a:r>
            <a:r>
              <a:rPr lang="zh-CN" altLang="en-US" sz="1500" b="1" dirty="0">
                <a:latin typeface="Times New Roman" panose="02020503050405090304" pitchFamily="18" charset="0"/>
                <a:ea typeface="微软雅黑" panose="020B0503020204020204" pitchFamily="34" charset="-122"/>
                <a:cs typeface="Times New Roman" panose="02020503050405090304" pitchFamily="18" charset="0"/>
              </a:rPr>
              <a:t>将几个目标模块边装入边链接，若发生外部调用，将引起装入程序去找出相应的外部目标模块，将它装入内存。</a:t>
            </a:r>
            <a:r>
              <a:rPr lang="zh-CN" altLang="en-US" sz="15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（便于软件版本的修改和更新、便于实现目标模块的共享）</a:t>
            </a:r>
            <a:endParaRPr lang="zh-CN" altLang="en-US" sz="15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Font typeface="Arial" panose="020B0604020202090204" pitchFamily="34" charset="0"/>
              <a:buChar char="•"/>
            </a:pPr>
            <a:r>
              <a:rPr lang="zh-CN" altLang="en-US" sz="15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运行时动态链接：</a:t>
            </a:r>
            <a:r>
              <a:rPr lang="zh-CN" altLang="en-US" sz="1500" b="1" dirty="0">
                <a:latin typeface="Times New Roman" panose="02020503050405090304" pitchFamily="18" charset="0"/>
                <a:ea typeface="微软雅黑" panose="020B0503020204020204" pitchFamily="34" charset="-122"/>
                <a:cs typeface="Times New Roman" panose="02020503050405090304" pitchFamily="18" charset="0"/>
              </a:rPr>
              <a:t>将几个目标模块边运行边链接，若没有运行的模块不在链接。</a:t>
            </a:r>
            <a:r>
              <a:rPr lang="zh-CN" altLang="en-US" sz="15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（节约内存、程序运行效率更高</a:t>
            </a:r>
            <a:r>
              <a:rPr lang="zh-CN" altLang="en-US" sz="1665"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sz="1665"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94945" y="33655"/>
            <a:ext cx="1084580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4.2.2 </a:t>
            </a:r>
            <a:r>
              <a:rPr lang="zh-CN" altLang="en-US" sz="3900" b="1" dirty="0">
                <a:latin typeface="微软雅黑" panose="020B0503020204020204" pitchFamily="34" charset="-122"/>
                <a:ea typeface="微软雅黑" panose="020B0503020204020204" pitchFamily="34" charset="-122"/>
              </a:rPr>
              <a:t>程序的链接</a:t>
            </a:r>
            <a:endParaRPr lang="zh-CN" altLang="en-US" sz="3900" b="1"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3848735" y="4072255"/>
            <a:ext cx="4466590" cy="271272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42925" y="1480820"/>
            <a:ext cx="11267440" cy="5082540"/>
          </a:xfrm>
        </p:spPr>
        <p:txBody>
          <a:bodyPr vert="horz" wrap="square" lIns="91440" tIns="45720" rIns="91440" bIns="45720" anchor="t" anchorCtr="0">
            <a:normAutofit/>
          </a:bodyPr>
          <a:lstStyle/>
          <a:p>
            <a:pPr marL="457200" indent="-457200" eaLnBrk="1" hangingPunct="1">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相对地址</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逻辑地址</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程序地址</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虚地址</a:t>
            </a:r>
            <a:endPar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用户</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编程所用的地址称为</a:t>
            </a:r>
            <a:r>
              <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逻辑地址</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，可执行程序</a:t>
            </a:r>
            <a:r>
              <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起始地址</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由于编译程序不能预知编译的目标模块在内存的具体位置，因此目标模块的起始地址通常都是</a:t>
            </a:r>
            <a:r>
              <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从0开始</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计算</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由逻辑地址组成的空间称为</a:t>
            </a:r>
            <a:r>
              <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逻辑地址空间或程序地址空间</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indent="-457200" eaLnBrk="1" hangingPunct="1">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绝对地址</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物理地址</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内存地址</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实地址</a:t>
            </a:r>
            <a:endPar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存放在</a:t>
            </a:r>
            <a:r>
              <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存储介质</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上的地址</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内存地址</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的集合称为</a:t>
            </a:r>
            <a:r>
              <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物理地址空间</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或</a:t>
            </a:r>
            <a:r>
              <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内存空间</a:t>
            </a:r>
            <a:endPar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55270" y="33655"/>
            <a:ext cx="1174877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4.2.1 </a:t>
            </a:r>
            <a:r>
              <a:rPr lang="zh-CN" altLang="en-US" sz="3900" b="1" dirty="0">
                <a:latin typeface="微软雅黑" panose="020B0503020204020204" pitchFamily="34" charset="-122"/>
                <a:ea typeface="微软雅黑" panose="020B0503020204020204" pitchFamily="34" charset="-122"/>
              </a:rPr>
              <a:t>程序的装入</a:t>
            </a:r>
            <a:endParaRPr lang="zh-CN" altLang="en-US" sz="3900" b="1" dirty="0">
              <a:latin typeface="微软雅黑" panose="020B0503020204020204" pitchFamily="34" charset="-122"/>
              <a:ea typeface="微软雅黑" panose="020B0503020204020204" pitchFamily="34" charset="-122"/>
            </a:endParaRPr>
          </a:p>
        </p:txBody>
      </p:sp>
      <p:sp>
        <p:nvSpPr>
          <p:cNvPr id="7" name="Rectangle 15"/>
          <p:cNvSpPr>
            <a:spLocks noChangeArrowheads="1"/>
          </p:cNvSpPr>
          <p:nvPr/>
        </p:nvSpPr>
        <p:spPr bwMode="auto">
          <a:xfrm>
            <a:off x="542925" y="979805"/>
            <a:ext cx="11313795" cy="501015"/>
          </a:xfrm>
          <a:prstGeom prst="rect">
            <a:avLst/>
          </a:prstGeom>
          <a:solidFill>
            <a:srgbClr val="004080"/>
          </a:solidFill>
          <a:ln w="28575">
            <a:noFill/>
            <a:miter lim="800000"/>
          </a:ln>
          <a:effectLst/>
        </p:spPr>
        <p:txBody>
          <a:bodyPr/>
          <a:lstStyle/>
          <a:p>
            <a:pPr marL="228600" indent="-228600" algn="ctr" defTabSz="449580">
              <a:lnSpc>
                <a:spcPct val="110000"/>
              </a:lnSpc>
              <a:spcBef>
                <a:spcPct val="30000"/>
              </a:spcBef>
              <a:buClr>
                <a:srgbClr val="FC6204"/>
              </a:buClr>
              <a:buSzPct val="100000"/>
            </a:pPr>
            <a:r>
              <a:rPr lang="zh-CN" altLang="en-US" sz="2400" b="1" dirty="0">
                <a:solidFill>
                  <a:schemeClr val="bg1"/>
                </a:solidFill>
                <a:uFill>
                  <a:solidFill>
                    <a:srgbClr val="FFFF00"/>
                  </a:solidFill>
                </a:uFill>
                <a:latin typeface="微软雅黑" panose="020B0503020204020204" pitchFamily="34" charset="-122"/>
                <a:ea typeface="微软雅黑" panose="020B0503020204020204" pitchFamily="34" charset="-122"/>
              </a:rPr>
              <a:t>知识铺垫：</a:t>
            </a:r>
            <a:r>
              <a:rPr lang="zh-CN" altLang="en-US" sz="2400" b="1" dirty="0">
                <a:solidFill>
                  <a:schemeClr val="bg1"/>
                </a:solidFill>
                <a:latin typeface="微软雅黑" panose="020B0503020204020204" pitchFamily="34" charset="-122"/>
                <a:ea typeface="微软雅黑" panose="020B0503020204020204" pitchFamily="34" charset="-122"/>
              </a:rPr>
              <a:t>地址空间</a:t>
            </a:r>
            <a:endParaRPr lang="zh-CN"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234315" y="1480820"/>
            <a:ext cx="11594465" cy="5292725"/>
          </a:xfrm>
        </p:spPr>
        <p:txBody>
          <a:bodyPr vert="horz" wrap="square" lIns="91440" tIns="45720" rIns="91440" bIns="45720" anchor="t" anchorCtr="0">
            <a:normAutofit fontScale="85000"/>
          </a:bodyPr>
          <a:lstStyle/>
          <a:p>
            <a:pPr marL="457200" indent="-457200" eaLnBrk="1" hangingPunct="1">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逻辑地址空间</a:t>
            </a:r>
            <a:endPar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源程序经过汇编或编译后，形成目标程序，每个目标程序都是以</a:t>
            </a:r>
            <a:r>
              <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0为基址顺序</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进行编址的，原来用符号名访问的单元用具体的数据</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单元号取代</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生成的目标程序占据一定的地址空间，称为作业的逻辑地址空间，简称逻辑空间。在逻辑空间中每条指令的地址和指令中要访问的操作数地址统称为逻辑地址</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indent="-457200" eaLnBrk="1" hangingPunct="1">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绝对地址空间</a:t>
            </a:r>
            <a:endPar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把内存分成若干个</a:t>
            </a:r>
            <a:r>
              <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大小相等</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的</a:t>
            </a:r>
            <a:r>
              <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存储单元</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每个单元</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给一个</a:t>
            </a:r>
            <a:r>
              <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编号</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，这个编号称为</a:t>
            </a:r>
            <a:r>
              <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内存地址</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，存储单元占</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8</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位，称作字节（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byte</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物理地址的集合称为物理地址空间（主存地址空间）</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一个</a:t>
            </a:r>
            <a:r>
              <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一维的线性空间</a:t>
            </a:r>
            <a:endParaRPr lang="zh-CN" altLang="en-US" b="1" dirty="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87630" y="33655"/>
            <a:ext cx="1095311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4.2.1 </a:t>
            </a:r>
            <a:r>
              <a:rPr lang="zh-CN" altLang="en-US" sz="3900" b="1" dirty="0">
                <a:latin typeface="微软雅黑" panose="020B0503020204020204" pitchFamily="34" charset="-122"/>
                <a:ea typeface="微软雅黑" panose="020B0503020204020204" pitchFamily="34" charset="-122"/>
              </a:rPr>
              <a:t>程序的装入</a:t>
            </a:r>
            <a:endParaRPr lang="zh-CN" altLang="en-US" sz="3900" b="1" dirty="0">
              <a:latin typeface="微软雅黑" panose="020B0503020204020204" pitchFamily="34" charset="-122"/>
              <a:ea typeface="微软雅黑" panose="020B0503020204020204" pitchFamily="34" charset="-122"/>
            </a:endParaRPr>
          </a:p>
        </p:txBody>
      </p:sp>
      <p:sp>
        <p:nvSpPr>
          <p:cNvPr id="7" name="Rectangle 15"/>
          <p:cNvSpPr>
            <a:spLocks noChangeArrowheads="1"/>
          </p:cNvSpPr>
          <p:nvPr/>
        </p:nvSpPr>
        <p:spPr bwMode="auto">
          <a:xfrm>
            <a:off x="234315" y="979805"/>
            <a:ext cx="11594465" cy="501015"/>
          </a:xfrm>
          <a:prstGeom prst="rect">
            <a:avLst/>
          </a:prstGeom>
          <a:solidFill>
            <a:srgbClr val="004080"/>
          </a:solidFill>
          <a:ln w="28575">
            <a:noFill/>
            <a:miter lim="800000"/>
          </a:ln>
          <a:effectLst/>
        </p:spPr>
        <p:txBody>
          <a:bodyPr/>
          <a:lstStyle/>
          <a:p>
            <a:pPr marL="228600" indent="-228600" algn="ctr" defTabSz="449580">
              <a:lnSpc>
                <a:spcPct val="110000"/>
              </a:lnSpc>
              <a:spcBef>
                <a:spcPct val="30000"/>
              </a:spcBef>
              <a:buClr>
                <a:srgbClr val="FC6204"/>
              </a:buClr>
              <a:buSzPct val="100000"/>
            </a:pPr>
            <a:r>
              <a:rPr lang="zh-CN" altLang="en-US" sz="2400" b="1" dirty="0">
                <a:solidFill>
                  <a:schemeClr val="bg1"/>
                </a:solidFill>
                <a:uFill>
                  <a:solidFill>
                    <a:srgbClr val="FFFF00"/>
                  </a:solidFill>
                </a:uFill>
                <a:latin typeface="微软雅黑" panose="020B0503020204020204" pitchFamily="34" charset="-122"/>
                <a:ea typeface="微软雅黑" panose="020B0503020204020204" pitchFamily="34" charset="-122"/>
              </a:rPr>
              <a:t>知识铺垫：</a:t>
            </a:r>
            <a:r>
              <a:rPr lang="zh-CN" altLang="en-US" sz="2400" b="1" dirty="0">
                <a:solidFill>
                  <a:schemeClr val="bg1"/>
                </a:solidFill>
                <a:latin typeface="微软雅黑" panose="020B0503020204020204" pitchFamily="34" charset="-122"/>
                <a:ea typeface="微软雅黑" panose="020B0503020204020204" pitchFamily="34" charset="-122"/>
              </a:rPr>
              <a:t>地址空间</a:t>
            </a:r>
            <a:endParaRPr lang="zh-CN"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63245" y="959485"/>
            <a:ext cx="11325860" cy="5292725"/>
          </a:xfrm>
        </p:spPr>
        <p:txBody>
          <a:bodyPr vert="horz" wrap="square" lIns="91440" tIns="45720" rIns="91440" bIns="45720" anchor="t" anchorCtr="0">
            <a:normAutofit/>
          </a:bodyPr>
          <a:lstStyle/>
          <a:p>
            <a:pPr marL="457200" indent="-457200" eaLnBrk="1" hangingPunct="1">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单个目标模块的装入过程可采用三种方式</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绝对装入方式（</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Absolute Loading Mode</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绝对装入程序按照装入模块中的地址，将程序和数据装入内存</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装入模块被装入内存后，程序中的逻辑地址与实际内存地址完全相同，不须对程序和数据的地址进行修改</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适合单道程序环境</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可重定位方式</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动态运行时的装入方式</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87630" y="33655"/>
            <a:ext cx="1095311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4.2.1 </a:t>
            </a:r>
            <a:r>
              <a:rPr lang="zh-CN" altLang="en-US" sz="3900" b="1" dirty="0">
                <a:latin typeface="微软雅黑" panose="020B0503020204020204" pitchFamily="34" charset="-122"/>
                <a:ea typeface="微软雅黑" panose="020B0503020204020204" pitchFamily="34" charset="-122"/>
              </a:rPr>
              <a:t>程序的装入</a:t>
            </a:r>
            <a:endParaRPr lang="zh-CN" altLang="en-US" sz="3900" b="1" dirty="0">
              <a:latin typeface="微软雅黑" panose="020B0503020204020204" pitchFamily="34" charset="-122"/>
              <a:ea typeface="微软雅黑" panose="020B0503020204020204" pitchFamily="34" charset="-122"/>
            </a:endParaRPr>
          </a:p>
        </p:txBody>
      </p:sp>
      <p:grpSp>
        <p:nvGrpSpPr>
          <p:cNvPr id="6" name="Group 4"/>
          <p:cNvGrpSpPr/>
          <p:nvPr/>
        </p:nvGrpSpPr>
        <p:grpSpPr bwMode="auto">
          <a:xfrm>
            <a:off x="5934627" y="4437484"/>
            <a:ext cx="3714750" cy="792163"/>
            <a:chOff x="0" y="0"/>
            <a:chExt cx="2340" cy="499"/>
          </a:xfrm>
        </p:grpSpPr>
        <p:sp>
          <p:nvSpPr>
            <p:cNvPr id="8" name="AutoShape 5"/>
            <p:cNvSpPr/>
            <p:nvPr/>
          </p:nvSpPr>
          <p:spPr bwMode="auto">
            <a:xfrm>
              <a:off x="0" y="0"/>
              <a:ext cx="136" cy="499"/>
            </a:xfrm>
            <a:prstGeom prst="rightBrace">
              <a:avLst>
                <a:gd name="adj1" fmla="val 30576"/>
                <a:gd name="adj2" fmla="val 50000"/>
              </a:avLst>
            </a:prstGeom>
            <a:noFill/>
            <a:ln w="38100">
              <a:solidFill>
                <a:srgbClr val="0000FF"/>
              </a:solidFill>
              <a:round/>
            </a:ln>
            <a:effectLst/>
          </p:spPr>
          <p:txBody>
            <a:bodyPr wrap="none" anchor="ctr"/>
            <a:lstStyle/>
            <a:p>
              <a:endParaRPr lang="zh-CN" altLang="en-US"/>
            </a:p>
          </p:txBody>
        </p:sp>
        <p:sp>
          <p:nvSpPr>
            <p:cNvPr id="9" name="Text Box 6"/>
            <p:cNvSpPr txBox="1">
              <a:spLocks noChangeArrowheads="1"/>
            </p:cNvSpPr>
            <p:nvPr/>
          </p:nvSpPr>
          <p:spPr bwMode="auto">
            <a:xfrm>
              <a:off x="135" y="135"/>
              <a:ext cx="2205" cy="290"/>
            </a:xfrm>
            <a:prstGeom prst="rect">
              <a:avLst/>
            </a:prstGeom>
            <a:noFill/>
            <a:ln w="9525">
              <a:noFill/>
              <a:miter lim="800000"/>
            </a:ln>
            <a:effectLst/>
          </p:spPr>
          <p:txBody>
            <a:bodyPr wrap="square">
              <a:spAutoFit/>
            </a:bodyPr>
            <a:lstStyle/>
            <a:p>
              <a:pPr algn="l" latinLnBrk="1">
                <a:spcBef>
                  <a:spcPct val="50000"/>
                </a:spcBef>
                <a:buFontTx/>
                <a:buNone/>
              </a:pPr>
              <a:r>
                <a:rPr lang="en-US" altLang="zh-CN" sz="2400" b="1" dirty="0">
                  <a:solidFill>
                    <a:srgbClr val="0000FF"/>
                  </a:solidFill>
                  <a:latin typeface="微软雅黑" panose="020B0503020204020204" pitchFamily="34" charset="-122"/>
                  <a:ea typeface="微软雅黑" panose="020B0503020204020204" pitchFamily="34" charset="-122"/>
                </a:rPr>
                <a:t>  </a:t>
              </a:r>
              <a:r>
                <a:rPr lang="zh-CN" sz="2400" b="1" dirty="0">
                  <a:solidFill>
                    <a:srgbClr val="0000FF"/>
                  </a:solidFill>
                  <a:latin typeface="微软雅黑" panose="020B0503020204020204" pitchFamily="34" charset="-122"/>
                  <a:ea typeface="微软雅黑" panose="020B0503020204020204" pitchFamily="34" charset="-122"/>
                </a:rPr>
                <a:t>地址映射</a:t>
              </a:r>
              <a:r>
                <a:rPr lang="en-US" altLang="zh-CN" sz="2400" b="1" dirty="0">
                  <a:solidFill>
                    <a:srgbClr val="0000FF"/>
                  </a:solidFill>
                  <a:latin typeface="微软雅黑" panose="020B0503020204020204" pitchFamily="34" charset="-122"/>
                  <a:ea typeface="微软雅黑" panose="020B0503020204020204" pitchFamily="34" charset="-122"/>
                </a:rPr>
                <a:t>/</a:t>
              </a:r>
              <a:r>
                <a:rPr lang="zh-CN" sz="2400" b="1" dirty="0">
                  <a:solidFill>
                    <a:srgbClr val="0000FF"/>
                  </a:solidFill>
                  <a:latin typeface="微软雅黑" panose="020B0503020204020204" pitchFamily="34" charset="-122"/>
                  <a:ea typeface="微软雅黑" panose="020B0503020204020204" pitchFamily="34" charset="-122"/>
                </a:rPr>
                <a:t>地址重定位</a:t>
              </a:r>
              <a:endParaRPr lang="zh-CN" sz="2400" b="1" dirty="0">
                <a:solidFill>
                  <a:srgbClr val="0000FF"/>
                </a:solidFill>
                <a:latin typeface="微软雅黑" panose="020B0503020204020204" pitchFamily="34" charset="-122"/>
                <a:ea typeface="微软雅黑" panose="020B0503020204020204" pitchFamily="34" charset="-122"/>
              </a:endParaRPr>
            </a:p>
          </p:txBody>
        </p:sp>
      </p:grpSp>
      <p:sp>
        <p:nvSpPr>
          <p:cNvPr id="10" name="AutoShape 7"/>
          <p:cNvSpPr>
            <a:spLocks noChangeArrowheads="1"/>
          </p:cNvSpPr>
          <p:nvPr/>
        </p:nvSpPr>
        <p:spPr bwMode="auto">
          <a:xfrm>
            <a:off x="1132205" y="5708015"/>
            <a:ext cx="10598150" cy="1062990"/>
          </a:xfrm>
          <a:prstGeom prst="wedgeRoundRectCallout">
            <a:avLst>
              <a:gd name="adj1" fmla="val 6680"/>
              <a:gd name="adj2" fmla="val -108064"/>
              <a:gd name="adj3" fmla="val 16667"/>
            </a:avLst>
          </a:prstGeom>
        </p:spPr>
        <p:style>
          <a:lnRef idx="2">
            <a:schemeClr val="accent1"/>
          </a:lnRef>
          <a:fillRef idx="1">
            <a:schemeClr val="lt1"/>
          </a:fillRef>
          <a:effectRef idx="0">
            <a:schemeClr val="accent1"/>
          </a:effectRef>
          <a:fontRef idx="minor">
            <a:schemeClr val="dk1"/>
          </a:fontRef>
        </p:style>
        <p:txBody>
          <a:bodyPr/>
          <a:lstStyle/>
          <a:p>
            <a:pPr algn="l" fontAlgn="auto">
              <a:spcAft>
                <a:spcPts val="0"/>
              </a:spcAft>
            </a:pPr>
            <a:r>
              <a:rPr kumimoji="0" lang="zh-CN" altLang="en-US" sz="2400" b="1" kern="0" dirty="0">
                <a:solidFill>
                  <a:srgbClr val="0000FF"/>
                </a:solidFill>
                <a:latin typeface="微软雅黑" panose="020B0503020204020204" pitchFamily="34" charset="-122"/>
                <a:ea typeface="微软雅黑" panose="020B0503020204020204" pitchFamily="34" charset="-122"/>
              </a:rPr>
              <a:t>把用户程序装入内存时对有关指令的地址部分的修改，定义为从程序地址到内存地址的地址映射</a:t>
            </a:r>
            <a:r>
              <a:rPr kumimoji="0" lang="en-US" altLang="zh-CN" sz="2400" b="1" kern="0" dirty="0">
                <a:solidFill>
                  <a:srgbClr val="0000FF"/>
                </a:solidFill>
                <a:latin typeface="微软雅黑" panose="020B0503020204020204" pitchFamily="34" charset="-122"/>
                <a:ea typeface="微软雅黑" panose="020B0503020204020204" pitchFamily="34" charset="-122"/>
              </a:rPr>
              <a:t>/</a:t>
            </a:r>
            <a:r>
              <a:rPr kumimoji="0" lang="zh-CN" altLang="en-US" sz="2400" b="1" kern="0" dirty="0">
                <a:solidFill>
                  <a:srgbClr val="0000FF"/>
                </a:solidFill>
                <a:latin typeface="微软雅黑" panose="020B0503020204020204" pitchFamily="34" charset="-122"/>
                <a:ea typeface="微软雅黑" panose="020B0503020204020204" pitchFamily="34" charset="-122"/>
              </a:rPr>
              <a:t>重定位</a:t>
            </a:r>
            <a:r>
              <a:rPr lang="zh-CN" altLang="en-US" sz="2400" b="1" kern="0" dirty="0">
                <a:solidFill>
                  <a:srgbClr val="0000FF"/>
                </a:solidFill>
                <a:latin typeface="微软雅黑" panose="020B0503020204020204" pitchFamily="34" charset="-122"/>
                <a:ea typeface="微软雅黑" panose="020B0503020204020204" pitchFamily="34" charset="-122"/>
              </a:rPr>
              <a:t>，有静态地址映射和动态地址映射</a:t>
            </a:r>
            <a:endParaRPr kumimoji="0" lang="zh-CN" altLang="en-US" sz="2400" b="1" kern="0"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69900" y="959485"/>
            <a:ext cx="11372850" cy="5292725"/>
          </a:xfrm>
        </p:spPr>
        <p:txBody>
          <a:bodyPr vert="horz" wrap="square" lIns="91440" tIns="45720" rIns="91440" bIns="45720" anchor="t" anchorCtr="0">
            <a:normAutofit/>
          </a:bodyPr>
          <a:lstStyle/>
          <a:p>
            <a:pPr marL="457200" indent="-457200">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可重定位装入方式（</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Relocation Loading Mode</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由装入程序根据内存当时的实际使用情况，将装入模块装入到内存适当地方，不允许在内存中移位，适用多道程序环境</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把装入时对目标程序中的指令和数据地址的修改过程称为重定位</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94945" y="33655"/>
            <a:ext cx="1084580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4.2.1 </a:t>
            </a:r>
            <a:r>
              <a:rPr lang="zh-CN" altLang="en-US" sz="3900" b="1" dirty="0">
                <a:latin typeface="微软雅黑" panose="020B0503020204020204" pitchFamily="34" charset="-122"/>
                <a:ea typeface="微软雅黑" panose="020B0503020204020204" pitchFamily="34" charset="-122"/>
              </a:rPr>
              <a:t>程序的装入</a:t>
            </a:r>
            <a:endParaRPr lang="zh-CN" altLang="en-US" sz="3900" b="1"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397760" y="2930539"/>
            <a:ext cx="7003627" cy="4164409"/>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35940" y="939800"/>
            <a:ext cx="11420475" cy="5292725"/>
          </a:xfrm>
        </p:spPr>
        <p:txBody>
          <a:bodyPr vert="horz" wrap="square" lIns="91440" tIns="45720" rIns="91440" bIns="45720" anchor="t" anchorCtr="0">
            <a:normAutofit/>
          </a:bodyPr>
          <a:lstStyle/>
          <a:p>
            <a:pPr marL="457200" indent="-457200">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动态地址映射过程描述</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程序装入内存后，所占用内存区的首地址由系统送入基地址寄存器</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BR</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在程序执行的过程中，若要访问内存，将访问的逻辑地址送入</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VR</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中。 </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地址转换机构把</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VR</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BR</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中的内容相加，并将结果送入</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MR</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中，作为实际访问的地址。</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20650" y="33655"/>
            <a:ext cx="1092009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4.2.1 </a:t>
            </a:r>
            <a:r>
              <a:rPr lang="zh-CN" altLang="en-US" sz="3900" b="1" dirty="0">
                <a:latin typeface="微软雅黑" panose="020B0503020204020204" pitchFamily="34" charset="-122"/>
                <a:ea typeface="微软雅黑" panose="020B0503020204020204" pitchFamily="34" charset="-122"/>
              </a:rPr>
              <a:t>程序的装入</a:t>
            </a:r>
            <a:endParaRPr lang="zh-CN" altLang="en-US" sz="3900" b="1"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784369" y="3126966"/>
            <a:ext cx="7003627" cy="4164409"/>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56895" y="959485"/>
            <a:ext cx="9860915" cy="5292725"/>
          </a:xfrm>
        </p:spPr>
        <p:txBody>
          <a:bodyPr vert="horz" wrap="square" lIns="91440" tIns="45720" rIns="91440" bIns="45720" anchor="t" anchorCtr="0">
            <a:normAutofit/>
          </a:bodyPr>
          <a:lstStyle/>
          <a:p>
            <a:pPr marL="457200" indent="-457200">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动态运行时的装入方式（</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Dynamic Run-time Loading</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1" indent="0">
              <a:lnSpc>
                <a:spcPct val="150000"/>
              </a:lnSpc>
              <a:buNone/>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27000" y="33655"/>
            <a:ext cx="1091374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4.2.1 </a:t>
            </a:r>
            <a:r>
              <a:rPr lang="zh-CN" altLang="en-US" sz="3900" b="1" dirty="0">
                <a:latin typeface="微软雅黑" panose="020B0503020204020204" pitchFamily="34" charset="-122"/>
                <a:ea typeface="微软雅黑" panose="020B0503020204020204" pitchFamily="34" charset="-122"/>
              </a:rPr>
              <a:t>程序的装入</a:t>
            </a:r>
            <a:endParaRPr lang="zh-CN" altLang="en-US" sz="3900" b="1" dirty="0">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1532076" y="1639148"/>
            <a:ext cx="9144000" cy="5046134"/>
          </a:xfrm>
          <a:prstGeom prst="rect">
            <a:avLst/>
          </a:prstGeom>
          <a:solidFill>
            <a:srgbClr val="FFFFCC"/>
          </a:solidFill>
          <a:ln w="9525">
            <a:solidFill>
              <a:schemeClr val="tx1"/>
            </a:solidFill>
            <a:miter lim="800000"/>
          </a:ln>
          <a:effectLst/>
        </p:spPr>
        <p:txBody>
          <a:bodyPr wrap="none" anchor="ctr"/>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6" name="Oval 5"/>
          <p:cNvSpPr>
            <a:spLocks noChangeArrowheads="1"/>
          </p:cNvSpPr>
          <p:nvPr/>
        </p:nvSpPr>
        <p:spPr bwMode="auto">
          <a:xfrm>
            <a:off x="6939104" y="4079028"/>
            <a:ext cx="431800" cy="431800"/>
          </a:xfrm>
          <a:prstGeom prst="ellipse">
            <a:avLst/>
          </a:prstGeom>
          <a:solidFill>
            <a:schemeClr val="accent1"/>
          </a:solidFill>
          <a:ln w="9525">
            <a:solidFill>
              <a:schemeClr val="tx1"/>
            </a:solidFill>
            <a:round/>
          </a:ln>
          <a:effectLst/>
        </p:spPr>
        <p:txBody>
          <a:bodyPr wrap="none" anchor="ctr"/>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aphicFrame>
        <p:nvGraphicFramePr>
          <p:cNvPr id="7" name="Group 64"/>
          <p:cNvGraphicFramePr>
            <a:graphicFrameLocks noGrp="1"/>
          </p:cNvGraphicFramePr>
          <p:nvPr/>
        </p:nvGraphicFramePr>
        <p:xfrm>
          <a:off x="2473467" y="2305791"/>
          <a:ext cx="2017395" cy="3728720"/>
        </p:xfrm>
        <a:graphic>
          <a:graphicData uri="http://schemas.openxmlformats.org/drawingml/2006/table">
            <a:tbl>
              <a:tblPr/>
              <a:tblGrid>
                <a:gridCol w="2017395"/>
              </a:tblGrid>
              <a:tr h="557530">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endParaRPr kumimoji="0" lang="zh-CN" sz="2800" b="0" i="0" u="none" strike="noStrike" cap="none" normalizeH="0" baseline="0">
                        <a:ln>
                          <a:noFill/>
                        </a:ln>
                        <a:solidFill>
                          <a:srgbClr val="C3320B"/>
                        </a:solidFill>
                        <a:effectLst/>
                        <a:latin typeface="楷体_GB2312" charset="-122"/>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836930">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r>
                        <a:rPr kumimoji="0" lang="en-US" altLang="zh-CN" sz="2400" b="1" i="0" u="none" strike="noStrike" cap="none" normalizeH="0" baseline="0" dirty="0">
                          <a:ln>
                            <a:noFill/>
                          </a:ln>
                          <a:solidFill>
                            <a:schemeClr val="tx2"/>
                          </a:solidFill>
                          <a:effectLst/>
                          <a:latin typeface="Verdana" panose="020B0804030504040204" pitchFamily="34" charset="0"/>
                          <a:ea typeface="楷体_GB2312" charset="-122"/>
                          <a:cs typeface="Arial" panose="020B0604020202090204" pitchFamily="34" charset="0"/>
                        </a:rPr>
                        <a:t>load 1, 2500</a:t>
                      </a:r>
                      <a:endParaRPr kumimoji="0" lang="en-US" altLang="zh-CN" sz="2400" b="1" i="0" u="none" strike="noStrike" cap="none" normalizeH="0" baseline="0" dirty="0">
                        <a:ln>
                          <a:noFill/>
                        </a:ln>
                        <a:solidFill>
                          <a:schemeClr val="tx2"/>
                        </a:solidFill>
                        <a:effectLst/>
                        <a:latin typeface="Verdana" panose="020B0804030504040204" pitchFamily="34" charset="0"/>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584200">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endParaRPr kumimoji="0" lang="zh-CN" sz="2400" b="1" i="0" u="none" strike="noStrike" cap="none" normalizeH="0" baseline="0">
                        <a:ln>
                          <a:noFill/>
                        </a:ln>
                        <a:solidFill>
                          <a:schemeClr val="tx2"/>
                        </a:solidFill>
                        <a:effectLst/>
                        <a:latin typeface="Verdana" panose="020B0804030504040204" pitchFamily="34" charset="0"/>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584835">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r>
                        <a:rPr kumimoji="0" lang="en-US" altLang="zh-CN" sz="2400" b="1" i="0" u="none" strike="noStrike" cap="none" normalizeH="0" baseline="0">
                          <a:ln>
                            <a:noFill/>
                          </a:ln>
                          <a:solidFill>
                            <a:schemeClr val="tx2"/>
                          </a:solidFill>
                          <a:effectLst/>
                          <a:latin typeface="Verdana" panose="020B0804030504040204" pitchFamily="34" charset="0"/>
                          <a:ea typeface="楷体_GB2312" charset="-122"/>
                          <a:cs typeface="Arial" panose="020B0604020202090204" pitchFamily="34" charset="0"/>
                        </a:rPr>
                        <a:t>365</a:t>
                      </a:r>
                      <a:endParaRPr kumimoji="0" lang="en-US" altLang="zh-CN" sz="2400" b="1" i="0" u="none" strike="noStrike" cap="none" normalizeH="0" baseline="0">
                        <a:ln>
                          <a:noFill/>
                        </a:ln>
                        <a:solidFill>
                          <a:schemeClr val="tx2"/>
                        </a:solidFill>
                        <a:effectLst/>
                        <a:latin typeface="Verdana" panose="020B0804030504040204" pitchFamily="34" charset="0"/>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580390">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endParaRPr kumimoji="0" lang="zh-CN" sz="2800" b="0" i="0" u="none" strike="noStrike" cap="none" normalizeH="0" baseline="0">
                        <a:ln>
                          <a:noFill/>
                        </a:ln>
                        <a:solidFill>
                          <a:srgbClr val="C3320B"/>
                        </a:solidFill>
                        <a:effectLst/>
                        <a:latin typeface="楷体_GB2312" charset="-122"/>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584835">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endParaRPr kumimoji="0" lang="zh-CN" sz="2800" b="0" i="0" u="none" strike="noStrike" cap="none" normalizeH="0" baseline="0" dirty="0">
                        <a:ln>
                          <a:noFill/>
                        </a:ln>
                        <a:solidFill>
                          <a:srgbClr val="C3320B"/>
                        </a:solidFill>
                        <a:effectLst/>
                        <a:latin typeface="楷体_GB2312" charset="-122"/>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bl>
          </a:graphicData>
        </a:graphic>
      </p:graphicFrame>
      <p:graphicFrame>
        <p:nvGraphicFramePr>
          <p:cNvPr id="8" name="Group 65"/>
          <p:cNvGraphicFramePr>
            <a:graphicFrameLocks noGrp="1"/>
          </p:cNvGraphicFramePr>
          <p:nvPr/>
        </p:nvGraphicFramePr>
        <p:xfrm>
          <a:off x="8594867" y="1849120"/>
          <a:ext cx="1944370" cy="4841240"/>
        </p:xfrm>
        <a:graphic>
          <a:graphicData uri="http://schemas.openxmlformats.org/drawingml/2006/table">
            <a:tbl>
              <a:tblPr/>
              <a:tblGrid>
                <a:gridCol w="1944370"/>
              </a:tblGrid>
              <a:tr h="526415">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endParaRPr kumimoji="0" lang="zh-CN" sz="2800" b="0" i="0" u="none" strike="noStrike" cap="none" normalizeH="0" baseline="0">
                        <a:ln>
                          <a:noFill/>
                        </a:ln>
                        <a:solidFill>
                          <a:srgbClr val="000000"/>
                        </a:solidFill>
                        <a:effectLst/>
                        <a:latin typeface="楷体_GB2312" charset="-122"/>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526415">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endParaRPr kumimoji="0" lang="zh-CN" sz="2800" b="0" i="0" u="none" strike="noStrike" cap="none" normalizeH="0" baseline="0">
                        <a:ln>
                          <a:noFill/>
                        </a:ln>
                        <a:solidFill>
                          <a:srgbClr val="000000"/>
                        </a:solidFill>
                        <a:effectLst/>
                        <a:latin typeface="楷体_GB2312" charset="-122"/>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836930">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r>
                        <a:rPr kumimoji="0" lang="en-US" altLang="zh-CN" sz="2400" b="1" i="0" u="none" strike="noStrike" cap="none" normalizeH="0" baseline="0" dirty="0">
                          <a:ln>
                            <a:noFill/>
                          </a:ln>
                          <a:solidFill>
                            <a:srgbClr val="000000"/>
                          </a:solidFill>
                          <a:effectLst/>
                          <a:latin typeface="Verdana" panose="020B0804030504040204" pitchFamily="34" charset="0"/>
                          <a:ea typeface="宋体" pitchFamily="2" charset="-122"/>
                          <a:cs typeface="Arial" panose="020B0604020202090204" pitchFamily="34" charset="0"/>
                        </a:rPr>
                        <a:t>load 1, </a:t>
                      </a:r>
                      <a:r>
                        <a:rPr kumimoji="0" lang="en-US" altLang="zh-CN" sz="2400" b="1" i="0" u="none" strike="noStrike" cap="none" normalizeH="0" baseline="0" dirty="0">
                          <a:ln>
                            <a:noFill/>
                          </a:ln>
                          <a:solidFill>
                            <a:srgbClr val="FF0000"/>
                          </a:solidFill>
                          <a:effectLst/>
                          <a:latin typeface="Verdana" panose="020B0804030504040204" pitchFamily="34" charset="0"/>
                          <a:ea typeface="宋体" pitchFamily="2" charset="-122"/>
                          <a:cs typeface="Arial" panose="020B0604020202090204" pitchFamily="34" charset="0"/>
                        </a:rPr>
                        <a:t>2500</a:t>
                      </a:r>
                      <a:endParaRPr kumimoji="0" lang="en-US" altLang="zh-CN" sz="2400" b="1" i="0" u="none" strike="noStrike" cap="none" normalizeH="0" baseline="0" dirty="0">
                        <a:ln>
                          <a:noFill/>
                        </a:ln>
                        <a:solidFill>
                          <a:srgbClr val="FF0000"/>
                        </a:solidFill>
                        <a:effectLst/>
                        <a:latin typeface="Verdana" panose="020B0804030504040204" pitchFamily="34" charset="0"/>
                        <a:ea typeface="宋体" pitchFamily="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492125">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endParaRPr kumimoji="0" lang="zh-CN" sz="2400" b="1" i="0" u="none" strike="noStrike" cap="none" normalizeH="0" baseline="0">
                        <a:ln>
                          <a:noFill/>
                        </a:ln>
                        <a:solidFill>
                          <a:srgbClr val="000000"/>
                        </a:solidFill>
                        <a:effectLst/>
                        <a:latin typeface="Verdana" panose="020B0804030504040204" pitchFamily="34" charset="0"/>
                        <a:ea typeface="宋体" pitchFamily="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491490">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r>
                        <a:rPr kumimoji="0" lang="en-US" altLang="zh-CN" sz="2400" b="1" i="0" u="none" strike="noStrike" cap="none" normalizeH="0" baseline="0">
                          <a:ln>
                            <a:noFill/>
                          </a:ln>
                          <a:solidFill>
                            <a:srgbClr val="000000"/>
                          </a:solidFill>
                          <a:effectLst/>
                          <a:latin typeface="Verdana" panose="020B0804030504040204" pitchFamily="34" charset="0"/>
                          <a:ea typeface="宋体" pitchFamily="2" charset="-122"/>
                          <a:cs typeface="Arial" panose="020B0604020202090204" pitchFamily="34" charset="0"/>
                        </a:rPr>
                        <a:t>365</a:t>
                      </a:r>
                      <a:endParaRPr kumimoji="0" lang="en-US" altLang="zh-CN" sz="2400" b="1" i="0" u="none" strike="noStrike" cap="none" normalizeH="0" baseline="0">
                        <a:ln>
                          <a:noFill/>
                        </a:ln>
                        <a:solidFill>
                          <a:srgbClr val="000000"/>
                        </a:solidFill>
                        <a:effectLst/>
                        <a:latin typeface="Verdana" panose="020B0804030504040204" pitchFamily="34" charset="0"/>
                        <a:ea typeface="宋体" pitchFamily="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984250">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endParaRPr kumimoji="0" lang="zh-CN" sz="2800" b="0" i="0" u="none" strike="noStrike" cap="none" normalizeH="0" baseline="0">
                        <a:ln>
                          <a:noFill/>
                        </a:ln>
                        <a:solidFill>
                          <a:srgbClr val="000000"/>
                        </a:solidFill>
                        <a:effectLst/>
                        <a:latin typeface="楷体_GB2312" charset="-122"/>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983615">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endParaRPr kumimoji="0" lang="zh-CN" sz="2800" b="0" i="0" u="none" strike="noStrike" cap="none" normalizeH="0" baseline="0" dirty="0">
                        <a:ln>
                          <a:noFill/>
                        </a:ln>
                        <a:solidFill>
                          <a:srgbClr val="000000"/>
                        </a:solidFill>
                        <a:effectLst/>
                        <a:latin typeface="楷体_GB2312" charset="-122"/>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bl>
          </a:graphicData>
        </a:graphic>
      </p:graphicFrame>
      <p:sp>
        <p:nvSpPr>
          <p:cNvPr id="9" name="Text Box 40"/>
          <p:cNvSpPr txBox="1">
            <a:spLocks noChangeArrowheads="1"/>
          </p:cNvSpPr>
          <p:nvPr/>
        </p:nvSpPr>
        <p:spPr bwMode="auto">
          <a:xfrm>
            <a:off x="1949592" y="1918441"/>
            <a:ext cx="335280" cy="460375"/>
          </a:xfrm>
          <a:prstGeom prst="rect">
            <a:avLst/>
          </a:prstGeom>
          <a:noFill/>
          <a:ln w="9525">
            <a:noFill/>
            <a:miter lim="800000"/>
          </a:ln>
          <a:effectLst/>
        </p:spPr>
        <p:txBody>
          <a:bodyPr wrap="none">
            <a:spAutoFit/>
          </a:bodyPr>
          <a:lstStyle/>
          <a:p>
            <a:pP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0</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0" name="Text Box 41"/>
          <p:cNvSpPr txBox="1">
            <a:spLocks noChangeArrowheads="1"/>
          </p:cNvSpPr>
          <p:nvPr/>
        </p:nvSpPr>
        <p:spPr bwMode="auto">
          <a:xfrm>
            <a:off x="1733692" y="2567728"/>
            <a:ext cx="640080" cy="460375"/>
          </a:xfrm>
          <a:prstGeom prst="rect">
            <a:avLst/>
          </a:prstGeom>
          <a:noFill/>
          <a:ln w="9525">
            <a:noFill/>
            <a:miter lim="800000"/>
          </a:ln>
          <a:effectLst/>
        </p:spPr>
        <p:txBody>
          <a:bodyPr wrap="none">
            <a:spAutoFit/>
          </a:bodyPr>
          <a:lstStyle/>
          <a:p>
            <a:pPr>
              <a:spcBef>
                <a:spcPct val="0"/>
              </a:spcBef>
              <a:buFontTx/>
              <a:buNone/>
            </a:pPr>
            <a:r>
              <a:rPr lang="en-US" altLang="zh-CN" sz="240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100</a:t>
            </a:r>
            <a:endParaRPr lang="en-US" altLang="zh-CN" sz="240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1" name="Text Box 42"/>
          <p:cNvSpPr txBox="1">
            <a:spLocks noChangeArrowheads="1"/>
          </p:cNvSpPr>
          <p:nvPr/>
        </p:nvSpPr>
        <p:spPr bwMode="auto">
          <a:xfrm>
            <a:off x="1646379" y="3778991"/>
            <a:ext cx="792480" cy="460375"/>
          </a:xfrm>
          <a:prstGeom prst="rect">
            <a:avLst/>
          </a:prstGeom>
          <a:noFill/>
          <a:ln w="9525">
            <a:noFill/>
            <a:miter lim="800000"/>
          </a:ln>
          <a:effectLst/>
        </p:spPr>
        <p:txBody>
          <a:bodyPr wrap="none">
            <a:spAutoFit/>
          </a:bodyPr>
          <a:lstStyle/>
          <a:p>
            <a:pP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2500</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2" name="Text Box 43"/>
          <p:cNvSpPr txBox="1">
            <a:spLocks noChangeArrowheads="1"/>
          </p:cNvSpPr>
          <p:nvPr/>
        </p:nvSpPr>
        <p:spPr bwMode="auto">
          <a:xfrm>
            <a:off x="1695592" y="5518891"/>
            <a:ext cx="792480" cy="460375"/>
          </a:xfrm>
          <a:prstGeom prst="rect">
            <a:avLst/>
          </a:prstGeom>
          <a:noFill/>
          <a:ln w="9525">
            <a:noFill/>
            <a:miter lim="800000"/>
          </a:ln>
          <a:effectLst/>
        </p:spPr>
        <p:txBody>
          <a:bodyPr wrap="none">
            <a:spAutoFit/>
          </a:bodyPr>
          <a:lstStyle/>
          <a:p>
            <a:pP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5000</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3" name="Rectangle 44"/>
          <p:cNvSpPr>
            <a:spLocks noChangeArrowheads="1"/>
          </p:cNvSpPr>
          <p:nvPr/>
        </p:nvSpPr>
        <p:spPr bwMode="auto">
          <a:xfrm>
            <a:off x="4922979" y="2278803"/>
            <a:ext cx="1079500" cy="504825"/>
          </a:xfrm>
          <a:prstGeom prst="rect">
            <a:avLst/>
          </a:prstGeom>
          <a:solidFill>
            <a:schemeClr val="accent1"/>
          </a:solidFill>
          <a:ln w="9525">
            <a:solidFill>
              <a:schemeClr val="tx1"/>
            </a:solidFill>
            <a:miter lim="800000"/>
          </a:ln>
          <a:effectLst/>
        </p:spPr>
        <p:txBody>
          <a:bodyPr wrap="none" anchor="ctr"/>
          <a:lstStyle/>
          <a:p>
            <a:pPr algn="ct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2500</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Rectangle 45"/>
          <p:cNvSpPr>
            <a:spLocks noChangeArrowheads="1"/>
          </p:cNvSpPr>
          <p:nvPr/>
        </p:nvSpPr>
        <p:spPr bwMode="auto">
          <a:xfrm>
            <a:off x="6507304" y="2278803"/>
            <a:ext cx="1079500" cy="504825"/>
          </a:xfrm>
          <a:prstGeom prst="rect">
            <a:avLst/>
          </a:prstGeom>
          <a:solidFill>
            <a:schemeClr val="accent1"/>
          </a:solidFill>
          <a:ln w="9525">
            <a:solidFill>
              <a:schemeClr val="tx1"/>
            </a:solidFill>
            <a:miter lim="800000"/>
          </a:ln>
          <a:effectLst/>
        </p:spPr>
        <p:txBody>
          <a:bodyPr wrap="none" anchor="ctr"/>
          <a:lstStyle/>
          <a:p>
            <a:pPr algn="ct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10000</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5" name="Line 46"/>
          <p:cNvSpPr>
            <a:spLocks noChangeShapeType="1"/>
          </p:cNvSpPr>
          <p:nvPr/>
        </p:nvSpPr>
        <p:spPr bwMode="auto">
          <a:xfrm>
            <a:off x="4273692" y="3143991"/>
            <a:ext cx="288925" cy="0"/>
          </a:xfrm>
          <a:prstGeom prst="line">
            <a:avLst/>
          </a:prstGeom>
          <a:noFill/>
          <a:ln w="25400" cap="rnd">
            <a:solidFill>
              <a:schemeClr val="tx1"/>
            </a:solidFill>
            <a:prstDash val="sysDot"/>
            <a:round/>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6" name="Line 47"/>
          <p:cNvSpPr>
            <a:spLocks noChangeShapeType="1"/>
          </p:cNvSpPr>
          <p:nvPr/>
        </p:nvSpPr>
        <p:spPr bwMode="auto">
          <a:xfrm flipV="1">
            <a:off x="4562617" y="2567728"/>
            <a:ext cx="0" cy="576263"/>
          </a:xfrm>
          <a:prstGeom prst="line">
            <a:avLst/>
          </a:prstGeom>
          <a:noFill/>
          <a:ln w="25400" cap="rnd">
            <a:solidFill>
              <a:schemeClr val="tx1"/>
            </a:solidFill>
            <a:prstDash val="sysDot"/>
            <a:round/>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7" name="Line 48"/>
          <p:cNvSpPr>
            <a:spLocks noChangeShapeType="1"/>
          </p:cNvSpPr>
          <p:nvPr/>
        </p:nvSpPr>
        <p:spPr bwMode="auto">
          <a:xfrm>
            <a:off x="4562617" y="2567728"/>
            <a:ext cx="360362" cy="0"/>
          </a:xfrm>
          <a:prstGeom prst="line">
            <a:avLst/>
          </a:prstGeom>
          <a:noFill/>
          <a:ln w="25400" cap="rnd">
            <a:solidFill>
              <a:schemeClr val="tx1"/>
            </a:solidFill>
            <a:prstDash val="sysDot"/>
            <a:round/>
            <a:tailEnd type="triangle" w="lg" len="lg"/>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8" name="Text Box 49"/>
          <p:cNvSpPr txBox="1">
            <a:spLocks noChangeArrowheads="1"/>
          </p:cNvSpPr>
          <p:nvPr/>
        </p:nvSpPr>
        <p:spPr bwMode="auto">
          <a:xfrm>
            <a:off x="7639192" y="1991466"/>
            <a:ext cx="944880" cy="460375"/>
          </a:xfrm>
          <a:prstGeom prst="rect">
            <a:avLst/>
          </a:prstGeom>
          <a:noFill/>
          <a:ln w="9525">
            <a:noFill/>
            <a:miter lim="800000"/>
          </a:ln>
          <a:effectLst/>
        </p:spPr>
        <p:txBody>
          <a:bodyPr wrap="none">
            <a:spAutoFit/>
          </a:bodyPr>
          <a:lstStyle/>
          <a:p>
            <a:pP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10000</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9" name="Text Box 50"/>
          <p:cNvSpPr txBox="1">
            <a:spLocks noChangeArrowheads="1"/>
          </p:cNvSpPr>
          <p:nvPr/>
        </p:nvSpPr>
        <p:spPr bwMode="auto">
          <a:xfrm>
            <a:off x="7658242" y="2626466"/>
            <a:ext cx="944880" cy="460375"/>
          </a:xfrm>
          <a:prstGeom prst="rect">
            <a:avLst/>
          </a:prstGeom>
          <a:noFill/>
          <a:ln w="9525">
            <a:noFill/>
            <a:miter lim="800000"/>
          </a:ln>
          <a:effectLst/>
        </p:spPr>
        <p:txBody>
          <a:bodyPr wrap="none">
            <a:spAutoFit/>
          </a:bodyPr>
          <a:lstStyle/>
          <a:p>
            <a:pP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10100</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0" name="Line 51"/>
          <p:cNvSpPr>
            <a:spLocks noChangeShapeType="1"/>
          </p:cNvSpPr>
          <p:nvPr/>
        </p:nvSpPr>
        <p:spPr bwMode="auto">
          <a:xfrm>
            <a:off x="5497654" y="2783628"/>
            <a:ext cx="0" cy="1511300"/>
          </a:xfrm>
          <a:prstGeom prst="line">
            <a:avLst/>
          </a:prstGeom>
          <a:noFill/>
          <a:ln w="25400" cap="rnd">
            <a:solidFill>
              <a:schemeClr val="tx1"/>
            </a:solidFill>
            <a:prstDash val="sysDot"/>
            <a:round/>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1" name="Line 52"/>
          <p:cNvSpPr>
            <a:spLocks noChangeShapeType="1"/>
          </p:cNvSpPr>
          <p:nvPr/>
        </p:nvSpPr>
        <p:spPr bwMode="auto">
          <a:xfrm>
            <a:off x="5497654" y="4294928"/>
            <a:ext cx="1441450" cy="0"/>
          </a:xfrm>
          <a:prstGeom prst="line">
            <a:avLst/>
          </a:prstGeom>
          <a:noFill/>
          <a:ln w="25400" cap="rnd">
            <a:solidFill>
              <a:schemeClr val="tx1"/>
            </a:solidFill>
            <a:prstDash val="sysDot"/>
            <a:round/>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2" name="Line 53"/>
          <p:cNvSpPr>
            <a:spLocks noChangeShapeType="1"/>
          </p:cNvSpPr>
          <p:nvPr/>
        </p:nvSpPr>
        <p:spPr bwMode="auto">
          <a:xfrm>
            <a:off x="7155004" y="2783628"/>
            <a:ext cx="0" cy="1295400"/>
          </a:xfrm>
          <a:prstGeom prst="line">
            <a:avLst/>
          </a:prstGeom>
          <a:noFill/>
          <a:ln w="25400">
            <a:solidFill>
              <a:schemeClr val="tx1"/>
            </a:solidFill>
            <a:round/>
            <a:tailEnd type="triangle" w="med" len="med"/>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3" name="Text Box 54"/>
          <p:cNvSpPr txBox="1">
            <a:spLocks noChangeArrowheads="1"/>
          </p:cNvSpPr>
          <p:nvPr/>
        </p:nvSpPr>
        <p:spPr bwMode="auto">
          <a:xfrm>
            <a:off x="6964504" y="4042516"/>
            <a:ext cx="354965" cy="460375"/>
          </a:xfrm>
          <a:prstGeom prst="rect">
            <a:avLst/>
          </a:prstGeom>
          <a:noFill/>
          <a:ln w="9525">
            <a:noFill/>
            <a:miter lim="800000"/>
          </a:ln>
          <a:effectLst/>
        </p:spPr>
        <p:txBody>
          <a:bodyPr wrap="none">
            <a:spAutoFit/>
          </a:bodyPr>
          <a:lstStyle/>
          <a:p>
            <a:pP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4" name="Line 55"/>
          <p:cNvSpPr>
            <a:spLocks noChangeShapeType="1"/>
          </p:cNvSpPr>
          <p:nvPr/>
        </p:nvSpPr>
        <p:spPr bwMode="auto">
          <a:xfrm>
            <a:off x="7370904" y="4294928"/>
            <a:ext cx="1223963" cy="0"/>
          </a:xfrm>
          <a:prstGeom prst="line">
            <a:avLst/>
          </a:prstGeom>
          <a:noFill/>
          <a:ln w="25400" cap="rnd">
            <a:solidFill>
              <a:schemeClr val="tx1"/>
            </a:solidFill>
            <a:prstDash val="sysDot"/>
            <a:round/>
            <a:tailEnd type="triangle" w="lg" len="lg"/>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5" name="Text Box 56"/>
          <p:cNvSpPr txBox="1">
            <a:spLocks noChangeArrowheads="1"/>
          </p:cNvSpPr>
          <p:nvPr/>
        </p:nvSpPr>
        <p:spPr bwMode="auto">
          <a:xfrm>
            <a:off x="7639192" y="3647228"/>
            <a:ext cx="944880" cy="460375"/>
          </a:xfrm>
          <a:prstGeom prst="rect">
            <a:avLst/>
          </a:prstGeom>
          <a:noFill/>
          <a:ln w="9525">
            <a:noFill/>
            <a:miter lim="800000"/>
          </a:ln>
          <a:effectLst/>
        </p:spPr>
        <p:txBody>
          <a:bodyPr wrap="none">
            <a:spAutoFit/>
          </a:bodyPr>
          <a:lstStyle/>
          <a:p>
            <a:pP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12500</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6" name="Text Box 57"/>
          <p:cNvSpPr txBox="1">
            <a:spLocks noChangeArrowheads="1"/>
          </p:cNvSpPr>
          <p:nvPr/>
        </p:nvSpPr>
        <p:spPr bwMode="auto">
          <a:xfrm>
            <a:off x="7658242" y="5290291"/>
            <a:ext cx="944880" cy="460375"/>
          </a:xfrm>
          <a:prstGeom prst="rect">
            <a:avLst/>
          </a:prstGeom>
          <a:noFill/>
          <a:ln w="9525">
            <a:noFill/>
            <a:miter lim="800000"/>
          </a:ln>
          <a:effectLst/>
        </p:spPr>
        <p:txBody>
          <a:bodyPr wrap="none">
            <a:spAutoFit/>
          </a:bodyPr>
          <a:lstStyle/>
          <a:p>
            <a:pP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15000</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7" name="Text Box 58"/>
          <p:cNvSpPr txBox="1">
            <a:spLocks noChangeArrowheads="1"/>
          </p:cNvSpPr>
          <p:nvPr/>
        </p:nvSpPr>
        <p:spPr bwMode="auto">
          <a:xfrm>
            <a:off x="2810493" y="6023716"/>
            <a:ext cx="1097280" cy="460375"/>
          </a:xfrm>
          <a:prstGeom prst="rect">
            <a:avLst/>
          </a:prstGeom>
          <a:noFill/>
          <a:ln w="9525">
            <a:noFill/>
            <a:miter lim="800000"/>
          </a:ln>
          <a:effectLst/>
        </p:spPr>
        <p:txBody>
          <a:bodyPr wrap="none">
            <a:spAutoFit/>
          </a:bodyPr>
          <a:lstStyle/>
          <a:p>
            <a:pPr>
              <a:spcBef>
                <a:spcPct val="0"/>
              </a:spcBef>
              <a:buFontTx/>
              <a:buNone/>
            </a:pPr>
            <a:r>
              <a:rPr lang="en-US" altLang="zh-CN" sz="24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  </a:t>
            </a:r>
            <a:r>
              <a:rPr lang="zh-CN" sz="24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sz="24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J</a:t>
            </a:r>
            <a:endParaRPr lang="en-US" altLang="zh-CN" sz="24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8" name="Text Box 59"/>
          <p:cNvSpPr txBox="1">
            <a:spLocks noChangeArrowheads="1"/>
          </p:cNvSpPr>
          <p:nvPr/>
        </p:nvSpPr>
        <p:spPr bwMode="auto">
          <a:xfrm>
            <a:off x="4430855" y="6071687"/>
            <a:ext cx="1706880" cy="460375"/>
          </a:xfrm>
          <a:prstGeom prst="rect">
            <a:avLst/>
          </a:prstGeom>
          <a:noFill/>
          <a:ln w="9525">
            <a:noFill/>
            <a:miter lim="800000"/>
          </a:ln>
          <a:effectLst/>
        </p:spPr>
        <p:txBody>
          <a:bodyPr wrap="none">
            <a:spAutoFit/>
          </a:bodyPr>
          <a:lstStyle/>
          <a:p>
            <a:pPr>
              <a:spcBef>
                <a:spcPct val="0"/>
              </a:spcBef>
              <a:buFontTx/>
              <a:buNone/>
            </a:pPr>
            <a:r>
              <a:rPr lang="zh-CN" sz="24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处理机一侧</a:t>
            </a:r>
            <a:endParaRPr lang="zh-CN" sz="24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9" name="Text Box 60"/>
          <p:cNvSpPr txBox="1">
            <a:spLocks noChangeArrowheads="1"/>
          </p:cNvSpPr>
          <p:nvPr/>
        </p:nvSpPr>
        <p:spPr bwMode="auto">
          <a:xfrm>
            <a:off x="6158849" y="6071687"/>
            <a:ext cx="1706880" cy="460375"/>
          </a:xfrm>
          <a:prstGeom prst="rect">
            <a:avLst/>
          </a:prstGeom>
          <a:noFill/>
          <a:ln w="9525">
            <a:noFill/>
            <a:miter lim="800000"/>
          </a:ln>
          <a:effectLst/>
        </p:spPr>
        <p:txBody>
          <a:bodyPr wrap="none">
            <a:spAutoFit/>
          </a:bodyPr>
          <a:lstStyle/>
          <a:p>
            <a:pPr>
              <a:spcBef>
                <a:spcPct val="0"/>
              </a:spcBef>
              <a:buFontTx/>
              <a:buNone/>
            </a:pPr>
            <a:r>
              <a:rPr lang="zh-CN" sz="24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存储器一侧</a:t>
            </a:r>
            <a:endParaRPr lang="zh-CN" sz="24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30" name="Text Box 61"/>
          <p:cNvSpPr txBox="1">
            <a:spLocks noChangeArrowheads="1"/>
          </p:cNvSpPr>
          <p:nvPr/>
        </p:nvSpPr>
        <p:spPr bwMode="auto">
          <a:xfrm>
            <a:off x="6140592" y="1704128"/>
            <a:ext cx="2011680" cy="460375"/>
          </a:xfrm>
          <a:prstGeom prst="rect">
            <a:avLst/>
          </a:prstGeom>
          <a:noFill/>
          <a:ln w="9525">
            <a:noFill/>
            <a:miter lim="800000"/>
          </a:ln>
          <a:effectLst/>
        </p:spPr>
        <p:txBody>
          <a:bodyPr wrap="none">
            <a:spAutoFit/>
          </a:bodyPr>
          <a:lstStyle/>
          <a:p>
            <a:pPr>
              <a:spcBef>
                <a:spcPct val="0"/>
              </a:spcBef>
              <a:buFontTx/>
              <a:buNone/>
            </a:pPr>
            <a:r>
              <a:rPr lang="zh-CN" sz="2400" b="1">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重定位寄存器</a:t>
            </a:r>
            <a:endParaRPr lang="zh-CN" sz="2400" b="1">
              <a:solidFill>
                <a:srgbClr val="FF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31" name="Text Box 62"/>
          <p:cNvSpPr txBox="1">
            <a:spLocks noChangeArrowheads="1"/>
          </p:cNvSpPr>
          <p:nvPr/>
        </p:nvSpPr>
        <p:spPr bwMode="auto">
          <a:xfrm>
            <a:off x="4737242" y="1704128"/>
            <a:ext cx="1402080" cy="460375"/>
          </a:xfrm>
          <a:prstGeom prst="rect">
            <a:avLst/>
          </a:prstGeom>
          <a:noFill/>
          <a:ln w="9525">
            <a:noFill/>
            <a:miter lim="800000"/>
          </a:ln>
          <a:effectLst/>
        </p:spPr>
        <p:txBody>
          <a:bodyPr wrap="none">
            <a:spAutoFit/>
          </a:bodyPr>
          <a:lstStyle/>
          <a:p>
            <a:pPr>
              <a:spcBef>
                <a:spcPct val="0"/>
              </a:spcBef>
              <a:buFontTx/>
              <a:buNone/>
            </a:pPr>
            <a:r>
              <a:rPr lang="zh-CN" sz="2400" b="1">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相对地址</a:t>
            </a:r>
            <a:endParaRPr lang="zh-CN" sz="2400" b="1">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32" name="Line 63"/>
          <p:cNvSpPr>
            <a:spLocks noChangeShapeType="1"/>
          </p:cNvSpPr>
          <p:nvPr/>
        </p:nvSpPr>
        <p:spPr bwMode="auto">
          <a:xfrm>
            <a:off x="6146941" y="1704128"/>
            <a:ext cx="11907" cy="4981148"/>
          </a:xfrm>
          <a:prstGeom prst="line">
            <a:avLst/>
          </a:prstGeom>
          <a:noFill/>
          <a:ln w="38100">
            <a:solidFill>
              <a:srgbClr val="C3320B"/>
            </a:solidFill>
            <a:prstDash val="dash"/>
            <a:round/>
          </a:ln>
          <a:effectLst/>
        </p:spPr>
        <p:txBody>
          <a:bodyPr/>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23240" y="959485"/>
            <a:ext cx="10856595" cy="5292725"/>
          </a:xfrm>
        </p:spPr>
        <p:txBody>
          <a:bodyPr vert="horz" wrap="square" lIns="91440" tIns="45720" rIns="91440" bIns="45720" anchor="t" anchorCtr="0">
            <a:normAutofit/>
          </a:bodyPr>
          <a:lstStyle/>
          <a:p>
            <a:pPr marL="457200" indent="-457200">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动态运行时的装入方式（</a:t>
            </a:r>
            <a:r>
              <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Dynamic Run-time Loading</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把装入模块装入内存后，并不立即把装入模块中的相对地址装换为绝对地址，而是推迟到程序要真正执行时才进行。</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动态地址重定位是在程序执行的过程中，每次访问内存之前，将要访问的程序地址转换为内存地址。</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一般来说这种转换是由专门的硬件机构来完成的，才能不影响指令的执行速度，最简单的硬件机构是重定位寄存器。</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在地址重定位机构中，有一个基地址寄存器</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BR</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和一个程序地址寄存器</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VR</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，一个内存地址寄存器</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MR</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20345" y="33655"/>
            <a:ext cx="1082040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4.2.1 </a:t>
            </a:r>
            <a:r>
              <a:rPr lang="zh-CN" altLang="en-US" sz="3900" b="1" dirty="0">
                <a:latin typeface="微软雅黑" panose="020B0503020204020204" pitchFamily="34" charset="-122"/>
                <a:ea typeface="微软雅黑" panose="020B0503020204020204" pitchFamily="34" charset="-122"/>
              </a:rPr>
              <a:t>程序的装入</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91490" y="959485"/>
            <a:ext cx="11337925" cy="5753100"/>
          </a:xfrm>
        </p:spPr>
        <p:txBody>
          <a:bodyPr vert="horz" wrap="square" lIns="91440" tIns="45720" rIns="91440" bIns="45720" anchor="t" anchorCtr="0">
            <a:normAutofit/>
          </a:bodyPr>
          <a:lstStyle/>
          <a:p>
            <a:pPr marL="457200" indent="-457200">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动态地址映射优点</a:t>
            </a:r>
            <a:endPar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程序占用的内存空间是动态可变的，当程序从某个存储区移到另一个区域时，只需要修改相应的寄存器</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BR</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的内容即可</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一个程序不一定要求占用一个连续的内存空间</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可以部分地装入程序运行</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便于多个进程共享同一个程序的代码</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indent="-457200">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动态地址映射缺点</a:t>
            </a:r>
            <a:endPar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需要硬件的支持</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实现存储管理的软件算法较为复杂</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81940" y="33655"/>
            <a:ext cx="1075880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4.2.1 </a:t>
            </a:r>
            <a:r>
              <a:rPr lang="zh-CN" altLang="en-US" sz="3900" b="1" dirty="0">
                <a:latin typeface="微软雅黑" panose="020B0503020204020204" pitchFamily="34" charset="-122"/>
                <a:ea typeface="微软雅黑" panose="020B0503020204020204" pitchFamily="34" charset="-122"/>
              </a:rPr>
              <a:t>程序的装入</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11" name="组合 10"/>
          <p:cNvGrpSpPr/>
          <p:nvPr/>
        </p:nvGrpSpPr>
        <p:grpSpPr>
          <a:xfrm>
            <a:off x="8356227" y="168155"/>
            <a:ext cx="3649718" cy="611540"/>
            <a:chOff x="5494282" y="112021"/>
            <a:chExt cx="3649718" cy="611540"/>
          </a:xfrm>
        </p:grpSpPr>
        <p:pic>
          <p:nvPicPr>
            <p:cNvPr id="12" name="Picture 6"/>
            <p:cNvPicPr>
              <a:picLocks noChangeAspect="1" noChangeArrowheads="1"/>
            </p:cNvPicPr>
            <p:nvPr/>
          </p:nvPicPr>
          <p:blipFill rotWithShape="1">
            <a:blip r:embed="rId1">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2" name="图示 1"/>
          <p:cNvGraphicFramePr/>
          <p:nvPr/>
        </p:nvGraphicFramePr>
        <p:xfrm>
          <a:off x="2167467" y="1115029"/>
          <a:ext cx="7335520" cy="56277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8" name="标题 1"/>
          <p:cNvSpPr txBox="1"/>
          <p:nvPr/>
        </p:nvSpPr>
        <p:spPr>
          <a:xfrm>
            <a:off x="106680" y="24130"/>
            <a:ext cx="6849745" cy="9588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sz="4400" b="1" dirty="0">
                <a:latin typeface="微软雅黑" panose="020B0503020204020204" pitchFamily="34" charset="-122"/>
                <a:ea typeface="微软雅黑" panose="020B0503020204020204" pitchFamily="34" charset="-122"/>
              </a:rPr>
              <a:t>存储器管理</a:t>
            </a:r>
            <a:endParaRPr lang="zh-CN" altLang="en-US" sz="4400" b="1" dirty="0">
              <a:latin typeface="微软雅黑" panose="020B0503020204020204" pitchFamily="34" charset="-122"/>
              <a:ea typeface="微软雅黑" panose="020B0503020204020204" pitchFamily="34" charset="-122"/>
            </a:endParaRPr>
          </a:p>
        </p:txBody>
      </p:sp>
      <p:sp>
        <p:nvSpPr>
          <p:cNvPr id="15" name="星形: 五角 14"/>
          <p:cNvSpPr/>
          <p:nvPr/>
        </p:nvSpPr>
        <p:spPr>
          <a:xfrm>
            <a:off x="8718367" y="5094141"/>
            <a:ext cx="535754" cy="500776"/>
          </a:xfrm>
          <a:prstGeom prst="star5">
            <a:avLst/>
          </a:prstGeom>
          <a:solidFill>
            <a:srgbClr val="FFFF00"/>
          </a:solidFill>
          <a:ln>
            <a:solidFill>
              <a:srgbClr val="FFFF00"/>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pSp>
        <p:nvGrpSpPr>
          <p:cNvPr id="11" name="组合 10"/>
          <p:cNvGrpSpPr/>
          <p:nvPr/>
        </p:nvGrpSpPr>
        <p:grpSpPr>
          <a:xfrm>
            <a:off x="8403217" y="168155"/>
            <a:ext cx="3649718" cy="611540"/>
            <a:chOff x="5494282" y="112021"/>
            <a:chExt cx="3649718" cy="611540"/>
          </a:xfrm>
        </p:grpSpPr>
        <p:pic>
          <p:nvPicPr>
            <p:cNvPr id="12" name="Picture 6"/>
            <p:cNvPicPr>
              <a:picLocks noChangeAspect="1" noChangeArrowheads="1"/>
            </p:cNvPicPr>
            <p:nvPr/>
          </p:nvPicPr>
          <p:blipFill rotWithShape="1">
            <a:blip r:embed="rId1">
              <a:extLst>
                <a:ext uri="{28A0092B-C50C-407E-A947-70E740481C1C}">
                  <a14:useLocalDpi xmlns:a14="http://schemas.microsoft.com/office/drawing/2010/main" val="0"/>
                </a:ext>
              </a:extLst>
            </a:blip>
            <a:srcRect t="79825"/>
            <a:stretch>
              <a:fillRect/>
            </a:stretch>
          </p:blipFill>
          <p:spPr bwMode="auto">
            <a:xfrm>
              <a:off x="5494282" y="407985"/>
              <a:ext cx="3649717" cy="31557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p:cNvPicPr>
              <a:picLocks noChangeAspect="1" noChangeArrowheads="1"/>
            </p:cNvPicPr>
            <p:nvPr/>
          </p:nvPicPr>
          <p:blipFill rotWithShape="1">
            <a:blip r:embed="rId1">
              <a:extLst>
                <a:ext uri="{28A0092B-C50C-407E-A947-70E740481C1C}">
                  <a14:useLocalDpi xmlns:a14="http://schemas.microsoft.com/office/drawing/2010/main" val="0"/>
                </a:ext>
              </a:extLst>
            </a:blip>
            <a:srcRect b="75383"/>
            <a:stretch>
              <a:fillRect/>
            </a:stretch>
          </p:blipFill>
          <p:spPr bwMode="auto">
            <a:xfrm>
              <a:off x="5494286" y="112021"/>
              <a:ext cx="3649714" cy="385041"/>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标题 1"/>
          <p:cNvSpPr txBox="1"/>
          <p:nvPr/>
        </p:nvSpPr>
        <p:spPr>
          <a:xfrm>
            <a:off x="172720" y="24130"/>
            <a:ext cx="6783705" cy="9588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zh-CN" altLang="en-US" sz="4400" b="1" dirty="0">
                <a:latin typeface="微软雅黑" panose="020B0503020204020204" pitchFamily="34" charset="-122"/>
                <a:ea typeface="微软雅黑" panose="020B0503020204020204" pitchFamily="34" charset="-122"/>
              </a:rPr>
              <a:t>存储器管理</a:t>
            </a:r>
            <a:endParaRPr lang="zh-CN" altLang="en-US" sz="4400" b="1" dirty="0">
              <a:latin typeface="微软雅黑" panose="020B0503020204020204" pitchFamily="34" charset="-122"/>
              <a:ea typeface="微软雅黑" panose="020B0503020204020204" pitchFamily="34" charset="-122"/>
            </a:endParaRPr>
          </a:p>
        </p:txBody>
      </p:sp>
      <p:grpSp>
        <p:nvGrpSpPr>
          <p:cNvPr id="17" name="组合 16"/>
          <p:cNvGrpSpPr/>
          <p:nvPr/>
        </p:nvGrpSpPr>
        <p:grpSpPr>
          <a:xfrm>
            <a:off x="2204336" y="1278935"/>
            <a:ext cx="7571495" cy="926700"/>
            <a:chOff x="0" y="404"/>
            <a:chExt cx="7335520" cy="926700"/>
          </a:xfrm>
        </p:grpSpPr>
        <p:sp>
          <p:nvSpPr>
            <p:cNvPr id="19" name="矩形: 圆角 18"/>
            <p:cNvSpPr/>
            <p:nvPr/>
          </p:nvSpPr>
          <p:spPr>
            <a:xfrm>
              <a:off x="0" y="404"/>
              <a:ext cx="7335520" cy="926700"/>
            </a:xfrm>
            <a:prstGeom prst="roundRect">
              <a:avLst/>
            </a:prstGeom>
            <a:solidFill>
              <a:schemeClr val="accent1">
                <a:lumMod val="75000"/>
              </a:schemeClr>
            </a:solid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sp>
        <p:sp>
          <p:nvSpPr>
            <p:cNvPr id="20" name="矩形: 圆角 4"/>
            <p:cNvSpPr txBox="1"/>
            <p:nvPr/>
          </p:nvSpPr>
          <p:spPr>
            <a:xfrm>
              <a:off x="45238" y="45642"/>
              <a:ext cx="7245044" cy="83622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58556" tIns="83820" rIns="83820" bIns="83820" numCol="1" spcCol="1270" anchor="ctr" anchorCtr="0">
              <a:noAutofit/>
            </a:bodyPr>
            <a:lstStyle/>
            <a:p>
              <a:pPr marL="0" lvl="0" indent="0" algn="l" defTabSz="1466850">
                <a:lnSpc>
                  <a:spcPct val="90000"/>
                </a:lnSpc>
                <a:spcBef>
                  <a:spcPct val="0"/>
                </a:spcBef>
                <a:spcAft>
                  <a:spcPct val="35000"/>
                </a:spcAft>
                <a:buNone/>
              </a:pPr>
              <a:r>
                <a:rPr lang="zh-CN" altLang="en-US" sz="3200" b="1" kern="1200" dirty="0">
                  <a:solidFill>
                    <a:prstClr val="white"/>
                  </a:solidFill>
                  <a:latin typeface="微软雅黑" panose="020B0503020204020204" pitchFamily="34" charset="-122"/>
                  <a:ea typeface="微软雅黑" panose="020B0503020204020204" pitchFamily="34" charset="-122"/>
                  <a:cs typeface="+mn-cs"/>
                </a:rPr>
                <a:t>连续分配存储管理方式</a:t>
              </a:r>
              <a:endParaRPr lang="zh-CN" altLang="en-US" sz="3200" b="1" kern="1200" dirty="0">
                <a:solidFill>
                  <a:prstClr val="white"/>
                </a:solidFill>
                <a:latin typeface="微软雅黑" panose="020B0503020204020204" pitchFamily="34" charset="-122"/>
                <a:ea typeface="微软雅黑" panose="020B0503020204020204" pitchFamily="34" charset="-122"/>
                <a:cs typeface="+mn-cs"/>
              </a:endParaRPr>
            </a:p>
          </p:txBody>
        </p:sp>
      </p:grpSp>
      <p:graphicFrame>
        <p:nvGraphicFramePr>
          <p:cNvPr id="3" name="图示 2"/>
          <p:cNvGraphicFramePr/>
          <p:nvPr/>
        </p:nvGraphicFramePr>
        <p:xfrm>
          <a:off x="3289447" y="2487356"/>
          <a:ext cx="6486385" cy="42859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7" name="直接连接符 6"/>
          <p:cNvCxnSpPr/>
          <p:nvPr/>
        </p:nvCxnSpPr>
        <p:spPr>
          <a:xfrm>
            <a:off x="2770239" y="2212873"/>
            <a:ext cx="0" cy="4289527"/>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2770239" y="3165104"/>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2770239" y="4286035"/>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2770239" y="5381469"/>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770239" y="6502400"/>
            <a:ext cx="519208" cy="0"/>
          </a:xfrm>
          <a:prstGeom prst="line">
            <a:avLst/>
          </a:prstGeom>
          <a:ln w="28575">
            <a:solidFill>
              <a:srgbClr val="2F5597"/>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17525" y="959485"/>
            <a:ext cx="11250930" cy="5753100"/>
          </a:xfrm>
        </p:spPr>
        <p:txBody>
          <a:bodyPr vert="horz" wrap="square" lIns="91440" tIns="45720" rIns="91440" bIns="45720" anchor="t" anchorCtr="0">
            <a:normAutofit/>
          </a:bodyPr>
          <a:lstStyle/>
          <a:p>
            <a:pPr marL="457200" indent="-457200">
              <a:lnSpc>
                <a:spcPct val="20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引起内存分配与回收的原因</a:t>
            </a:r>
            <a:endPar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200000"/>
              </a:lnSpc>
              <a:buClr>
                <a:schemeClr val="tx1"/>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进程的开始与结束</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200000"/>
              </a:lnSpc>
              <a:buClr>
                <a:schemeClr val="tx1"/>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进程运行的过程中，它所占用的内存也可能发生变化，如栈的变化</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200000"/>
              </a:lnSpc>
              <a:buClr>
                <a:schemeClr val="tx1"/>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进程映像在内存和外存之间传递。由于内存有限，系统中不可能容纳所有进程，有些进程映像可存放在外存，当要运行这些进程时，必须把它们调入内存。</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200000"/>
              </a:lnSpc>
              <a:buClr>
                <a:schemeClr val="tx1"/>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系统为充分利用内存空间，有时可能对内存空间进行调整</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01295" y="33655"/>
            <a:ext cx="1083945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 </a:t>
            </a:r>
            <a:r>
              <a:rPr lang="zh-CN" altLang="en-US" sz="3900" b="1" dirty="0">
                <a:latin typeface="微软雅黑" panose="020B0503020204020204" pitchFamily="34" charset="-122"/>
                <a:ea typeface="微软雅黑" panose="020B0503020204020204" pitchFamily="34" charset="-122"/>
              </a:rPr>
              <a:t>连续分配存储管理方式</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683895" y="959485"/>
            <a:ext cx="10997565" cy="5753100"/>
          </a:xfrm>
        </p:spPr>
        <p:txBody>
          <a:bodyPr vert="horz" wrap="square" lIns="91440" tIns="45720" rIns="91440" bIns="45720" anchor="t" anchorCtr="0">
            <a:normAutofit/>
          </a:bodyPr>
          <a:lstStyle/>
          <a:p>
            <a:pPr marL="457200" indent="-457200">
              <a:lnSpc>
                <a:spcPct val="20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存储保护</a:t>
            </a:r>
            <a:endPar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200000"/>
              </a:lnSpc>
              <a:buClr>
                <a:schemeClr val="tx1"/>
              </a:buClr>
              <a:buFont typeface="Wingdings" panose="05000000000000000000" pitchFamily="2" charset="2"/>
              <a:buChar char="Ø"/>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上、下界存储保护</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：上、下界保护是一种简单的存储保护技术，系统可为每个作业设置一对上、下界寄存器，分别用来存放当前运行作业在内存空间的上、下边界地址，用它们来限制用户程序的活动范围。</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200000"/>
              </a:lnSpc>
              <a:buClr>
                <a:schemeClr val="tx1"/>
              </a:buClr>
              <a:buFont typeface="Wingdings" panose="05000000000000000000" pitchFamily="2" charset="2"/>
              <a:buChar char="Ø"/>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基址</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限长存储保护：</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上、下界保护的一个变种是采用基址</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限长存储保护</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200000"/>
              </a:lnSpc>
              <a:buClr>
                <a:schemeClr val="tx1"/>
              </a:buClr>
              <a:buFont typeface="Wingdings" panose="05000000000000000000" pitchFamily="2" charset="2"/>
              <a:buChar char="Ø"/>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47650" y="33655"/>
            <a:ext cx="1079309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 </a:t>
            </a:r>
            <a:r>
              <a:rPr lang="zh-CN" altLang="en-US" sz="3900" b="1" dirty="0">
                <a:latin typeface="微软雅黑" panose="020B0503020204020204" pitchFamily="34" charset="-122"/>
                <a:ea typeface="微软雅黑" panose="020B0503020204020204" pitchFamily="34" charset="-122"/>
              </a:rPr>
              <a:t>连续分配存储管理方式</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1774192" y="959373"/>
            <a:ext cx="8643615" cy="5752999"/>
          </a:xfrm>
        </p:spPr>
        <p:txBody>
          <a:bodyPr vert="horz" wrap="square" lIns="91440" tIns="45720" rIns="91440" bIns="45720" anchor="t" anchorCtr="0">
            <a:normAutofit/>
          </a:bodyPr>
          <a:lstStyle/>
          <a:p>
            <a:pPr marL="457200" indent="-457200">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存储保护</a:t>
            </a:r>
            <a:endPar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88595" y="33655"/>
            <a:ext cx="1085215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 </a:t>
            </a:r>
            <a:r>
              <a:rPr lang="zh-CN" altLang="en-US" sz="3900" b="1" dirty="0">
                <a:latin typeface="微软雅黑" panose="020B0503020204020204" pitchFamily="34" charset="-122"/>
                <a:ea typeface="微软雅黑" panose="020B0503020204020204" pitchFamily="34" charset="-122"/>
              </a:rPr>
              <a:t>连续分配存储管理方式</a:t>
            </a:r>
            <a:endParaRPr lang="zh-CN" altLang="en-US" sz="3900" b="1" dirty="0">
              <a:latin typeface="微软雅黑" panose="020B0503020204020204" pitchFamily="34" charset="-122"/>
              <a:ea typeface="微软雅黑" panose="020B0503020204020204" pitchFamily="34" charset="-122"/>
            </a:endParaRPr>
          </a:p>
        </p:txBody>
      </p:sp>
      <p:sp>
        <p:nvSpPr>
          <p:cNvPr id="4" name="Rectangle 3"/>
          <p:cNvSpPr txBox="1">
            <a:spLocks noChangeArrowheads="1"/>
          </p:cNvSpPr>
          <p:nvPr/>
        </p:nvSpPr>
        <p:spPr>
          <a:xfrm>
            <a:off x="1390121" y="1228725"/>
            <a:ext cx="8077200" cy="4975225"/>
          </a:xfrm>
          <a:prstGeom prst="rect">
            <a:avLst/>
          </a:prstGeom>
        </p:spPr>
        <p:txBody>
          <a:bodyPr/>
          <a:lstStyle/>
          <a:p>
            <a:pPr marL="342900" marR="0" lvl="0" indent="-342900" algn="l" defTabSz="914400" rtl="0" eaLnBrk="0" fontAlgn="base" latinLnBrk="1" hangingPunct="0">
              <a:lnSpc>
                <a:spcPct val="120000"/>
              </a:lnSpc>
              <a:spcBef>
                <a:spcPct val="20000"/>
              </a:spcBef>
              <a:spcAft>
                <a:spcPct val="0"/>
              </a:spcAft>
              <a:buClrTx/>
              <a:buSzTx/>
              <a:buFontTx/>
              <a:buChar char="•"/>
              <a:defRPr/>
            </a:pPr>
            <a:endParaRPr kumimoji="1" lang="zh-CN" sz="3200" b="0" i="0" u="none" strike="noStrike" kern="0" cap="none" spc="0" normalizeH="0" baseline="0" noProof="0" dirty="0">
              <a:ln>
                <a:noFill/>
              </a:ln>
              <a:solidFill>
                <a:schemeClr val="tx1"/>
              </a:solidFill>
              <a:effectLst/>
              <a:uLnTx/>
              <a:uFillTx/>
              <a:latin typeface="Gulim" pitchFamily="34" charset="-127"/>
              <a:ea typeface="Gulim" pitchFamily="34" charset="-127"/>
              <a:cs typeface="+mn-cs"/>
            </a:endParaRPr>
          </a:p>
        </p:txBody>
      </p:sp>
      <p:graphicFrame>
        <p:nvGraphicFramePr>
          <p:cNvPr id="6" name="Object 6"/>
          <p:cNvGraphicFramePr>
            <a:graphicFrameLocks noChangeAspect="1"/>
          </p:cNvGraphicFramePr>
          <p:nvPr/>
        </p:nvGraphicFramePr>
        <p:xfrm>
          <a:off x="2636289" y="1903426"/>
          <a:ext cx="8207375" cy="3600450"/>
        </p:xfrm>
        <a:graphic>
          <a:graphicData uri="http://schemas.openxmlformats.org/presentationml/2006/ole">
            <mc:AlternateContent xmlns:mc="http://schemas.openxmlformats.org/markup-compatibility/2006">
              <mc:Choice xmlns:v="urn:schemas-microsoft-com:vml" Requires="v">
                <p:oleObj spid="_x0000_s13326" name="Visio" r:id="rId1" imgW="7620000" imgH="2908300" progId="Visio.Drawing.11">
                  <p:embed/>
                </p:oleObj>
              </mc:Choice>
              <mc:Fallback>
                <p:oleObj name="Visio" r:id="rId1" imgW="7620000" imgH="2908300" progId="Visio.Drawing.11">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6289" y="1903426"/>
                        <a:ext cx="8207375" cy="3600450"/>
                      </a:xfrm>
                      <a:prstGeom prst="rect">
                        <a:avLst/>
                      </a:prstGeom>
                      <a:noFill/>
                      <a:effectLst/>
                    </p:spPr>
                  </p:pic>
                </p:oleObj>
              </mc:Fallback>
            </mc:AlternateContent>
          </a:graphicData>
        </a:graphic>
      </p:graphicFrame>
      <p:sp>
        <p:nvSpPr>
          <p:cNvPr id="7" name="Line 7"/>
          <p:cNvSpPr>
            <a:spLocks noChangeShapeType="1"/>
          </p:cNvSpPr>
          <p:nvPr/>
        </p:nvSpPr>
        <p:spPr bwMode="auto">
          <a:xfrm>
            <a:off x="6136751" y="1755792"/>
            <a:ext cx="0" cy="4248150"/>
          </a:xfrm>
          <a:prstGeom prst="line">
            <a:avLst/>
          </a:prstGeom>
          <a:noFill/>
          <a:ln w="38100">
            <a:solidFill>
              <a:srgbClr val="C3320B"/>
            </a:solidFill>
            <a:prstDash val="dash"/>
            <a:round/>
          </a:ln>
          <a:effectLst/>
        </p:spPr>
        <p:txBody>
          <a:bodyPr/>
          <a:lstStyle/>
          <a:p>
            <a:endParaRPr lang="zh-CN" altLang="en-US"/>
          </a:p>
        </p:txBody>
      </p:sp>
      <p:sp>
        <p:nvSpPr>
          <p:cNvPr id="8" name="Rectangle 8"/>
          <p:cNvSpPr>
            <a:spLocks noChangeArrowheads="1"/>
          </p:cNvSpPr>
          <p:nvPr/>
        </p:nvSpPr>
        <p:spPr bwMode="auto">
          <a:xfrm>
            <a:off x="3531428" y="5618178"/>
            <a:ext cx="1456055" cy="398780"/>
          </a:xfrm>
          <a:prstGeom prst="rect">
            <a:avLst/>
          </a:prstGeom>
          <a:solidFill>
            <a:srgbClr val="FFC000"/>
          </a:solidFill>
          <a:ln w="28575">
            <a:noFill/>
            <a:miter lim="800000"/>
          </a:ln>
          <a:effectLst/>
          <a:scene3d>
            <a:camera prst="orthographicFront"/>
            <a:lightRig rig="threePt" dir="t"/>
          </a:scene3d>
          <a:sp3d>
            <a:bevelT/>
          </a:sp3d>
        </p:spPr>
        <p:txBody>
          <a:bodyPr wrap="none">
            <a:spAutoFit/>
          </a:bodyPr>
          <a:lstStyle/>
          <a:p>
            <a:pPr latinLnBrk="1">
              <a:spcBef>
                <a:spcPct val="0"/>
              </a:spcBef>
              <a:buFontTx/>
              <a:buNone/>
            </a:pPr>
            <a:r>
              <a:rPr lang="zh-CN" sz="2000" b="1">
                <a:solidFill>
                  <a:srgbClr val="004992"/>
                </a:solidFill>
                <a:latin typeface="华文楷体" panose="02010600040101010101" charset="-122"/>
                <a:ea typeface="华文楷体" panose="02010600040101010101" charset="-122"/>
              </a:rPr>
              <a:t>上下界保护</a:t>
            </a:r>
            <a:endParaRPr lang="zh-CN" sz="2000" b="1">
              <a:solidFill>
                <a:srgbClr val="004992"/>
              </a:solidFill>
              <a:latin typeface="华文楷体" panose="02010600040101010101" charset="-122"/>
              <a:ea typeface="华文楷体" panose="02010600040101010101" charset="-122"/>
            </a:endParaRPr>
          </a:p>
        </p:txBody>
      </p:sp>
      <p:sp>
        <p:nvSpPr>
          <p:cNvPr id="9" name="Rectangle 9"/>
          <p:cNvSpPr>
            <a:spLocks noChangeArrowheads="1"/>
          </p:cNvSpPr>
          <p:nvPr/>
        </p:nvSpPr>
        <p:spPr bwMode="auto">
          <a:xfrm>
            <a:off x="7015816" y="5607972"/>
            <a:ext cx="1965325" cy="398780"/>
          </a:xfrm>
          <a:prstGeom prst="rect">
            <a:avLst/>
          </a:prstGeom>
          <a:solidFill>
            <a:srgbClr val="FFC000"/>
          </a:solidFill>
          <a:ln w="28575">
            <a:noFill/>
            <a:miter lim="800000"/>
          </a:ln>
          <a:effectLst/>
          <a:scene3d>
            <a:camera prst="orthographicFront"/>
            <a:lightRig rig="threePt" dir="t"/>
          </a:scene3d>
          <a:sp3d>
            <a:bevelT/>
          </a:sp3d>
        </p:spPr>
        <p:txBody>
          <a:bodyPr wrap="none">
            <a:spAutoFit/>
          </a:bodyPr>
          <a:lstStyle/>
          <a:p>
            <a:r>
              <a:rPr lang="zh-CN" sz="2000" b="1" dirty="0">
                <a:solidFill>
                  <a:srgbClr val="004992"/>
                </a:solidFill>
                <a:latin typeface="华文楷体" panose="02010600040101010101" charset="-122"/>
                <a:ea typeface="华文楷体" panose="02010600040101010101" charset="-122"/>
              </a:rPr>
              <a:t>基址－限长保护</a:t>
            </a:r>
            <a:endParaRPr lang="zh-CN" sz="2000" b="1" dirty="0">
              <a:solidFill>
                <a:srgbClr val="004992"/>
              </a:solidFill>
              <a:latin typeface="华文楷体" panose="02010600040101010101" charset="-122"/>
              <a:ea typeface="华文楷体" panose="02010600040101010101"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878840" y="959485"/>
            <a:ext cx="9538970" cy="5753100"/>
          </a:xfrm>
        </p:spPr>
        <p:txBody>
          <a:bodyPr vert="horz" wrap="square" lIns="91440" tIns="45720" rIns="91440" bIns="45720" anchor="t" anchorCtr="0">
            <a:normAutofit/>
          </a:bodyPr>
          <a:lstStyle/>
          <a:p>
            <a:pPr marL="457200" indent="-457200">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连续分配：是指为一个用户程序分配一个连续的内存空间。</a:t>
            </a:r>
            <a:endPar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457200" indent="-457200">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连续分配方式可分为四类：</a:t>
            </a:r>
            <a:endPar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单一连续分配；</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固定分区分配；</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动态分区分配；</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 动态可重定位分区分配算法</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34315" y="33655"/>
            <a:ext cx="1080643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 </a:t>
            </a:r>
            <a:r>
              <a:rPr lang="zh-CN" altLang="en-US" sz="3900" b="1" dirty="0">
                <a:latin typeface="微软雅黑" panose="020B0503020204020204" pitchFamily="34" charset="-122"/>
                <a:ea typeface="微软雅黑" panose="020B0503020204020204" pitchFamily="34" charset="-122"/>
              </a:rPr>
              <a:t>连续分配存储管理方式</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316230" y="959485"/>
            <a:ext cx="11492230" cy="5753100"/>
          </a:xfrm>
        </p:spPr>
        <p:txBody>
          <a:bodyPr vert="horz" wrap="square" lIns="91440" tIns="45720" rIns="91440" bIns="45720" anchor="t" anchorCtr="0">
            <a:normAutofit/>
          </a:bodyPr>
          <a:lstStyle/>
          <a:p>
            <a:pPr marL="457200" indent="-457200">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最简单的管理方式（只有分配与回收）</a:t>
            </a:r>
            <a:endPar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spcBef>
                <a:spcPts val="0"/>
              </a:spcBef>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将内存分为两个区：</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spcBef>
                <a:spcPts val="0"/>
              </a:spcBef>
              <a:buClr>
                <a:srgbClr val="0000FF"/>
              </a:buClr>
              <a:buFont typeface="Wingdings" panose="05000000000000000000" pitchFamily="2" charset="2"/>
              <a:buChar char="ü"/>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系统区：</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仅提供给操作系统使用，可以停留在内存的低址部分，也可以在高址部分。</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spcBef>
                <a:spcPts val="0"/>
              </a:spcBef>
              <a:buClr>
                <a:srgbClr val="0000FF"/>
              </a:buClr>
              <a:buFont typeface="Wingdings" panose="05000000000000000000" pitchFamily="2" charset="2"/>
              <a:buChar char="ü"/>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用户区：</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系统区外的全部内存空间，仅装一道用户程序，即整个内存的用户区由该程序独占。</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spcBef>
                <a:spcPts val="0"/>
              </a:spcBef>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操作系统和用户程序共享运行内存，只能用于单用户</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任务操作系统中</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spcBef>
                <a:spcPts val="0"/>
              </a:spcBef>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除嵌入式系统外，其他的计算机不再使用这种方式</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13995" y="33655"/>
            <a:ext cx="1082675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4.3.1 </a:t>
            </a:r>
            <a:r>
              <a:rPr lang="zh-CN" altLang="en-US" sz="3900" b="1" dirty="0">
                <a:latin typeface="微软雅黑" panose="020B0503020204020204" pitchFamily="34" charset="-122"/>
                <a:ea typeface="微软雅黑" panose="020B0503020204020204" pitchFamily="34" charset="-122"/>
              </a:rPr>
              <a:t>单一连续分配</a:t>
            </a:r>
            <a:endParaRPr lang="zh-CN" altLang="en-US" sz="3900" b="1" dirty="0">
              <a:latin typeface="微软雅黑" panose="020B0503020204020204" pitchFamily="34" charset="-122"/>
              <a:ea typeface="微软雅黑" panose="020B0503020204020204" pitchFamily="34" charset="-122"/>
            </a:endParaRPr>
          </a:p>
        </p:txBody>
      </p:sp>
      <p:grpSp>
        <p:nvGrpSpPr>
          <p:cNvPr id="4" name="Group 4"/>
          <p:cNvGrpSpPr/>
          <p:nvPr/>
        </p:nvGrpSpPr>
        <p:grpSpPr bwMode="auto">
          <a:xfrm>
            <a:off x="1669048" y="4413767"/>
            <a:ext cx="2031019" cy="1532059"/>
            <a:chOff x="0" y="0"/>
            <a:chExt cx="862" cy="1089"/>
          </a:xfrm>
        </p:grpSpPr>
        <p:sp>
          <p:nvSpPr>
            <p:cNvPr id="6" name="Rectangle 5"/>
            <p:cNvSpPr>
              <a:spLocks noChangeArrowheads="1"/>
            </p:cNvSpPr>
            <p:nvPr/>
          </p:nvSpPr>
          <p:spPr bwMode="auto">
            <a:xfrm>
              <a:off x="0" y="0"/>
              <a:ext cx="862" cy="816"/>
            </a:xfrm>
            <a:prstGeom prst="rect">
              <a:avLst/>
            </a:prstGeom>
            <a:solidFill>
              <a:srgbClr val="004992"/>
            </a:solidFill>
            <a:ln w="28575">
              <a:noFill/>
              <a:miter lim="800000"/>
            </a:ln>
            <a:effectLst/>
            <a:scene3d>
              <a:camera prst="orthographicFront"/>
              <a:lightRig rig="threePt" dir="t"/>
            </a:scene3d>
            <a:sp3d>
              <a:bevelT/>
            </a:sp3d>
          </p:spPr>
          <p:txBody>
            <a:bodyPr wrap="none" anchor="ctr"/>
            <a:lstStyle/>
            <a:p>
              <a:pPr algn="ctr">
                <a:spcBef>
                  <a:spcPct val="0"/>
                </a:spcBef>
                <a:buFontTx/>
                <a:buNone/>
              </a:pPr>
              <a:r>
                <a:rPr lang="zh-CN" sz="2000" b="1">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用户程序</a:t>
              </a:r>
              <a:endParaRPr lang="zh-CN" sz="2000" b="1">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7" name="Rectangle 6"/>
            <p:cNvSpPr>
              <a:spLocks noChangeArrowheads="1"/>
            </p:cNvSpPr>
            <p:nvPr/>
          </p:nvSpPr>
          <p:spPr bwMode="auto">
            <a:xfrm>
              <a:off x="0" y="816"/>
              <a:ext cx="862" cy="273"/>
            </a:xfrm>
            <a:prstGeom prst="rect">
              <a:avLst/>
            </a:prstGeom>
            <a:solidFill>
              <a:srgbClr val="C00000"/>
            </a:solidFill>
            <a:ln w="28575">
              <a:solidFill>
                <a:srgbClr val="FFCC00"/>
              </a:solidFill>
              <a:miter lim="800000"/>
            </a:ln>
            <a:effectLst/>
            <a:scene3d>
              <a:camera prst="orthographicFront"/>
              <a:lightRig rig="threePt" dir="t"/>
            </a:scene3d>
            <a:sp3d>
              <a:bevelT/>
            </a:sp3d>
          </p:spPr>
          <p:txBody>
            <a:bodyPr wrap="none" anchor="ctr"/>
            <a:lstStyle/>
            <a:p>
              <a:pPr algn="ctr">
                <a:spcBef>
                  <a:spcPct val="0"/>
                </a:spcBef>
                <a:buFontTx/>
                <a:buNone/>
              </a:pPr>
              <a:r>
                <a:rPr lang="en-US" altLang="zh-CN" sz="18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RAM</a:t>
              </a:r>
              <a:r>
                <a:rPr lang="zh-CN" sz="18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中的</a:t>
              </a:r>
              <a:r>
                <a:rPr lang="en-US" altLang="zh-CN" sz="18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OS</a:t>
              </a:r>
              <a:endParaRPr lang="en-US" altLang="zh-CN" sz="18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p:txBody>
        </p:sp>
      </p:grpSp>
      <p:grpSp>
        <p:nvGrpSpPr>
          <p:cNvPr id="8" name="Group 7"/>
          <p:cNvGrpSpPr/>
          <p:nvPr/>
        </p:nvGrpSpPr>
        <p:grpSpPr bwMode="auto">
          <a:xfrm>
            <a:off x="4440823" y="4413767"/>
            <a:ext cx="2031019" cy="1530933"/>
            <a:chOff x="0" y="0"/>
            <a:chExt cx="862" cy="1088"/>
          </a:xfrm>
        </p:grpSpPr>
        <p:sp>
          <p:nvSpPr>
            <p:cNvPr id="9" name="Rectangle 8"/>
            <p:cNvSpPr>
              <a:spLocks noChangeArrowheads="1"/>
            </p:cNvSpPr>
            <p:nvPr/>
          </p:nvSpPr>
          <p:spPr bwMode="auto">
            <a:xfrm>
              <a:off x="0" y="272"/>
              <a:ext cx="862" cy="816"/>
            </a:xfrm>
            <a:prstGeom prst="rect">
              <a:avLst/>
            </a:prstGeom>
            <a:solidFill>
              <a:srgbClr val="004992"/>
            </a:solidFill>
            <a:ln w="28575">
              <a:noFill/>
              <a:miter lim="800000"/>
            </a:ln>
            <a:effectLst/>
            <a:scene3d>
              <a:camera prst="orthographicFront"/>
              <a:lightRig rig="threePt" dir="t"/>
            </a:scene3d>
            <a:sp3d>
              <a:bevelT/>
            </a:sp3d>
          </p:spPr>
          <p:txBody>
            <a:bodyPr wrap="none" anchor="ctr"/>
            <a:lstStyle/>
            <a:p>
              <a:pPr algn="ctr">
                <a:spcBef>
                  <a:spcPct val="0"/>
                </a:spcBef>
                <a:buFontTx/>
                <a:buNone/>
              </a:pPr>
              <a:r>
                <a:rPr lang="zh-CN" sz="2000" b="1">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用户程序</a:t>
              </a:r>
              <a:endParaRPr lang="zh-CN" sz="2000" b="1">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0" name="Rectangle 9"/>
            <p:cNvSpPr>
              <a:spLocks noChangeArrowheads="1"/>
            </p:cNvSpPr>
            <p:nvPr/>
          </p:nvSpPr>
          <p:spPr bwMode="auto">
            <a:xfrm>
              <a:off x="0" y="0"/>
              <a:ext cx="862" cy="273"/>
            </a:xfrm>
            <a:prstGeom prst="rect">
              <a:avLst/>
            </a:prstGeom>
            <a:solidFill>
              <a:srgbClr val="FFFF00"/>
            </a:solidFill>
            <a:ln w="28575">
              <a:noFill/>
              <a:miter lim="800000"/>
            </a:ln>
            <a:effectLst/>
            <a:scene3d>
              <a:camera prst="orthographicFront"/>
              <a:lightRig rig="threePt" dir="t"/>
            </a:scene3d>
            <a:sp3d>
              <a:bevelT/>
            </a:sp3d>
          </p:spPr>
          <p:txBody>
            <a:bodyPr wrap="none" anchor="ctr"/>
            <a:lstStyle/>
            <a:p>
              <a:pPr algn="ctr">
                <a:spcBef>
                  <a:spcPct val="0"/>
                </a:spcBef>
                <a:buFontTx/>
                <a:buNone/>
              </a:pPr>
              <a:r>
                <a:rPr lang="en-US" altLang="zh-CN" sz="1800" b="1">
                  <a:solidFill>
                    <a:srgbClr val="004992"/>
                  </a:solidFill>
                  <a:latin typeface="Times New Roman" panose="02020503050405090304" pitchFamily="18" charset="0"/>
                  <a:ea typeface="微软雅黑" panose="020B0503020204020204" pitchFamily="34" charset="-122"/>
                  <a:cs typeface="Times New Roman" panose="02020503050405090304" pitchFamily="18" charset="0"/>
                </a:rPr>
                <a:t>ROM</a:t>
              </a:r>
              <a:r>
                <a:rPr lang="zh-CN" sz="1800" b="1">
                  <a:solidFill>
                    <a:srgbClr val="004992"/>
                  </a:solidFill>
                  <a:latin typeface="Times New Roman" panose="02020503050405090304" pitchFamily="18" charset="0"/>
                  <a:ea typeface="微软雅黑" panose="020B0503020204020204" pitchFamily="34" charset="-122"/>
                  <a:cs typeface="Times New Roman" panose="02020503050405090304" pitchFamily="18" charset="0"/>
                </a:rPr>
                <a:t>中的</a:t>
              </a:r>
              <a:r>
                <a:rPr lang="en-US" altLang="zh-CN" sz="1800" b="1">
                  <a:solidFill>
                    <a:srgbClr val="004992"/>
                  </a:solidFill>
                  <a:latin typeface="Times New Roman" panose="02020503050405090304" pitchFamily="18" charset="0"/>
                  <a:ea typeface="微软雅黑" panose="020B0503020204020204" pitchFamily="34" charset="-122"/>
                  <a:cs typeface="Times New Roman" panose="02020503050405090304" pitchFamily="18" charset="0"/>
                </a:rPr>
                <a:t>OS</a:t>
              </a:r>
              <a:endParaRPr lang="en-US" altLang="zh-CN" sz="1800" b="1">
                <a:solidFill>
                  <a:srgbClr val="004992"/>
                </a:solidFill>
                <a:latin typeface="Times New Roman" panose="02020503050405090304" pitchFamily="18" charset="0"/>
                <a:ea typeface="微软雅黑" panose="020B0503020204020204" pitchFamily="34" charset="-122"/>
                <a:cs typeface="Times New Roman" panose="02020503050405090304" pitchFamily="18" charset="0"/>
              </a:endParaRPr>
            </a:p>
          </p:txBody>
        </p:sp>
      </p:grpSp>
      <p:grpSp>
        <p:nvGrpSpPr>
          <p:cNvPr id="11" name="Group 10"/>
          <p:cNvGrpSpPr/>
          <p:nvPr/>
        </p:nvGrpSpPr>
        <p:grpSpPr bwMode="auto">
          <a:xfrm>
            <a:off x="7212597" y="4323280"/>
            <a:ext cx="2124633" cy="1596223"/>
            <a:chOff x="0" y="0"/>
            <a:chExt cx="862" cy="1134"/>
          </a:xfrm>
        </p:grpSpPr>
        <p:sp>
          <p:nvSpPr>
            <p:cNvPr id="12" name="Rectangle 11"/>
            <p:cNvSpPr>
              <a:spLocks noChangeArrowheads="1"/>
            </p:cNvSpPr>
            <p:nvPr/>
          </p:nvSpPr>
          <p:spPr bwMode="auto">
            <a:xfrm>
              <a:off x="0" y="272"/>
              <a:ext cx="862" cy="589"/>
            </a:xfrm>
            <a:prstGeom prst="rect">
              <a:avLst/>
            </a:prstGeom>
            <a:solidFill>
              <a:srgbClr val="004992"/>
            </a:solidFill>
            <a:ln w="28575">
              <a:noFill/>
              <a:miter lim="800000"/>
            </a:ln>
            <a:effectLst/>
            <a:scene3d>
              <a:camera prst="orthographicFront"/>
              <a:lightRig rig="threePt" dir="t"/>
            </a:scene3d>
            <a:sp3d>
              <a:bevelT/>
            </a:sp3d>
          </p:spPr>
          <p:txBody>
            <a:bodyPr wrap="none" anchor="ctr"/>
            <a:lstStyle/>
            <a:p>
              <a:pPr algn="ctr">
                <a:spcBef>
                  <a:spcPct val="0"/>
                </a:spcBef>
                <a:buFontTx/>
                <a:buNone/>
              </a:pPr>
              <a:r>
                <a:rPr lang="zh-CN" sz="2000" b="1">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用户程序</a:t>
              </a:r>
              <a:endParaRPr lang="zh-CN" sz="2000" b="1">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3" name="Rectangle 12"/>
            <p:cNvSpPr>
              <a:spLocks noChangeArrowheads="1"/>
            </p:cNvSpPr>
            <p:nvPr/>
          </p:nvSpPr>
          <p:spPr bwMode="auto">
            <a:xfrm>
              <a:off x="0" y="861"/>
              <a:ext cx="862" cy="273"/>
            </a:xfrm>
            <a:prstGeom prst="rect">
              <a:avLst/>
            </a:prstGeom>
            <a:solidFill>
              <a:srgbClr val="C00000"/>
            </a:solidFill>
            <a:ln w="28575">
              <a:noFill/>
              <a:miter lim="800000"/>
            </a:ln>
            <a:effectLst/>
            <a:scene3d>
              <a:camera prst="orthographicFront"/>
              <a:lightRig rig="threePt" dir="t"/>
            </a:scene3d>
            <a:sp3d>
              <a:bevelT/>
            </a:sp3d>
          </p:spPr>
          <p:txBody>
            <a:bodyPr wrap="none" anchor="ctr"/>
            <a:lstStyle/>
            <a:p>
              <a:pPr algn="ctr">
                <a:spcBef>
                  <a:spcPct val="0"/>
                </a:spcBef>
                <a:buFontTx/>
                <a:buNone/>
              </a:pPr>
              <a:r>
                <a:rPr lang="en-US" altLang="zh-CN" sz="1800" b="1">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RAM</a:t>
              </a:r>
              <a:r>
                <a:rPr lang="zh-CN" sz="1800" b="1">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中的</a:t>
              </a:r>
              <a:r>
                <a:rPr lang="en-US" altLang="zh-CN" sz="1800" b="1">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OS</a:t>
              </a:r>
              <a:endParaRPr lang="en-US" altLang="zh-CN" sz="1800" b="1">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Rectangle 13"/>
            <p:cNvSpPr>
              <a:spLocks noChangeArrowheads="1"/>
            </p:cNvSpPr>
            <p:nvPr/>
          </p:nvSpPr>
          <p:spPr bwMode="auto">
            <a:xfrm>
              <a:off x="0" y="0"/>
              <a:ext cx="862" cy="273"/>
            </a:xfrm>
            <a:prstGeom prst="rect">
              <a:avLst/>
            </a:prstGeom>
            <a:solidFill>
              <a:srgbClr val="FFFF00"/>
            </a:solidFill>
            <a:ln w="28575">
              <a:noFill/>
              <a:miter lim="800000"/>
            </a:ln>
            <a:effectLst/>
            <a:scene3d>
              <a:camera prst="orthographicFront"/>
              <a:lightRig rig="threePt" dir="t"/>
            </a:scene3d>
            <a:sp3d>
              <a:bevelT/>
            </a:sp3d>
          </p:spPr>
          <p:txBody>
            <a:bodyPr wrap="none" anchor="ctr"/>
            <a:lstStyle/>
            <a:p>
              <a:pPr algn="ctr">
                <a:spcBef>
                  <a:spcPct val="0"/>
                </a:spcBef>
                <a:buFontTx/>
                <a:buNone/>
              </a:pPr>
              <a:r>
                <a:rPr lang="en-US" altLang="zh-CN" sz="1800" b="1" dirty="0">
                  <a:solidFill>
                    <a:srgbClr val="004992"/>
                  </a:solidFill>
                  <a:latin typeface="Times New Roman" panose="02020503050405090304" pitchFamily="18" charset="0"/>
                  <a:ea typeface="微软雅黑" panose="020B0503020204020204" pitchFamily="34" charset="-122"/>
                  <a:cs typeface="Times New Roman" panose="02020503050405090304" pitchFamily="18" charset="0"/>
                </a:rPr>
                <a:t>ROM</a:t>
              </a:r>
              <a:r>
                <a:rPr lang="zh-CN" sz="1800" b="1" dirty="0">
                  <a:solidFill>
                    <a:srgbClr val="004992"/>
                  </a:solidFill>
                  <a:latin typeface="Times New Roman" panose="02020503050405090304" pitchFamily="18" charset="0"/>
                  <a:ea typeface="微软雅黑" panose="020B0503020204020204" pitchFamily="34" charset="-122"/>
                  <a:cs typeface="Times New Roman" panose="02020503050405090304" pitchFamily="18" charset="0"/>
                </a:rPr>
                <a:t>：</a:t>
              </a:r>
              <a:r>
                <a:rPr lang="en-US" altLang="zh-CN" sz="1800" b="1" dirty="0">
                  <a:solidFill>
                    <a:srgbClr val="004992"/>
                  </a:solidFill>
                  <a:latin typeface="Times New Roman" panose="02020503050405090304" pitchFamily="18" charset="0"/>
                  <a:ea typeface="微软雅黑" panose="020B0503020204020204" pitchFamily="34" charset="-122"/>
                  <a:cs typeface="Times New Roman" panose="02020503050405090304" pitchFamily="18" charset="0"/>
                </a:rPr>
                <a:t>DEV</a:t>
              </a:r>
              <a:endParaRPr lang="en-US" altLang="zh-CN" sz="1800" b="1" dirty="0">
                <a:solidFill>
                  <a:srgbClr val="004992"/>
                </a:solidFill>
                <a:latin typeface="Times New Roman" panose="02020503050405090304" pitchFamily="18" charset="0"/>
                <a:ea typeface="微软雅黑" panose="020B0503020204020204" pitchFamily="34" charset="-122"/>
                <a:cs typeface="Times New Roman" panose="02020503050405090304" pitchFamily="18" charset="0"/>
              </a:endParaRPr>
            </a:p>
          </p:txBody>
        </p:sp>
      </p:grpSp>
      <p:sp>
        <p:nvSpPr>
          <p:cNvPr id="15" name="Text Box 14"/>
          <p:cNvSpPr txBox="1">
            <a:spLocks noChangeArrowheads="1"/>
          </p:cNvSpPr>
          <p:nvPr/>
        </p:nvSpPr>
        <p:spPr bwMode="auto">
          <a:xfrm>
            <a:off x="1610917" y="6005081"/>
            <a:ext cx="2089150" cy="645160"/>
          </a:xfrm>
          <a:prstGeom prst="rect">
            <a:avLst/>
          </a:prstGeom>
          <a:noFill/>
          <a:ln w="9525">
            <a:noFill/>
            <a:miter lim="800000"/>
          </a:ln>
          <a:effectLst/>
        </p:spPr>
        <p:txBody>
          <a:bodyPr>
            <a:spAutoFit/>
          </a:bodyPr>
          <a:lstStyle/>
          <a:p>
            <a:pPr algn="ctr">
              <a:spcBef>
                <a:spcPct val="0"/>
              </a:spcBef>
              <a:buFontTx/>
              <a:buNone/>
            </a:pPr>
            <a:r>
              <a:rPr lang="zh-CN" b="1" dirty="0">
                <a:solidFill>
                  <a:schemeClr val="tx1"/>
                </a:solidFill>
                <a:latin typeface="微软雅黑" panose="020B0503020204020204" pitchFamily="34" charset="-122"/>
                <a:ea typeface="微软雅黑" panose="020B0503020204020204" pitchFamily="34" charset="-122"/>
              </a:rPr>
              <a:t>早期大型机使用的内存管理方式</a:t>
            </a:r>
            <a:endParaRPr lang="zh-CN" b="1" dirty="0">
              <a:solidFill>
                <a:schemeClr val="tx1"/>
              </a:solidFill>
              <a:latin typeface="微软雅黑" panose="020B0503020204020204" pitchFamily="34" charset="-122"/>
              <a:ea typeface="微软雅黑" panose="020B0503020204020204" pitchFamily="34" charset="-122"/>
            </a:endParaRPr>
          </a:p>
        </p:txBody>
      </p:sp>
      <p:sp>
        <p:nvSpPr>
          <p:cNvPr id="16" name="Text Box 15"/>
          <p:cNvSpPr txBox="1">
            <a:spLocks noChangeArrowheads="1"/>
          </p:cNvSpPr>
          <p:nvPr/>
        </p:nvSpPr>
        <p:spPr bwMode="auto">
          <a:xfrm>
            <a:off x="4049088" y="5988861"/>
            <a:ext cx="2814487" cy="645160"/>
          </a:xfrm>
          <a:prstGeom prst="rect">
            <a:avLst/>
          </a:prstGeom>
          <a:noFill/>
          <a:ln w="9525">
            <a:noFill/>
            <a:miter lim="800000"/>
          </a:ln>
          <a:effectLst/>
        </p:spPr>
        <p:txBody>
          <a:bodyPr wrap="square">
            <a:spAutoFit/>
          </a:bodyPr>
          <a:lstStyle/>
          <a:p>
            <a:pPr algn="ctr">
              <a:spcBef>
                <a:spcPct val="0"/>
              </a:spcBef>
              <a:buFontTx/>
              <a:buNone/>
            </a:pPr>
            <a:r>
              <a:rPr lang="zh-CN" b="1" dirty="0">
                <a:solidFill>
                  <a:schemeClr val="tx1"/>
                </a:solidFill>
                <a:latin typeface="微软雅黑" panose="020B0503020204020204" pitchFamily="34" charset="-122"/>
                <a:ea typeface="微软雅黑" panose="020B0503020204020204" pitchFamily="34" charset="-122"/>
              </a:rPr>
              <a:t>少数掌上电脑和嵌入式系统使用的内存管理方式</a:t>
            </a:r>
            <a:endParaRPr lang="zh-CN" b="1" dirty="0">
              <a:solidFill>
                <a:schemeClr val="tx1"/>
              </a:solidFill>
              <a:latin typeface="微软雅黑" panose="020B0503020204020204" pitchFamily="34" charset="-122"/>
              <a:ea typeface="微软雅黑" panose="020B0503020204020204" pitchFamily="34" charset="-122"/>
            </a:endParaRPr>
          </a:p>
        </p:txBody>
      </p:sp>
      <p:sp>
        <p:nvSpPr>
          <p:cNvPr id="17" name="Text Box 16"/>
          <p:cNvSpPr txBox="1">
            <a:spLocks noChangeArrowheads="1"/>
          </p:cNvSpPr>
          <p:nvPr/>
        </p:nvSpPr>
        <p:spPr bwMode="auto">
          <a:xfrm>
            <a:off x="7066825" y="5944700"/>
            <a:ext cx="2416175" cy="645160"/>
          </a:xfrm>
          <a:prstGeom prst="rect">
            <a:avLst/>
          </a:prstGeom>
          <a:noFill/>
          <a:ln w="9525">
            <a:noFill/>
            <a:miter lim="800000"/>
          </a:ln>
          <a:effectLst/>
        </p:spPr>
        <p:txBody>
          <a:bodyPr>
            <a:spAutoFit/>
          </a:bodyPr>
          <a:lstStyle/>
          <a:p>
            <a:pPr algn="ctr">
              <a:spcBef>
                <a:spcPct val="0"/>
              </a:spcBef>
              <a:buFontTx/>
              <a:buNone/>
            </a:pPr>
            <a:r>
              <a:rPr lang="zh-CN" b="1" dirty="0">
                <a:solidFill>
                  <a:schemeClr val="tx1"/>
                </a:solidFill>
                <a:latin typeface="微软雅黑" panose="020B0503020204020204" pitchFamily="34" charset="-122"/>
                <a:ea typeface="微软雅黑" panose="020B0503020204020204" pitchFamily="34" charset="-122"/>
              </a:rPr>
              <a:t>早期</a:t>
            </a:r>
            <a:r>
              <a:rPr lang="en-US" altLang="zh-CN" b="1" dirty="0">
                <a:solidFill>
                  <a:schemeClr val="tx1"/>
                </a:solidFill>
                <a:latin typeface="微软雅黑" panose="020B0503020204020204" pitchFamily="34" charset="-122"/>
                <a:ea typeface="微软雅黑" panose="020B0503020204020204" pitchFamily="34" charset="-122"/>
              </a:rPr>
              <a:t>PC</a:t>
            </a:r>
            <a:r>
              <a:rPr lang="zh-CN" b="1" dirty="0">
                <a:solidFill>
                  <a:schemeClr val="tx1"/>
                </a:solidFill>
                <a:latin typeface="微软雅黑" panose="020B0503020204020204" pitchFamily="34" charset="-122"/>
                <a:ea typeface="微软雅黑" panose="020B0503020204020204" pitchFamily="34" charset="-122"/>
              </a:rPr>
              <a:t>使用的内存管理方式（</a:t>
            </a:r>
            <a:r>
              <a:rPr lang="en-US" altLang="zh-CN" b="1" dirty="0">
                <a:solidFill>
                  <a:schemeClr val="tx1"/>
                </a:solidFill>
                <a:latin typeface="微软雅黑" panose="020B0503020204020204" pitchFamily="34" charset="-122"/>
                <a:ea typeface="微软雅黑" panose="020B0503020204020204" pitchFamily="34" charset="-122"/>
              </a:rPr>
              <a:t>MS-DOS)</a:t>
            </a:r>
            <a:endParaRPr lang="en-US" altLang="zh-CN" b="1"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checkerboard(across)">
                                      <p:cBhvr>
                                        <p:cTn id="11" dur="500"/>
                                        <p:tgtEl>
                                          <p:spTgt spid="15"/>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dissolve">
                                      <p:cBhvr>
                                        <p:cTn id="15" dur="500"/>
                                        <p:tgtEl>
                                          <p:spTgt spid="8"/>
                                        </p:tgtEl>
                                      </p:cBhvr>
                                    </p:animEffect>
                                  </p:childTnLst>
                                </p:cTn>
                              </p:par>
                            </p:childTnLst>
                          </p:cTn>
                        </p:par>
                        <p:par>
                          <p:cTn id="16" fill="hold">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checkerboard(across)">
                                      <p:cBhvr>
                                        <p:cTn id="19" dur="500"/>
                                        <p:tgtEl>
                                          <p:spTgt spid="16"/>
                                        </p:tgtEl>
                                      </p:cBhvr>
                                    </p:animEffect>
                                  </p:childTnLst>
                                </p:cTn>
                              </p:par>
                            </p:childTnLst>
                          </p:cTn>
                        </p:par>
                        <p:par>
                          <p:cTn id="20" fill="hold">
                            <p:stCondLst>
                              <p:cond delay="2000"/>
                            </p:stCondLst>
                            <p:childTnLst>
                              <p:par>
                                <p:cTn id="21" presetID="9"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dissolve">
                                      <p:cBhvr>
                                        <p:cTn id="23" dur="500"/>
                                        <p:tgtEl>
                                          <p:spTgt spid="11"/>
                                        </p:tgtEl>
                                      </p:cBhvr>
                                    </p:animEffect>
                                  </p:childTnLst>
                                </p:cTn>
                              </p:par>
                            </p:childTnLst>
                          </p:cTn>
                        </p:par>
                        <p:par>
                          <p:cTn id="24" fill="hold">
                            <p:stCondLst>
                              <p:cond delay="2500"/>
                            </p:stCondLst>
                            <p:childTnLst>
                              <p:par>
                                <p:cTn id="25" presetID="5" presetClass="entr" presetSubtype="1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checkerboard(across)">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autoUpdateAnimBg="0"/>
      <p:bldP spid="16" grpId="0" bldLvl="0" animBg="1" autoUpdateAnimBg="0"/>
      <p:bldP spid="17" grpId="0" bldLvl="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356235" y="959485"/>
            <a:ext cx="11440160" cy="5753100"/>
          </a:xfrm>
        </p:spPr>
        <p:txBody>
          <a:bodyPr vert="horz" wrap="square" lIns="91440" tIns="45720" rIns="91440" bIns="45720" anchor="t" anchorCtr="0">
            <a:normAutofit/>
          </a:bodyPr>
          <a:lstStyle/>
          <a:p>
            <a:pPr marL="457200" indent="-457200">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最早使用的一种可运行多道程序的存储管理方式</a:t>
            </a:r>
            <a:endPar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 将内存空间划分为若干个固定大小的区域，称为</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分区</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将用户可使用内存区划分为固定大小，根据作业长度分配内存；在每个区域中放入一道作业，允许放入几道作业。</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 当有一个分区空闲时，便可从外存后备队列中选择一个适当大小的作业装入。支持多道程序的大型机使用，目前几乎不再使用</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07340" y="33655"/>
            <a:ext cx="1073340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4.3.2 </a:t>
            </a:r>
            <a:r>
              <a:rPr lang="zh-CN" altLang="en-US" sz="3900" b="1" dirty="0">
                <a:latin typeface="微软雅黑" panose="020B0503020204020204" pitchFamily="34" charset="-122"/>
                <a:ea typeface="微软雅黑" panose="020B0503020204020204" pitchFamily="34" charset="-122"/>
              </a:rPr>
              <a:t>固定分区分配</a:t>
            </a:r>
            <a:endParaRPr lang="zh-CN" altLang="en-US" sz="3900" b="1" dirty="0">
              <a:latin typeface="微软雅黑" panose="020B0503020204020204" pitchFamily="34" charset="-122"/>
              <a:ea typeface="微软雅黑" panose="020B0503020204020204" pitchFamily="34" charset="-122"/>
            </a:endParaRPr>
          </a:p>
        </p:txBody>
      </p:sp>
      <p:grpSp>
        <p:nvGrpSpPr>
          <p:cNvPr id="4" name="Group 4"/>
          <p:cNvGrpSpPr/>
          <p:nvPr/>
        </p:nvGrpSpPr>
        <p:grpSpPr bwMode="auto">
          <a:xfrm>
            <a:off x="2594082" y="4271537"/>
            <a:ext cx="1728787" cy="2376488"/>
            <a:chOff x="0" y="0"/>
            <a:chExt cx="862" cy="1407"/>
          </a:xfrm>
        </p:grpSpPr>
        <p:sp>
          <p:nvSpPr>
            <p:cNvPr id="6" name="Rectangle 5"/>
            <p:cNvSpPr>
              <a:spLocks noChangeArrowheads="1"/>
            </p:cNvSpPr>
            <p:nvPr/>
          </p:nvSpPr>
          <p:spPr bwMode="auto">
            <a:xfrm>
              <a:off x="0" y="862"/>
              <a:ext cx="862" cy="272"/>
            </a:xfrm>
            <a:prstGeom prst="rect">
              <a:avLst/>
            </a:prstGeom>
            <a:solidFill>
              <a:srgbClr val="004080"/>
            </a:solidFill>
            <a:ln w="28575">
              <a:solidFill>
                <a:srgbClr val="FFCC00"/>
              </a:solidFill>
              <a:miter lim="800000"/>
            </a:ln>
            <a:effectLst/>
            <a:scene3d>
              <a:camera prst="orthographicFront"/>
              <a:lightRig rig="threePt" dir="t"/>
            </a:scene3d>
            <a:sp3d>
              <a:bevelT/>
            </a:sp3d>
          </p:spPr>
          <p:txBody>
            <a:bodyPr wrap="none" anchor="ctr"/>
            <a:lstStyle/>
            <a:p>
              <a:pPr algn="ctr">
                <a:buFontTx/>
                <a:buNone/>
              </a:pPr>
              <a:r>
                <a:rPr lang="zh-CN" b="1">
                  <a:solidFill>
                    <a:schemeClr val="bg1"/>
                  </a:solidFill>
                  <a:latin typeface="Verdana" panose="020B0804030504040204" pitchFamily="34" charset="0"/>
                  <a:ea typeface="黑体" panose="02010609060101010101" pitchFamily="49" charset="-122"/>
                </a:rPr>
                <a:t>可用分区</a:t>
              </a:r>
              <a:r>
                <a:rPr lang="en-US" altLang="zh-CN" b="1">
                  <a:solidFill>
                    <a:schemeClr val="bg1"/>
                  </a:solidFill>
                  <a:latin typeface="Verdana" panose="020B0804030504040204" pitchFamily="34" charset="0"/>
                  <a:ea typeface="黑体" panose="02010609060101010101" pitchFamily="49" charset="-122"/>
                </a:rPr>
                <a:t>1</a:t>
              </a:r>
              <a:endParaRPr lang="en-US" altLang="zh-CN" b="1">
                <a:solidFill>
                  <a:schemeClr val="bg1"/>
                </a:solidFill>
                <a:latin typeface="Verdana" panose="020B0804030504040204" pitchFamily="34" charset="0"/>
                <a:ea typeface="黑体" panose="02010609060101010101" pitchFamily="49" charset="-122"/>
              </a:endParaRPr>
            </a:p>
          </p:txBody>
        </p:sp>
        <p:sp>
          <p:nvSpPr>
            <p:cNvPr id="7" name="Rectangle 6"/>
            <p:cNvSpPr>
              <a:spLocks noChangeArrowheads="1"/>
            </p:cNvSpPr>
            <p:nvPr/>
          </p:nvSpPr>
          <p:spPr bwMode="auto">
            <a:xfrm>
              <a:off x="0" y="1134"/>
              <a:ext cx="862" cy="273"/>
            </a:xfrm>
            <a:prstGeom prst="rect">
              <a:avLst/>
            </a:prstGeom>
            <a:solidFill>
              <a:srgbClr val="C00000"/>
            </a:solidFill>
            <a:ln w="28575">
              <a:solidFill>
                <a:srgbClr val="FFCC00"/>
              </a:solidFill>
              <a:miter lim="800000"/>
            </a:ln>
            <a:effectLst/>
            <a:scene3d>
              <a:camera prst="orthographicFront"/>
              <a:lightRig rig="threePt" dir="t"/>
            </a:scene3d>
            <a:sp3d>
              <a:bevelT/>
            </a:sp3d>
          </p:spPr>
          <p:txBody>
            <a:bodyPr wrap="none" anchor="ctr"/>
            <a:lstStyle/>
            <a:p>
              <a:pPr algn="ctr">
                <a:spcBef>
                  <a:spcPct val="0"/>
                </a:spcBef>
                <a:buFontTx/>
                <a:buNone/>
              </a:pPr>
              <a:r>
                <a:rPr lang="en-US" altLang="zh-CN" sz="1800" b="1">
                  <a:solidFill>
                    <a:schemeClr val="bg1"/>
                  </a:solidFill>
                  <a:latin typeface="Verdana" panose="020B0804030504040204" pitchFamily="34" charset="0"/>
                  <a:ea typeface="黑体" panose="02010609060101010101" pitchFamily="49" charset="-122"/>
                </a:rPr>
                <a:t>RAM</a:t>
              </a:r>
              <a:r>
                <a:rPr lang="zh-CN" sz="1800" b="1">
                  <a:solidFill>
                    <a:schemeClr val="bg1"/>
                  </a:solidFill>
                  <a:latin typeface="Verdana" panose="020B0804030504040204" pitchFamily="34" charset="0"/>
                  <a:ea typeface="黑体" panose="02010609060101010101" pitchFamily="49" charset="-122"/>
                </a:rPr>
                <a:t>中的</a:t>
              </a:r>
              <a:r>
                <a:rPr lang="en-US" altLang="zh-CN" sz="1800" b="1">
                  <a:solidFill>
                    <a:schemeClr val="bg1"/>
                  </a:solidFill>
                  <a:latin typeface="Verdana" panose="020B0804030504040204" pitchFamily="34" charset="0"/>
                  <a:ea typeface="黑体" panose="02010609060101010101" pitchFamily="49" charset="-122"/>
                </a:rPr>
                <a:t>OS</a:t>
              </a:r>
              <a:endParaRPr lang="en-US" altLang="zh-CN" sz="1800" b="1">
                <a:solidFill>
                  <a:schemeClr val="bg1"/>
                </a:solidFill>
                <a:latin typeface="Verdana" panose="020B0804030504040204" pitchFamily="34" charset="0"/>
                <a:ea typeface="黑体" panose="02010609060101010101" pitchFamily="49" charset="-122"/>
              </a:endParaRPr>
            </a:p>
          </p:txBody>
        </p:sp>
        <p:sp>
          <p:nvSpPr>
            <p:cNvPr id="8" name="Rectangle 7"/>
            <p:cNvSpPr>
              <a:spLocks noChangeArrowheads="1"/>
            </p:cNvSpPr>
            <p:nvPr/>
          </p:nvSpPr>
          <p:spPr bwMode="auto">
            <a:xfrm>
              <a:off x="0" y="454"/>
              <a:ext cx="862" cy="408"/>
            </a:xfrm>
            <a:prstGeom prst="rect">
              <a:avLst/>
            </a:prstGeom>
            <a:solidFill>
              <a:srgbClr val="004080"/>
            </a:solidFill>
            <a:ln w="28575">
              <a:solidFill>
                <a:srgbClr val="FFCC00"/>
              </a:solidFill>
              <a:miter lim="800000"/>
            </a:ln>
            <a:effectLst/>
            <a:scene3d>
              <a:camera prst="orthographicFront"/>
              <a:lightRig rig="threePt" dir="t"/>
            </a:scene3d>
            <a:sp3d>
              <a:bevelT/>
            </a:sp3d>
          </p:spPr>
          <p:txBody>
            <a:bodyPr wrap="none" anchor="ctr"/>
            <a:lstStyle/>
            <a:p>
              <a:pPr algn="ctr"/>
              <a:r>
                <a:rPr lang="zh-CN" b="1">
                  <a:solidFill>
                    <a:schemeClr val="bg1"/>
                  </a:solidFill>
                  <a:latin typeface="Verdana" panose="020B0804030504040204" pitchFamily="34" charset="0"/>
                  <a:ea typeface="黑体" panose="02010609060101010101" pitchFamily="49" charset="-122"/>
                </a:rPr>
                <a:t>可用分区</a:t>
              </a:r>
              <a:r>
                <a:rPr lang="en-US" altLang="zh-CN" b="1">
                  <a:solidFill>
                    <a:schemeClr val="bg1"/>
                  </a:solidFill>
                  <a:latin typeface="Verdana" panose="020B0804030504040204" pitchFamily="34" charset="0"/>
                  <a:ea typeface="黑体" panose="02010609060101010101" pitchFamily="49" charset="-122"/>
                </a:rPr>
                <a:t>2</a:t>
              </a:r>
              <a:endParaRPr lang="en-US" altLang="zh-CN" b="1">
                <a:solidFill>
                  <a:schemeClr val="bg1"/>
                </a:solidFill>
                <a:latin typeface="Verdana" panose="020B0804030504040204" pitchFamily="34" charset="0"/>
                <a:ea typeface="黑体" panose="02010609060101010101" pitchFamily="49" charset="-122"/>
              </a:endParaRPr>
            </a:p>
          </p:txBody>
        </p:sp>
        <p:sp>
          <p:nvSpPr>
            <p:cNvPr id="9" name="Rectangle 8"/>
            <p:cNvSpPr>
              <a:spLocks noChangeArrowheads="1"/>
            </p:cNvSpPr>
            <p:nvPr/>
          </p:nvSpPr>
          <p:spPr bwMode="auto">
            <a:xfrm>
              <a:off x="0" y="0"/>
              <a:ext cx="862" cy="454"/>
            </a:xfrm>
            <a:prstGeom prst="rect">
              <a:avLst/>
            </a:prstGeom>
            <a:solidFill>
              <a:srgbClr val="004080"/>
            </a:solidFill>
            <a:ln w="28575">
              <a:solidFill>
                <a:srgbClr val="FFCC00"/>
              </a:solidFill>
              <a:miter lim="800000"/>
            </a:ln>
            <a:effectLst/>
            <a:scene3d>
              <a:camera prst="orthographicFront"/>
              <a:lightRig rig="threePt" dir="t"/>
            </a:scene3d>
            <a:sp3d>
              <a:bevelT/>
            </a:sp3d>
          </p:spPr>
          <p:txBody>
            <a:bodyPr wrap="none" anchor="ctr"/>
            <a:lstStyle/>
            <a:p>
              <a:pPr algn="ctr">
                <a:spcBef>
                  <a:spcPct val="0"/>
                </a:spcBef>
                <a:buFontTx/>
                <a:buNone/>
              </a:pPr>
              <a:r>
                <a:rPr lang="zh-CN" sz="1800" b="1">
                  <a:solidFill>
                    <a:schemeClr val="bg1"/>
                  </a:solidFill>
                  <a:latin typeface="Verdana" panose="020B0804030504040204" pitchFamily="34" charset="0"/>
                  <a:ea typeface="黑体" panose="02010609060101010101" pitchFamily="49" charset="-122"/>
                </a:rPr>
                <a:t>可用分区</a:t>
              </a:r>
              <a:r>
                <a:rPr lang="en-US" altLang="zh-CN" sz="1800" b="1">
                  <a:solidFill>
                    <a:schemeClr val="bg1"/>
                  </a:solidFill>
                  <a:latin typeface="Verdana" panose="020B0804030504040204" pitchFamily="34" charset="0"/>
                  <a:ea typeface="黑体" panose="02010609060101010101" pitchFamily="49" charset="-122"/>
                </a:rPr>
                <a:t>3</a:t>
              </a:r>
              <a:endParaRPr lang="en-US" altLang="zh-CN" sz="1800" b="1">
                <a:solidFill>
                  <a:schemeClr val="bg1"/>
                </a:solidFill>
                <a:latin typeface="Verdana" panose="020B0804030504040204" pitchFamily="34" charset="0"/>
                <a:ea typeface="黑体" panose="02010609060101010101" pitchFamily="49" charset="-122"/>
              </a:endParaRPr>
            </a:p>
          </p:txBody>
        </p:sp>
      </p:grpSp>
      <p:graphicFrame>
        <p:nvGraphicFramePr>
          <p:cNvPr id="10" name="Group 9"/>
          <p:cNvGraphicFramePr/>
          <p:nvPr/>
        </p:nvGraphicFramePr>
        <p:xfrm>
          <a:off x="5115032" y="4271537"/>
          <a:ext cx="4897120" cy="2486026"/>
        </p:xfrm>
        <a:graphic>
          <a:graphicData uri="http://schemas.openxmlformats.org/drawingml/2006/table">
            <a:tbl>
              <a:tblPr/>
              <a:tblGrid>
                <a:gridCol w="1080770"/>
                <a:gridCol w="1224280"/>
                <a:gridCol w="1289050"/>
                <a:gridCol w="1303020"/>
              </a:tblGrid>
              <a:tr h="647700">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dirty="0">
                          <a:ln>
                            <a:noFill/>
                          </a:ln>
                          <a:solidFill>
                            <a:srgbClr val="000066"/>
                          </a:solidFill>
                          <a:effectLst/>
                          <a:latin typeface="华文楷体" panose="02010600040101010101" charset="-122"/>
                          <a:ea typeface="华文楷体" panose="02010600040101010101" charset="-122"/>
                        </a:rPr>
                        <a:t>分区号</a:t>
                      </a:r>
                      <a:endParaRPr kumimoji="0" lang="zh-CN" sz="2000" b="1" i="0" u="none" strike="noStrike" cap="none" normalizeH="0" baseline="0" dirty="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a:ln>
                            <a:noFill/>
                          </a:ln>
                          <a:solidFill>
                            <a:srgbClr val="000066"/>
                          </a:solidFill>
                          <a:effectLst/>
                          <a:latin typeface="华文楷体" panose="02010600040101010101" charset="-122"/>
                          <a:ea typeface="华文楷体" panose="02010600040101010101" charset="-122"/>
                        </a:rPr>
                        <a:t>起始地址</a:t>
                      </a:r>
                      <a:endParaRPr kumimoji="0" lang="zh-CN" sz="20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a:ln>
                            <a:noFill/>
                          </a:ln>
                          <a:solidFill>
                            <a:srgbClr val="000066"/>
                          </a:solidFill>
                          <a:effectLst/>
                          <a:latin typeface="华文楷体" panose="02010600040101010101" charset="-122"/>
                          <a:ea typeface="华文楷体" panose="02010600040101010101" charset="-122"/>
                        </a:rPr>
                        <a:t>终止地址</a:t>
                      </a:r>
                      <a:endParaRPr kumimoji="0" lang="zh-CN" sz="20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a:ln>
                            <a:noFill/>
                          </a:ln>
                          <a:solidFill>
                            <a:srgbClr val="000066"/>
                          </a:solidFill>
                          <a:effectLst/>
                          <a:latin typeface="华文楷体" panose="02010600040101010101" charset="-122"/>
                          <a:ea typeface="华文楷体" panose="02010600040101010101" charset="-122"/>
                        </a:rPr>
                        <a:t>分区大小</a:t>
                      </a:r>
                      <a:endParaRPr kumimoji="0" lang="zh-CN" sz="20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CC00"/>
                    </a:solidFill>
                  </a:tcPr>
                </a:tc>
              </a:tr>
              <a:tr h="622300">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a:ln>
                            <a:noFill/>
                          </a:ln>
                          <a:solidFill>
                            <a:srgbClr val="000066"/>
                          </a:solidFill>
                          <a:effectLst/>
                          <a:latin typeface="华文楷体" panose="02010600040101010101" charset="-122"/>
                          <a:ea typeface="华文楷体" panose="02010600040101010101" charset="-122"/>
                        </a:rPr>
                        <a:t>分区</a:t>
                      </a:r>
                      <a:r>
                        <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rPr>
                        <a:t>1</a:t>
                      </a:r>
                      <a:endPar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rPr>
                        <a:t>100K</a:t>
                      </a:r>
                      <a:endPar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rPr>
                        <a:t>200K</a:t>
                      </a:r>
                      <a:endPar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rPr>
                        <a:t>100K</a:t>
                      </a:r>
                      <a:endPar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r>
              <a:tr h="62706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a:ln>
                            <a:noFill/>
                          </a:ln>
                          <a:solidFill>
                            <a:srgbClr val="000066"/>
                          </a:solidFill>
                          <a:effectLst/>
                          <a:latin typeface="华文楷体" panose="02010600040101010101" charset="-122"/>
                          <a:ea typeface="华文楷体" panose="02010600040101010101" charset="-122"/>
                        </a:rPr>
                        <a:t>分区</a:t>
                      </a:r>
                      <a:r>
                        <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rPr>
                        <a:t>2</a:t>
                      </a:r>
                      <a:endPar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rPr>
                        <a:t>200K</a:t>
                      </a:r>
                      <a:endPar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rPr>
                        <a:t>400K</a:t>
                      </a:r>
                      <a:endPar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rPr>
                        <a:t>200K</a:t>
                      </a:r>
                      <a:endPar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r>
              <a:tr h="58896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000" b="1" i="0" u="none" strike="noStrike" cap="none" normalizeH="0" baseline="0">
                          <a:ln>
                            <a:noFill/>
                          </a:ln>
                          <a:solidFill>
                            <a:srgbClr val="000066"/>
                          </a:solidFill>
                          <a:effectLst/>
                          <a:latin typeface="华文楷体" panose="02010600040101010101" charset="-122"/>
                          <a:ea typeface="华文楷体" panose="02010600040101010101" charset="-122"/>
                        </a:rPr>
                        <a:t>分区</a:t>
                      </a:r>
                      <a:r>
                        <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rPr>
                        <a:t>3</a:t>
                      </a:r>
                      <a:endPar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rPr>
                        <a:t>400K</a:t>
                      </a:r>
                      <a:endPar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rPr>
                        <a:t>700K</a:t>
                      </a:r>
                      <a:endParaRPr kumimoji="0" lang="en-US" altLang="zh-CN" sz="20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000" b="1" i="0" u="none" strike="noStrike" cap="none" normalizeH="0" baseline="0" dirty="0">
                          <a:ln>
                            <a:noFill/>
                          </a:ln>
                          <a:solidFill>
                            <a:srgbClr val="000066"/>
                          </a:solidFill>
                          <a:effectLst/>
                          <a:latin typeface="华文楷体" panose="02010600040101010101" charset="-122"/>
                          <a:ea typeface="华文楷体" panose="02010600040101010101" charset="-122"/>
                        </a:rPr>
                        <a:t>300K</a:t>
                      </a:r>
                      <a:endParaRPr kumimoji="0" lang="en-US" altLang="zh-CN" sz="2000" b="1" i="0" u="none" strike="noStrike" cap="none" normalizeH="0" baseline="0" dirty="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623570" y="959485"/>
            <a:ext cx="11238865" cy="5753100"/>
          </a:xfrm>
        </p:spPr>
        <p:txBody>
          <a:bodyPr vert="horz" wrap="square" lIns="91440" tIns="45720" rIns="91440" bIns="45720" anchor="t" anchorCtr="0">
            <a:normAutofit fontScale="92500"/>
          </a:bodyPr>
          <a:lstStyle/>
          <a:p>
            <a:pPr marL="457200" indent="-457200">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划分分区的方法</a:t>
            </a:r>
            <a:endPar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有</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n</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个分区，则可同时装入</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n</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个作业</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任务</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分区大小相等：缺乏灵活性，即当程序太小时，会造成内存空间的浪费；当程序太大时，一个分区又不足以装入该程序，致使该程序无法运行。适合控制多个相同对象的场合</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 分区大小不等：把内存区划分成含有多个较小的分区、适量的中等分区及少量的大分区</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indent="-457200">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内存分配</a:t>
            </a:r>
            <a:endPar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将分区根据大小进行排队，并建立一张分区使用表：各表项包含每个分区的起始地址、大小、状态（是否已分配）。</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数据结构  </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将分区按大小排序，并将其地址、分配标识作记录</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特点：简单、有碎片（内零头</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88290" y="33655"/>
            <a:ext cx="1075245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4.3.2 </a:t>
            </a:r>
            <a:r>
              <a:rPr lang="zh-CN" altLang="en-US" sz="3900" b="1" dirty="0">
                <a:latin typeface="微软雅黑" panose="020B0503020204020204" pitchFamily="34" charset="-122"/>
                <a:ea typeface="微软雅黑" panose="020B0503020204020204" pitchFamily="34" charset="-122"/>
              </a:rPr>
              <a:t>固定分区分配</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812165" y="959485"/>
            <a:ext cx="9605645" cy="5753100"/>
          </a:xfrm>
        </p:spPr>
        <p:txBody>
          <a:bodyPr vert="horz" wrap="square" lIns="91440" tIns="45720" rIns="91440" bIns="45720" anchor="t" anchorCtr="0">
            <a:normAutofit/>
          </a:bodyPr>
          <a:lstStyle/>
          <a:p>
            <a:pPr marL="457200" indent="-457200">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内存分配</a:t>
            </a:r>
            <a:endPar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07645" y="33655"/>
            <a:ext cx="1083310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4.3.2 </a:t>
            </a:r>
            <a:r>
              <a:rPr lang="zh-CN" altLang="en-US" sz="3900" b="1" dirty="0">
                <a:latin typeface="微软雅黑" panose="020B0503020204020204" pitchFamily="34" charset="-122"/>
                <a:ea typeface="微软雅黑" panose="020B0503020204020204" pitchFamily="34" charset="-122"/>
              </a:rPr>
              <a:t>固定分区分配</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4" name="Group 3"/>
          <p:cNvGraphicFramePr/>
          <p:nvPr/>
        </p:nvGraphicFramePr>
        <p:xfrm>
          <a:off x="1402638" y="2061041"/>
          <a:ext cx="5113020" cy="3649345"/>
        </p:xfrm>
        <a:graphic>
          <a:graphicData uri="http://schemas.openxmlformats.org/drawingml/2006/table">
            <a:tbl>
              <a:tblPr/>
              <a:tblGrid>
                <a:gridCol w="1119505"/>
                <a:gridCol w="1318895"/>
                <a:gridCol w="1364615"/>
                <a:gridCol w="1310005"/>
              </a:tblGrid>
              <a:tr h="736600">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rgbClr val="000066"/>
                          </a:solidFill>
                          <a:effectLst/>
                          <a:latin typeface="华文楷体" panose="02010600040101010101" charset="-122"/>
                          <a:ea typeface="华文楷体" panose="02010600040101010101" charset="-122"/>
                        </a:rPr>
                        <a:t>分区号</a:t>
                      </a:r>
                      <a:endParaRPr kumimoji="0" lang="zh-CN" sz="2400" b="1" i="0" u="none" strike="noStrike" cap="none" normalizeH="0" baseline="0" dirty="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a:ln>
                            <a:noFill/>
                          </a:ln>
                          <a:solidFill>
                            <a:srgbClr val="000066"/>
                          </a:solidFill>
                          <a:effectLst/>
                          <a:latin typeface="华文楷体" panose="02010600040101010101" charset="-122"/>
                          <a:ea typeface="华文楷体" panose="02010600040101010101" charset="-122"/>
                        </a:rPr>
                        <a:t>大小</a:t>
                      </a:r>
                      <a:r>
                        <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rPr>
                        <a:t>(K)</a:t>
                      </a:r>
                      <a:endPar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a:ln>
                            <a:noFill/>
                          </a:ln>
                          <a:solidFill>
                            <a:srgbClr val="000066"/>
                          </a:solidFill>
                          <a:effectLst/>
                          <a:latin typeface="华文楷体" panose="02010600040101010101" charset="-122"/>
                          <a:ea typeface="华文楷体" panose="02010600040101010101" charset="-122"/>
                        </a:rPr>
                        <a:t>起址</a:t>
                      </a:r>
                      <a:r>
                        <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rPr>
                        <a:t>(K)</a:t>
                      </a:r>
                      <a:endParaRPr kumimoji="0" lang="zh-CN" sz="24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CC00"/>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a:ln>
                            <a:noFill/>
                          </a:ln>
                          <a:solidFill>
                            <a:srgbClr val="000066"/>
                          </a:solidFill>
                          <a:effectLst/>
                          <a:latin typeface="华文楷体" panose="02010600040101010101" charset="-122"/>
                          <a:ea typeface="华文楷体" panose="02010600040101010101" charset="-122"/>
                        </a:rPr>
                        <a:t>状态</a:t>
                      </a:r>
                      <a:endParaRPr kumimoji="0" lang="zh-CN" sz="24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CC00"/>
                    </a:solidFill>
                  </a:tcPr>
                </a:tc>
              </a:tr>
              <a:tr h="736600">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rPr>
                        <a:t>1</a:t>
                      </a:r>
                      <a:endPar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rPr>
                        <a:t>12</a:t>
                      </a:r>
                      <a:endPar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rPr>
                        <a:t>20</a:t>
                      </a:r>
                      <a:endPar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a:ln>
                            <a:noFill/>
                          </a:ln>
                          <a:solidFill>
                            <a:srgbClr val="000066"/>
                          </a:solidFill>
                          <a:effectLst/>
                          <a:latin typeface="华文楷体" panose="02010600040101010101" charset="-122"/>
                          <a:ea typeface="华文楷体" panose="02010600040101010101" charset="-122"/>
                        </a:rPr>
                        <a:t>已分配</a:t>
                      </a:r>
                      <a:endParaRPr kumimoji="0" lang="zh-CN" sz="24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r>
              <a:tr h="731520">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rPr>
                        <a:t>2</a:t>
                      </a:r>
                      <a:endPar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rPr>
                        <a:t>32</a:t>
                      </a:r>
                      <a:endPar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rPr>
                        <a:t>32</a:t>
                      </a:r>
                      <a:endPar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a:ln>
                            <a:noFill/>
                          </a:ln>
                          <a:solidFill>
                            <a:srgbClr val="000066"/>
                          </a:solidFill>
                          <a:effectLst/>
                          <a:latin typeface="华文楷体" panose="02010600040101010101" charset="-122"/>
                          <a:ea typeface="华文楷体" panose="02010600040101010101" charset="-122"/>
                        </a:rPr>
                        <a:t>已分配</a:t>
                      </a:r>
                      <a:endParaRPr kumimoji="0" lang="zh-CN" sz="24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r>
              <a:tr h="73469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rPr>
                        <a:t>3</a:t>
                      </a:r>
                      <a:endPar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rPr>
                        <a:t>64</a:t>
                      </a:r>
                      <a:endPar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rPr>
                        <a:t>64</a:t>
                      </a:r>
                      <a:endPar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a:ln>
                            <a:noFill/>
                          </a:ln>
                          <a:solidFill>
                            <a:srgbClr val="000066"/>
                          </a:solidFill>
                          <a:effectLst/>
                          <a:latin typeface="华文楷体" panose="02010600040101010101" charset="-122"/>
                          <a:ea typeface="华文楷体" panose="02010600040101010101" charset="-122"/>
                        </a:rPr>
                        <a:t>已分配</a:t>
                      </a:r>
                      <a:endParaRPr kumimoji="0" lang="zh-CN" sz="24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r>
              <a:tr h="709930">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rPr>
                        <a:t>4</a:t>
                      </a:r>
                      <a:endPar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rPr>
                        <a:t>128</a:t>
                      </a:r>
                      <a:endPar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rPr>
                        <a:t>128</a:t>
                      </a:r>
                      <a:endParaRPr kumimoji="0" lang="en-US" altLang="zh-CN" sz="2400" b="1" i="0" u="none" strike="noStrike" cap="none" normalizeH="0" baseline="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altLang="en-US" sz="2400" b="1" i="0" u="none" strike="noStrike" cap="none" normalizeH="0" baseline="0" dirty="0">
                          <a:ln>
                            <a:noFill/>
                          </a:ln>
                          <a:solidFill>
                            <a:srgbClr val="000066"/>
                          </a:solidFill>
                          <a:effectLst/>
                          <a:latin typeface="华文楷体" panose="02010600040101010101" charset="-122"/>
                          <a:ea typeface="华文楷体" panose="02010600040101010101" charset="-122"/>
                        </a:rPr>
                        <a:t>未</a:t>
                      </a:r>
                      <a:r>
                        <a:rPr kumimoji="0" lang="zh-CN" sz="2400" b="1" i="0" u="none" strike="noStrike" cap="none" normalizeH="0" baseline="0" dirty="0">
                          <a:ln>
                            <a:noFill/>
                          </a:ln>
                          <a:solidFill>
                            <a:srgbClr val="000066"/>
                          </a:solidFill>
                          <a:effectLst/>
                          <a:latin typeface="华文楷体" panose="02010600040101010101" charset="-122"/>
                          <a:ea typeface="华文楷体" panose="02010600040101010101" charset="-122"/>
                        </a:rPr>
                        <a:t>分配</a:t>
                      </a:r>
                      <a:endParaRPr kumimoji="0" lang="zh-CN" sz="2400" b="1" i="0" u="none" strike="noStrike" cap="none" normalizeH="0" baseline="0" dirty="0">
                        <a:ln>
                          <a:noFill/>
                        </a:ln>
                        <a:solidFill>
                          <a:srgbClr val="000066"/>
                        </a:solidFill>
                        <a:effectLst/>
                        <a:latin typeface="华文楷体" panose="02010600040101010101" charset="-122"/>
                        <a:ea typeface="华文楷体" panose="02010600040101010101" charset="-122"/>
                      </a:endParaRPr>
                    </a:p>
                  </a:txBody>
                  <a:tcPr anchor="ctr" horzOverflow="overflow">
                    <a:lnL w="28575" cap="flat" cmpd="sng" algn="ctr">
                      <a:solidFill>
                        <a:srgbClr val="FFCC00"/>
                      </a:solidFill>
                      <a:prstDash val="solid"/>
                      <a:round/>
                      <a:headEnd type="none" w="med" len="med"/>
                      <a:tailEnd type="none" w="med" len="med"/>
                    </a:lnL>
                    <a:lnR w="28575" cap="flat" cmpd="sng" algn="ctr">
                      <a:solidFill>
                        <a:srgbClr val="FFCC00"/>
                      </a:solidFill>
                      <a:prstDash val="solid"/>
                      <a:round/>
                      <a:headEnd type="none" w="med" len="med"/>
                      <a:tailEnd type="none" w="med" len="med"/>
                    </a:lnR>
                    <a:lnT w="28575" cap="flat" cmpd="sng" algn="ctr">
                      <a:solidFill>
                        <a:srgbClr val="FFCC00"/>
                      </a:solidFill>
                      <a:prstDash val="solid"/>
                      <a:round/>
                      <a:headEnd type="none" w="med" len="med"/>
                      <a:tailEnd type="none" w="med" len="med"/>
                    </a:lnT>
                    <a:lnB w="28575" cap="flat" cmpd="sng" algn="ctr">
                      <a:solidFill>
                        <a:srgbClr val="FFCC00"/>
                      </a:solidFill>
                      <a:prstDash val="solid"/>
                      <a:round/>
                      <a:headEnd type="none" w="med" len="med"/>
                      <a:tailEnd type="none" w="med" len="med"/>
                    </a:lnB>
                    <a:lnTlToBr>
                      <a:noFill/>
                    </a:lnTlToBr>
                    <a:lnBlToTr>
                      <a:noFill/>
                    </a:lnBlToTr>
                    <a:solidFill>
                      <a:srgbClr val="FFFF99"/>
                    </a:solidFill>
                  </a:tcPr>
                </a:tc>
              </a:tr>
            </a:tbl>
          </a:graphicData>
        </a:graphic>
      </p:graphicFrame>
      <p:graphicFrame>
        <p:nvGraphicFramePr>
          <p:cNvPr id="6" name="Group 35"/>
          <p:cNvGraphicFramePr>
            <a:graphicFrameLocks noGrp="1"/>
          </p:cNvGraphicFramePr>
          <p:nvPr/>
        </p:nvGraphicFramePr>
        <p:xfrm>
          <a:off x="8117446" y="1861333"/>
          <a:ext cx="2084070" cy="4401820"/>
        </p:xfrm>
        <a:graphic>
          <a:graphicData uri="http://schemas.openxmlformats.org/drawingml/2006/table">
            <a:tbl>
              <a:tblPr/>
              <a:tblGrid>
                <a:gridCol w="2084070"/>
              </a:tblGrid>
              <a:tr h="68262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rgbClr val="000066"/>
                          </a:solidFill>
                          <a:effectLst/>
                          <a:latin typeface="楷体_GB2312" charset="-122"/>
                          <a:ea typeface="楷体_GB2312" charset="-122"/>
                        </a:rPr>
                        <a:t>操作系统</a:t>
                      </a:r>
                      <a:endParaRPr kumimoji="0" lang="zh-CN" sz="2400" b="1" i="0" u="none" strike="noStrike" cap="none" normalizeH="0" baseline="0" dirty="0">
                        <a:ln>
                          <a:noFill/>
                        </a:ln>
                        <a:solidFill>
                          <a:srgbClr val="000066"/>
                        </a:solidFill>
                        <a:effectLst/>
                        <a:latin typeface="楷体_GB2312" charset="-122"/>
                        <a:ea typeface="楷体_GB231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1FFEC"/>
                    </a:solidFill>
                  </a:tcPr>
                </a:tc>
              </a:tr>
              <a:tr h="742950">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chemeClr val="bg1"/>
                          </a:solidFill>
                          <a:effectLst/>
                          <a:latin typeface="楷体_GB2312" charset="-122"/>
                          <a:ea typeface="楷体_GB2312" charset="-122"/>
                        </a:rPr>
                        <a:t>作业</a:t>
                      </a:r>
                      <a:r>
                        <a:rPr kumimoji="0" lang="en-US" altLang="zh-CN" sz="2400" b="1" i="0" u="none" strike="noStrike" cap="none" normalizeH="0" baseline="0" dirty="0">
                          <a:ln>
                            <a:noFill/>
                          </a:ln>
                          <a:solidFill>
                            <a:schemeClr val="bg1"/>
                          </a:solidFill>
                          <a:effectLst/>
                          <a:latin typeface="楷体_GB2312" charset="-122"/>
                          <a:ea typeface="楷体_GB2312" charset="-122"/>
                        </a:rPr>
                        <a:t>A</a:t>
                      </a:r>
                      <a:endParaRPr kumimoji="0" lang="en-US" altLang="zh-CN" sz="2400" b="1" i="0" u="none" strike="noStrike" cap="none" normalizeH="0" baseline="0" dirty="0">
                        <a:ln>
                          <a:noFill/>
                        </a:ln>
                        <a:solidFill>
                          <a:schemeClr val="bg1"/>
                        </a:solidFill>
                        <a:effectLst/>
                        <a:latin typeface="楷体_GB2312" charset="-122"/>
                        <a:ea typeface="楷体_GB231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r>
              <a:tr h="74485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rgbClr val="000066"/>
                          </a:solidFill>
                          <a:effectLst/>
                          <a:latin typeface="楷体_GB2312" charset="-122"/>
                          <a:ea typeface="楷体_GB2312" charset="-122"/>
                        </a:rPr>
                        <a:t>作业</a:t>
                      </a:r>
                      <a:r>
                        <a:rPr kumimoji="0" lang="en-US" altLang="zh-CN" sz="2400" b="1" i="0" u="none" strike="noStrike" cap="none" normalizeH="0" baseline="0" dirty="0">
                          <a:ln>
                            <a:noFill/>
                          </a:ln>
                          <a:solidFill>
                            <a:srgbClr val="000066"/>
                          </a:solidFill>
                          <a:effectLst/>
                          <a:latin typeface="楷体_GB2312" charset="-122"/>
                          <a:ea typeface="楷体_GB2312" charset="-122"/>
                        </a:rPr>
                        <a:t>B</a:t>
                      </a:r>
                      <a:endParaRPr kumimoji="0" lang="en-US" altLang="zh-CN" sz="2400" b="1" i="0" u="none" strike="noStrike" cap="none" normalizeH="0" baseline="0" dirty="0">
                        <a:ln>
                          <a:noFill/>
                        </a:ln>
                        <a:solidFill>
                          <a:srgbClr val="000066"/>
                        </a:solidFill>
                        <a:effectLst/>
                        <a:latin typeface="楷体_GB2312" charset="-122"/>
                        <a:ea typeface="楷体_GB231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CC00"/>
                    </a:solidFill>
                  </a:tcPr>
                </a:tc>
              </a:tr>
              <a:tr h="148653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a:ln>
                            <a:noFill/>
                          </a:ln>
                          <a:solidFill>
                            <a:srgbClr val="000066"/>
                          </a:solidFill>
                          <a:effectLst/>
                          <a:latin typeface="楷体_GB2312" charset="-122"/>
                          <a:ea typeface="楷体_GB2312" charset="-122"/>
                        </a:rPr>
                        <a:t>作业</a:t>
                      </a:r>
                      <a:r>
                        <a:rPr kumimoji="0" lang="en-US" altLang="zh-CN" sz="2400" b="1" i="0" u="none" strike="noStrike" cap="none" normalizeH="0" baseline="0">
                          <a:ln>
                            <a:noFill/>
                          </a:ln>
                          <a:solidFill>
                            <a:srgbClr val="000066"/>
                          </a:solidFill>
                          <a:effectLst/>
                          <a:latin typeface="楷体_GB2312" charset="-122"/>
                          <a:ea typeface="楷体_GB2312" charset="-122"/>
                        </a:rPr>
                        <a:t>C</a:t>
                      </a:r>
                      <a:endParaRPr kumimoji="0" lang="en-US" altLang="zh-CN" sz="2400" b="1" i="0" u="none" strike="noStrike" cap="none" normalizeH="0" baseline="0">
                        <a:ln>
                          <a:noFill/>
                        </a:ln>
                        <a:solidFill>
                          <a:srgbClr val="000066"/>
                        </a:solidFill>
                        <a:effectLst/>
                        <a:latin typeface="楷体_GB2312" charset="-122"/>
                        <a:ea typeface="楷体_GB231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99FF"/>
                    </a:solidFill>
                  </a:tcPr>
                </a:tc>
              </a:tr>
              <a:tr h="744855">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0" i="0" u="none" strike="noStrike" cap="none" normalizeH="0" baseline="0">
                        <a:ln>
                          <a:noFill/>
                        </a:ln>
                        <a:solidFill>
                          <a:srgbClr val="000066"/>
                        </a:solidFill>
                        <a:effectLst/>
                        <a:latin typeface="楷体_GB2312" charset="-122"/>
                        <a:ea typeface="楷体_GB2312" charset="-122"/>
                      </a:endParaRPr>
                    </a:p>
                  </a:txBody>
                  <a:tcPr anchor="ct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7" name="Text Box 49"/>
          <p:cNvSpPr txBox="1">
            <a:spLocks noChangeArrowheads="1"/>
          </p:cNvSpPr>
          <p:nvPr/>
        </p:nvSpPr>
        <p:spPr bwMode="auto">
          <a:xfrm>
            <a:off x="7412237" y="2456604"/>
            <a:ext cx="742950" cy="398780"/>
          </a:xfrm>
          <a:prstGeom prst="rect">
            <a:avLst/>
          </a:prstGeom>
          <a:noFill/>
          <a:ln w="9525">
            <a:noFill/>
            <a:miter lim="800000"/>
          </a:ln>
          <a:effectLst/>
        </p:spPr>
        <p:txBody>
          <a:bodyPr wrap="none">
            <a:spAutoFit/>
          </a:bodyPr>
          <a:lstStyle/>
          <a:p>
            <a:pPr>
              <a:spcBef>
                <a:spcPct val="0"/>
              </a:spcBef>
              <a:buFontTx/>
              <a:buNone/>
            </a:pPr>
            <a:r>
              <a:rPr lang="en-US" altLang="zh-CN" sz="2000" dirty="0">
                <a:solidFill>
                  <a:schemeClr val="tx1"/>
                </a:solidFill>
                <a:latin typeface="Vani" pitchFamily="34" charset="0"/>
                <a:ea typeface="宋体" pitchFamily="2" charset="-122"/>
                <a:cs typeface="Vani" pitchFamily="34" charset="0"/>
              </a:rPr>
              <a:t>20K</a:t>
            </a:r>
            <a:endParaRPr lang="en-US" altLang="zh-CN" sz="2000" dirty="0">
              <a:solidFill>
                <a:schemeClr val="tx1"/>
              </a:solidFill>
              <a:latin typeface="Vani" pitchFamily="34" charset="0"/>
              <a:ea typeface="宋体" pitchFamily="2" charset="-122"/>
              <a:cs typeface="Vani" pitchFamily="34" charset="0"/>
            </a:endParaRPr>
          </a:p>
        </p:txBody>
      </p:sp>
      <p:sp>
        <p:nvSpPr>
          <p:cNvPr id="8" name="Text Box 50"/>
          <p:cNvSpPr txBox="1">
            <a:spLocks noChangeArrowheads="1"/>
          </p:cNvSpPr>
          <p:nvPr/>
        </p:nvSpPr>
        <p:spPr bwMode="auto">
          <a:xfrm>
            <a:off x="7428266" y="3201142"/>
            <a:ext cx="742950" cy="398780"/>
          </a:xfrm>
          <a:prstGeom prst="rect">
            <a:avLst/>
          </a:prstGeom>
          <a:noFill/>
          <a:ln w="9525">
            <a:noFill/>
            <a:miter lim="800000"/>
          </a:ln>
          <a:effectLst/>
        </p:spPr>
        <p:txBody>
          <a:bodyPr wrap="none">
            <a:spAutoFit/>
          </a:bodyPr>
          <a:lstStyle/>
          <a:p>
            <a:pPr>
              <a:spcBef>
                <a:spcPct val="0"/>
              </a:spcBef>
              <a:buFontTx/>
              <a:buNone/>
            </a:pPr>
            <a:r>
              <a:rPr lang="en-US" altLang="zh-CN" sz="2000">
                <a:solidFill>
                  <a:schemeClr val="tx1"/>
                </a:solidFill>
                <a:latin typeface="Vani" pitchFamily="34" charset="0"/>
                <a:ea typeface="宋体" pitchFamily="2" charset="-122"/>
                <a:cs typeface="Vani" pitchFamily="34" charset="0"/>
              </a:rPr>
              <a:t>32K</a:t>
            </a:r>
            <a:endParaRPr lang="en-US" altLang="zh-CN" sz="2000">
              <a:solidFill>
                <a:schemeClr val="tx1"/>
              </a:solidFill>
              <a:latin typeface="Vani" pitchFamily="34" charset="0"/>
              <a:ea typeface="宋体" pitchFamily="2" charset="-122"/>
              <a:cs typeface="Vani" pitchFamily="34" charset="0"/>
            </a:endParaRPr>
          </a:p>
        </p:txBody>
      </p:sp>
      <p:sp>
        <p:nvSpPr>
          <p:cNvPr id="9" name="Text Box 51"/>
          <p:cNvSpPr txBox="1">
            <a:spLocks noChangeArrowheads="1"/>
          </p:cNvSpPr>
          <p:nvPr/>
        </p:nvSpPr>
        <p:spPr bwMode="auto">
          <a:xfrm>
            <a:off x="7421854" y="3921867"/>
            <a:ext cx="742950" cy="398780"/>
          </a:xfrm>
          <a:prstGeom prst="rect">
            <a:avLst/>
          </a:prstGeom>
          <a:noFill/>
          <a:ln w="9525">
            <a:noFill/>
            <a:miter lim="800000"/>
          </a:ln>
          <a:effectLst/>
        </p:spPr>
        <p:txBody>
          <a:bodyPr wrap="none">
            <a:spAutoFit/>
          </a:bodyPr>
          <a:lstStyle/>
          <a:p>
            <a:pPr>
              <a:spcBef>
                <a:spcPct val="0"/>
              </a:spcBef>
              <a:buFontTx/>
              <a:buNone/>
            </a:pPr>
            <a:r>
              <a:rPr lang="en-US" altLang="zh-CN" sz="2000">
                <a:solidFill>
                  <a:schemeClr val="tx1"/>
                </a:solidFill>
                <a:latin typeface="Vani" pitchFamily="34" charset="0"/>
                <a:ea typeface="宋体" pitchFamily="2" charset="-122"/>
                <a:cs typeface="Vani" pitchFamily="34" charset="0"/>
              </a:rPr>
              <a:t>64K</a:t>
            </a:r>
            <a:endParaRPr lang="en-US" altLang="zh-CN" sz="2000">
              <a:solidFill>
                <a:schemeClr val="tx1"/>
              </a:solidFill>
              <a:latin typeface="Vani" pitchFamily="34" charset="0"/>
              <a:ea typeface="宋体" pitchFamily="2" charset="-122"/>
              <a:cs typeface="Vani" pitchFamily="34" charset="0"/>
            </a:endParaRPr>
          </a:p>
        </p:txBody>
      </p:sp>
      <p:sp>
        <p:nvSpPr>
          <p:cNvPr id="10" name="Text Box 52"/>
          <p:cNvSpPr txBox="1">
            <a:spLocks noChangeArrowheads="1"/>
          </p:cNvSpPr>
          <p:nvPr/>
        </p:nvSpPr>
        <p:spPr bwMode="auto">
          <a:xfrm>
            <a:off x="7333425" y="5434754"/>
            <a:ext cx="928370" cy="398780"/>
          </a:xfrm>
          <a:prstGeom prst="rect">
            <a:avLst/>
          </a:prstGeom>
          <a:noFill/>
          <a:ln w="9525">
            <a:noFill/>
            <a:miter lim="800000"/>
          </a:ln>
          <a:effectLst/>
        </p:spPr>
        <p:txBody>
          <a:bodyPr wrap="none">
            <a:spAutoFit/>
          </a:bodyPr>
          <a:lstStyle/>
          <a:p>
            <a:pPr>
              <a:spcBef>
                <a:spcPct val="0"/>
              </a:spcBef>
              <a:buFontTx/>
              <a:buNone/>
            </a:pPr>
            <a:r>
              <a:rPr lang="en-US" altLang="zh-CN" sz="2000">
                <a:solidFill>
                  <a:schemeClr val="tx1"/>
                </a:solidFill>
                <a:latin typeface="Vani" pitchFamily="34" charset="0"/>
                <a:ea typeface="宋体" pitchFamily="2" charset="-122"/>
                <a:cs typeface="Vani" pitchFamily="34" charset="0"/>
              </a:rPr>
              <a:t>128K</a:t>
            </a:r>
            <a:endParaRPr lang="en-US" altLang="zh-CN" sz="2000">
              <a:solidFill>
                <a:schemeClr val="tx1"/>
              </a:solidFill>
              <a:latin typeface="Vani" pitchFamily="34" charset="0"/>
              <a:ea typeface="宋体" pitchFamily="2" charset="-122"/>
              <a:cs typeface="Vani" pitchFamily="34" charset="0"/>
            </a:endParaRPr>
          </a:p>
        </p:txBody>
      </p:sp>
      <p:sp>
        <p:nvSpPr>
          <p:cNvPr id="11" name="Text Box 53"/>
          <p:cNvSpPr txBox="1">
            <a:spLocks noChangeArrowheads="1"/>
          </p:cNvSpPr>
          <p:nvPr/>
        </p:nvSpPr>
        <p:spPr bwMode="auto">
          <a:xfrm>
            <a:off x="7314188" y="6153892"/>
            <a:ext cx="928370" cy="398780"/>
          </a:xfrm>
          <a:prstGeom prst="rect">
            <a:avLst/>
          </a:prstGeom>
          <a:noFill/>
          <a:ln w="9525">
            <a:noFill/>
            <a:miter lim="800000"/>
          </a:ln>
          <a:effectLst/>
        </p:spPr>
        <p:txBody>
          <a:bodyPr wrap="none">
            <a:spAutoFit/>
          </a:bodyPr>
          <a:lstStyle/>
          <a:p>
            <a:pPr>
              <a:spcBef>
                <a:spcPct val="0"/>
              </a:spcBef>
              <a:buFontTx/>
              <a:buNone/>
            </a:pPr>
            <a:r>
              <a:rPr lang="en-US" altLang="zh-CN" sz="2000">
                <a:solidFill>
                  <a:schemeClr val="tx1"/>
                </a:solidFill>
                <a:latin typeface="Vani" pitchFamily="34" charset="0"/>
                <a:ea typeface="宋体" pitchFamily="2" charset="-122"/>
                <a:cs typeface="Vani" pitchFamily="34" charset="0"/>
              </a:rPr>
              <a:t>256K</a:t>
            </a:r>
            <a:endParaRPr lang="en-US" altLang="zh-CN" sz="2000">
              <a:solidFill>
                <a:schemeClr val="tx1"/>
              </a:solidFill>
              <a:latin typeface="Vani" pitchFamily="34" charset="0"/>
              <a:ea typeface="宋体" pitchFamily="2" charset="-122"/>
              <a:cs typeface="Vani" pitchFamily="34" charset="0"/>
            </a:endParaRPr>
          </a:p>
        </p:txBody>
      </p:sp>
      <p:grpSp>
        <p:nvGrpSpPr>
          <p:cNvPr id="12" name="Group 54"/>
          <p:cNvGrpSpPr/>
          <p:nvPr/>
        </p:nvGrpSpPr>
        <p:grpSpPr bwMode="auto">
          <a:xfrm>
            <a:off x="7339583" y="5650654"/>
            <a:ext cx="753110" cy="537922"/>
            <a:chOff x="0" y="0"/>
            <a:chExt cx="1186" cy="846"/>
          </a:xfrm>
        </p:grpSpPr>
        <p:sp>
          <p:nvSpPr>
            <p:cNvPr id="13" name="Text Box 55"/>
            <p:cNvSpPr txBox="1">
              <a:spLocks noChangeArrowheads="1"/>
            </p:cNvSpPr>
            <p:nvPr/>
          </p:nvSpPr>
          <p:spPr bwMode="auto">
            <a:xfrm>
              <a:off x="21" y="219"/>
              <a:ext cx="1165" cy="627"/>
            </a:xfrm>
            <a:prstGeom prst="rect">
              <a:avLst/>
            </a:prstGeom>
            <a:noFill/>
            <a:ln w="9525">
              <a:noFill/>
              <a:miter lim="800000"/>
            </a:ln>
            <a:effectLst/>
          </p:spPr>
          <p:txBody>
            <a:bodyPr>
              <a:spAutoFit/>
            </a:bodyPr>
            <a:lstStyle/>
            <a:p>
              <a:pPr>
                <a:spcBef>
                  <a:spcPct val="0"/>
                </a:spcBef>
                <a:buFontTx/>
                <a:buNone/>
              </a:pPr>
              <a:r>
                <a:rPr lang="en-US" altLang="zh-CN" sz="2000">
                  <a:solidFill>
                    <a:schemeClr val="tx1"/>
                  </a:solidFill>
                  <a:latin typeface="Vani" pitchFamily="34" charset="0"/>
                  <a:ea typeface="宋体" pitchFamily="2" charset="-122"/>
                  <a:cs typeface="Vani" pitchFamily="34" charset="0"/>
                </a:rPr>
                <a:t>~</a:t>
              </a:r>
              <a:endParaRPr lang="en-US" altLang="zh-CN" sz="2000">
                <a:solidFill>
                  <a:schemeClr val="tx1"/>
                </a:solidFill>
                <a:latin typeface="Vani" pitchFamily="34" charset="0"/>
                <a:ea typeface="宋体" pitchFamily="2" charset="-122"/>
                <a:cs typeface="Vani" pitchFamily="34" charset="0"/>
              </a:endParaRPr>
            </a:p>
          </p:txBody>
        </p:sp>
        <p:sp>
          <p:nvSpPr>
            <p:cNvPr id="14" name="Text Box 56"/>
            <p:cNvSpPr txBox="1">
              <a:spLocks noChangeArrowheads="1"/>
            </p:cNvSpPr>
            <p:nvPr/>
          </p:nvSpPr>
          <p:spPr bwMode="auto">
            <a:xfrm>
              <a:off x="0" y="0"/>
              <a:ext cx="1165" cy="627"/>
            </a:xfrm>
            <a:prstGeom prst="rect">
              <a:avLst/>
            </a:prstGeom>
            <a:noFill/>
            <a:ln w="9525">
              <a:noFill/>
              <a:miter lim="800000"/>
            </a:ln>
            <a:effectLst/>
          </p:spPr>
          <p:txBody>
            <a:bodyPr>
              <a:spAutoFit/>
            </a:bodyPr>
            <a:lstStyle/>
            <a:p>
              <a:pPr>
                <a:spcBef>
                  <a:spcPct val="0"/>
                </a:spcBef>
                <a:buFontTx/>
                <a:buNone/>
              </a:pPr>
              <a:r>
                <a:rPr lang="en-US" altLang="zh-CN" sz="2000">
                  <a:solidFill>
                    <a:schemeClr val="tx1"/>
                  </a:solidFill>
                  <a:latin typeface="Vani" pitchFamily="34" charset="0"/>
                  <a:ea typeface="宋体" pitchFamily="2" charset="-122"/>
                  <a:cs typeface="Vani" pitchFamily="34" charset="0"/>
                </a:rPr>
                <a:t>~</a:t>
              </a:r>
              <a:endParaRPr lang="en-US" altLang="zh-CN" sz="2000">
                <a:solidFill>
                  <a:schemeClr val="tx1"/>
                </a:solidFill>
                <a:latin typeface="Vani" pitchFamily="34" charset="0"/>
                <a:ea typeface="宋体" pitchFamily="2" charset="-122"/>
                <a:cs typeface="Vani" pitchFamily="34" charset="0"/>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42925" y="959485"/>
            <a:ext cx="11146155" cy="5753100"/>
          </a:xfrm>
        </p:spPr>
        <p:txBody>
          <a:bodyPr vert="horz" wrap="square" lIns="91440" tIns="45720" rIns="91440" bIns="45720" anchor="t" anchorCtr="0">
            <a:normAutofit/>
          </a:bodyPr>
          <a:lstStyle/>
          <a:p>
            <a:pPr marL="457200" indent="-457200">
              <a:lnSpc>
                <a:spcPct val="20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性能分析</a:t>
            </a:r>
            <a:endPar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20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在作业大小和出现频率均已知的情况下，固定分区是合适的。在这种情况下分区的大小选择与作业大小相当，这样内存的使用效率较高。</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20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但是若作业的大小和出现的频率不知道时，势必造成分区的大小和作业的大小相差甚远，这样就会造成存储空间的浪费，从而影响整个系统的效率。 </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20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 固定分区分配是最简单的多道程序的存储管理方式，用于</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60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年代的</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IBM-360</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的</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MFT</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操作系统，有些控制系统今天仍然使用该方式</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20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 每个分区大小固定，造成浪费，较少使用，</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07645" y="33655"/>
            <a:ext cx="1083310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4.3.2 </a:t>
            </a:r>
            <a:r>
              <a:rPr lang="zh-CN" altLang="en-US" sz="3900" b="1" dirty="0">
                <a:latin typeface="微软雅黑" panose="020B0503020204020204" pitchFamily="34" charset="-122"/>
                <a:ea typeface="微软雅黑" panose="020B0503020204020204" pitchFamily="34" charset="-122"/>
              </a:rPr>
              <a:t>固定分区分配</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678815" y="959485"/>
            <a:ext cx="10200005" cy="5753100"/>
          </a:xfrm>
        </p:spPr>
        <p:txBody>
          <a:bodyPr vert="horz" wrap="square" lIns="91440" tIns="45720" rIns="91440" bIns="45720" anchor="t" anchorCtr="0">
            <a:normAutofit/>
          </a:bodyPr>
          <a:lstStyle/>
          <a:p>
            <a:pPr marL="457200" indent="-457200">
              <a:lnSpc>
                <a:spcPct val="15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内存分配与回收</a:t>
            </a:r>
            <a:endParaRPr lang="en-US" altLang="zh-CN"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多队列最优适配、最小适配、合理适配（种种变化）</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内存回收机制非常简单，只需要进行分区表操作</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内存地址的重定位与保护</a:t>
            </a:r>
            <a:endPar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最简单的策略：在调入内存时直接修改指令</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最严格的办法：密码校验，</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PSW</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的使用</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最普遍的做法：引入硬件基址和界限存储器</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47650" y="0"/>
            <a:ext cx="1078611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4.3.2 </a:t>
            </a:r>
            <a:r>
              <a:rPr lang="zh-CN" altLang="en-US" sz="3900" b="1" dirty="0">
                <a:latin typeface="微软雅黑" panose="020B0503020204020204" pitchFamily="34" charset="-122"/>
                <a:ea typeface="微软雅黑" panose="020B0503020204020204" pitchFamily="34" charset="-122"/>
              </a:rPr>
              <a:t>固定分区分配</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50545" y="959485"/>
            <a:ext cx="10489565" cy="5753100"/>
          </a:xfrm>
        </p:spPr>
        <p:txBody>
          <a:bodyPr vert="horz" wrap="square" lIns="91440" tIns="45720" rIns="91440" bIns="45720" anchor="t" anchorCtr="0">
            <a:normAutofit/>
          </a:bodyPr>
          <a:lstStyle/>
          <a:p>
            <a:pPr marL="457200" indent="-457200">
              <a:lnSpc>
                <a:spcPct val="20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在系统运行的过程中建立分区，并使分区的大小刚好与作业的大小相等；</a:t>
            </a:r>
            <a:endPar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457200" indent="-457200">
              <a:lnSpc>
                <a:spcPct val="200000"/>
              </a:lnSpc>
              <a:buClr>
                <a:srgbClr val="0000FF"/>
              </a:buClr>
              <a:buFont typeface="Wingdings" panose="05000000000000000000" pitchFamily="2" charset="2"/>
              <a:buChar char="n"/>
            </a:pP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可解决固定分区严重浪费内存的问题，是一种较为实用的存储管理方法；</a:t>
            </a:r>
            <a:endPar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457200" lvl="1" indent="-457200">
              <a:lnSpc>
                <a:spcPct val="20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需要解决的问题</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20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 分区分配中所用的数据结构；</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20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 分区分配的算法；</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20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 分区的分配和回收操作。</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55270" y="33655"/>
            <a:ext cx="1078547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4.3.3 </a:t>
            </a:r>
            <a:r>
              <a:rPr lang="zh-CN" altLang="en-US" sz="3900" b="1" dirty="0">
                <a:latin typeface="微软雅黑" panose="020B0503020204020204" pitchFamily="34" charset="-122"/>
                <a:ea typeface="微软雅黑" panose="020B0503020204020204" pitchFamily="34" charset="-122"/>
              </a:rPr>
              <a:t>动态</a:t>
            </a:r>
            <a:r>
              <a:rPr lang="en-US" altLang="zh-CN" sz="3900" b="1" dirty="0">
                <a:latin typeface="微软雅黑" panose="020B0503020204020204" pitchFamily="34" charset="-122"/>
                <a:ea typeface="微软雅黑" panose="020B0503020204020204" pitchFamily="34" charset="-122"/>
              </a:rPr>
              <a:t>/</a:t>
            </a:r>
            <a:r>
              <a:rPr lang="zh-CN" altLang="en-US" sz="3900" b="1" dirty="0">
                <a:latin typeface="微软雅黑" panose="020B0503020204020204" pitchFamily="34" charset="-122"/>
                <a:ea typeface="微软雅黑" panose="020B0503020204020204" pitchFamily="34" charset="-122"/>
              </a:rPr>
              <a:t>可变分区分配</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16255" y="959485"/>
            <a:ext cx="11191875" cy="5753100"/>
          </a:xfrm>
        </p:spPr>
        <p:txBody>
          <a:bodyPr vert="horz" wrap="square" lIns="91440" tIns="45720" rIns="91440" bIns="45720" anchor="t" anchorCtr="0">
            <a:no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数据结构</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在动态分区存储管理中，要有相应的数据结构来登记空闲区的说明信息，它包括空闲区的大小和位置；</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不同系统根据设计要求采用不同的结构；</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常用的有</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空闲分区表和空闲分区链</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sz="16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空闲分区表</a:t>
            </a:r>
            <a:r>
              <a:rPr lang="zh-CN" altLang="en-US" sz="1600" b="1" dirty="0">
                <a:latin typeface="Times New Roman" panose="02020503050405090304" pitchFamily="18" charset="0"/>
                <a:ea typeface="微软雅黑" panose="020B0503020204020204" pitchFamily="34" charset="-122"/>
                <a:cs typeface="Times New Roman" panose="02020503050405090304" pitchFamily="18" charset="0"/>
              </a:rPr>
              <a:t>：每个空闲分区占一个表目，表目中包括分区序号、分区始址及分区的大小等数据项</a:t>
            </a:r>
            <a:endParaRPr lang="en-US" altLang="zh-CN" sz="1600"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sz="16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空闲分区链：</a:t>
            </a:r>
            <a:r>
              <a:rPr lang="zh-CN" altLang="en-US" sz="1600" b="1" dirty="0">
                <a:latin typeface="Times New Roman" panose="02020503050405090304" pitchFamily="18" charset="0"/>
                <a:ea typeface="微软雅黑" panose="020B0503020204020204" pitchFamily="34" charset="-122"/>
                <a:cs typeface="Times New Roman" panose="02020503050405090304" pitchFamily="18" charset="0"/>
              </a:rPr>
              <a:t>实现对空闲分区的分配和链接，在每个分区的起始部分，设置一些用于控制分区分配的信息，以及用于链接各分区所用的前向指针；在分区尾部则设置一后向指针，通过前、后向链接指针，可将所有的空闲分区链接成一个双向链</a:t>
            </a:r>
            <a:endParaRPr lang="zh-CN" altLang="en-US" sz="16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系统还要设置</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等待分区队列</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，当系统中无空闲区或无满足要求的空闲区时，则把申请者送入等待队列中，等待别的进程释放内存之后再唤醒队列中的进程。</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20650" y="33655"/>
            <a:ext cx="1092009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4.3.3 </a:t>
            </a:r>
            <a:r>
              <a:rPr lang="zh-CN" altLang="en-US" sz="3900" b="1" dirty="0">
                <a:latin typeface="微软雅黑" panose="020B0503020204020204" pitchFamily="34" charset="-122"/>
                <a:ea typeface="微软雅黑" panose="020B0503020204020204" pitchFamily="34" charset="-122"/>
              </a:rPr>
              <a:t>动态</a:t>
            </a:r>
            <a:r>
              <a:rPr lang="en-US" altLang="zh-CN" sz="3900" b="1" dirty="0">
                <a:latin typeface="微软雅黑" panose="020B0503020204020204" pitchFamily="34" charset="-122"/>
                <a:ea typeface="微软雅黑" panose="020B0503020204020204" pitchFamily="34" charset="-122"/>
              </a:rPr>
              <a:t>/</a:t>
            </a:r>
            <a:r>
              <a:rPr lang="zh-CN" altLang="en-US" sz="3900" b="1" dirty="0">
                <a:latin typeface="微软雅黑" panose="020B0503020204020204" pitchFamily="34" charset="-122"/>
                <a:ea typeface="微软雅黑" panose="020B0503020204020204" pitchFamily="34" charset="-122"/>
              </a:rPr>
              <a:t>可变分区分配</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srcRect b="13787"/>
          <a:stretch>
            <a:fillRect/>
          </a:stretch>
        </p:blipFill>
        <p:spPr>
          <a:xfrm>
            <a:off x="6613208" y="2367279"/>
            <a:ext cx="3943350" cy="3333962"/>
          </a:xfrm>
          <a:prstGeom prst="rect">
            <a:avLst/>
          </a:prstGeom>
        </p:spPr>
      </p:pic>
      <p:sp>
        <p:nvSpPr>
          <p:cNvPr id="6148" name="Rectangle 3"/>
          <p:cNvSpPr>
            <a:spLocks noGrp="1"/>
          </p:cNvSpPr>
          <p:nvPr>
            <p:ph idx="1"/>
          </p:nvPr>
        </p:nvSpPr>
        <p:spPr>
          <a:xfrm>
            <a:off x="429895" y="959485"/>
            <a:ext cx="9987280" cy="5753100"/>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数据结构</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常用的有</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空闲分区表和空闲分区链</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46990" y="33655"/>
            <a:ext cx="1099375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4.3.3 </a:t>
            </a:r>
            <a:r>
              <a:rPr lang="zh-CN" altLang="en-US" sz="3900" b="1" dirty="0">
                <a:latin typeface="微软雅黑" panose="020B0503020204020204" pitchFamily="34" charset="-122"/>
                <a:ea typeface="微软雅黑" panose="020B0503020204020204" pitchFamily="34" charset="-122"/>
              </a:rPr>
              <a:t>动态</a:t>
            </a:r>
            <a:r>
              <a:rPr lang="en-US" altLang="zh-CN" sz="3900" b="1" dirty="0">
                <a:latin typeface="微软雅黑" panose="020B0503020204020204" pitchFamily="34" charset="-122"/>
                <a:ea typeface="微软雅黑" panose="020B0503020204020204" pitchFamily="34" charset="-122"/>
              </a:rPr>
              <a:t>/</a:t>
            </a:r>
            <a:r>
              <a:rPr lang="zh-CN" altLang="en-US" sz="3900" b="1" dirty="0">
                <a:latin typeface="微软雅黑" panose="020B0503020204020204" pitchFamily="34" charset="-122"/>
                <a:ea typeface="微软雅黑" panose="020B0503020204020204" pitchFamily="34" charset="-122"/>
              </a:rPr>
              <a:t>可变分区分配</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4" name="对象 3"/>
          <p:cNvGraphicFramePr>
            <a:graphicFrameLocks noChangeAspect="1"/>
          </p:cNvGraphicFramePr>
          <p:nvPr/>
        </p:nvGraphicFramePr>
        <p:xfrm>
          <a:off x="1681376" y="2367279"/>
          <a:ext cx="5071002" cy="4345093"/>
        </p:xfrm>
        <a:graphic>
          <a:graphicData uri="http://schemas.openxmlformats.org/presentationml/2006/ole">
            <mc:AlternateContent xmlns:mc="http://schemas.openxmlformats.org/markup-compatibility/2006">
              <mc:Choice xmlns:v="urn:schemas-microsoft-com:vml" Requires="v">
                <p:oleObj spid="_x0000_s14347" name="Visio" r:id="rId2" imgW="3154045" imgH="2704465" progId="Visio.Drawing.11">
                  <p:embed/>
                </p:oleObj>
              </mc:Choice>
              <mc:Fallback>
                <p:oleObj name="Visio" r:id="rId2" imgW="3154045" imgH="2704465" progId="Visio.Drawing.11">
                  <p:embed/>
                  <p:pic>
                    <p:nvPicPr>
                      <p:cNvPr id="0" name="对象 8"/>
                      <p:cNvPicPr>
                        <a:picLocks noChangeAspect="1" noChangeArrowheads="1"/>
                      </p:cNvPicPr>
                      <p:nvPr/>
                    </p:nvPicPr>
                    <p:blipFill>
                      <a:blip r:embed="rId3"/>
                      <a:srcRect/>
                      <a:stretch>
                        <a:fillRect/>
                      </a:stretch>
                    </p:blipFill>
                    <p:spPr bwMode="auto">
                      <a:xfrm>
                        <a:off x="1681376" y="2367279"/>
                        <a:ext cx="5071002" cy="4345093"/>
                      </a:xfrm>
                      <a:prstGeom prst="rect">
                        <a:avLst/>
                      </a:prstGeom>
                      <a:noFill/>
                    </p:spPr>
                  </p:pic>
                </p:oleObj>
              </mc:Fallback>
            </mc:AlternateContent>
          </a:graphicData>
        </a:graphic>
      </p:graphicFrame>
      <p:cxnSp>
        <p:nvCxnSpPr>
          <p:cNvPr id="7" name="直接箭头连接符 6"/>
          <p:cNvCxnSpPr>
            <a:stCxn id="14" idx="0"/>
          </p:cNvCxnSpPr>
          <p:nvPr/>
        </p:nvCxnSpPr>
        <p:spPr>
          <a:xfrm flipH="1" flipV="1">
            <a:off x="7565180" y="5499948"/>
            <a:ext cx="1019068" cy="5554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stCxn id="14" idx="0"/>
          </p:cNvCxnSpPr>
          <p:nvPr/>
        </p:nvCxnSpPr>
        <p:spPr>
          <a:xfrm flipV="1">
            <a:off x="8584248" y="5499948"/>
            <a:ext cx="1107757" cy="55541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8031004" y="6055360"/>
            <a:ext cx="1107757" cy="368300"/>
          </a:xfrm>
          <a:prstGeom prst="rect">
            <a:avLst/>
          </a:prstGeom>
          <a:noFill/>
        </p:spPr>
        <p:txBody>
          <a:bodyPr wrap="square">
            <a:spAutoFit/>
          </a:bodyPr>
          <a:lstStyle/>
          <a:p>
            <a:pPr algn="ctr"/>
            <a:r>
              <a:rPr lang="zh-CN" altLang="en-US" sz="1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状态位</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683895" y="959485"/>
            <a:ext cx="1065657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分配算法</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在采用分区存储管理的系统中，系统初启后，除操作系统占用一个分区外，其余存储区为一个大的空闲区；</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分区的分配是指系统根据用户的请求，在空闲区表或空闲区队列中寻找一个满足用户要求的空闲区，把这个空闲区分配给用户；</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以空闲区表为例，当用户要求一个大小为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SIZE</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的存储空间时，系统查询</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空闲区表</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，找一个大于或等于</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SIZE</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的空闲区。</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空闲区表或队列的排序</a:t>
            </a:r>
            <a:endPar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按空闲区首址递增的次序</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按空闲区大小的递增或递减次序</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33985" y="33655"/>
            <a:ext cx="1090676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4.3.3 </a:t>
            </a:r>
            <a:r>
              <a:rPr lang="zh-CN" altLang="en-US" sz="3900" b="1" dirty="0">
                <a:latin typeface="微软雅黑" panose="020B0503020204020204" pitchFamily="34" charset="-122"/>
                <a:ea typeface="微软雅黑" panose="020B0503020204020204" pitchFamily="34" charset="-122"/>
              </a:rPr>
              <a:t>动态</a:t>
            </a:r>
            <a:r>
              <a:rPr lang="en-US" altLang="zh-CN" sz="3900" b="1" dirty="0">
                <a:latin typeface="微软雅黑" panose="020B0503020204020204" pitchFamily="34" charset="-122"/>
                <a:ea typeface="微软雅黑" panose="020B0503020204020204" pitchFamily="34" charset="-122"/>
              </a:rPr>
              <a:t>/</a:t>
            </a:r>
            <a:r>
              <a:rPr lang="zh-CN" altLang="en-US" sz="3900" b="1" dirty="0">
                <a:latin typeface="微软雅黑" panose="020B0503020204020204" pitchFamily="34" charset="-122"/>
                <a:ea typeface="微软雅黑" panose="020B0503020204020204" pitchFamily="34" charset="-122"/>
              </a:rPr>
              <a:t>可变分区分配</a:t>
            </a:r>
            <a:r>
              <a:rPr lang="en-US" altLang="zh-CN" sz="3200" b="1" dirty="0">
                <a:solidFill>
                  <a:srgbClr val="0000FF"/>
                </a:solidFill>
                <a:latin typeface="微软雅黑" panose="020B0503020204020204" pitchFamily="34" charset="-122"/>
                <a:ea typeface="微软雅黑" panose="020B0503020204020204" pitchFamily="34" charset="-122"/>
              </a:rPr>
              <a:t>——</a:t>
            </a:r>
            <a:r>
              <a:rPr lang="zh-CN" altLang="en-US" sz="3200" b="1" dirty="0">
                <a:solidFill>
                  <a:srgbClr val="0000FF"/>
                </a:solidFill>
                <a:latin typeface="微软雅黑" panose="020B0503020204020204" pitchFamily="34" charset="-122"/>
                <a:ea typeface="微软雅黑" panose="020B0503020204020204" pitchFamily="34" charset="-122"/>
              </a:rPr>
              <a:t>分配算法</a:t>
            </a:r>
            <a:endParaRPr lang="zh-CN" altLang="en-US" sz="390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650240" y="959485"/>
            <a:ext cx="10673715"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分区分配的三种情况</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系统中无满足要求的空闲区，则分配失败</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空闲区大小与</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SIZE</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相等，修改空闲区表相应表目，向用户返回该空闲区首址，表示此空闲区已分给了要求的用户；</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空闲区大于</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SIZE</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，这时将空闲区一分为二。</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分割策略</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策略一</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：从空闲区的</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上部开始</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划出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SIZE</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大小的空闲区给用户；</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策略二</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：从空闲区的</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底部开始</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向上划出</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SIZE</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大小的空闲区给用户。</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一般常采用第二种办法，因为这样划分时，余下的部分在空闲区表中的</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首地址不变</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，只需要</a:t>
            </a:r>
            <a:r>
              <a:rPr lang="zh-CN" altLang="en-US" sz="20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修改大小</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即可。</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80670" y="33655"/>
            <a:ext cx="1076007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4.3.3 </a:t>
            </a:r>
            <a:r>
              <a:rPr lang="zh-CN" altLang="en-US" sz="3900" b="1" dirty="0">
                <a:latin typeface="微软雅黑" panose="020B0503020204020204" pitchFamily="34" charset="-122"/>
                <a:ea typeface="微软雅黑" panose="020B0503020204020204" pitchFamily="34" charset="-122"/>
              </a:rPr>
              <a:t>动态</a:t>
            </a:r>
            <a:r>
              <a:rPr lang="en-US" altLang="zh-CN" sz="3900" b="1" dirty="0">
                <a:latin typeface="微软雅黑" panose="020B0503020204020204" pitchFamily="34" charset="-122"/>
                <a:ea typeface="微软雅黑" panose="020B0503020204020204" pitchFamily="34" charset="-122"/>
              </a:rPr>
              <a:t>/</a:t>
            </a:r>
            <a:r>
              <a:rPr lang="zh-CN" altLang="en-US" sz="3900" b="1" dirty="0">
                <a:latin typeface="微软雅黑" panose="020B0503020204020204" pitchFamily="34" charset="-122"/>
                <a:ea typeface="微软雅黑" panose="020B0503020204020204" pitchFamily="34" charset="-122"/>
              </a:rPr>
              <a:t>可变分区分配</a:t>
            </a:r>
            <a:r>
              <a:rPr lang="en-US" altLang="zh-CN" sz="3200" b="1" dirty="0">
                <a:solidFill>
                  <a:srgbClr val="0000FF"/>
                </a:solidFill>
                <a:latin typeface="微软雅黑" panose="020B0503020204020204" pitchFamily="34" charset="-122"/>
                <a:ea typeface="微软雅黑" panose="020B0503020204020204" pitchFamily="34" charset="-122"/>
              </a:rPr>
              <a:t>——</a:t>
            </a:r>
            <a:r>
              <a:rPr lang="zh-CN" altLang="en-US" sz="3200" b="1" dirty="0">
                <a:solidFill>
                  <a:srgbClr val="0000FF"/>
                </a:solidFill>
                <a:latin typeface="微软雅黑" panose="020B0503020204020204" pitchFamily="34" charset="-122"/>
                <a:ea typeface="微软雅黑" panose="020B0503020204020204" pitchFamily="34" charset="-122"/>
              </a:rPr>
              <a:t>分配算法</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751205" y="959485"/>
            <a:ext cx="10841355" cy="500824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分配内存</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系统利用分配算法，从空闲分区链</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表</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中找到所需大小的分区。</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设请求的分区大小为 </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rPr>
              <a:t>u.size</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，表中每个空闲分区的大小可表示为 </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rPr>
              <a:t>m.size</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。若 </a:t>
            </a:r>
            <a:r>
              <a:rPr lang="en-US" altLang="zh-CN" b="1" dirty="0" err="1">
                <a:latin typeface="Times New Roman" panose="02020503050405090304" pitchFamily="18" charset="0"/>
                <a:ea typeface="微软雅黑" panose="020B0503020204020204" pitchFamily="34" charset="-122"/>
                <a:cs typeface="Times New Roman" panose="02020503050405090304" pitchFamily="18" charset="0"/>
              </a:rPr>
              <a:t>m.size-u.size≤size</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(size </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是事先规定的不再切割的剩余分区的大小</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，说明多余部分太小，可不再切割，将整个分区分配给请求者；</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否则</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即多余部分超过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size)</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，从该分区中按请求的大小划分出一块内存空间分配出去，余下的部分仍留在空闲分区链</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表</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中。</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将分配区的首址返回给调用者</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408305" y="33655"/>
            <a:ext cx="1063244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4.3.3 </a:t>
            </a:r>
            <a:r>
              <a:rPr lang="zh-CN" altLang="en-US" sz="3900" b="1" dirty="0">
                <a:latin typeface="微软雅黑" panose="020B0503020204020204" pitchFamily="34" charset="-122"/>
                <a:ea typeface="微软雅黑" panose="020B0503020204020204" pitchFamily="34" charset="-122"/>
              </a:rPr>
              <a:t>动态</a:t>
            </a:r>
            <a:r>
              <a:rPr lang="en-US" altLang="zh-CN" sz="3900" b="1" dirty="0">
                <a:latin typeface="微软雅黑" panose="020B0503020204020204" pitchFamily="34" charset="-122"/>
                <a:ea typeface="微软雅黑" panose="020B0503020204020204" pitchFamily="34" charset="-122"/>
              </a:rPr>
              <a:t>/</a:t>
            </a:r>
            <a:r>
              <a:rPr lang="zh-CN" altLang="en-US" sz="3900" b="1" dirty="0">
                <a:latin typeface="微软雅黑" panose="020B0503020204020204" pitchFamily="34" charset="-122"/>
                <a:ea typeface="微软雅黑" panose="020B0503020204020204" pitchFamily="34" charset="-122"/>
              </a:rPr>
              <a:t>可变分区分配</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791845" y="959485"/>
            <a:ext cx="9436100" cy="74104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分配内存</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554990" y="33655"/>
            <a:ext cx="1048575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4.3.3 </a:t>
            </a:r>
            <a:r>
              <a:rPr lang="zh-CN" altLang="en-US" sz="3900" b="1" dirty="0">
                <a:latin typeface="微软雅黑" panose="020B0503020204020204" pitchFamily="34" charset="-122"/>
                <a:ea typeface="微软雅黑" panose="020B0503020204020204" pitchFamily="34" charset="-122"/>
              </a:rPr>
              <a:t>动态</a:t>
            </a:r>
            <a:r>
              <a:rPr lang="en-US" altLang="zh-CN" sz="3900" b="1" dirty="0">
                <a:latin typeface="微软雅黑" panose="020B0503020204020204" pitchFamily="34" charset="-122"/>
                <a:ea typeface="微软雅黑" panose="020B0503020204020204" pitchFamily="34" charset="-122"/>
              </a:rPr>
              <a:t>/</a:t>
            </a:r>
            <a:r>
              <a:rPr lang="zh-CN" altLang="en-US" sz="3900" b="1" dirty="0">
                <a:latin typeface="微软雅黑" panose="020B0503020204020204" pitchFamily="34" charset="-122"/>
                <a:ea typeface="微软雅黑" panose="020B0503020204020204" pitchFamily="34" charset="-122"/>
              </a:rPr>
              <a:t>可变分区分配</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4" name="Object 2"/>
          <p:cNvGraphicFramePr>
            <a:graphicFrameLocks noChangeAspect="1"/>
          </p:cNvGraphicFramePr>
          <p:nvPr/>
        </p:nvGraphicFramePr>
        <p:xfrm>
          <a:off x="3945255" y="1473082"/>
          <a:ext cx="5616575" cy="5296919"/>
        </p:xfrm>
        <a:graphic>
          <a:graphicData uri="http://schemas.openxmlformats.org/presentationml/2006/ole">
            <mc:AlternateContent xmlns:mc="http://schemas.openxmlformats.org/markup-compatibility/2006">
              <mc:Choice xmlns:v="urn:schemas-microsoft-com:vml" Requires="v">
                <p:oleObj spid="_x0000_s15371" name="Visio" r:id="rId1" imgW="5727700" imgH="5181600" progId="Visio.Drawing.11">
                  <p:embed/>
                </p:oleObj>
              </mc:Choice>
              <mc:Fallback>
                <p:oleObj name="Visio" r:id="rId1" imgW="5727700" imgH="5181600"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5255" y="1473082"/>
                        <a:ext cx="5616575" cy="5296919"/>
                      </a:xfrm>
                      <a:prstGeom prst="rect">
                        <a:avLst/>
                      </a:prstGeom>
                      <a:noFill/>
                      <a:effectLst/>
                    </p:spPr>
                  </p:pic>
                </p:oleObj>
              </mc:Fallback>
            </mc:AlternateContent>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657225" y="959485"/>
            <a:ext cx="10962005" cy="572579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内存回收</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回收区与插入点的前一个空闲分区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F1</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相邻接</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回收分区与插入点的后一空闲分区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F2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相邻接</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回收区同时与插入点的前、后两个分区邻接</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回收区既不与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F1</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邻接，又不与 </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F2</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邻接</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61950" y="33655"/>
            <a:ext cx="1067879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4.3.3 </a:t>
            </a:r>
            <a:r>
              <a:rPr lang="zh-CN" altLang="en-US" sz="3900" b="1" dirty="0">
                <a:latin typeface="微软雅黑" panose="020B0503020204020204" pitchFamily="34" charset="-122"/>
                <a:ea typeface="微软雅黑" panose="020B0503020204020204" pitchFamily="34" charset="-122"/>
              </a:rPr>
              <a:t>动态</a:t>
            </a:r>
            <a:r>
              <a:rPr lang="en-US" altLang="zh-CN" sz="3900" b="1" dirty="0">
                <a:latin typeface="微软雅黑" panose="020B0503020204020204" pitchFamily="34" charset="-122"/>
                <a:ea typeface="微软雅黑" panose="020B0503020204020204" pitchFamily="34" charset="-122"/>
              </a:rPr>
              <a:t>/</a:t>
            </a:r>
            <a:r>
              <a:rPr lang="zh-CN" altLang="en-US" sz="3900" b="1" dirty="0">
                <a:latin typeface="微软雅黑" panose="020B0503020204020204" pitchFamily="34" charset="-122"/>
                <a:ea typeface="微软雅黑" panose="020B0503020204020204" pitchFamily="34" charset="-122"/>
              </a:rPr>
              <a:t>可变分区分配</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6" name="Group 5"/>
          <p:cNvGraphicFramePr/>
          <p:nvPr/>
        </p:nvGraphicFramePr>
        <p:xfrm>
          <a:off x="2320714" y="4201583"/>
          <a:ext cx="1296670" cy="2286000"/>
        </p:xfrm>
        <a:graphic>
          <a:graphicData uri="http://schemas.openxmlformats.org/drawingml/2006/table">
            <a:tbl>
              <a:tblPr/>
              <a:tblGrid>
                <a:gridCol w="1296670"/>
              </a:tblGrid>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0" i="0" u="none" strike="noStrike" cap="none" normalizeH="0" baseline="0" dirty="0">
                        <a:ln>
                          <a:noFill/>
                        </a:ln>
                        <a:solidFill>
                          <a:schemeClr val="bg1"/>
                        </a:solidFill>
                        <a:effectLst/>
                        <a:latin typeface="楷体_GB2312" charset="-122"/>
                        <a:ea typeface="楷体_GB231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2F5597"/>
                    </a:solidFill>
                  </a:tcPr>
                </a:tc>
              </a:tr>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chemeClr val="bg1"/>
                          </a:solidFill>
                          <a:effectLst/>
                          <a:latin typeface="楷体_GB2312" charset="-122"/>
                          <a:ea typeface="楷体_GB2312" charset="-122"/>
                        </a:rPr>
                        <a:t>F1</a:t>
                      </a:r>
                      <a:endParaRPr kumimoji="0" lang="en-US" altLang="zh-CN" sz="2400" b="1" i="0" u="none" strike="noStrike" cap="none" normalizeH="0" baseline="0" dirty="0">
                        <a:ln>
                          <a:noFill/>
                        </a:ln>
                        <a:solidFill>
                          <a:schemeClr val="bg1"/>
                        </a:solidFill>
                        <a:effectLst/>
                        <a:latin typeface="楷体_GB2312" charset="-122"/>
                        <a:ea typeface="楷体_GB231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2F5597"/>
                    </a:solidFill>
                  </a:tcPr>
                </a:tc>
              </a:tr>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chemeClr val="bg1"/>
                          </a:solidFill>
                          <a:effectLst/>
                          <a:latin typeface="楷体_GB2312" charset="-122"/>
                          <a:ea typeface="楷体_GB2312" charset="-122"/>
                        </a:rPr>
                        <a:t>回收区</a:t>
                      </a:r>
                      <a:endParaRPr kumimoji="0" lang="zh-CN" sz="2400" b="1" i="0" u="none" strike="noStrike" cap="none" normalizeH="0" baseline="0" dirty="0">
                        <a:ln>
                          <a:noFill/>
                        </a:ln>
                        <a:solidFill>
                          <a:schemeClr val="bg1"/>
                        </a:solidFill>
                        <a:effectLst/>
                        <a:latin typeface="楷体_GB2312" charset="-122"/>
                        <a:ea typeface="楷体_GB231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2F5597"/>
                    </a:solidFill>
                  </a:tcPr>
                </a:tc>
              </a:tr>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0" i="0" u="none" strike="noStrike" cap="none" normalizeH="0" baseline="0">
                        <a:ln>
                          <a:noFill/>
                        </a:ln>
                        <a:solidFill>
                          <a:schemeClr val="bg1"/>
                        </a:solidFill>
                        <a:effectLst/>
                        <a:latin typeface="楷体_GB2312" charset="-122"/>
                        <a:ea typeface="楷体_GB231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2F5597"/>
                    </a:solidFill>
                  </a:tcPr>
                </a:tc>
              </a:tr>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0" i="0" u="none" strike="noStrike" cap="none" normalizeH="0" baseline="0" dirty="0">
                        <a:ln>
                          <a:noFill/>
                        </a:ln>
                        <a:solidFill>
                          <a:schemeClr val="bg1"/>
                        </a:solidFill>
                        <a:effectLst/>
                        <a:latin typeface="楷体_GB2312" charset="-122"/>
                        <a:ea typeface="楷体_GB231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2F5597"/>
                    </a:solidFill>
                  </a:tcPr>
                </a:tc>
              </a:tr>
            </a:tbl>
          </a:graphicData>
        </a:graphic>
      </p:graphicFrame>
      <p:graphicFrame>
        <p:nvGraphicFramePr>
          <p:cNvPr id="10" name="Group 35"/>
          <p:cNvGraphicFramePr>
            <a:graphicFrameLocks noGrp="1"/>
          </p:cNvGraphicFramePr>
          <p:nvPr/>
        </p:nvGraphicFramePr>
        <p:xfrm>
          <a:off x="8629014" y="4201583"/>
          <a:ext cx="1298575" cy="2286000"/>
        </p:xfrm>
        <a:graphic>
          <a:graphicData uri="http://schemas.openxmlformats.org/drawingml/2006/table">
            <a:tbl>
              <a:tblPr/>
              <a:tblGrid>
                <a:gridCol w="1298575"/>
              </a:tblGrid>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defRPr/>
                      </a:pPr>
                      <a:r>
                        <a:rPr kumimoji="0" lang="en-US" altLang="zh-CN" sz="2400" b="1" i="0" u="none" strike="noStrike" cap="none" normalizeH="0" baseline="0" dirty="0">
                          <a:ln>
                            <a:noFill/>
                          </a:ln>
                          <a:solidFill>
                            <a:srgbClr val="000066"/>
                          </a:solidFill>
                          <a:effectLst/>
                          <a:latin typeface="楷体_GB2312" charset="-122"/>
                          <a:ea typeface="楷体_GB2312" charset="-122"/>
                        </a:rPr>
                        <a:t>F1</a:t>
                      </a:r>
                      <a:endParaRPr kumimoji="0" lang="en-US" altLang="zh-CN" sz="2400" b="1" i="0" u="none" strike="noStrike" cap="none" normalizeH="0" baseline="0" dirty="0">
                        <a:ln>
                          <a:noFill/>
                        </a:ln>
                        <a:solidFill>
                          <a:srgbClr val="000066"/>
                        </a:solidFill>
                        <a:effectLst/>
                        <a:latin typeface="楷体_GB2312" charset="-122"/>
                        <a:ea typeface="楷体_GB2312" charset="-122"/>
                      </a:endParaRPr>
                    </a:p>
                  </a:txBody>
                  <a:tcPr horzOverflow="overflow">
                    <a:lnL w="28575" cap="flat" cmpd="sng" algn="ctr">
                      <a:solidFill>
                        <a:srgbClr val="004080"/>
                      </a:solidFill>
                      <a:prstDash val="solid"/>
                      <a:round/>
                      <a:headEnd type="none" w="med" len="med"/>
                      <a:tailEnd type="none" w="med" len="med"/>
                    </a:lnL>
                    <a:lnR w="28575" cap="flat" cmpd="sng" algn="ctr">
                      <a:solidFill>
                        <a:srgbClr val="004080"/>
                      </a:solidFill>
                      <a:prstDash val="solid"/>
                      <a:round/>
                      <a:headEnd type="none" w="med" len="med"/>
                      <a:tailEnd type="none" w="med" len="med"/>
                    </a:lnR>
                    <a:lnT w="28575" cap="flat" cmpd="sng" algn="ctr">
                      <a:solidFill>
                        <a:srgbClr val="004080"/>
                      </a:solidFill>
                      <a:prstDash val="solid"/>
                      <a:round/>
                      <a:headEnd type="none" w="med" len="med"/>
                      <a:tailEnd type="none" w="med" len="med"/>
                    </a:lnT>
                    <a:lnB w="28575" cap="flat" cmpd="sng" algn="ctr">
                      <a:solidFill>
                        <a:srgbClr val="004080"/>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2400" b="1" i="0" u="none" strike="noStrike" cap="none" normalizeH="0" baseline="0" dirty="0">
                        <a:ln>
                          <a:noFill/>
                        </a:ln>
                        <a:solidFill>
                          <a:srgbClr val="000066"/>
                        </a:solidFill>
                        <a:effectLst/>
                        <a:latin typeface="楷体_GB2312" charset="-122"/>
                        <a:ea typeface="楷体_GB2312" charset="-122"/>
                      </a:endParaRPr>
                    </a:p>
                  </a:txBody>
                  <a:tcPr horzOverflow="overflow">
                    <a:lnL w="28575" cap="flat" cmpd="sng" algn="ctr">
                      <a:solidFill>
                        <a:srgbClr val="004080"/>
                      </a:solidFill>
                      <a:prstDash val="solid"/>
                      <a:round/>
                      <a:headEnd type="none" w="med" len="med"/>
                      <a:tailEnd type="none" w="med" len="med"/>
                    </a:lnL>
                    <a:lnR w="28575" cap="flat" cmpd="sng" algn="ctr">
                      <a:solidFill>
                        <a:srgbClr val="004080"/>
                      </a:solidFill>
                      <a:prstDash val="solid"/>
                      <a:round/>
                      <a:headEnd type="none" w="med" len="med"/>
                      <a:tailEnd type="none" w="med" len="med"/>
                    </a:lnR>
                    <a:lnT w="28575" cap="flat" cmpd="sng" algn="ctr">
                      <a:solidFill>
                        <a:srgbClr val="004080"/>
                      </a:solidFill>
                      <a:prstDash val="solid"/>
                      <a:round/>
                      <a:headEnd type="none" w="med" len="med"/>
                      <a:tailEnd type="none" w="med" len="med"/>
                    </a:lnT>
                    <a:lnB w="28575" cap="flat" cmpd="sng" algn="ctr">
                      <a:solidFill>
                        <a:srgbClr val="004080"/>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a:ln>
                            <a:noFill/>
                          </a:ln>
                          <a:solidFill>
                            <a:srgbClr val="000066"/>
                          </a:solidFill>
                          <a:effectLst/>
                          <a:latin typeface="楷体_GB2312" charset="-122"/>
                          <a:ea typeface="楷体_GB2312" charset="-122"/>
                        </a:rPr>
                        <a:t>回收区</a:t>
                      </a:r>
                      <a:endParaRPr kumimoji="0" lang="zh-CN" sz="2400" b="1" i="0" u="none" strike="noStrike" cap="none" normalizeH="0" baseline="0">
                        <a:ln>
                          <a:noFill/>
                        </a:ln>
                        <a:solidFill>
                          <a:srgbClr val="000066"/>
                        </a:solidFill>
                        <a:effectLst/>
                        <a:latin typeface="楷体_GB2312" charset="-122"/>
                        <a:ea typeface="楷体_GB2312" charset="-122"/>
                      </a:endParaRPr>
                    </a:p>
                  </a:txBody>
                  <a:tcPr horzOverflow="overflow">
                    <a:lnL w="28575" cap="flat" cmpd="sng" algn="ctr">
                      <a:solidFill>
                        <a:srgbClr val="004080"/>
                      </a:solidFill>
                      <a:prstDash val="solid"/>
                      <a:round/>
                      <a:headEnd type="none" w="med" len="med"/>
                      <a:tailEnd type="none" w="med" len="med"/>
                    </a:lnL>
                    <a:lnR w="28575" cap="flat" cmpd="sng" algn="ctr">
                      <a:solidFill>
                        <a:srgbClr val="004080"/>
                      </a:solidFill>
                      <a:prstDash val="solid"/>
                      <a:round/>
                      <a:headEnd type="none" w="med" len="med"/>
                      <a:tailEnd type="none" w="med" len="med"/>
                    </a:lnR>
                    <a:lnT w="28575" cap="flat" cmpd="sng" algn="ctr">
                      <a:solidFill>
                        <a:srgbClr val="004080"/>
                      </a:solidFill>
                      <a:prstDash val="solid"/>
                      <a:round/>
                      <a:headEnd type="none" w="med" len="med"/>
                      <a:tailEnd type="none" w="med" len="med"/>
                    </a:lnT>
                    <a:lnB w="28575" cap="flat" cmpd="sng" algn="ctr">
                      <a:solidFill>
                        <a:srgbClr val="004080"/>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defRPr/>
                      </a:pPr>
                      <a:endParaRPr kumimoji="0" lang="zh-CN" sz="2400" b="1" i="0" u="none" strike="noStrike" cap="none" normalizeH="0" baseline="0" dirty="0">
                        <a:ln>
                          <a:noFill/>
                        </a:ln>
                        <a:solidFill>
                          <a:srgbClr val="000066"/>
                        </a:solidFill>
                        <a:effectLst/>
                        <a:latin typeface="楷体_GB2312" charset="-122"/>
                        <a:ea typeface="楷体_GB2312" charset="-122"/>
                      </a:endParaRPr>
                    </a:p>
                  </a:txBody>
                  <a:tcPr horzOverflow="overflow">
                    <a:lnL w="28575" cap="flat" cmpd="sng" algn="ctr">
                      <a:solidFill>
                        <a:srgbClr val="004080"/>
                      </a:solidFill>
                      <a:prstDash val="solid"/>
                      <a:round/>
                      <a:headEnd type="none" w="med" len="med"/>
                      <a:tailEnd type="none" w="med" len="med"/>
                    </a:lnL>
                    <a:lnR w="28575" cap="flat" cmpd="sng" algn="ctr">
                      <a:solidFill>
                        <a:srgbClr val="004080"/>
                      </a:solidFill>
                      <a:prstDash val="solid"/>
                      <a:round/>
                      <a:headEnd type="none" w="med" len="med"/>
                      <a:tailEnd type="none" w="med" len="med"/>
                    </a:lnR>
                    <a:lnT w="28575" cap="flat" cmpd="sng" algn="ctr">
                      <a:solidFill>
                        <a:srgbClr val="004080"/>
                      </a:solidFill>
                      <a:prstDash val="solid"/>
                      <a:round/>
                      <a:headEnd type="none" w="med" len="med"/>
                      <a:tailEnd type="none" w="med" len="med"/>
                    </a:lnT>
                    <a:lnB w="28575" cap="flat" cmpd="sng" algn="ctr">
                      <a:solidFill>
                        <a:srgbClr val="004080"/>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defRPr/>
                      </a:pPr>
                      <a:r>
                        <a:rPr kumimoji="0" lang="en-US" altLang="zh-CN" sz="2400" b="1" i="0" u="none" strike="noStrike" cap="none" normalizeH="0" baseline="0" dirty="0">
                          <a:ln>
                            <a:noFill/>
                          </a:ln>
                          <a:solidFill>
                            <a:srgbClr val="000066"/>
                          </a:solidFill>
                          <a:effectLst/>
                          <a:latin typeface="楷体_GB2312" charset="-122"/>
                          <a:ea typeface="楷体_GB2312" charset="-122"/>
                        </a:rPr>
                        <a:t>F2</a:t>
                      </a:r>
                      <a:endParaRPr kumimoji="0" lang="zh-CN" altLang="zh-CN" sz="2400" b="1" i="0" u="none" strike="noStrike" cap="none" normalizeH="0" baseline="0" dirty="0">
                        <a:ln>
                          <a:noFill/>
                        </a:ln>
                        <a:solidFill>
                          <a:srgbClr val="000066"/>
                        </a:solidFill>
                        <a:effectLst/>
                        <a:latin typeface="楷体_GB2312" charset="-122"/>
                        <a:ea typeface="楷体_GB2312" charset="-122"/>
                      </a:endParaRPr>
                    </a:p>
                  </a:txBody>
                  <a:tcPr horzOverflow="overflow">
                    <a:lnL w="28575" cap="flat" cmpd="sng" algn="ctr">
                      <a:solidFill>
                        <a:srgbClr val="004080"/>
                      </a:solidFill>
                      <a:prstDash val="solid"/>
                      <a:round/>
                      <a:headEnd type="none" w="med" len="med"/>
                      <a:tailEnd type="none" w="med" len="med"/>
                    </a:lnL>
                    <a:lnR w="28575" cap="flat" cmpd="sng" algn="ctr">
                      <a:solidFill>
                        <a:srgbClr val="004080"/>
                      </a:solidFill>
                      <a:prstDash val="solid"/>
                      <a:round/>
                      <a:headEnd type="none" w="med" len="med"/>
                      <a:tailEnd type="none" w="med" len="med"/>
                    </a:lnR>
                    <a:lnT w="28575" cap="flat" cmpd="sng" algn="ctr">
                      <a:solidFill>
                        <a:srgbClr val="004080"/>
                      </a:solidFill>
                      <a:prstDash val="solid"/>
                      <a:round/>
                      <a:headEnd type="none" w="med" len="med"/>
                      <a:tailEnd type="none" w="med" len="med"/>
                    </a:lnT>
                    <a:lnB w="28575" cap="flat" cmpd="sng" algn="ctr">
                      <a:solidFill>
                        <a:srgbClr val="004080"/>
                      </a:solidFill>
                      <a:prstDash val="solid"/>
                      <a:round/>
                      <a:headEnd type="none" w="med" len="med"/>
                      <a:tailEnd type="none" w="med" len="med"/>
                    </a:lnB>
                    <a:lnTlToBr>
                      <a:noFill/>
                    </a:lnTlToBr>
                    <a:lnBlToTr>
                      <a:noFill/>
                    </a:lnBlToTr>
                    <a:noFill/>
                  </a:tcPr>
                </a:tc>
              </a:tr>
            </a:tbl>
          </a:graphicData>
        </a:graphic>
      </p:graphicFrame>
      <p:graphicFrame>
        <p:nvGraphicFramePr>
          <p:cNvPr id="13" name="Group 35"/>
          <p:cNvGraphicFramePr>
            <a:graphicFrameLocks noGrp="1"/>
          </p:cNvGraphicFramePr>
          <p:nvPr/>
        </p:nvGraphicFramePr>
        <p:xfrm>
          <a:off x="4422951" y="4201583"/>
          <a:ext cx="1298575" cy="2286000"/>
        </p:xfrm>
        <a:graphic>
          <a:graphicData uri="http://schemas.openxmlformats.org/drawingml/2006/table">
            <a:tbl>
              <a:tblPr/>
              <a:tblGrid>
                <a:gridCol w="1298575"/>
              </a:tblGrid>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rgbClr val="000066"/>
                        </a:solidFill>
                        <a:effectLst/>
                        <a:latin typeface="楷体_GB2312" charset="-122"/>
                        <a:ea typeface="楷体_GB2312" charset="-122"/>
                      </a:endParaRPr>
                    </a:p>
                  </a:txBody>
                  <a:tcPr horzOverflow="overflow">
                    <a:lnL w="28575" cap="flat" cmpd="sng" algn="ctr">
                      <a:solidFill>
                        <a:srgbClr val="004080"/>
                      </a:solidFill>
                      <a:prstDash val="solid"/>
                      <a:round/>
                      <a:headEnd type="none" w="med" len="med"/>
                      <a:tailEnd type="none" w="med" len="med"/>
                    </a:lnL>
                    <a:lnR w="28575" cap="flat" cmpd="sng" algn="ctr">
                      <a:solidFill>
                        <a:srgbClr val="004080"/>
                      </a:solidFill>
                      <a:prstDash val="solid"/>
                      <a:round/>
                      <a:headEnd type="none" w="med" len="med"/>
                      <a:tailEnd type="none" w="med" len="med"/>
                    </a:lnR>
                    <a:lnT w="28575" cap="flat" cmpd="sng" algn="ctr">
                      <a:solidFill>
                        <a:srgbClr val="004080"/>
                      </a:solidFill>
                      <a:prstDash val="solid"/>
                      <a:round/>
                      <a:headEnd type="none" w="med" len="med"/>
                      <a:tailEnd type="none" w="med" len="med"/>
                    </a:lnT>
                    <a:lnB w="28575" cap="flat" cmpd="sng" algn="ctr">
                      <a:solidFill>
                        <a:srgbClr val="004080"/>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en-US" altLang="zh-CN" sz="2400" b="1" i="0" u="none" strike="noStrike" cap="none" normalizeH="0" baseline="0" dirty="0">
                        <a:ln>
                          <a:noFill/>
                        </a:ln>
                        <a:solidFill>
                          <a:srgbClr val="000066"/>
                        </a:solidFill>
                        <a:effectLst/>
                        <a:latin typeface="楷体_GB2312" charset="-122"/>
                        <a:ea typeface="楷体_GB2312" charset="-122"/>
                      </a:endParaRPr>
                    </a:p>
                  </a:txBody>
                  <a:tcPr horzOverflow="overflow">
                    <a:lnL w="28575" cap="flat" cmpd="sng" algn="ctr">
                      <a:solidFill>
                        <a:srgbClr val="004080"/>
                      </a:solidFill>
                      <a:prstDash val="solid"/>
                      <a:round/>
                      <a:headEnd type="none" w="med" len="med"/>
                      <a:tailEnd type="none" w="med" len="med"/>
                    </a:lnL>
                    <a:lnR w="28575" cap="flat" cmpd="sng" algn="ctr">
                      <a:solidFill>
                        <a:srgbClr val="004080"/>
                      </a:solidFill>
                      <a:prstDash val="solid"/>
                      <a:round/>
                      <a:headEnd type="none" w="med" len="med"/>
                      <a:tailEnd type="none" w="med" len="med"/>
                    </a:lnR>
                    <a:lnT w="28575" cap="flat" cmpd="sng" algn="ctr">
                      <a:solidFill>
                        <a:srgbClr val="004080"/>
                      </a:solidFill>
                      <a:prstDash val="solid"/>
                      <a:round/>
                      <a:headEnd type="none" w="med" len="med"/>
                      <a:tailEnd type="none" w="med" len="med"/>
                    </a:lnT>
                    <a:lnB w="28575" cap="flat" cmpd="sng" algn="ctr">
                      <a:solidFill>
                        <a:srgbClr val="004080"/>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a:ln>
                            <a:noFill/>
                          </a:ln>
                          <a:solidFill>
                            <a:srgbClr val="000066"/>
                          </a:solidFill>
                          <a:effectLst/>
                          <a:latin typeface="楷体_GB2312" charset="-122"/>
                          <a:ea typeface="楷体_GB2312" charset="-122"/>
                        </a:rPr>
                        <a:t>回收区</a:t>
                      </a:r>
                      <a:endParaRPr kumimoji="0" lang="zh-CN" sz="2400" b="1" i="0" u="none" strike="noStrike" cap="none" normalizeH="0" baseline="0">
                        <a:ln>
                          <a:noFill/>
                        </a:ln>
                        <a:solidFill>
                          <a:srgbClr val="000066"/>
                        </a:solidFill>
                        <a:effectLst/>
                        <a:latin typeface="楷体_GB2312" charset="-122"/>
                        <a:ea typeface="楷体_GB2312" charset="-122"/>
                      </a:endParaRPr>
                    </a:p>
                  </a:txBody>
                  <a:tcPr horzOverflow="overflow">
                    <a:lnL w="28575" cap="flat" cmpd="sng" algn="ctr">
                      <a:solidFill>
                        <a:srgbClr val="004080"/>
                      </a:solidFill>
                      <a:prstDash val="solid"/>
                      <a:round/>
                      <a:headEnd type="none" w="med" len="med"/>
                      <a:tailEnd type="none" w="med" len="med"/>
                    </a:lnL>
                    <a:lnR w="28575" cap="flat" cmpd="sng" algn="ctr">
                      <a:solidFill>
                        <a:srgbClr val="004080"/>
                      </a:solidFill>
                      <a:prstDash val="solid"/>
                      <a:round/>
                      <a:headEnd type="none" w="med" len="med"/>
                      <a:tailEnd type="none" w="med" len="med"/>
                    </a:lnR>
                    <a:lnT w="28575" cap="flat" cmpd="sng" algn="ctr">
                      <a:solidFill>
                        <a:srgbClr val="004080"/>
                      </a:solidFill>
                      <a:prstDash val="solid"/>
                      <a:round/>
                      <a:headEnd type="none" w="med" len="med"/>
                      <a:tailEnd type="none" w="med" len="med"/>
                    </a:lnT>
                    <a:lnB w="28575" cap="flat" cmpd="sng" algn="ctr">
                      <a:solidFill>
                        <a:srgbClr val="004080"/>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defRPr/>
                      </a:pPr>
                      <a:r>
                        <a:rPr kumimoji="0" lang="en-US" altLang="zh-CN" sz="2400" b="1" i="0" u="none" strike="noStrike" cap="none" normalizeH="0" baseline="0" dirty="0">
                          <a:ln>
                            <a:noFill/>
                          </a:ln>
                          <a:solidFill>
                            <a:srgbClr val="000066"/>
                          </a:solidFill>
                          <a:effectLst/>
                          <a:latin typeface="楷体_GB2312" charset="-122"/>
                          <a:ea typeface="楷体_GB2312" charset="-122"/>
                        </a:rPr>
                        <a:t>F2</a:t>
                      </a:r>
                      <a:endParaRPr kumimoji="0" lang="zh-CN" sz="2400" b="1" i="0" u="none" strike="noStrike" cap="none" normalizeH="0" baseline="0" dirty="0">
                        <a:ln>
                          <a:noFill/>
                        </a:ln>
                        <a:solidFill>
                          <a:srgbClr val="000066"/>
                        </a:solidFill>
                        <a:effectLst/>
                        <a:latin typeface="楷体_GB2312" charset="-122"/>
                        <a:ea typeface="楷体_GB2312" charset="-122"/>
                      </a:endParaRPr>
                    </a:p>
                  </a:txBody>
                  <a:tcPr horzOverflow="overflow">
                    <a:lnL w="28575" cap="flat" cmpd="sng" algn="ctr">
                      <a:solidFill>
                        <a:srgbClr val="004080"/>
                      </a:solidFill>
                      <a:prstDash val="solid"/>
                      <a:round/>
                      <a:headEnd type="none" w="med" len="med"/>
                      <a:tailEnd type="none" w="med" len="med"/>
                    </a:lnL>
                    <a:lnR w="28575" cap="flat" cmpd="sng" algn="ctr">
                      <a:solidFill>
                        <a:srgbClr val="004080"/>
                      </a:solidFill>
                      <a:prstDash val="solid"/>
                      <a:round/>
                      <a:headEnd type="none" w="med" len="med"/>
                      <a:tailEnd type="none" w="med" len="med"/>
                    </a:lnR>
                    <a:lnT w="28575" cap="flat" cmpd="sng" algn="ctr">
                      <a:solidFill>
                        <a:srgbClr val="004080"/>
                      </a:solidFill>
                      <a:prstDash val="solid"/>
                      <a:round/>
                      <a:headEnd type="none" w="med" len="med"/>
                      <a:tailEnd type="none" w="med" len="med"/>
                    </a:lnT>
                    <a:lnB w="28575" cap="flat" cmpd="sng" algn="ctr">
                      <a:solidFill>
                        <a:srgbClr val="004080"/>
                      </a:solidFill>
                      <a:prstDash val="solid"/>
                      <a:round/>
                      <a:headEnd type="none" w="med" len="med"/>
                      <a:tailEnd type="none" w="med" len="med"/>
                    </a:lnB>
                    <a:lnTlToBr>
                      <a:noFill/>
                    </a:lnTlToBr>
                    <a:lnBlToTr>
                      <a:noFill/>
                    </a:lnBlToTr>
                    <a:noFill/>
                  </a:tcPr>
                </a:tc>
              </a:tr>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rgbClr val="000066"/>
                        </a:solidFill>
                        <a:effectLst/>
                        <a:latin typeface="楷体_GB2312" charset="-122"/>
                        <a:ea typeface="楷体_GB2312" charset="-122"/>
                      </a:endParaRPr>
                    </a:p>
                  </a:txBody>
                  <a:tcPr horzOverflow="overflow">
                    <a:lnL w="28575" cap="flat" cmpd="sng" algn="ctr">
                      <a:solidFill>
                        <a:srgbClr val="004080"/>
                      </a:solidFill>
                      <a:prstDash val="solid"/>
                      <a:round/>
                      <a:headEnd type="none" w="med" len="med"/>
                      <a:tailEnd type="none" w="med" len="med"/>
                    </a:lnL>
                    <a:lnR w="28575" cap="flat" cmpd="sng" algn="ctr">
                      <a:solidFill>
                        <a:srgbClr val="004080"/>
                      </a:solidFill>
                      <a:prstDash val="solid"/>
                      <a:round/>
                      <a:headEnd type="none" w="med" len="med"/>
                      <a:tailEnd type="none" w="med" len="med"/>
                    </a:lnR>
                    <a:lnT w="28575" cap="flat" cmpd="sng" algn="ctr">
                      <a:solidFill>
                        <a:srgbClr val="004080"/>
                      </a:solidFill>
                      <a:prstDash val="solid"/>
                      <a:round/>
                      <a:headEnd type="none" w="med" len="med"/>
                      <a:tailEnd type="none" w="med" len="med"/>
                    </a:lnT>
                    <a:lnB w="28575" cap="flat" cmpd="sng" algn="ctr">
                      <a:solidFill>
                        <a:srgbClr val="004080"/>
                      </a:solidFill>
                      <a:prstDash val="solid"/>
                      <a:round/>
                      <a:headEnd type="none" w="med" len="med"/>
                      <a:tailEnd type="none" w="med" len="med"/>
                    </a:lnB>
                    <a:lnTlToBr>
                      <a:noFill/>
                    </a:lnTlToBr>
                    <a:lnBlToTr>
                      <a:noFill/>
                    </a:lnBlToTr>
                    <a:noFill/>
                  </a:tcPr>
                </a:tc>
              </a:tr>
            </a:tbl>
          </a:graphicData>
        </a:graphic>
      </p:graphicFrame>
      <p:graphicFrame>
        <p:nvGraphicFramePr>
          <p:cNvPr id="14" name="Group 5"/>
          <p:cNvGraphicFramePr/>
          <p:nvPr/>
        </p:nvGraphicFramePr>
        <p:xfrm>
          <a:off x="6526776" y="4201583"/>
          <a:ext cx="1296670" cy="2286000"/>
        </p:xfrm>
        <a:graphic>
          <a:graphicData uri="http://schemas.openxmlformats.org/drawingml/2006/table">
            <a:tbl>
              <a:tblPr/>
              <a:tblGrid>
                <a:gridCol w="1296670"/>
              </a:tblGrid>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chemeClr val="bg1"/>
                        </a:solidFill>
                        <a:effectLst/>
                        <a:latin typeface="楷体_GB2312" charset="-122"/>
                        <a:ea typeface="楷体_GB231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2F5597"/>
                    </a:solidFill>
                  </a:tcPr>
                </a:tc>
              </a:tr>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chemeClr val="bg1"/>
                          </a:solidFill>
                          <a:effectLst/>
                          <a:latin typeface="楷体_GB2312" charset="-122"/>
                          <a:ea typeface="楷体_GB2312" charset="-122"/>
                        </a:rPr>
                        <a:t>F1</a:t>
                      </a:r>
                      <a:endParaRPr kumimoji="0" lang="en-US" altLang="zh-CN" sz="2400" b="1" i="0" u="none" strike="noStrike" cap="none" normalizeH="0" baseline="0" dirty="0">
                        <a:ln>
                          <a:noFill/>
                        </a:ln>
                        <a:solidFill>
                          <a:schemeClr val="bg1"/>
                        </a:solidFill>
                        <a:effectLst/>
                        <a:latin typeface="楷体_GB2312" charset="-122"/>
                        <a:ea typeface="楷体_GB231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2F5597"/>
                    </a:solidFill>
                  </a:tcPr>
                </a:tc>
              </a:tr>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zh-CN" sz="2400" b="1" i="0" u="none" strike="noStrike" cap="none" normalizeH="0" baseline="0" dirty="0">
                          <a:ln>
                            <a:noFill/>
                          </a:ln>
                          <a:solidFill>
                            <a:schemeClr val="bg1"/>
                          </a:solidFill>
                          <a:effectLst/>
                          <a:latin typeface="楷体_GB2312" charset="-122"/>
                          <a:ea typeface="楷体_GB2312" charset="-122"/>
                        </a:rPr>
                        <a:t>回收区</a:t>
                      </a:r>
                      <a:endParaRPr kumimoji="0" lang="zh-CN" sz="2400" b="1" i="0" u="none" strike="noStrike" cap="none" normalizeH="0" baseline="0" dirty="0">
                        <a:ln>
                          <a:noFill/>
                        </a:ln>
                        <a:solidFill>
                          <a:schemeClr val="bg1"/>
                        </a:solidFill>
                        <a:effectLst/>
                        <a:latin typeface="楷体_GB2312" charset="-122"/>
                        <a:ea typeface="楷体_GB231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2F5597"/>
                    </a:solidFill>
                  </a:tcPr>
                </a:tc>
              </a:tr>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r>
                        <a:rPr kumimoji="0" lang="en-US" altLang="zh-CN" sz="2400" b="1" i="0" u="none" strike="noStrike" cap="none" normalizeH="0" baseline="0" dirty="0">
                          <a:ln>
                            <a:noFill/>
                          </a:ln>
                          <a:solidFill>
                            <a:schemeClr val="bg1"/>
                          </a:solidFill>
                          <a:effectLst/>
                          <a:latin typeface="楷体_GB2312" charset="-122"/>
                          <a:ea typeface="楷体_GB2312" charset="-122"/>
                        </a:rPr>
                        <a:t>F2</a:t>
                      </a:r>
                      <a:endParaRPr kumimoji="0" lang="zh-CN" sz="2400" b="1" i="0" u="none" strike="noStrike" cap="none" normalizeH="0" baseline="0" dirty="0">
                        <a:ln>
                          <a:noFill/>
                        </a:ln>
                        <a:solidFill>
                          <a:schemeClr val="bg1"/>
                        </a:solidFill>
                        <a:effectLst/>
                        <a:latin typeface="楷体_GB2312" charset="-122"/>
                        <a:ea typeface="楷体_GB231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2F5597"/>
                    </a:solidFill>
                  </a:tcPr>
                </a:tc>
              </a:tr>
              <a:tr h="455613">
                <a:tc>
                  <a:txBody>
                    <a:bodyPr/>
                    <a:lstStyle/>
                    <a:p>
                      <a:pPr marL="0" marR="0" lvl="0" indent="0" algn="ctr" defTabSz="914400" rtl="0" eaLnBrk="1" fontAlgn="base" latinLnBrk="1" hangingPunct="1">
                        <a:lnSpc>
                          <a:spcPct val="100000"/>
                        </a:lnSpc>
                        <a:spcBef>
                          <a:spcPct val="20000"/>
                        </a:spcBef>
                        <a:spcAft>
                          <a:spcPct val="0"/>
                        </a:spcAft>
                        <a:buClr>
                          <a:srgbClr val="33CCFF"/>
                        </a:buClr>
                        <a:buSzTx/>
                        <a:buFont typeface="Wingdings" panose="05000000000000000000" pitchFamily="2" charset="2"/>
                        <a:buNone/>
                      </a:pPr>
                      <a:endParaRPr kumimoji="0" lang="zh-CN" sz="2400" b="1" i="0" u="none" strike="noStrike" cap="none" normalizeH="0" baseline="0" dirty="0">
                        <a:ln>
                          <a:noFill/>
                        </a:ln>
                        <a:solidFill>
                          <a:schemeClr val="bg1"/>
                        </a:solidFill>
                        <a:effectLst/>
                        <a:latin typeface="楷体_GB2312" charset="-122"/>
                        <a:ea typeface="楷体_GB2312" charset="-122"/>
                      </a:endParaRPr>
                    </a:p>
                  </a:txBody>
                  <a:tcPr horzOverflow="overflow">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2F5597"/>
                    </a:solidFill>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717550" y="959485"/>
            <a:ext cx="10226040" cy="572579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sz="26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内存回收</a:t>
            </a:r>
            <a:endParaRPr lang="en-US" altLang="zh-CN" sz="26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2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回收区与插入点的前一个空闲分区 </a:t>
            </a:r>
            <a:r>
              <a:rPr lang="en-US" altLang="zh-CN" sz="22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F1</a:t>
            </a:r>
            <a:r>
              <a:rPr lang="zh-CN" altLang="en-US" sz="22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相邻接：</a:t>
            </a:r>
            <a:r>
              <a:rPr lang="zh-CN" altLang="en-US" sz="2200" b="1" dirty="0">
                <a:latin typeface="Times New Roman" panose="02020503050405090304" pitchFamily="18" charset="0"/>
                <a:ea typeface="微软雅黑" panose="020B0503020204020204" pitchFamily="34" charset="-122"/>
                <a:cs typeface="Times New Roman" panose="02020503050405090304" pitchFamily="18" charset="0"/>
              </a:rPr>
              <a:t>将回收区与插入点的前一分区合并，不必为回收分区分配新表项，而只需修改其前一分区 </a:t>
            </a:r>
            <a:r>
              <a:rPr lang="en-US" altLang="zh-CN" sz="2200" b="1" dirty="0">
                <a:latin typeface="Times New Roman" panose="02020503050405090304" pitchFamily="18" charset="0"/>
                <a:ea typeface="微软雅黑" panose="020B0503020204020204" pitchFamily="34" charset="-122"/>
                <a:cs typeface="Times New Roman" panose="02020503050405090304" pitchFamily="18" charset="0"/>
              </a:rPr>
              <a:t>F1</a:t>
            </a:r>
            <a:r>
              <a:rPr lang="zh-CN" altLang="en-US" sz="2200" b="1" dirty="0">
                <a:latin typeface="Times New Roman" panose="02020503050405090304" pitchFamily="18" charset="0"/>
                <a:ea typeface="微软雅黑" panose="020B0503020204020204" pitchFamily="34" charset="-122"/>
                <a:cs typeface="Times New Roman" panose="02020503050405090304" pitchFamily="18" charset="0"/>
              </a:rPr>
              <a:t>的大小</a:t>
            </a:r>
            <a:endParaRPr lang="en-US" altLang="zh-CN" sz="22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2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回收分区与插入点的后一空闲分区 </a:t>
            </a:r>
            <a:r>
              <a:rPr lang="en-US" altLang="zh-CN" sz="22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F2</a:t>
            </a:r>
            <a:r>
              <a:rPr lang="zh-CN" altLang="en-US" sz="22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相邻接：</a:t>
            </a:r>
            <a:r>
              <a:rPr lang="zh-CN" altLang="en-US" sz="2200" b="1" dirty="0">
                <a:latin typeface="Times New Roman" panose="02020503050405090304" pitchFamily="18" charset="0"/>
                <a:ea typeface="微软雅黑" panose="020B0503020204020204" pitchFamily="34" charset="-122"/>
                <a:cs typeface="Times New Roman" panose="02020503050405090304" pitchFamily="18" charset="0"/>
              </a:rPr>
              <a:t>将两分区合并，形成新的空闲分区，用回收区的首址作为新空闲区的首址，大小为两者之和。</a:t>
            </a:r>
            <a:endParaRPr lang="en-US" altLang="zh-CN" sz="22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2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回收区同时与插入点的前、后两个分区邻接：</a:t>
            </a:r>
            <a:r>
              <a:rPr lang="zh-CN" altLang="en-US" sz="2200" b="1" dirty="0">
                <a:latin typeface="Times New Roman" panose="02020503050405090304" pitchFamily="18" charset="0"/>
                <a:ea typeface="微软雅黑" panose="020B0503020204020204" pitchFamily="34" charset="-122"/>
                <a:cs typeface="Times New Roman" panose="02020503050405090304" pitchFamily="18" charset="0"/>
              </a:rPr>
              <a:t>将三个分区合并， 使用 </a:t>
            </a:r>
            <a:r>
              <a:rPr lang="en-US" altLang="zh-CN" sz="2200" b="1" dirty="0">
                <a:latin typeface="Times New Roman" panose="02020503050405090304" pitchFamily="18" charset="0"/>
                <a:ea typeface="微软雅黑" panose="020B0503020204020204" pitchFamily="34" charset="-122"/>
                <a:cs typeface="Times New Roman" panose="02020503050405090304" pitchFamily="18" charset="0"/>
              </a:rPr>
              <a:t>F1</a:t>
            </a:r>
            <a:r>
              <a:rPr lang="zh-CN" altLang="en-US" sz="2200" b="1" dirty="0">
                <a:latin typeface="Times New Roman" panose="02020503050405090304" pitchFamily="18" charset="0"/>
                <a:ea typeface="微软雅黑" panose="020B0503020204020204" pitchFamily="34" charset="-122"/>
                <a:cs typeface="Times New Roman" panose="02020503050405090304" pitchFamily="18" charset="0"/>
              </a:rPr>
              <a:t>的表项和 </a:t>
            </a:r>
            <a:r>
              <a:rPr lang="en-US" altLang="zh-CN" sz="2200" b="1" dirty="0">
                <a:latin typeface="Times New Roman" panose="02020503050405090304" pitchFamily="18" charset="0"/>
                <a:ea typeface="微软雅黑" panose="020B0503020204020204" pitchFamily="34" charset="-122"/>
                <a:cs typeface="Times New Roman" panose="02020503050405090304" pitchFamily="18" charset="0"/>
              </a:rPr>
              <a:t>F1</a:t>
            </a:r>
            <a:r>
              <a:rPr lang="zh-CN" altLang="en-US" sz="2200" b="1" dirty="0">
                <a:latin typeface="Times New Roman" panose="02020503050405090304" pitchFamily="18" charset="0"/>
                <a:ea typeface="微软雅黑" panose="020B0503020204020204" pitchFamily="34" charset="-122"/>
                <a:cs typeface="Times New Roman" panose="02020503050405090304" pitchFamily="18" charset="0"/>
              </a:rPr>
              <a:t>的首址，取消 </a:t>
            </a:r>
            <a:r>
              <a:rPr lang="en-US" altLang="zh-CN" sz="2200" b="1" dirty="0">
                <a:latin typeface="Times New Roman" panose="02020503050405090304" pitchFamily="18" charset="0"/>
                <a:ea typeface="微软雅黑" panose="020B0503020204020204" pitchFamily="34" charset="-122"/>
                <a:cs typeface="Times New Roman" panose="02020503050405090304" pitchFamily="18" charset="0"/>
              </a:rPr>
              <a:t>F2</a:t>
            </a:r>
            <a:r>
              <a:rPr lang="zh-CN" altLang="en-US" sz="2200" b="1" dirty="0">
                <a:latin typeface="Times New Roman" panose="02020503050405090304" pitchFamily="18" charset="0"/>
                <a:ea typeface="微软雅黑" panose="020B0503020204020204" pitchFamily="34" charset="-122"/>
                <a:cs typeface="Times New Roman" panose="02020503050405090304" pitchFamily="18" charset="0"/>
              </a:rPr>
              <a:t>的表项，大小为三者之和。</a:t>
            </a:r>
            <a:endParaRPr lang="en-US" altLang="zh-CN" sz="22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sz="22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回收区既不与 </a:t>
            </a:r>
            <a:r>
              <a:rPr lang="en-US" altLang="zh-CN" sz="22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F1</a:t>
            </a:r>
            <a:r>
              <a:rPr lang="zh-CN" altLang="en-US" sz="22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邻接，又不与 </a:t>
            </a:r>
            <a:r>
              <a:rPr lang="en-US" altLang="zh-CN" sz="22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F2</a:t>
            </a:r>
            <a:r>
              <a:rPr lang="zh-CN" altLang="en-US" sz="22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邻接：</a:t>
            </a:r>
            <a:r>
              <a:rPr lang="zh-CN" altLang="en-US" sz="2200" b="1" dirty="0">
                <a:latin typeface="Times New Roman" panose="02020503050405090304" pitchFamily="18" charset="0"/>
                <a:ea typeface="微软雅黑" panose="020B0503020204020204" pitchFamily="34" charset="-122"/>
                <a:cs typeface="Times New Roman" panose="02020503050405090304" pitchFamily="18" charset="0"/>
              </a:rPr>
              <a:t>这时应为回收区单独建立一新表项，填写回收区的首址和大小，并根据其首址插入到空闲链中的适当位置</a:t>
            </a:r>
            <a:endParaRPr lang="zh-CN" altLang="en-US" sz="22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408305" y="33655"/>
            <a:ext cx="1063244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4.3.3 </a:t>
            </a:r>
            <a:r>
              <a:rPr lang="zh-CN" altLang="en-US" sz="3900" b="1" dirty="0">
                <a:latin typeface="微软雅黑" panose="020B0503020204020204" pitchFamily="34" charset="-122"/>
                <a:ea typeface="微软雅黑" panose="020B0503020204020204" pitchFamily="34" charset="-122"/>
              </a:rPr>
              <a:t>动态</a:t>
            </a:r>
            <a:r>
              <a:rPr lang="en-US" altLang="zh-CN" sz="3900" b="1" dirty="0">
                <a:latin typeface="微软雅黑" panose="020B0503020204020204" pitchFamily="34" charset="-122"/>
                <a:ea typeface="微软雅黑" panose="020B0503020204020204" pitchFamily="34" charset="-122"/>
              </a:rPr>
              <a:t>/</a:t>
            </a:r>
            <a:r>
              <a:rPr lang="zh-CN" altLang="en-US" sz="3900" b="1" dirty="0">
                <a:latin typeface="微软雅黑" panose="020B0503020204020204" pitchFamily="34" charset="-122"/>
                <a:ea typeface="微软雅黑" panose="020B0503020204020204" pitchFamily="34" charset="-122"/>
              </a:rPr>
              <a:t>可变分区分配</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433530" y="1246347"/>
            <a:ext cx="7126794" cy="5577840"/>
          </a:xfrm>
          <a:prstGeom prst="rect">
            <a:avLst/>
          </a:prstGeom>
        </p:spPr>
      </p:pic>
      <p:sp>
        <p:nvSpPr>
          <p:cNvPr id="6148" name="Rectangle 3"/>
          <p:cNvSpPr>
            <a:spLocks noGrp="1"/>
          </p:cNvSpPr>
          <p:nvPr>
            <p:ph idx="1"/>
          </p:nvPr>
        </p:nvSpPr>
        <p:spPr>
          <a:xfrm>
            <a:off x="884555" y="959485"/>
            <a:ext cx="9343390" cy="572579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内存回收流程</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14960" y="33655"/>
            <a:ext cx="1072578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4.3.3 </a:t>
            </a:r>
            <a:r>
              <a:rPr lang="zh-CN" altLang="en-US" sz="3900" b="1" dirty="0">
                <a:latin typeface="微软雅黑" panose="020B0503020204020204" pitchFamily="34" charset="-122"/>
                <a:ea typeface="微软雅黑" panose="020B0503020204020204" pitchFamily="34" charset="-122"/>
              </a:rPr>
              <a:t>动态</a:t>
            </a:r>
            <a:r>
              <a:rPr lang="en-US" altLang="zh-CN" sz="3900" b="1" dirty="0">
                <a:latin typeface="微软雅黑" panose="020B0503020204020204" pitchFamily="34" charset="-122"/>
                <a:ea typeface="微软雅黑" panose="020B0503020204020204" pitchFamily="34" charset="-122"/>
              </a:rPr>
              <a:t>/</a:t>
            </a:r>
            <a:r>
              <a:rPr lang="zh-CN" altLang="en-US" sz="3900" b="1" dirty="0">
                <a:latin typeface="微软雅黑" panose="020B0503020204020204" pitchFamily="34" charset="-122"/>
                <a:ea typeface="微软雅黑" panose="020B0503020204020204" pitchFamily="34" charset="-122"/>
              </a:rPr>
              <a:t>可变分区分配</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730885" y="959485"/>
            <a:ext cx="9449435"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动态分区分配算法</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 基于顺序搜索的动态分区分配算法</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首次适应（</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first fit, FF</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）算法</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循环首次适应（</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next fit, NF</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）算法</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最佳适应（</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best fit, BF</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）算法</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最坏适应（</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worst fit, WF</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）算法</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 基于索引搜索的动态分区分配算法</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快速适应（</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quick fit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）算法</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伙伴系统（</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buddy system</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哈希算法</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61950" y="33655"/>
            <a:ext cx="1067879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4.3.4 </a:t>
            </a:r>
            <a:r>
              <a:rPr lang="zh-CN" altLang="en-US" sz="3900" b="1" dirty="0">
                <a:latin typeface="微软雅黑" panose="020B0503020204020204" pitchFamily="34" charset="-122"/>
                <a:ea typeface="微软雅黑" panose="020B0503020204020204" pitchFamily="34" charset="-122"/>
              </a:rPr>
              <a:t>动态</a:t>
            </a:r>
            <a:r>
              <a:rPr lang="en-US" altLang="zh-CN" sz="3900" b="1" dirty="0">
                <a:latin typeface="微软雅黑" panose="020B0503020204020204" pitchFamily="34" charset="-122"/>
                <a:ea typeface="微软雅黑" panose="020B0503020204020204" pitchFamily="34" charset="-122"/>
              </a:rPr>
              <a:t>/</a:t>
            </a:r>
            <a:r>
              <a:rPr lang="zh-CN" altLang="en-US" sz="3900" b="1" dirty="0">
                <a:latin typeface="微软雅黑" panose="020B0503020204020204" pitchFamily="34" charset="-122"/>
                <a:ea typeface="微软雅黑" panose="020B0503020204020204" pitchFamily="34" charset="-122"/>
              </a:rPr>
              <a:t>可变分区分配</a:t>
            </a:r>
            <a:r>
              <a:rPr lang="en-US" altLang="zh-CN" sz="3200" b="1" dirty="0">
                <a:solidFill>
                  <a:srgbClr val="0000FF"/>
                </a:solidFill>
                <a:latin typeface="微软雅黑" panose="020B0503020204020204" pitchFamily="34" charset="-122"/>
                <a:ea typeface="微软雅黑" panose="020B0503020204020204" pitchFamily="34" charset="-122"/>
              </a:rPr>
              <a:t>——</a:t>
            </a:r>
            <a:r>
              <a:rPr lang="zh-CN" altLang="en-US" sz="3200" b="1" dirty="0">
                <a:solidFill>
                  <a:srgbClr val="0000FF"/>
                </a:solidFill>
                <a:latin typeface="微软雅黑" panose="020B0503020204020204" pitchFamily="34" charset="-122"/>
                <a:ea typeface="微软雅黑" panose="020B0503020204020204" pitchFamily="34" charset="-122"/>
              </a:rPr>
              <a:t>分配算法</a:t>
            </a:r>
            <a:endParaRPr lang="zh-CN" altLang="en-US" sz="3900" b="1" dirty="0">
              <a:latin typeface="微软雅黑" panose="020B0503020204020204" pitchFamily="34" charset="-122"/>
              <a:ea typeface="微软雅黑" panose="020B0503020204020204" pitchFamily="34" charset="-122"/>
            </a:endParaRPr>
          </a:p>
        </p:txBody>
      </p:sp>
      <p:sp>
        <p:nvSpPr>
          <p:cNvPr id="2" name="对话气泡: 椭圆形 1"/>
          <p:cNvSpPr/>
          <p:nvPr/>
        </p:nvSpPr>
        <p:spPr>
          <a:xfrm>
            <a:off x="7376795" y="2668905"/>
            <a:ext cx="4065905" cy="3064510"/>
          </a:xfrm>
          <a:prstGeom prst="wedgeEllipseCallout">
            <a:avLst>
              <a:gd name="adj1" fmla="val -57755"/>
              <a:gd name="adj2" fmla="val -51170"/>
            </a:avLst>
          </a:prstGeom>
        </p:spPr>
        <p:style>
          <a:lnRef idx="2">
            <a:schemeClr val="accent1"/>
          </a:lnRef>
          <a:fillRef idx="1">
            <a:schemeClr val="lt1"/>
          </a:fillRef>
          <a:effectRef idx="0">
            <a:schemeClr val="accent1"/>
          </a:effectRef>
          <a:fontRef idx="minor">
            <a:schemeClr val="dk1"/>
          </a:fontRef>
        </p:style>
        <p:txBody>
          <a:bodyPr rtlCol="0" anchor="ctr"/>
          <a:lstStyle/>
          <a:p>
            <a:endParaRPr lang="en-US" altLang="zh-CN" sz="2000" b="1" dirty="0">
              <a:solidFill>
                <a:srgbClr val="C00000"/>
              </a:solidFill>
              <a:latin typeface="微软雅黑" panose="020B0503020204020204" pitchFamily="34" charset="-122"/>
              <a:ea typeface="微软雅黑" panose="020B0503020204020204" pitchFamily="34" charset="-122"/>
            </a:endParaRPr>
          </a:p>
          <a:p>
            <a:r>
              <a:rPr lang="zh-CN" altLang="en-US" sz="2000" b="1" dirty="0">
                <a:solidFill>
                  <a:srgbClr val="C00000"/>
                </a:solidFill>
                <a:latin typeface="微软雅黑" panose="020B0503020204020204" pitchFamily="34" charset="-122"/>
                <a:ea typeface="微软雅黑" panose="020B0503020204020204" pitchFamily="34" charset="-122"/>
              </a:rPr>
              <a:t>需要关注的问题：</a:t>
            </a:r>
            <a:endParaRPr lang="en-US" altLang="zh-CN" sz="2000" b="1" dirty="0">
              <a:solidFill>
                <a:srgbClr val="C00000"/>
              </a:solidFill>
              <a:latin typeface="微软雅黑" panose="020B0503020204020204" pitchFamily="34" charset="-122"/>
              <a:ea typeface="微软雅黑" panose="020B0503020204020204" pitchFamily="34" charset="-122"/>
            </a:endParaRPr>
          </a:p>
          <a:p>
            <a:endParaRPr lang="en-US" altLang="zh-CN" sz="2000" b="1" dirty="0">
              <a:solidFill>
                <a:srgbClr val="C00000"/>
              </a:solidFill>
              <a:latin typeface="微软雅黑" panose="020B0503020204020204" pitchFamily="34" charset="-122"/>
              <a:ea typeface="微软雅黑" panose="020B0503020204020204" pitchFamily="34" charset="-122"/>
            </a:endParaRPr>
          </a:p>
          <a:p>
            <a:r>
              <a:rPr lang="en-US" altLang="zh-CN" sz="2000" b="1" dirty="0">
                <a:solidFill>
                  <a:schemeClr val="tx1"/>
                </a:solidFill>
                <a:latin typeface="微软雅黑" panose="020B0503020204020204" pitchFamily="34" charset="-122"/>
                <a:ea typeface="微软雅黑" panose="020B0503020204020204" pitchFamily="34" charset="-122"/>
              </a:rPr>
              <a:t>1</a:t>
            </a:r>
            <a:r>
              <a:rPr lang="zh-CN" altLang="en-US" sz="2000" b="1" dirty="0">
                <a:solidFill>
                  <a:schemeClr val="tx1"/>
                </a:solidFill>
                <a:latin typeface="微软雅黑" panose="020B0503020204020204" pitchFamily="34" charset="-122"/>
                <a:ea typeface="微软雅黑" panose="020B0503020204020204" pitchFamily="34" charset="-122"/>
              </a:rPr>
              <a:t>）算法的原理、优点、缺点；</a:t>
            </a:r>
            <a:endParaRPr lang="en-US" altLang="zh-CN" sz="2000" b="1" dirty="0">
              <a:solidFill>
                <a:schemeClr val="tx1"/>
              </a:solidFill>
              <a:latin typeface="微软雅黑" panose="020B0503020204020204" pitchFamily="34" charset="-122"/>
              <a:ea typeface="微软雅黑" panose="020B0503020204020204" pitchFamily="34" charset="-122"/>
            </a:endParaRPr>
          </a:p>
          <a:p>
            <a:r>
              <a:rPr lang="en-US" altLang="zh-CN" sz="2000" b="1" dirty="0">
                <a:solidFill>
                  <a:schemeClr val="tx1"/>
                </a:solidFill>
                <a:latin typeface="微软雅黑" panose="020B0503020204020204" pitchFamily="34" charset="-122"/>
                <a:ea typeface="微软雅黑" panose="020B0503020204020204" pitchFamily="34" charset="-122"/>
              </a:rPr>
              <a:t>2</a:t>
            </a:r>
            <a:r>
              <a:rPr lang="zh-CN" altLang="en-US" sz="2000" b="1" dirty="0">
                <a:solidFill>
                  <a:schemeClr val="tx1"/>
                </a:solidFill>
                <a:latin typeface="微软雅黑" panose="020B0503020204020204" pitchFamily="34" charset="-122"/>
                <a:ea typeface="微软雅黑" panose="020B0503020204020204" pitchFamily="34" charset="-122"/>
              </a:rPr>
              <a:t>）空闲表</a:t>
            </a:r>
            <a:r>
              <a:rPr lang="en-US" altLang="zh-CN" sz="2000" b="1" dirty="0">
                <a:solidFill>
                  <a:schemeClr val="tx1"/>
                </a:solidFill>
                <a:latin typeface="微软雅黑" panose="020B0503020204020204" pitchFamily="34" charset="-122"/>
                <a:ea typeface="微软雅黑" panose="020B0503020204020204" pitchFamily="34" charset="-122"/>
              </a:rPr>
              <a:t>/</a:t>
            </a:r>
            <a:r>
              <a:rPr lang="zh-CN" altLang="en-US" sz="2000" b="1" dirty="0">
                <a:solidFill>
                  <a:schemeClr val="tx1"/>
                </a:solidFill>
                <a:latin typeface="微软雅黑" panose="020B0503020204020204" pitchFamily="34" charset="-122"/>
                <a:ea typeface="微软雅黑" panose="020B0503020204020204" pitchFamily="34" charset="-122"/>
              </a:rPr>
              <a:t>队列排列方式：大小、地址；递增、递减</a:t>
            </a:r>
            <a:endParaRPr lang="zh-CN" altLang="zh-CN" sz="2000" b="1" dirty="0">
              <a:solidFill>
                <a:schemeClr val="tx1"/>
              </a:solidFill>
              <a:latin typeface="微软雅黑" panose="020B0503020204020204" pitchFamily="34" charset="-122"/>
              <a:ea typeface="微软雅黑" panose="020B0503020204020204" pitchFamily="34" charset="-122"/>
            </a:endParaRPr>
          </a:p>
          <a:p>
            <a:endParaRPr lang="zh-CN" altLang="en-US" sz="2000" b="1"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56895" y="959485"/>
            <a:ext cx="11054715" cy="5898515"/>
          </a:xfrm>
        </p:spPr>
        <p:txBody>
          <a:bodyPr vert="horz" wrap="square" lIns="91440" tIns="45720" rIns="91440" bIns="45720" anchor="t" anchorCtr="0">
            <a:normAutofit fontScale="92500"/>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动态分区分配算法的分析</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    分配算法类型</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首次适应（</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first fit, FF</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）算法</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循环首次适应（</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next fit, NF</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）算法</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最佳适应（</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best fit, BF</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）算法</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最坏适应（</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worst fit, WF</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）算法</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分配算法各有利弊，到底哪种最好不能一概而论，而应</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针对具体作业序列</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来分析；</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对于某一作业序列来说，某种算法能将该作业序列中所有作业安置完毕，那么我们说</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该算法对这一作业序列是合适</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的；</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对于某一算法而言，如它不能立即满足某一要求，而其它算法却可以满足此要求，则</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这一算法对该作业序列是不合适</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的。</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2" indent="0">
              <a:lnSpc>
                <a:spcPct val="150000"/>
              </a:lnSpc>
              <a:spcBef>
                <a:spcPts val="1000"/>
              </a:spcBef>
              <a:buClr>
                <a:srgbClr val="0000FF"/>
              </a:buClr>
              <a:buNone/>
            </a:pP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54305" y="33655"/>
            <a:ext cx="1088644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4.3.5 </a:t>
            </a:r>
            <a:r>
              <a:rPr lang="zh-CN" altLang="en-US" sz="3900" b="1" dirty="0">
                <a:latin typeface="微软雅黑" panose="020B0503020204020204" pitchFamily="34" charset="-122"/>
                <a:ea typeface="微软雅黑" panose="020B0503020204020204" pitchFamily="34" charset="-122"/>
              </a:rPr>
              <a:t>动态分区分配算法</a:t>
            </a:r>
            <a:endParaRPr lang="zh-CN" altLang="en-US" sz="39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6096000" y="1954941"/>
            <a:ext cx="4572000" cy="1476375"/>
          </a:xfrm>
          <a:prstGeom prst="rect">
            <a:avLst/>
          </a:prstGeom>
          <a:noFill/>
        </p:spPr>
        <p:txBody>
          <a:bodyPr wrap="square">
            <a:spAutoFit/>
          </a:bodyPr>
          <a:lstStyle/>
          <a:p>
            <a:pPr lvl="2">
              <a:lnSpc>
                <a:spcPct val="150000"/>
              </a:lnSpc>
              <a:buClr>
                <a:srgbClr val="0000FF"/>
              </a:buClr>
              <a:buFont typeface="Wingdings" panose="05000000000000000000" pitchFamily="2" charset="2"/>
              <a:buChar char="ü"/>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快速适应（</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quick fit</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）算法</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伙伴系统（</a:t>
            </a:r>
            <a:r>
              <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rPr>
              <a:t>buddy system</a:t>
            </a: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2">
              <a:lnSpc>
                <a:spcPct val="150000"/>
              </a:lnSpc>
              <a:buClr>
                <a:srgbClr val="0000FF"/>
              </a:buClr>
              <a:buFont typeface="Wingdings" panose="05000000000000000000" pitchFamily="2" charset="2"/>
              <a:buChar char="ü"/>
            </a:pPr>
            <a:r>
              <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rPr>
              <a:t>哈希算法</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830580" y="959485"/>
            <a:ext cx="1064768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有作业序列：作业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18K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25K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C</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30K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。系统中空闲区按不同算法组成的空闲区队列，如下图所示 ：</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61950" y="33655"/>
            <a:ext cx="1067879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 </a:t>
            </a:r>
            <a:r>
              <a:rPr lang="zh-CN" altLang="en-US" sz="3900" b="1" dirty="0">
                <a:latin typeface="微软雅黑" panose="020B0503020204020204" pitchFamily="34" charset="-122"/>
                <a:ea typeface="微软雅黑" panose="020B0503020204020204" pitchFamily="34" charset="-122"/>
              </a:rPr>
              <a:t>连续分配存储管理</a:t>
            </a:r>
            <a:r>
              <a:rPr lang="en-US" altLang="zh-CN" sz="3900" b="1" dirty="0">
                <a:latin typeface="微软雅黑" panose="020B0503020204020204" pitchFamily="34" charset="-122"/>
                <a:ea typeface="微软雅黑" panose="020B0503020204020204" pitchFamily="34" charset="-122"/>
              </a:rPr>
              <a:t> </a:t>
            </a:r>
            <a:r>
              <a:rPr lang="zh-CN" altLang="en-US" sz="3900" b="1" dirty="0">
                <a:solidFill>
                  <a:srgbClr val="FF0000"/>
                </a:solidFill>
                <a:latin typeface="微软雅黑" panose="020B0503020204020204" pitchFamily="34" charset="-122"/>
                <a:ea typeface="微软雅黑" panose="020B0503020204020204" pitchFamily="34" charset="-122"/>
              </a:rPr>
              <a:t>练习</a:t>
            </a:r>
            <a:r>
              <a:rPr lang="en-US" altLang="zh-CN" sz="3900" b="1" dirty="0">
                <a:solidFill>
                  <a:srgbClr val="FF0000"/>
                </a:solidFill>
                <a:latin typeface="微软雅黑" panose="020B0503020204020204" pitchFamily="34" charset="-122"/>
                <a:ea typeface="微软雅黑" panose="020B0503020204020204" pitchFamily="34" charset="-122"/>
              </a:rPr>
              <a:t>1</a:t>
            </a:r>
            <a:endParaRPr lang="zh-CN" altLang="en-US" sz="3900" b="1" dirty="0">
              <a:solidFill>
                <a:srgbClr val="FF0000"/>
              </a:solidFill>
              <a:latin typeface="微软雅黑" panose="020B0503020204020204" pitchFamily="34" charset="-122"/>
              <a:ea typeface="微软雅黑" panose="020B0503020204020204" pitchFamily="34" charset="-122"/>
            </a:endParaRPr>
          </a:p>
        </p:txBody>
      </p:sp>
      <p:pic>
        <p:nvPicPr>
          <p:cNvPr id="34" name="Picture 6" descr="os0702"/>
          <p:cNvPicPr>
            <a:picLocks noChangeAspect="1" noChangeArrowheads="1"/>
          </p:cNvPicPr>
          <p:nvPr/>
        </p:nvPicPr>
        <p:blipFill>
          <a:blip r:embed="rId1" cstate="print"/>
          <a:srcRect r="72849"/>
          <a:stretch>
            <a:fillRect/>
          </a:stretch>
        </p:blipFill>
        <p:spPr bwMode="auto">
          <a:xfrm>
            <a:off x="4263390" y="2370455"/>
            <a:ext cx="2436495" cy="4077970"/>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704215" y="959485"/>
            <a:ext cx="9476105"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首次适应（</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first fit, FF</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）算法</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27965" y="33655"/>
            <a:ext cx="1081278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4.3.4 </a:t>
            </a:r>
            <a:r>
              <a:rPr lang="zh-CN" altLang="en-US" sz="3900" b="1" dirty="0">
                <a:latin typeface="微软雅黑" panose="020B0503020204020204" pitchFamily="34" charset="-122"/>
                <a:ea typeface="微软雅黑" panose="020B0503020204020204" pitchFamily="34" charset="-122"/>
              </a:rPr>
              <a:t>基于顺序搜索的动态分区分配算法</a:t>
            </a:r>
            <a:endParaRPr lang="zh-CN" altLang="en-US" sz="3900" b="1" dirty="0">
              <a:latin typeface="微软雅黑" panose="020B0503020204020204" pitchFamily="34" charset="-122"/>
              <a:ea typeface="微软雅黑" panose="020B0503020204020204" pitchFamily="34" charset="-122"/>
            </a:endParaRPr>
          </a:p>
        </p:txBody>
      </p:sp>
      <p:sp>
        <p:nvSpPr>
          <p:cNvPr id="6" name="Rectangle 15"/>
          <p:cNvSpPr>
            <a:spLocks noChangeArrowheads="1"/>
          </p:cNvSpPr>
          <p:nvPr/>
        </p:nvSpPr>
        <p:spPr bwMode="auto">
          <a:xfrm>
            <a:off x="1573530" y="1737360"/>
            <a:ext cx="10087610" cy="4521835"/>
          </a:xfrm>
          <a:prstGeom prst="rect">
            <a:avLst/>
          </a:prstGeom>
          <a:solidFill>
            <a:schemeClr val="bg1"/>
          </a:solidFill>
          <a:ln w="28575">
            <a:solidFill>
              <a:schemeClr val="accent1"/>
            </a:solidFill>
            <a:miter lim="800000"/>
          </a:ln>
          <a:effectLst/>
          <a:scene3d>
            <a:camera prst="orthographicFront"/>
            <a:lightRig rig="threePt" dir="t"/>
          </a:scene3d>
          <a:sp3d>
            <a:bevelT/>
          </a:sp3d>
        </p:spPr>
        <p:txBody>
          <a:bodyPr/>
          <a:lstStyle/>
          <a:p>
            <a:pPr marL="342900" indent="-342900" defTabSz="449580">
              <a:lnSpc>
                <a:spcPct val="200000"/>
              </a:lnSpc>
              <a:spcBef>
                <a:spcPts val="1200"/>
              </a:spcBef>
              <a:buClr>
                <a:srgbClr val="2F5597"/>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要求空闲分区链以</a:t>
            </a:r>
            <a:r>
              <a:rPr lang="zh-CN" altLang="en-US" sz="2400" b="1" dirty="0">
                <a:solidFill>
                  <a:srgbClr val="0000FF"/>
                </a:solidFill>
                <a:latin typeface="微软雅黑" panose="020B0503020204020204" pitchFamily="34" charset="-122"/>
                <a:ea typeface="微软雅黑" panose="020B0503020204020204" pitchFamily="34" charset="-122"/>
              </a:rPr>
              <a:t>地址递增</a:t>
            </a:r>
            <a:r>
              <a:rPr lang="zh-CN" altLang="en-US" sz="2400" b="1" dirty="0">
                <a:latin typeface="微软雅黑" panose="020B0503020204020204" pitchFamily="34" charset="-122"/>
                <a:ea typeface="微软雅黑" panose="020B0503020204020204" pitchFamily="34" charset="-122"/>
              </a:rPr>
              <a:t>的次序链接</a:t>
            </a:r>
            <a:endParaRPr lang="en-US" altLang="zh-CN" sz="2400" b="1" dirty="0">
              <a:latin typeface="微软雅黑" panose="020B0503020204020204" pitchFamily="34" charset="-122"/>
              <a:ea typeface="微软雅黑" panose="020B0503020204020204" pitchFamily="34" charset="-122"/>
            </a:endParaRPr>
          </a:p>
          <a:p>
            <a:pPr marL="342900" indent="-342900" algn="l" defTabSz="449580">
              <a:lnSpc>
                <a:spcPct val="200000"/>
              </a:lnSpc>
              <a:spcBef>
                <a:spcPts val="1200"/>
              </a:spcBef>
              <a:buClr>
                <a:srgbClr val="2F5597"/>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当进程申请大小为</a:t>
            </a:r>
            <a:r>
              <a:rPr lang="en-US" altLang="zh-CN" sz="2400" b="1" dirty="0">
                <a:latin typeface="微软雅黑" panose="020B0503020204020204" pitchFamily="34" charset="-122"/>
                <a:ea typeface="微软雅黑" panose="020B0503020204020204" pitchFamily="34" charset="-122"/>
              </a:rPr>
              <a:t>SIZE</a:t>
            </a:r>
            <a:r>
              <a:rPr lang="zh-CN" altLang="en-US" sz="2400" b="1" dirty="0">
                <a:latin typeface="微软雅黑" panose="020B0503020204020204" pitchFamily="34" charset="-122"/>
                <a:ea typeface="微软雅黑" panose="020B0503020204020204" pitchFamily="34" charset="-122"/>
              </a:rPr>
              <a:t>的内存时，系统从空闲区表的第一个表目开始查询，直到</a:t>
            </a:r>
            <a:r>
              <a:rPr lang="zh-CN" altLang="en-US" sz="2400" b="1" dirty="0">
                <a:solidFill>
                  <a:srgbClr val="0000FF"/>
                </a:solidFill>
                <a:latin typeface="微软雅黑" panose="020B0503020204020204" pitchFamily="34" charset="-122"/>
                <a:ea typeface="微软雅黑" panose="020B0503020204020204" pitchFamily="34" charset="-122"/>
              </a:rPr>
              <a:t>首次找到等于或大于</a:t>
            </a:r>
            <a:r>
              <a:rPr lang="en-US" altLang="zh-CN" sz="2400" b="1" dirty="0">
                <a:latin typeface="微软雅黑" panose="020B0503020204020204" pitchFamily="34" charset="-122"/>
                <a:ea typeface="微软雅黑" panose="020B0503020204020204" pitchFamily="34" charset="-122"/>
              </a:rPr>
              <a:t>SIZE</a:t>
            </a:r>
            <a:r>
              <a:rPr lang="zh-CN" altLang="en-US" sz="2400" b="1" dirty="0">
                <a:latin typeface="微软雅黑" panose="020B0503020204020204" pitchFamily="34" charset="-122"/>
                <a:ea typeface="微软雅黑" panose="020B0503020204020204" pitchFamily="34" charset="-122"/>
              </a:rPr>
              <a:t>的空闲区；</a:t>
            </a:r>
            <a:endParaRPr lang="en-US" altLang="zh-CN" sz="2400" b="1" dirty="0">
              <a:latin typeface="微软雅黑" panose="020B0503020204020204" pitchFamily="34" charset="-122"/>
              <a:ea typeface="微软雅黑" panose="020B0503020204020204" pitchFamily="34" charset="-122"/>
            </a:endParaRPr>
          </a:p>
          <a:p>
            <a:pPr marL="342900" indent="-342900" algn="l" defTabSz="449580">
              <a:lnSpc>
                <a:spcPct val="200000"/>
              </a:lnSpc>
              <a:spcBef>
                <a:spcPts val="1200"/>
              </a:spcBef>
              <a:buClr>
                <a:srgbClr val="2F5597"/>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从该区中划出大小为</a:t>
            </a:r>
            <a:r>
              <a:rPr lang="en-US" altLang="zh-CN" sz="2400" b="1" dirty="0">
                <a:latin typeface="微软雅黑" panose="020B0503020204020204" pitchFamily="34" charset="-122"/>
                <a:ea typeface="微软雅黑" panose="020B0503020204020204" pitchFamily="34" charset="-122"/>
              </a:rPr>
              <a:t>SIZE</a:t>
            </a:r>
            <a:r>
              <a:rPr lang="zh-CN" altLang="en-US" sz="2400" b="1" dirty="0">
                <a:latin typeface="微软雅黑" panose="020B0503020204020204" pitchFamily="34" charset="-122"/>
                <a:ea typeface="微软雅黑" panose="020B0503020204020204" pitchFamily="34" charset="-122"/>
              </a:rPr>
              <a:t>的分区分配给进程；</a:t>
            </a:r>
            <a:endParaRPr lang="en-US" altLang="zh-CN" sz="2400" b="1" dirty="0">
              <a:latin typeface="微软雅黑" panose="020B0503020204020204" pitchFamily="34" charset="-122"/>
              <a:ea typeface="微软雅黑" panose="020B0503020204020204" pitchFamily="34" charset="-122"/>
            </a:endParaRPr>
          </a:p>
          <a:p>
            <a:pPr marL="342900" indent="-342900" algn="l" defTabSz="449580">
              <a:lnSpc>
                <a:spcPct val="200000"/>
              </a:lnSpc>
              <a:spcBef>
                <a:spcPts val="1200"/>
              </a:spcBef>
              <a:buClr>
                <a:srgbClr val="2F5597"/>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余下的部分仍作为一个空闲区留在空闲区表中，但要</a:t>
            </a:r>
            <a:r>
              <a:rPr lang="zh-CN" altLang="en-US" sz="2400" b="1" dirty="0">
                <a:solidFill>
                  <a:srgbClr val="0000FF"/>
                </a:solidFill>
                <a:latin typeface="微软雅黑" panose="020B0503020204020204" pitchFamily="34" charset="-122"/>
                <a:ea typeface="微软雅黑" panose="020B0503020204020204" pitchFamily="34" charset="-122"/>
              </a:rPr>
              <a:t>修改其首址和大小</a:t>
            </a:r>
            <a:r>
              <a:rPr lang="zh-CN" altLang="en-US"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p:txBody>
      </p:sp>
      <p:sp>
        <p:nvSpPr>
          <p:cNvPr id="7" name="Rectangle 15"/>
          <p:cNvSpPr>
            <a:spLocks noChangeArrowheads="1"/>
          </p:cNvSpPr>
          <p:nvPr/>
        </p:nvSpPr>
        <p:spPr bwMode="auto">
          <a:xfrm>
            <a:off x="794808" y="1737139"/>
            <a:ext cx="650242" cy="4521842"/>
          </a:xfrm>
          <a:prstGeom prst="rect">
            <a:avLst/>
          </a:prstGeom>
          <a:solidFill>
            <a:srgbClr val="2F5597"/>
          </a:solidFill>
          <a:ln w="28575">
            <a:solidFill>
              <a:schemeClr val="accent1"/>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分</a:t>
            </a: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配</a:t>
            </a:r>
            <a:endParaRPr lang="zh-CN" sz="28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334645" y="959485"/>
            <a:ext cx="9845675"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首次适应（</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first fit, FF</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）算法</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35280" y="33655"/>
            <a:ext cx="1070546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4.3.4 </a:t>
            </a:r>
            <a:r>
              <a:rPr lang="zh-CN" altLang="en-US" sz="3900" b="1" dirty="0">
                <a:latin typeface="微软雅黑" panose="020B0503020204020204" pitchFamily="34" charset="-122"/>
                <a:ea typeface="微软雅黑" panose="020B0503020204020204" pitchFamily="34" charset="-122"/>
              </a:rPr>
              <a:t>基于顺序搜索的动态分区分配算法</a:t>
            </a:r>
            <a:endParaRPr lang="zh-CN" altLang="en-US" sz="3900" b="1" dirty="0">
              <a:latin typeface="微软雅黑" panose="020B0503020204020204" pitchFamily="34" charset="-122"/>
              <a:ea typeface="微软雅黑" panose="020B0503020204020204" pitchFamily="34" charset="-122"/>
            </a:endParaRPr>
          </a:p>
        </p:txBody>
      </p:sp>
      <p:sp>
        <p:nvSpPr>
          <p:cNvPr id="6" name="Rectangle 15"/>
          <p:cNvSpPr>
            <a:spLocks noChangeArrowheads="1"/>
          </p:cNvSpPr>
          <p:nvPr/>
        </p:nvSpPr>
        <p:spPr bwMode="auto">
          <a:xfrm>
            <a:off x="1256030" y="1723390"/>
            <a:ext cx="10297160" cy="3681730"/>
          </a:xfrm>
          <a:prstGeom prst="rect">
            <a:avLst/>
          </a:prstGeom>
          <a:solidFill>
            <a:schemeClr val="bg1"/>
          </a:solidFill>
          <a:ln w="28575">
            <a:solidFill>
              <a:schemeClr val="accent1"/>
            </a:solidFill>
            <a:miter lim="800000"/>
          </a:ln>
          <a:effectLst/>
          <a:scene3d>
            <a:camera prst="orthographicFront"/>
            <a:lightRig rig="threePt" dir="t"/>
          </a:scene3d>
          <a:sp3d>
            <a:bevelT/>
          </a:sp3d>
        </p:spPr>
        <p:txBody>
          <a:bodyPr/>
          <a:lstStyle/>
          <a:p>
            <a:pPr marL="342900" indent="-342900" defTabSz="449580">
              <a:lnSpc>
                <a:spcPct val="150000"/>
              </a:lnSpc>
              <a:spcBef>
                <a:spcPts val="1200"/>
              </a:spcBef>
              <a:buClr>
                <a:srgbClr val="2F5597"/>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按释放区的</a:t>
            </a:r>
            <a:r>
              <a:rPr lang="zh-CN" altLang="en-US" sz="2400" b="1" dirty="0">
                <a:solidFill>
                  <a:srgbClr val="0000FF"/>
                </a:solidFill>
                <a:latin typeface="微软雅黑" panose="020B0503020204020204" pitchFamily="34" charset="-122"/>
                <a:ea typeface="微软雅黑" panose="020B0503020204020204" pitchFamily="34" charset="-122"/>
              </a:rPr>
              <a:t>首址</a:t>
            </a:r>
            <a:r>
              <a:rPr lang="zh-CN" altLang="en-US" sz="2400" b="1" dirty="0">
                <a:latin typeface="微软雅黑" panose="020B0503020204020204" pitchFamily="34" charset="-122"/>
                <a:ea typeface="微软雅黑" panose="020B0503020204020204" pitchFamily="34" charset="-122"/>
              </a:rPr>
              <a:t>，查询空闲区表；</a:t>
            </a:r>
            <a:endParaRPr lang="zh-CN" altLang="en-US" sz="2400" b="1" dirty="0">
              <a:latin typeface="微软雅黑" panose="020B0503020204020204" pitchFamily="34" charset="-122"/>
              <a:ea typeface="微软雅黑" panose="020B0503020204020204" pitchFamily="34" charset="-122"/>
            </a:endParaRPr>
          </a:p>
          <a:p>
            <a:pPr marL="342900" indent="-342900" defTabSz="449580">
              <a:lnSpc>
                <a:spcPct val="150000"/>
              </a:lnSpc>
              <a:spcBef>
                <a:spcPts val="1200"/>
              </a:spcBef>
              <a:buClr>
                <a:srgbClr val="2F5597"/>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若有与释放区相邻的空闲区，则合并到相邻的空闲区中，并修改该区的大小和首址；</a:t>
            </a:r>
            <a:endParaRPr lang="zh-CN" altLang="en-US" sz="2400" b="1" dirty="0">
              <a:latin typeface="微软雅黑" panose="020B0503020204020204" pitchFamily="34" charset="-122"/>
              <a:ea typeface="微软雅黑" panose="020B0503020204020204" pitchFamily="34" charset="-122"/>
            </a:endParaRPr>
          </a:p>
          <a:p>
            <a:pPr marL="342900" indent="-342900" defTabSz="449580">
              <a:lnSpc>
                <a:spcPct val="150000"/>
              </a:lnSpc>
              <a:spcBef>
                <a:spcPts val="1200"/>
              </a:spcBef>
              <a:buClr>
                <a:srgbClr val="2F5597"/>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否则，把释放区作为一个空闲区，将其大小和首址</a:t>
            </a:r>
            <a:r>
              <a:rPr lang="zh-CN" altLang="en-US" sz="2400" b="1" dirty="0">
                <a:solidFill>
                  <a:srgbClr val="0000FF"/>
                </a:solidFill>
                <a:latin typeface="微软雅黑" panose="020B0503020204020204" pitchFamily="34" charset="-122"/>
                <a:ea typeface="微软雅黑" panose="020B0503020204020204" pitchFamily="34" charset="-122"/>
              </a:rPr>
              <a:t>按照首地址大小递增</a:t>
            </a:r>
            <a:r>
              <a:rPr lang="zh-CN" altLang="en-US" sz="2400" b="1" dirty="0">
                <a:latin typeface="微软雅黑" panose="020B0503020204020204" pitchFamily="34" charset="-122"/>
                <a:ea typeface="微软雅黑" panose="020B0503020204020204" pitchFamily="34" charset="-122"/>
              </a:rPr>
              <a:t>的顺序插入到空闲区表的适当位置。</a:t>
            </a:r>
            <a:endParaRPr lang="zh-CN" altLang="en-US" sz="2400" b="1" dirty="0">
              <a:latin typeface="微软雅黑" panose="020B0503020204020204" pitchFamily="34" charset="-122"/>
              <a:ea typeface="微软雅黑" panose="020B0503020204020204" pitchFamily="34" charset="-122"/>
            </a:endParaRPr>
          </a:p>
        </p:txBody>
      </p:sp>
      <p:sp>
        <p:nvSpPr>
          <p:cNvPr id="7" name="Rectangle 15"/>
          <p:cNvSpPr>
            <a:spLocks noChangeArrowheads="1"/>
          </p:cNvSpPr>
          <p:nvPr/>
        </p:nvSpPr>
        <p:spPr bwMode="auto">
          <a:xfrm>
            <a:off x="456988" y="1676814"/>
            <a:ext cx="650242" cy="3681951"/>
          </a:xfrm>
          <a:prstGeom prst="rect">
            <a:avLst/>
          </a:prstGeom>
          <a:solidFill>
            <a:srgbClr val="2F5597"/>
          </a:solidFill>
          <a:ln w="28575">
            <a:solidFill>
              <a:schemeClr val="accent1"/>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回</a:t>
            </a: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收</a:t>
            </a:r>
            <a:endParaRPr lang="zh-CN" altLang="en-US" sz="2800" b="1" dirty="0">
              <a:solidFill>
                <a:srgbClr val="FFFF00"/>
              </a:solidFill>
              <a:latin typeface="微软雅黑" panose="020B0503020204020204" pitchFamily="34" charset="-122"/>
              <a:ea typeface="微软雅黑" panose="020B0503020204020204" pitchFamily="34" charset="-122"/>
            </a:endParaRPr>
          </a:p>
        </p:txBody>
      </p:sp>
      <p:sp>
        <p:nvSpPr>
          <p:cNvPr id="8" name="Rectangle 15"/>
          <p:cNvSpPr>
            <a:spLocks noChangeArrowheads="1"/>
          </p:cNvSpPr>
          <p:nvPr/>
        </p:nvSpPr>
        <p:spPr bwMode="auto">
          <a:xfrm>
            <a:off x="1256030" y="5591175"/>
            <a:ext cx="10297160" cy="1081405"/>
          </a:xfrm>
          <a:prstGeom prst="rect">
            <a:avLst/>
          </a:prstGeom>
          <a:solidFill>
            <a:schemeClr val="bg1"/>
          </a:solidFill>
          <a:ln w="28575">
            <a:solidFill>
              <a:schemeClr val="accent1"/>
            </a:solidFill>
            <a:miter lim="800000"/>
          </a:ln>
          <a:effectLst/>
          <a:scene3d>
            <a:camera prst="orthographicFront"/>
            <a:lightRig rig="threePt" dir="t"/>
          </a:scene3d>
          <a:sp3d>
            <a:bevelT/>
          </a:sp3d>
        </p:spPr>
        <p:txBody>
          <a:bodyPr/>
          <a:lstStyle/>
          <a:p>
            <a:pPr marL="342900" indent="-342900" defTabSz="449580">
              <a:lnSpc>
                <a:spcPct val="200000"/>
              </a:lnSpc>
              <a:buClr>
                <a:srgbClr val="2F5597"/>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每次分配和回收后空闲区表或空闲区队列都要按</a:t>
            </a:r>
            <a:r>
              <a:rPr lang="zh-CN" altLang="en-US" sz="2400" b="1" dirty="0">
                <a:solidFill>
                  <a:srgbClr val="0000FF"/>
                </a:solidFill>
                <a:latin typeface="微软雅黑" panose="020B0503020204020204" pitchFamily="34" charset="-122"/>
                <a:ea typeface="微软雅黑" panose="020B0503020204020204" pitchFamily="34" charset="-122"/>
              </a:rPr>
              <a:t>首址递增</a:t>
            </a:r>
            <a:r>
              <a:rPr lang="zh-CN" altLang="en-US" sz="2400" b="1" dirty="0">
                <a:latin typeface="微软雅黑" panose="020B0503020204020204" pitchFamily="34" charset="-122"/>
                <a:ea typeface="微软雅黑" panose="020B0503020204020204" pitchFamily="34" charset="-122"/>
              </a:rPr>
              <a:t>的次序排序</a:t>
            </a:r>
            <a:endParaRPr lang="zh-CN" altLang="en-US" sz="2400" b="1" dirty="0">
              <a:latin typeface="微软雅黑" panose="020B0503020204020204" pitchFamily="34" charset="-122"/>
              <a:ea typeface="微软雅黑" panose="020B0503020204020204" pitchFamily="34" charset="-122"/>
            </a:endParaRPr>
          </a:p>
        </p:txBody>
      </p:sp>
      <p:sp>
        <p:nvSpPr>
          <p:cNvPr id="9" name="Rectangle 15"/>
          <p:cNvSpPr>
            <a:spLocks noChangeArrowheads="1"/>
          </p:cNvSpPr>
          <p:nvPr/>
        </p:nvSpPr>
        <p:spPr bwMode="auto">
          <a:xfrm>
            <a:off x="456988" y="5544530"/>
            <a:ext cx="650242" cy="1081348"/>
          </a:xfrm>
          <a:prstGeom prst="rect">
            <a:avLst/>
          </a:prstGeom>
          <a:solidFill>
            <a:srgbClr val="2F5597"/>
          </a:solidFill>
          <a:ln w="28575">
            <a:solidFill>
              <a:schemeClr val="accent1"/>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排 </a:t>
            </a: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序</a:t>
            </a:r>
            <a:endParaRPr lang="zh-CN" sz="28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1000"/>
                                        <p:tgtEl>
                                          <p:spTgt spid="9"/>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9"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57200" y="959485"/>
            <a:ext cx="972312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首次适应（</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first fit, FF</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）算法</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34315" y="33655"/>
            <a:ext cx="1080643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4.3.4 </a:t>
            </a:r>
            <a:r>
              <a:rPr lang="zh-CN" altLang="en-US" sz="3900" b="1" dirty="0">
                <a:latin typeface="微软雅黑" panose="020B0503020204020204" pitchFamily="34" charset="-122"/>
                <a:ea typeface="微软雅黑" panose="020B0503020204020204" pitchFamily="34" charset="-122"/>
              </a:rPr>
              <a:t>基于顺序搜索的动态分区分配算法</a:t>
            </a:r>
            <a:endParaRPr lang="zh-CN" altLang="en-US" sz="3900" b="1" dirty="0">
              <a:latin typeface="微软雅黑" panose="020B0503020204020204" pitchFamily="34" charset="-122"/>
              <a:ea typeface="微软雅黑" panose="020B0503020204020204" pitchFamily="34" charset="-122"/>
            </a:endParaRPr>
          </a:p>
        </p:txBody>
      </p:sp>
      <p:sp>
        <p:nvSpPr>
          <p:cNvPr id="8" name="Rectangle 15"/>
          <p:cNvSpPr>
            <a:spLocks noChangeArrowheads="1"/>
          </p:cNvSpPr>
          <p:nvPr/>
        </p:nvSpPr>
        <p:spPr bwMode="auto">
          <a:xfrm>
            <a:off x="1437640" y="1666240"/>
            <a:ext cx="9897110" cy="2438400"/>
          </a:xfrm>
          <a:prstGeom prst="rect">
            <a:avLst/>
          </a:prstGeom>
          <a:solidFill>
            <a:schemeClr val="bg1"/>
          </a:solidFill>
          <a:ln w="28575">
            <a:solidFill>
              <a:schemeClr val="accent1"/>
            </a:solidFill>
            <a:miter lim="800000"/>
          </a:ln>
          <a:effectLst/>
          <a:scene3d>
            <a:camera prst="orthographicFront"/>
            <a:lightRig rig="threePt" dir="t"/>
          </a:scene3d>
          <a:sp3d>
            <a:bevelT/>
          </a:sp3d>
        </p:spPr>
        <p:txBody>
          <a:bodyPr/>
          <a:lstStyle/>
          <a:p>
            <a:pPr marL="342900" indent="-342900" defTabSz="449580">
              <a:lnSpc>
                <a:spcPct val="150000"/>
              </a:lnSpc>
              <a:buClr>
                <a:srgbClr val="2F5597"/>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释放某一存储区时，若与空闲区</a:t>
            </a:r>
            <a:r>
              <a:rPr lang="zh-CN" altLang="en-US" sz="2400" b="1" dirty="0">
                <a:solidFill>
                  <a:srgbClr val="0000FF"/>
                </a:solidFill>
                <a:latin typeface="微软雅黑" panose="020B0503020204020204" pitchFamily="34" charset="-122"/>
                <a:ea typeface="微软雅黑" panose="020B0503020204020204" pitchFamily="34" charset="-122"/>
              </a:rPr>
              <a:t>相邻则合并</a:t>
            </a:r>
            <a:r>
              <a:rPr lang="zh-CN" altLang="en-US" sz="2400" b="1" dirty="0">
                <a:latin typeface="微软雅黑" panose="020B0503020204020204" pitchFamily="34" charset="-122"/>
                <a:ea typeface="微软雅黑" panose="020B0503020204020204" pitchFamily="34" charset="-122"/>
              </a:rPr>
              <a:t>到相邻空闲分区中去，这种情况并不改变该区在表中的位置，只要修改其大小或首址。</a:t>
            </a:r>
            <a:endParaRPr lang="zh-CN" altLang="en-US" sz="2400" b="1" dirty="0">
              <a:latin typeface="微软雅黑" panose="020B0503020204020204" pitchFamily="34" charset="-122"/>
              <a:ea typeface="微软雅黑" panose="020B0503020204020204" pitchFamily="34" charset="-122"/>
            </a:endParaRPr>
          </a:p>
          <a:p>
            <a:pPr marL="342900" indent="-342900" defTabSz="449580">
              <a:lnSpc>
                <a:spcPct val="150000"/>
              </a:lnSpc>
              <a:buClr>
                <a:srgbClr val="2F5597"/>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这种算法是</a:t>
            </a:r>
            <a:r>
              <a:rPr lang="zh-CN" altLang="en-US" sz="2400" b="1" dirty="0">
                <a:solidFill>
                  <a:srgbClr val="0000FF"/>
                </a:solidFill>
                <a:latin typeface="微软雅黑" panose="020B0503020204020204" pitchFamily="34" charset="-122"/>
                <a:ea typeface="微软雅黑" panose="020B0503020204020204" pitchFamily="34" charset="-122"/>
              </a:rPr>
              <a:t>尽可能地利用低地址空间</a:t>
            </a:r>
            <a:r>
              <a:rPr lang="zh-CN" altLang="en-US" sz="2400" b="1" dirty="0">
                <a:latin typeface="微软雅黑" panose="020B0503020204020204" pitchFamily="34" charset="-122"/>
                <a:ea typeface="微软雅黑" panose="020B0503020204020204" pitchFamily="34" charset="-122"/>
              </a:rPr>
              <a:t>，从而保证高地址空间有</a:t>
            </a:r>
            <a:r>
              <a:rPr lang="zh-CN" altLang="en-US" sz="2400" b="1" dirty="0">
                <a:solidFill>
                  <a:srgbClr val="0000FF"/>
                </a:solidFill>
                <a:latin typeface="微软雅黑" panose="020B0503020204020204" pitchFamily="34" charset="-122"/>
                <a:ea typeface="微软雅黑" panose="020B0503020204020204" pitchFamily="34" charset="-122"/>
              </a:rPr>
              <a:t>较大的空闲区</a:t>
            </a:r>
            <a:r>
              <a:rPr lang="zh-CN" altLang="en-US" sz="2400" b="1" dirty="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sp>
        <p:nvSpPr>
          <p:cNvPr id="9" name="Rectangle 15"/>
          <p:cNvSpPr>
            <a:spLocks noChangeArrowheads="1"/>
          </p:cNvSpPr>
          <p:nvPr/>
        </p:nvSpPr>
        <p:spPr bwMode="auto">
          <a:xfrm>
            <a:off x="584623" y="1666240"/>
            <a:ext cx="650242" cy="2438400"/>
          </a:xfrm>
          <a:prstGeom prst="rect">
            <a:avLst/>
          </a:prstGeom>
          <a:solidFill>
            <a:srgbClr val="2F5597"/>
          </a:solidFill>
          <a:ln w="28575">
            <a:solidFill>
              <a:schemeClr val="accent1"/>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优</a:t>
            </a: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点</a:t>
            </a:r>
            <a:endParaRPr lang="zh-CN" altLang="en-US" sz="2800" b="1" dirty="0">
              <a:solidFill>
                <a:srgbClr val="FFFF00"/>
              </a:solidFill>
              <a:latin typeface="微软雅黑" panose="020B0503020204020204" pitchFamily="34" charset="-122"/>
              <a:ea typeface="微软雅黑" panose="020B0503020204020204" pitchFamily="34" charset="-122"/>
            </a:endParaRPr>
          </a:p>
        </p:txBody>
      </p:sp>
      <p:sp>
        <p:nvSpPr>
          <p:cNvPr id="10" name="Rectangle 15"/>
          <p:cNvSpPr>
            <a:spLocks noChangeArrowheads="1"/>
          </p:cNvSpPr>
          <p:nvPr/>
        </p:nvSpPr>
        <p:spPr bwMode="auto">
          <a:xfrm>
            <a:off x="1437640" y="4307205"/>
            <a:ext cx="9897110" cy="2025650"/>
          </a:xfrm>
          <a:prstGeom prst="rect">
            <a:avLst/>
          </a:prstGeom>
          <a:solidFill>
            <a:schemeClr val="bg1"/>
          </a:solidFill>
          <a:ln w="28575">
            <a:solidFill>
              <a:schemeClr val="accent1"/>
            </a:solidFill>
            <a:miter lim="800000"/>
          </a:ln>
          <a:effectLst/>
          <a:scene3d>
            <a:camera prst="orthographicFront"/>
            <a:lightRig rig="threePt" dir="t"/>
          </a:scene3d>
          <a:sp3d>
            <a:bevelT/>
          </a:sp3d>
        </p:spPr>
        <p:txBody>
          <a:bodyPr/>
          <a:lstStyle/>
          <a:p>
            <a:pPr marL="342900" indent="-342900" defTabSz="449580">
              <a:lnSpc>
                <a:spcPct val="150000"/>
              </a:lnSpc>
              <a:buClr>
                <a:srgbClr val="2F5597"/>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低址部分不断被划分，会留下许多难以利用的、很小的空闲分区</a:t>
            </a:r>
            <a:r>
              <a:rPr lang="en-US" altLang="zh-CN" sz="2400" b="1" dirty="0">
                <a:latin typeface="微软雅黑" panose="020B0503020204020204" pitchFamily="34" charset="-122"/>
                <a:ea typeface="微软雅黑" panose="020B0503020204020204" pitchFamily="34" charset="-122"/>
              </a:rPr>
              <a:t>——</a:t>
            </a:r>
            <a:r>
              <a:rPr lang="zh-CN" altLang="en-US" sz="2400" b="1" dirty="0">
                <a:solidFill>
                  <a:srgbClr val="0000FF"/>
                </a:solidFill>
                <a:latin typeface="微软雅黑" panose="020B0503020204020204" pitchFamily="34" charset="-122"/>
                <a:ea typeface="微软雅黑" panose="020B0503020204020204" pitchFamily="34" charset="-122"/>
              </a:rPr>
              <a:t>碎片</a:t>
            </a:r>
            <a:endParaRPr lang="en-US" altLang="zh-CN" sz="2400" b="1" dirty="0">
              <a:solidFill>
                <a:srgbClr val="0000FF"/>
              </a:solidFill>
              <a:latin typeface="微软雅黑" panose="020B0503020204020204" pitchFamily="34" charset="-122"/>
              <a:ea typeface="微软雅黑" panose="020B0503020204020204" pitchFamily="34" charset="-122"/>
            </a:endParaRPr>
          </a:p>
          <a:p>
            <a:pPr marL="342900" indent="-342900" defTabSz="449580">
              <a:lnSpc>
                <a:spcPct val="150000"/>
              </a:lnSpc>
              <a:buClr>
                <a:srgbClr val="2F5597"/>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每次查找又都是从低址部分开始，会增加查找可用空闲分区时的</a:t>
            </a:r>
            <a:r>
              <a:rPr lang="zh-CN" altLang="en-US" sz="2400" b="1" dirty="0">
                <a:solidFill>
                  <a:srgbClr val="0000FF"/>
                </a:solidFill>
                <a:latin typeface="微软雅黑" panose="020B0503020204020204" pitchFamily="34" charset="-122"/>
                <a:ea typeface="微软雅黑" panose="020B0503020204020204" pitchFamily="34" charset="-122"/>
              </a:rPr>
              <a:t>开销</a:t>
            </a:r>
            <a:endParaRPr lang="zh-CN" altLang="en-US" sz="2400" b="1" dirty="0">
              <a:solidFill>
                <a:srgbClr val="0000FF"/>
              </a:solidFill>
              <a:latin typeface="微软雅黑" panose="020B0503020204020204" pitchFamily="34" charset="-122"/>
              <a:ea typeface="微软雅黑" panose="020B0503020204020204" pitchFamily="34" charset="-122"/>
            </a:endParaRPr>
          </a:p>
        </p:txBody>
      </p:sp>
      <p:sp>
        <p:nvSpPr>
          <p:cNvPr id="11" name="Rectangle 15"/>
          <p:cNvSpPr>
            <a:spLocks noChangeArrowheads="1"/>
          </p:cNvSpPr>
          <p:nvPr/>
        </p:nvSpPr>
        <p:spPr bwMode="auto">
          <a:xfrm>
            <a:off x="584623" y="4307482"/>
            <a:ext cx="650242" cy="2025584"/>
          </a:xfrm>
          <a:prstGeom prst="rect">
            <a:avLst/>
          </a:prstGeom>
          <a:solidFill>
            <a:srgbClr val="2F5597"/>
          </a:solidFill>
          <a:ln w="28575">
            <a:solidFill>
              <a:schemeClr val="accent1"/>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缺</a:t>
            </a: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点</a:t>
            </a:r>
            <a:endParaRPr lang="zh-CN" sz="28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1000"/>
                                        <p:tgtEl>
                                          <p:spTgt spid="11"/>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bldLvl="0" animBg="1"/>
      <p:bldP spid="11" grpId="0" bldLvl="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830580" y="959485"/>
            <a:ext cx="1064768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有作业序列：作业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18K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25K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C</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30K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。系统中空闲区按不同算法组成的空闲区队列，如下图所示 ：</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61950" y="33655"/>
            <a:ext cx="1067879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 </a:t>
            </a:r>
            <a:r>
              <a:rPr lang="zh-CN" altLang="en-US" sz="3900" b="1" dirty="0">
                <a:latin typeface="微软雅黑" panose="020B0503020204020204" pitchFamily="34" charset="-122"/>
                <a:ea typeface="微软雅黑" panose="020B0503020204020204" pitchFamily="34" charset="-122"/>
              </a:rPr>
              <a:t>连续分配存储管理</a:t>
            </a:r>
            <a:r>
              <a:rPr lang="en-US" altLang="zh-CN" sz="3900" b="1" dirty="0">
                <a:latin typeface="微软雅黑" panose="020B0503020204020204" pitchFamily="34" charset="-122"/>
                <a:ea typeface="微软雅黑" panose="020B0503020204020204" pitchFamily="34" charset="-122"/>
              </a:rPr>
              <a:t> </a:t>
            </a:r>
            <a:r>
              <a:rPr lang="zh-CN" altLang="en-US" sz="3900" b="1" dirty="0">
                <a:solidFill>
                  <a:srgbClr val="FF0000"/>
                </a:solidFill>
                <a:latin typeface="微软雅黑" panose="020B0503020204020204" pitchFamily="34" charset="-122"/>
                <a:ea typeface="微软雅黑" panose="020B0503020204020204" pitchFamily="34" charset="-122"/>
              </a:rPr>
              <a:t>练习</a:t>
            </a:r>
            <a:r>
              <a:rPr lang="en-US" altLang="zh-CN" sz="3900" b="1" dirty="0">
                <a:solidFill>
                  <a:srgbClr val="FF0000"/>
                </a:solidFill>
                <a:latin typeface="微软雅黑" panose="020B0503020204020204" pitchFamily="34" charset="-122"/>
                <a:ea typeface="微软雅黑" panose="020B0503020204020204" pitchFamily="34" charset="-122"/>
              </a:rPr>
              <a:t>1</a:t>
            </a:r>
            <a:endParaRPr lang="zh-CN" altLang="en-US" sz="3900" b="1" dirty="0">
              <a:solidFill>
                <a:srgbClr val="FF0000"/>
              </a:solidFill>
              <a:latin typeface="微软雅黑" panose="020B0503020204020204" pitchFamily="34" charset="-122"/>
              <a:ea typeface="微软雅黑" panose="020B0503020204020204" pitchFamily="34" charset="-122"/>
            </a:endParaRPr>
          </a:p>
        </p:txBody>
      </p:sp>
      <p:pic>
        <p:nvPicPr>
          <p:cNvPr id="34" name="Picture 6" descr="os0702"/>
          <p:cNvPicPr>
            <a:picLocks noChangeAspect="1" noChangeArrowheads="1"/>
          </p:cNvPicPr>
          <p:nvPr/>
        </p:nvPicPr>
        <p:blipFill>
          <a:blip r:embed="rId1" cstate="print"/>
          <a:srcRect/>
          <a:stretch>
            <a:fillRect/>
          </a:stretch>
        </p:blipFill>
        <p:spPr bwMode="auto">
          <a:xfrm>
            <a:off x="1252855" y="2785745"/>
            <a:ext cx="8973820" cy="4077970"/>
          </a:xfrm>
          <a:prstGeom prst="rect">
            <a:avLst/>
          </a:prstGeom>
          <a:noFill/>
          <a:ln w="9525">
            <a:noFill/>
            <a:miter lim="800000"/>
            <a:headEnd/>
            <a:tailEnd/>
          </a:ln>
        </p:spPr>
      </p:pic>
      <p:sp>
        <p:nvSpPr>
          <p:cNvPr id="35" name="Rectangle 6"/>
          <p:cNvSpPr>
            <a:spLocks noChangeArrowheads="1"/>
          </p:cNvSpPr>
          <p:nvPr/>
        </p:nvSpPr>
        <p:spPr bwMode="auto">
          <a:xfrm>
            <a:off x="516890" y="2196465"/>
            <a:ext cx="11258550" cy="508635"/>
          </a:xfrm>
          <a:prstGeom prst="rect">
            <a:avLst/>
          </a:prstGeom>
          <a:solidFill>
            <a:srgbClr val="C00000"/>
          </a:solidFill>
          <a:ln w="9525">
            <a:solidFill>
              <a:srgbClr val="0000E2"/>
            </a:solidFill>
            <a:miter lim="800000"/>
          </a:ln>
          <a:effectLst/>
          <a:scene3d>
            <a:camera prst="orthographicFront"/>
            <a:lightRig rig="threePt" dir="t"/>
          </a:scene3d>
          <a:sp3d>
            <a:bevelT/>
          </a:sp3d>
        </p:spPr>
        <p:txBody>
          <a:bodyPr/>
          <a:lstStyle/>
          <a:p>
            <a:pPr marL="342900" indent="-342900" algn="ctr">
              <a:buClr>
                <a:srgbClr val="33CCFF"/>
              </a:buClr>
            </a:pPr>
            <a:r>
              <a:rPr lang="zh-CN" sz="2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首次适应：地址递增</a:t>
            </a:r>
            <a:endParaRPr lang="zh-CN" sz="2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3696970" y="4106545"/>
            <a:ext cx="6423025" cy="25971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617220" y="959485"/>
            <a:ext cx="956310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循环首次适应（</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next fit, NF</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）算法</a:t>
            </a:r>
            <a:endPar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48615" y="33655"/>
            <a:ext cx="1069213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4.3.4 </a:t>
            </a:r>
            <a:r>
              <a:rPr lang="zh-CN" altLang="en-US" sz="3900" b="1" dirty="0">
                <a:latin typeface="微软雅黑" panose="020B0503020204020204" pitchFamily="34" charset="-122"/>
                <a:ea typeface="微软雅黑" panose="020B0503020204020204" pitchFamily="34" charset="-122"/>
              </a:rPr>
              <a:t>基于顺序搜索的动态分区分配算法</a:t>
            </a:r>
            <a:endParaRPr lang="zh-CN" altLang="en-US" sz="3900" b="1" dirty="0">
              <a:latin typeface="微软雅黑" panose="020B0503020204020204" pitchFamily="34" charset="-122"/>
              <a:ea typeface="微软雅黑" panose="020B0503020204020204" pitchFamily="34" charset="-122"/>
            </a:endParaRPr>
          </a:p>
        </p:txBody>
      </p:sp>
      <p:sp>
        <p:nvSpPr>
          <p:cNvPr id="8" name="Rectangle 15"/>
          <p:cNvSpPr>
            <a:spLocks noChangeArrowheads="1"/>
          </p:cNvSpPr>
          <p:nvPr/>
        </p:nvSpPr>
        <p:spPr bwMode="auto">
          <a:xfrm>
            <a:off x="1604645" y="1666240"/>
            <a:ext cx="10104120" cy="5100320"/>
          </a:xfrm>
          <a:prstGeom prst="rect">
            <a:avLst/>
          </a:prstGeom>
          <a:solidFill>
            <a:schemeClr val="bg1"/>
          </a:solidFill>
          <a:ln w="28575">
            <a:solidFill>
              <a:schemeClr val="accent2"/>
            </a:solidFill>
            <a:miter lim="800000"/>
          </a:ln>
          <a:effectLst/>
          <a:scene3d>
            <a:camera prst="orthographicFront"/>
            <a:lightRig rig="threePt" dir="t"/>
          </a:scene3d>
          <a:sp3d>
            <a:bevelT/>
          </a:sp3d>
        </p:spPr>
        <p:txBody>
          <a:bodyPr/>
          <a:lstStyle/>
          <a:p>
            <a:pPr marL="342900" indent="-342900" defTabSz="449580">
              <a:lnSpc>
                <a:spcPct val="200000"/>
              </a:lnSpc>
              <a:buClr>
                <a:schemeClr val="accent2"/>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在为进程分配内存空间时，从上次找到的空闲分区的</a:t>
            </a:r>
            <a:r>
              <a:rPr lang="zh-CN" altLang="en-US" sz="2400" b="1" dirty="0">
                <a:solidFill>
                  <a:srgbClr val="FF0000"/>
                </a:solidFill>
                <a:latin typeface="微软雅黑" panose="020B0503020204020204" pitchFamily="34" charset="-122"/>
                <a:ea typeface="微软雅黑" panose="020B0503020204020204" pitchFamily="34" charset="-122"/>
              </a:rPr>
              <a:t>下一个空闲分区</a:t>
            </a:r>
            <a:r>
              <a:rPr lang="zh-CN" altLang="en-US" sz="2400" b="1" dirty="0">
                <a:latin typeface="微软雅黑" panose="020B0503020204020204" pitchFamily="34" charset="-122"/>
                <a:ea typeface="微软雅黑" panose="020B0503020204020204" pitchFamily="34" charset="-122"/>
              </a:rPr>
              <a:t>开始查找，直至找到一个能满足要求的空闲分区，从中划出一块与请求大小相等的内存空间分配给作业。</a:t>
            </a:r>
            <a:endParaRPr lang="en-US" altLang="zh-CN" sz="2400" b="1" dirty="0">
              <a:latin typeface="微软雅黑" panose="020B0503020204020204" pitchFamily="34" charset="-122"/>
              <a:ea typeface="微软雅黑" panose="020B0503020204020204" pitchFamily="34" charset="-122"/>
            </a:endParaRPr>
          </a:p>
          <a:p>
            <a:pPr marL="342900" indent="-342900" defTabSz="449580">
              <a:lnSpc>
                <a:spcPct val="200000"/>
              </a:lnSpc>
              <a:buClr>
                <a:schemeClr val="accent2"/>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设置</a:t>
            </a:r>
            <a:r>
              <a:rPr lang="zh-CN" altLang="en-US" sz="2400" b="1" dirty="0">
                <a:solidFill>
                  <a:srgbClr val="FF0000"/>
                </a:solidFill>
                <a:latin typeface="微软雅黑" panose="020B0503020204020204" pitchFamily="34" charset="-122"/>
                <a:ea typeface="微软雅黑" panose="020B0503020204020204" pitchFamily="34" charset="-122"/>
              </a:rPr>
              <a:t>起始查寻指针</a:t>
            </a:r>
            <a:r>
              <a:rPr lang="zh-CN" altLang="en-US" sz="2400" b="1" dirty="0">
                <a:latin typeface="微软雅黑" panose="020B0503020204020204" pitchFamily="34" charset="-122"/>
                <a:ea typeface="微软雅黑" panose="020B0503020204020204" pitchFamily="34" charset="-122"/>
              </a:rPr>
              <a:t>，用于指示下一次起始查寻的空闲分区。</a:t>
            </a:r>
            <a:endParaRPr lang="en-US" altLang="zh-CN" sz="2400" b="1" dirty="0">
              <a:latin typeface="微软雅黑" panose="020B0503020204020204" pitchFamily="34" charset="-122"/>
              <a:ea typeface="微软雅黑" panose="020B0503020204020204" pitchFamily="34" charset="-122"/>
            </a:endParaRPr>
          </a:p>
          <a:p>
            <a:pPr marL="342900" indent="-342900" defTabSz="449580">
              <a:lnSpc>
                <a:spcPct val="200000"/>
              </a:lnSpc>
              <a:buClr>
                <a:schemeClr val="accent2"/>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采用</a:t>
            </a:r>
            <a:r>
              <a:rPr lang="zh-CN" altLang="en-US" sz="2400" b="1" dirty="0">
                <a:solidFill>
                  <a:srgbClr val="FF0000"/>
                </a:solidFill>
                <a:latin typeface="微软雅黑" panose="020B0503020204020204" pitchFamily="34" charset="-122"/>
                <a:ea typeface="微软雅黑" panose="020B0503020204020204" pitchFamily="34" charset="-122"/>
              </a:rPr>
              <a:t>循环查找</a:t>
            </a:r>
            <a:r>
              <a:rPr lang="zh-CN" altLang="en-US" sz="2400" b="1" dirty="0">
                <a:latin typeface="微软雅黑" panose="020B0503020204020204" pitchFamily="34" charset="-122"/>
                <a:ea typeface="微软雅黑" panose="020B0503020204020204" pitchFamily="34" charset="-122"/>
              </a:rPr>
              <a:t>方式，即如果最后一个</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链尾</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空闲分区的大小仍不能满足要求，则应返回到第一个空闲分区，比较其大小是否满足要求。</a:t>
            </a:r>
            <a:endParaRPr lang="zh-CN" altLang="en-US" sz="2400" b="1" dirty="0">
              <a:latin typeface="微软雅黑" panose="020B0503020204020204" pitchFamily="34" charset="-122"/>
              <a:ea typeface="微软雅黑" panose="020B0503020204020204" pitchFamily="34" charset="-122"/>
            </a:endParaRPr>
          </a:p>
        </p:txBody>
      </p:sp>
      <p:sp>
        <p:nvSpPr>
          <p:cNvPr id="9" name="Rectangle 15"/>
          <p:cNvSpPr>
            <a:spLocks noChangeArrowheads="1"/>
          </p:cNvSpPr>
          <p:nvPr/>
        </p:nvSpPr>
        <p:spPr bwMode="auto">
          <a:xfrm>
            <a:off x="697653" y="1666239"/>
            <a:ext cx="650242" cy="5100319"/>
          </a:xfrm>
          <a:prstGeom prst="rect">
            <a:avLst/>
          </a:prstGeom>
          <a:solidFill>
            <a:schemeClr val="accent2"/>
          </a:solidFill>
          <a:ln w="28575">
            <a:solidFill>
              <a:schemeClr val="accent2"/>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分</a:t>
            </a: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配</a:t>
            </a:r>
            <a:endParaRPr lang="zh-CN" sz="28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603885" y="959485"/>
            <a:ext cx="9576435"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循环首次适应（</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next fit, NF</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）算法</a:t>
            </a:r>
            <a:endPar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54965" y="33655"/>
            <a:ext cx="1068578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4.3.4 </a:t>
            </a:r>
            <a:r>
              <a:rPr lang="zh-CN" altLang="en-US" sz="3900" b="1" dirty="0">
                <a:latin typeface="微软雅黑" panose="020B0503020204020204" pitchFamily="34" charset="-122"/>
                <a:ea typeface="微软雅黑" panose="020B0503020204020204" pitchFamily="34" charset="-122"/>
              </a:rPr>
              <a:t>基于顺序搜索的动态分区分配算法</a:t>
            </a:r>
            <a:endParaRPr lang="zh-CN" altLang="en-US" sz="3900" b="1" dirty="0">
              <a:latin typeface="微软雅黑" panose="020B0503020204020204" pitchFamily="34" charset="-122"/>
              <a:ea typeface="微软雅黑" panose="020B0503020204020204" pitchFamily="34" charset="-122"/>
            </a:endParaRPr>
          </a:p>
        </p:txBody>
      </p:sp>
      <p:sp>
        <p:nvSpPr>
          <p:cNvPr id="6" name="Rectangle 15"/>
          <p:cNvSpPr>
            <a:spLocks noChangeArrowheads="1"/>
          </p:cNvSpPr>
          <p:nvPr/>
        </p:nvSpPr>
        <p:spPr bwMode="auto">
          <a:xfrm>
            <a:off x="1496695" y="4836795"/>
            <a:ext cx="10205085" cy="1933575"/>
          </a:xfrm>
          <a:prstGeom prst="rect">
            <a:avLst/>
          </a:prstGeom>
          <a:solidFill>
            <a:schemeClr val="bg1"/>
          </a:solidFill>
          <a:ln w="28575">
            <a:solidFill>
              <a:schemeClr val="accent2"/>
            </a:solidFill>
            <a:miter lim="800000"/>
          </a:ln>
          <a:effectLst/>
          <a:scene3d>
            <a:camera prst="orthographicFront"/>
            <a:lightRig rig="threePt" dir="t"/>
          </a:scene3d>
          <a:sp3d>
            <a:bevelT/>
          </a:sp3d>
        </p:spPr>
        <p:txBody>
          <a:bodyPr/>
          <a:lstStyle/>
          <a:p>
            <a:pPr marL="342900" indent="-342900" defTabSz="449580">
              <a:lnSpc>
                <a:spcPct val="200000"/>
              </a:lnSpc>
              <a:spcBef>
                <a:spcPts val="1200"/>
              </a:spcBef>
              <a:buClr>
                <a:schemeClr val="accent2"/>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内存中的空闲分区</a:t>
            </a:r>
            <a:r>
              <a:rPr lang="zh-CN" altLang="en-US" sz="2400" b="1" dirty="0">
                <a:solidFill>
                  <a:srgbClr val="FF0000"/>
                </a:solidFill>
                <a:latin typeface="微软雅黑" panose="020B0503020204020204" pitchFamily="34" charset="-122"/>
                <a:ea typeface="微软雅黑" panose="020B0503020204020204" pitchFamily="34" charset="-122"/>
              </a:rPr>
              <a:t>分布得更均匀</a:t>
            </a:r>
            <a:r>
              <a:rPr lang="zh-CN" altLang="en-US" sz="2400" b="1" dirty="0">
                <a:latin typeface="微软雅黑" panose="020B0503020204020204" pitchFamily="34" charset="-122"/>
                <a:ea typeface="微软雅黑" panose="020B0503020204020204" pitchFamily="34" charset="-122"/>
              </a:rPr>
              <a:t>，</a:t>
            </a:r>
            <a:r>
              <a:rPr lang="zh-CN" altLang="en-US" sz="2400" b="1" dirty="0">
                <a:solidFill>
                  <a:srgbClr val="FF0000"/>
                </a:solidFill>
                <a:latin typeface="微软雅黑" panose="020B0503020204020204" pitchFamily="34" charset="-122"/>
                <a:ea typeface="微软雅黑" panose="020B0503020204020204" pitchFamily="34" charset="-122"/>
              </a:rPr>
              <a:t>减少</a:t>
            </a:r>
            <a:r>
              <a:rPr lang="zh-CN" altLang="en-US" sz="2400" b="1" dirty="0">
                <a:latin typeface="微软雅黑" panose="020B0503020204020204" pitchFamily="34" charset="-122"/>
                <a:ea typeface="微软雅黑" panose="020B0503020204020204" pitchFamily="34" charset="-122"/>
              </a:rPr>
              <a:t>了查找空闲分区时的</a:t>
            </a:r>
            <a:r>
              <a:rPr lang="zh-CN" altLang="en-US" sz="2400" b="1" dirty="0">
                <a:solidFill>
                  <a:srgbClr val="FF0000"/>
                </a:solidFill>
                <a:latin typeface="微软雅黑" panose="020B0503020204020204" pitchFamily="34" charset="-122"/>
                <a:ea typeface="微软雅黑" panose="020B0503020204020204" pitchFamily="34" charset="-122"/>
              </a:rPr>
              <a:t>开销</a:t>
            </a:r>
            <a:endParaRPr lang="en-US" altLang="zh-CN" sz="2400" b="1" dirty="0">
              <a:solidFill>
                <a:srgbClr val="FF0000"/>
              </a:solidFill>
              <a:latin typeface="微软雅黑" panose="020B0503020204020204" pitchFamily="34" charset="-122"/>
              <a:ea typeface="微软雅黑" panose="020B0503020204020204" pitchFamily="34" charset="-122"/>
            </a:endParaRPr>
          </a:p>
          <a:p>
            <a:pPr marL="342900" indent="-342900" defTabSz="449580">
              <a:lnSpc>
                <a:spcPct val="200000"/>
              </a:lnSpc>
              <a:spcBef>
                <a:spcPts val="1200"/>
              </a:spcBef>
              <a:buClr>
                <a:schemeClr val="accent2"/>
              </a:buClr>
              <a:buSzPct val="100000"/>
              <a:buFont typeface="Wingdings" panose="05000000000000000000" pitchFamily="2" charset="2"/>
              <a:buChar char="Ø"/>
            </a:pPr>
            <a:r>
              <a:rPr lang="zh-CN" altLang="en-US" sz="2400" b="1" dirty="0">
                <a:solidFill>
                  <a:srgbClr val="FF0000"/>
                </a:solidFill>
                <a:latin typeface="微软雅黑" panose="020B0503020204020204" pitchFamily="34" charset="-122"/>
                <a:ea typeface="微软雅黑" panose="020B0503020204020204" pitchFamily="34" charset="-122"/>
              </a:rPr>
              <a:t>缺乏</a:t>
            </a:r>
            <a:r>
              <a:rPr lang="zh-CN" altLang="en-US" sz="2400" b="1" dirty="0">
                <a:latin typeface="微软雅黑" panose="020B0503020204020204" pitchFamily="34" charset="-122"/>
                <a:ea typeface="微软雅黑" panose="020B0503020204020204" pitchFamily="34" charset="-122"/>
              </a:rPr>
              <a:t>大的空闲分区</a:t>
            </a:r>
            <a:endParaRPr lang="en-US" altLang="zh-CN" sz="2400" b="1" dirty="0">
              <a:latin typeface="微软雅黑" panose="020B0503020204020204" pitchFamily="34" charset="-122"/>
              <a:ea typeface="微软雅黑" panose="020B0503020204020204" pitchFamily="34" charset="-122"/>
            </a:endParaRPr>
          </a:p>
          <a:p>
            <a:pPr marL="342900" indent="-342900" defTabSz="449580">
              <a:lnSpc>
                <a:spcPct val="150000"/>
              </a:lnSpc>
              <a:spcBef>
                <a:spcPts val="1200"/>
              </a:spcBef>
              <a:buClr>
                <a:schemeClr val="accent2"/>
              </a:buClr>
              <a:buSzPct val="100000"/>
              <a:buFont typeface="Wingdings" panose="05000000000000000000" pitchFamily="2" charset="2"/>
              <a:buChar char="Ø"/>
            </a:pPr>
            <a:endParaRPr lang="zh-CN" altLang="en-US" sz="2400" b="1" dirty="0">
              <a:latin typeface="微软雅黑" panose="020B0503020204020204" pitchFamily="34" charset="-122"/>
              <a:ea typeface="微软雅黑" panose="020B0503020204020204" pitchFamily="34" charset="-122"/>
            </a:endParaRPr>
          </a:p>
        </p:txBody>
      </p:sp>
      <p:sp>
        <p:nvSpPr>
          <p:cNvPr id="7" name="Rectangle 15"/>
          <p:cNvSpPr>
            <a:spLocks noChangeArrowheads="1"/>
          </p:cNvSpPr>
          <p:nvPr/>
        </p:nvSpPr>
        <p:spPr bwMode="auto">
          <a:xfrm>
            <a:off x="717973" y="4837061"/>
            <a:ext cx="650242" cy="1933786"/>
          </a:xfrm>
          <a:prstGeom prst="rect">
            <a:avLst/>
          </a:prstGeom>
          <a:solidFill>
            <a:schemeClr val="accent2"/>
          </a:solidFill>
          <a:ln w="28575">
            <a:solidFill>
              <a:schemeClr val="accent2"/>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优</a:t>
            </a: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缺</a:t>
            </a: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点</a:t>
            </a:r>
            <a:endParaRPr lang="zh-CN" sz="2800" b="1" dirty="0">
              <a:solidFill>
                <a:srgbClr val="FFFF00"/>
              </a:solidFill>
              <a:latin typeface="微软雅黑" panose="020B0503020204020204" pitchFamily="34" charset="-122"/>
              <a:ea typeface="微软雅黑" panose="020B0503020204020204" pitchFamily="34" charset="-122"/>
            </a:endParaRPr>
          </a:p>
        </p:txBody>
      </p:sp>
      <p:sp>
        <p:nvSpPr>
          <p:cNvPr id="10" name="Rectangle 15"/>
          <p:cNvSpPr>
            <a:spLocks noChangeArrowheads="1"/>
          </p:cNvSpPr>
          <p:nvPr/>
        </p:nvSpPr>
        <p:spPr bwMode="auto">
          <a:xfrm>
            <a:off x="1496695" y="1612900"/>
            <a:ext cx="10156190" cy="3061335"/>
          </a:xfrm>
          <a:prstGeom prst="rect">
            <a:avLst/>
          </a:prstGeom>
          <a:solidFill>
            <a:schemeClr val="bg1"/>
          </a:solidFill>
          <a:ln w="28575">
            <a:solidFill>
              <a:schemeClr val="accent2"/>
            </a:solidFill>
            <a:miter lim="800000"/>
          </a:ln>
          <a:effectLst/>
          <a:scene3d>
            <a:camera prst="orthographicFront"/>
            <a:lightRig rig="threePt" dir="t"/>
          </a:scene3d>
          <a:sp3d>
            <a:bevelT/>
          </a:sp3d>
        </p:spPr>
        <p:txBody>
          <a:bodyPr/>
          <a:lstStyle/>
          <a:p>
            <a:pPr marL="342900" indent="-342900" defTabSz="449580">
              <a:lnSpc>
                <a:spcPct val="200000"/>
              </a:lnSpc>
              <a:spcBef>
                <a:spcPts val="1200"/>
              </a:spcBef>
              <a:buClr>
                <a:schemeClr val="accent2"/>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按释放区的首址，查询空闲区表；若有与释放区相邻的空闲区，则</a:t>
            </a:r>
            <a:r>
              <a:rPr lang="zh-CN" altLang="en-US" sz="2400" b="1" dirty="0">
                <a:solidFill>
                  <a:srgbClr val="FF0000"/>
                </a:solidFill>
                <a:latin typeface="微软雅黑" panose="020B0503020204020204" pitchFamily="34" charset="-122"/>
                <a:ea typeface="微软雅黑" panose="020B0503020204020204" pitchFamily="34" charset="-122"/>
              </a:rPr>
              <a:t>合并到相邻的空闲区</a:t>
            </a:r>
            <a:r>
              <a:rPr lang="zh-CN" altLang="en-US" sz="2400" b="1" dirty="0">
                <a:latin typeface="微软雅黑" panose="020B0503020204020204" pitchFamily="34" charset="-122"/>
                <a:ea typeface="微软雅黑" panose="020B0503020204020204" pitchFamily="34" charset="-122"/>
              </a:rPr>
              <a:t>中，并修改该区的大小和首址；</a:t>
            </a:r>
            <a:endParaRPr lang="zh-CN" altLang="en-US" sz="2400" b="1" dirty="0">
              <a:latin typeface="微软雅黑" panose="020B0503020204020204" pitchFamily="34" charset="-122"/>
              <a:ea typeface="微软雅黑" panose="020B0503020204020204" pitchFamily="34" charset="-122"/>
            </a:endParaRPr>
          </a:p>
          <a:p>
            <a:pPr marL="342900" indent="-342900" defTabSz="449580">
              <a:lnSpc>
                <a:spcPct val="200000"/>
              </a:lnSpc>
              <a:spcBef>
                <a:spcPts val="1200"/>
              </a:spcBef>
              <a:buClr>
                <a:schemeClr val="accent2"/>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否则把释放区作为空闲区，将其大小和首址按照</a:t>
            </a:r>
            <a:r>
              <a:rPr lang="zh-CN" altLang="en-US" sz="2400" b="1" dirty="0">
                <a:solidFill>
                  <a:srgbClr val="FF0000"/>
                </a:solidFill>
                <a:latin typeface="微软雅黑" panose="020B0503020204020204" pitchFamily="34" charset="-122"/>
                <a:ea typeface="微软雅黑" panose="020B0503020204020204" pitchFamily="34" charset="-122"/>
              </a:rPr>
              <a:t>首地址大小递增</a:t>
            </a:r>
            <a:r>
              <a:rPr lang="zh-CN" altLang="en-US" sz="2400" b="1" dirty="0">
                <a:latin typeface="微软雅黑" panose="020B0503020204020204" pitchFamily="34" charset="-122"/>
                <a:ea typeface="微软雅黑" panose="020B0503020204020204" pitchFamily="34" charset="-122"/>
              </a:rPr>
              <a:t>的顺序插入空闲区表适当位置。</a:t>
            </a:r>
            <a:endParaRPr lang="zh-CN" altLang="en-US" sz="2400" b="1" dirty="0">
              <a:latin typeface="微软雅黑" panose="020B0503020204020204" pitchFamily="34" charset="-122"/>
              <a:ea typeface="微软雅黑" panose="020B0503020204020204" pitchFamily="34" charset="-122"/>
            </a:endParaRPr>
          </a:p>
        </p:txBody>
      </p:sp>
      <p:sp>
        <p:nvSpPr>
          <p:cNvPr id="11" name="Rectangle 15"/>
          <p:cNvSpPr>
            <a:spLocks noChangeArrowheads="1"/>
          </p:cNvSpPr>
          <p:nvPr/>
        </p:nvSpPr>
        <p:spPr bwMode="auto">
          <a:xfrm>
            <a:off x="717973" y="1612900"/>
            <a:ext cx="650242" cy="3061547"/>
          </a:xfrm>
          <a:prstGeom prst="rect">
            <a:avLst/>
          </a:prstGeom>
          <a:solidFill>
            <a:schemeClr val="accent2"/>
          </a:solidFill>
          <a:ln w="28575">
            <a:solidFill>
              <a:schemeClr val="accent2"/>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a:solidFill>
                  <a:srgbClr val="FFFF00"/>
                </a:solidFill>
                <a:latin typeface="微软雅黑" panose="020B0503020204020204" pitchFamily="34" charset="-122"/>
                <a:ea typeface="微软雅黑" panose="020B0503020204020204" pitchFamily="34" charset="-122"/>
              </a:rPr>
              <a:t>回</a:t>
            </a: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收</a:t>
            </a:r>
            <a:endParaRPr lang="zh-CN" altLang="en-US" sz="28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1000"/>
                                        <p:tgtEl>
                                          <p:spTgt spid="11"/>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10" grpId="0" bldLvl="0" animBg="1"/>
      <p:bldP spid="11"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830580" y="959485"/>
            <a:ext cx="1064768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有作业序列：作业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18K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25K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C</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30K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。系统中空闲区按不同算法组成的空闲区队列，如下图所示 ：</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61950" y="33655"/>
            <a:ext cx="1067879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 </a:t>
            </a:r>
            <a:r>
              <a:rPr lang="zh-CN" altLang="en-US" sz="3900" b="1" dirty="0">
                <a:latin typeface="微软雅黑" panose="020B0503020204020204" pitchFamily="34" charset="-122"/>
                <a:ea typeface="微软雅黑" panose="020B0503020204020204" pitchFamily="34" charset="-122"/>
              </a:rPr>
              <a:t>连续分配存储管理</a:t>
            </a:r>
            <a:r>
              <a:rPr lang="en-US" altLang="zh-CN" sz="3900" b="1" dirty="0">
                <a:latin typeface="微软雅黑" panose="020B0503020204020204" pitchFamily="34" charset="-122"/>
                <a:ea typeface="微软雅黑" panose="020B0503020204020204" pitchFamily="34" charset="-122"/>
              </a:rPr>
              <a:t> </a:t>
            </a:r>
            <a:r>
              <a:rPr lang="zh-CN" altLang="en-US" sz="3900" b="1" dirty="0">
                <a:solidFill>
                  <a:srgbClr val="FF0000"/>
                </a:solidFill>
                <a:latin typeface="微软雅黑" panose="020B0503020204020204" pitchFamily="34" charset="-122"/>
                <a:ea typeface="微软雅黑" panose="020B0503020204020204" pitchFamily="34" charset="-122"/>
              </a:rPr>
              <a:t>练习</a:t>
            </a:r>
            <a:r>
              <a:rPr lang="en-US" altLang="zh-CN" sz="3900" b="1" dirty="0">
                <a:solidFill>
                  <a:srgbClr val="FF0000"/>
                </a:solidFill>
                <a:latin typeface="微软雅黑" panose="020B0503020204020204" pitchFamily="34" charset="-122"/>
                <a:ea typeface="微软雅黑" panose="020B0503020204020204" pitchFamily="34" charset="-122"/>
              </a:rPr>
              <a:t>1</a:t>
            </a:r>
            <a:endParaRPr lang="zh-CN" altLang="en-US" sz="3900" b="1" dirty="0">
              <a:solidFill>
                <a:srgbClr val="FF0000"/>
              </a:solidFill>
              <a:latin typeface="微软雅黑" panose="020B0503020204020204" pitchFamily="34" charset="-122"/>
              <a:ea typeface="微软雅黑" panose="020B0503020204020204" pitchFamily="34" charset="-122"/>
            </a:endParaRPr>
          </a:p>
        </p:txBody>
      </p:sp>
      <p:pic>
        <p:nvPicPr>
          <p:cNvPr id="34" name="Picture 6" descr="os0702"/>
          <p:cNvPicPr>
            <a:picLocks noChangeAspect="1" noChangeArrowheads="1"/>
          </p:cNvPicPr>
          <p:nvPr/>
        </p:nvPicPr>
        <p:blipFill>
          <a:blip r:embed="rId1" cstate="print"/>
          <a:srcRect/>
          <a:stretch>
            <a:fillRect/>
          </a:stretch>
        </p:blipFill>
        <p:spPr bwMode="auto">
          <a:xfrm>
            <a:off x="1252855" y="2785745"/>
            <a:ext cx="8973820" cy="4077970"/>
          </a:xfrm>
          <a:prstGeom prst="rect">
            <a:avLst/>
          </a:prstGeom>
          <a:noFill/>
          <a:ln w="9525">
            <a:noFill/>
            <a:miter lim="800000"/>
            <a:headEnd/>
            <a:tailEnd/>
          </a:ln>
        </p:spPr>
      </p:pic>
      <p:sp>
        <p:nvSpPr>
          <p:cNvPr id="35" name="Rectangle 6"/>
          <p:cNvSpPr>
            <a:spLocks noChangeArrowheads="1"/>
          </p:cNvSpPr>
          <p:nvPr/>
        </p:nvSpPr>
        <p:spPr bwMode="auto">
          <a:xfrm>
            <a:off x="516890" y="2196465"/>
            <a:ext cx="11258550" cy="508635"/>
          </a:xfrm>
          <a:prstGeom prst="rect">
            <a:avLst/>
          </a:prstGeom>
          <a:solidFill>
            <a:srgbClr val="C00000"/>
          </a:solidFill>
          <a:ln w="9525">
            <a:solidFill>
              <a:srgbClr val="0000E2"/>
            </a:solidFill>
            <a:miter lim="800000"/>
          </a:ln>
          <a:effectLst/>
          <a:scene3d>
            <a:camera prst="orthographicFront"/>
            <a:lightRig rig="threePt" dir="t"/>
          </a:scene3d>
          <a:sp3d>
            <a:bevelT/>
          </a:sp3d>
        </p:spPr>
        <p:txBody>
          <a:bodyPr/>
          <a:lstStyle/>
          <a:p>
            <a:pPr marL="342900" indent="-342900" algn="ctr">
              <a:buClr>
                <a:srgbClr val="33CCFF"/>
              </a:buClr>
            </a:pPr>
            <a:r>
              <a:rPr lang="zh-CN" sz="2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首次适应</a:t>
            </a:r>
            <a:r>
              <a:rPr lang="zh-CN" altLang="en-US" sz="2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、循环首次适应</a:t>
            </a:r>
            <a:r>
              <a:rPr lang="zh-CN" sz="2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：地址递增</a:t>
            </a:r>
            <a:r>
              <a:rPr lang="en-US" altLang="zh-CN" sz="2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sz="2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3696970" y="4106545"/>
            <a:ext cx="6423025" cy="259715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69265" y="959485"/>
            <a:ext cx="9711055"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最佳适应（</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best fit, BF</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）算法</a:t>
            </a:r>
            <a:endPar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94945" y="33655"/>
            <a:ext cx="1084580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4.3.4 </a:t>
            </a:r>
            <a:r>
              <a:rPr lang="zh-CN" altLang="en-US" sz="3900" b="1" dirty="0">
                <a:latin typeface="微软雅黑" panose="020B0503020204020204" pitchFamily="34" charset="-122"/>
                <a:ea typeface="微软雅黑" panose="020B0503020204020204" pitchFamily="34" charset="-122"/>
              </a:rPr>
              <a:t>基于顺序搜索的动态分区分配算法</a:t>
            </a:r>
            <a:endParaRPr lang="zh-CN" altLang="en-US" sz="3900" b="1" dirty="0">
              <a:latin typeface="微软雅黑" panose="020B0503020204020204" pitchFamily="34" charset="-122"/>
              <a:ea typeface="微软雅黑" panose="020B0503020204020204" pitchFamily="34" charset="-122"/>
            </a:endParaRPr>
          </a:p>
        </p:txBody>
      </p:sp>
      <p:sp>
        <p:nvSpPr>
          <p:cNvPr id="6" name="Rectangle 15"/>
          <p:cNvSpPr>
            <a:spLocks noChangeArrowheads="1"/>
          </p:cNvSpPr>
          <p:nvPr/>
        </p:nvSpPr>
        <p:spPr bwMode="auto">
          <a:xfrm>
            <a:off x="1437640" y="1723390"/>
            <a:ext cx="9766935" cy="3455035"/>
          </a:xfrm>
          <a:prstGeom prst="rect">
            <a:avLst/>
          </a:prstGeom>
          <a:solidFill>
            <a:schemeClr val="bg1"/>
          </a:solidFill>
          <a:ln w="28575">
            <a:solidFill>
              <a:schemeClr val="accent1"/>
            </a:solidFill>
            <a:miter lim="800000"/>
          </a:ln>
          <a:effectLst/>
          <a:scene3d>
            <a:camera prst="orthographicFront"/>
            <a:lightRig rig="threePt" dir="t"/>
          </a:scene3d>
          <a:sp3d>
            <a:bevelT/>
          </a:sp3d>
        </p:spPr>
        <p:txBody>
          <a:bodyPr/>
          <a:lstStyle/>
          <a:p>
            <a:pPr marL="342900" indent="-342900" defTabSz="449580">
              <a:lnSpc>
                <a:spcPct val="200000"/>
              </a:lnSpc>
              <a:spcBef>
                <a:spcPts val="1200"/>
              </a:spcBef>
              <a:buClr>
                <a:srgbClr val="2F5597"/>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当进程申请一个存储区时，系统从表头开始查找，当找到</a:t>
            </a:r>
            <a:r>
              <a:rPr lang="zh-CN" altLang="en-US" sz="2400" b="1" dirty="0">
                <a:solidFill>
                  <a:srgbClr val="0000FF"/>
                </a:solidFill>
                <a:latin typeface="微软雅黑" panose="020B0503020204020204" pitchFamily="34" charset="-122"/>
                <a:ea typeface="微软雅黑" panose="020B0503020204020204" pitchFamily="34" charset="-122"/>
              </a:rPr>
              <a:t>第一个满足要求</a:t>
            </a:r>
            <a:r>
              <a:rPr lang="zh-CN" altLang="en-US" sz="2400" b="1" dirty="0">
                <a:latin typeface="微软雅黑" panose="020B0503020204020204" pitchFamily="34" charset="-122"/>
                <a:ea typeface="微软雅黑" panose="020B0503020204020204" pitchFamily="34" charset="-122"/>
              </a:rPr>
              <a:t>的空闲区时，停止查找，并且这个空闲区是</a:t>
            </a:r>
            <a:r>
              <a:rPr lang="zh-CN" altLang="en-US" sz="2400" b="1" dirty="0">
                <a:solidFill>
                  <a:srgbClr val="0000FF"/>
                </a:solidFill>
                <a:latin typeface="微软雅黑" panose="020B0503020204020204" pitchFamily="34" charset="-122"/>
                <a:ea typeface="微软雅黑" panose="020B0503020204020204" pitchFamily="34" charset="-122"/>
              </a:rPr>
              <a:t>最佳的空闲区</a:t>
            </a:r>
            <a:r>
              <a:rPr lang="zh-CN" altLang="en-US" sz="2400" b="1" dirty="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a:p>
            <a:pPr marL="342900" indent="-342900" defTabSz="449580">
              <a:lnSpc>
                <a:spcPct val="200000"/>
              </a:lnSpc>
              <a:spcBef>
                <a:spcPts val="1200"/>
              </a:spcBef>
              <a:buClr>
                <a:srgbClr val="2F5597"/>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所谓“最佳”是指每次为作业分配内存时，总是把能</a:t>
            </a:r>
            <a:r>
              <a:rPr lang="zh-CN" altLang="en-US" sz="2400" b="1" dirty="0">
                <a:solidFill>
                  <a:srgbClr val="0000FF"/>
                </a:solidFill>
                <a:latin typeface="微软雅黑" panose="020B0503020204020204" pitchFamily="34" charset="-122"/>
                <a:ea typeface="微软雅黑" panose="020B0503020204020204" pitchFamily="34" charset="-122"/>
              </a:rPr>
              <a:t>满足要求、又是最小</a:t>
            </a:r>
            <a:r>
              <a:rPr lang="zh-CN" altLang="en-US" sz="2400" b="1" dirty="0">
                <a:latin typeface="微软雅黑" panose="020B0503020204020204" pitchFamily="34" charset="-122"/>
                <a:ea typeface="微软雅黑" panose="020B0503020204020204" pitchFamily="34" charset="-122"/>
              </a:rPr>
              <a:t>的空闲分区分配给作业，避免“大材小用”。</a:t>
            </a:r>
            <a:endParaRPr lang="en-US" altLang="zh-CN" sz="2400" b="1" dirty="0">
              <a:latin typeface="微软雅黑" panose="020B0503020204020204" pitchFamily="34" charset="-122"/>
              <a:ea typeface="微软雅黑" panose="020B0503020204020204" pitchFamily="34" charset="-122"/>
            </a:endParaRPr>
          </a:p>
          <a:p>
            <a:pPr marL="342900" indent="-342900" defTabSz="449580">
              <a:lnSpc>
                <a:spcPct val="150000"/>
              </a:lnSpc>
              <a:spcBef>
                <a:spcPts val="1200"/>
              </a:spcBef>
              <a:buClr>
                <a:srgbClr val="2F5597"/>
              </a:buClr>
              <a:buSzPct val="100000"/>
              <a:buFont typeface="Wingdings" panose="05000000000000000000" pitchFamily="2" charset="2"/>
              <a:buChar char="Ø"/>
            </a:pPr>
            <a:endParaRPr lang="zh-CN" altLang="en-US" sz="2400" b="1" dirty="0">
              <a:latin typeface="微软雅黑" panose="020B0503020204020204" pitchFamily="34" charset="-122"/>
              <a:ea typeface="微软雅黑" panose="020B0503020204020204" pitchFamily="34" charset="-122"/>
            </a:endParaRPr>
          </a:p>
        </p:txBody>
      </p:sp>
      <p:sp>
        <p:nvSpPr>
          <p:cNvPr id="7" name="Rectangle 15"/>
          <p:cNvSpPr>
            <a:spLocks noChangeArrowheads="1"/>
          </p:cNvSpPr>
          <p:nvPr/>
        </p:nvSpPr>
        <p:spPr bwMode="auto">
          <a:xfrm>
            <a:off x="550968" y="1679354"/>
            <a:ext cx="650242" cy="3499071"/>
          </a:xfrm>
          <a:prstGeom prst="rect">
            <a:avLst/>
          </a:prstGeom>
          <a:solidFill>
            <a:srgbClr val="2F5597"/>
          </a:solidFill>
          <a:ln w="28575">
            <a:solidFill>
              <a:schemeClr val="accent1"/>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分</a:t>
            </a: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配</a:t>
            </a:r>
            <a:endParaRPr lang="zh-CN" sz="2800" b="1" dirty="0">
              <a:solidFill>
                <a:srgbClr val="FFFF00"/>
              </a:solidFill>
              <a:latin typeface="微软雅黑" panose="020B0503020204020204" pitchFamily="34" charset="-122"/>
              <a:ea typeface="微软雅黑" panose="020B0503020204020204" pitchFamily="34" charset="-122"/>
            </a:endParaRPr>
          </a:p>
        </p:txBody>
      </p:sp>
      <p:sp>
        <p:nvSpPr>
          <p:cNvPr id="8" name="Rectangle 15"/>
          <p:cNvSpPr>
            <a:spLocks noChangeArrowheads="1"/>
          </p:cNvSpPr>
          <p:nvPr/>
        </p:nvSpPr>
        <p:spPr bwMode="auto">
          <a:xfrm>
            <a:off x="1437640" y="5405120"/>
            <a:ext cx="9766935" cy="1191895"/>
          </a:xfrm>
          <a:prstGeom prst="rect">
            <a:avLst/>
          </a:prstGeom>
          <a:solidFill>
            <a:schemeClr val="bg1"/>
          </a:solidFill>
          <a:ln w="28575">
            <a:solidFill>
              <a:schemeClr val="accent1"/>
            </a:solidFill>
            <a:miter lim="800000"/>
          </a:ln>
          <a:effectLst/>
          <a:scene3d>
            <a:camera prst="orthographicFront"/>
            <a:lightRig rig="threePt" dir="t"/>
          </a:scene3d>
          <a:sp3d>
            <a:bevelT/>
          </a:sp3d>
        </p:spPr>
        <p:txBody>
          <a:bodyPr/>
          <a:lstStyle/>
          <a:p>
            <a:pPr marL="342900" indent="-342900" defTabSz="449580">
              <a:lnSpc>
                <a:spcPct val="200000"/>
              </a:lnSpc>
              <a:spcBef>
                <a:spcPts val="1200"/>
              </a:spcBef>
              <a:buClr>
                <a:srgbClr val="2F5597"/>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将所有的空闲分区</a:t>
            </a:r>
            <a:r>
              <a:rPr lang="zh-CN" altLang="en-US" sz="2400" b="1" dirty="0">
                <a:solidFill>
                  <a:srgbClr val="0000FF"/>
                </a:solidFill>
                <a:latin typeface="微软雅黑" panose="020B0503020204020204" pitchFamily="34" charset="-122"/>
                <a:ea typeface="微软雅黑" panose="020B0503020204020204" pitchFamily="34" charset="-122"/>
              </a:rPr>
              <a:t>按其容量以从小到大</a:t>
            </a:r>
            <a:r>
              <a:rPr lang="zh-CN" altLang="en-US" sz="2400" b="1" dirty="0">
                <a:latin typeface="微软雅黑" panose="020B0503020204020204" pitchFamily="34" charset="-122"/>
                <a:ea typeface="微软雅黑" panose="020B0503020204020204" pitchFamily="34" charset="-122"/>
              </a:rPr>
              <a:t>的顺序形成一</a:t>
            </a:r>
            <a:r>
              <a:rPr lang="zh-CN" altLang="en-US" sz="2400" b="1" dirty="0">
                <a:solidFill>
                  <a:srgbClr val="0000FF"/>
                </a:solidFill>
                <a:latin typeface="微软雅黑" panose="020B0503020204020204" pitchFamily="34" charset="-122"/>
                <a:ea typeface="微软雅黑" panose="020B0503020204020204" pitchFamily="34" charset="-122"/>
              </a:rPr>
              <a:t>空闲分区链</a:t>
            </a:r>
            <a:r>
              <a:rPr lang="zh-CN" altLang="en-US" sz="2400" b="1" dirty="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sp>
        <p:nvSpPr>
          <p:cNvPr id="9" name="Rectangle 15"/>
          <p:cNvSpPr>
            <a:spLocks noChangeArrowheads="1"/>
          </p:cNvSpPr>
          <p:nvPr/>
        </p:nvSpPr>
        <p:spPr bwMode="auto">
          <a:xfrm>
            <a:off x="550968" y="5361305"/>
            <a:ext cx="650242" cy="1192107"/>
          </a:xfrm>
          <a:prstGeom prst="rect">
            <a:avLst/>
          </a:prstGeom>
          <a:solidFill>
            <a:srgbClr val="2F5597"/>
          </a:solidFill>
          <a:ln w="28575">
            <a:solidFill>
              <a:schemeClr val="accent1"/>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排</a:t>
            </a: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序</a:t>
            </a:r>
            <a:endParaRPr lang="en-US" altLang="zh-CN" sz="28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1000"/>
                                        <p:tgtEl>
                                          <p:spTgt spid="9"/>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9" grpId="0" bldLvl="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328930" y="959485"/>
            <a:ext cx="985139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最佳适应（</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best fit, BF</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）算法</a:t>
            </a:r>
            <a:endPar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21615" y="33655"/>
            <a:ext cx="1081913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4.3.4 </a:t>
            </a:r>
            <a:r>
              <a:rPr lang="zh-CN" altLang="en-US" sz="3900" b="1" dirty="0">
                <a:latin typeface="微软雅黑" panose="020B0503020204020204" pitchFamily="34" charset="-122"/>
                <a:ea typeface="微软雅黑" panose="020B0503020204020204" pitchFamily="34" charset="-122"/>
              </a:rPr>
              <a:t>基于顺序搜索的动态分区分配算法</a:t>
            </a:r>
            <a:endParaRPr lang="zh-CN" altLang="en-US" sz="3900" b="1" dirty="0">
              <a:latin typeface="微软雅黑" panose="020B0503020204020204" pitchFamily="34" charset="-122"/>
              <a:ea typeface="微软雅黑" panose="020B0503020204020204" pitchFamily="34" charset="-122"/>
            </a:endParaRPr>
          </a:p>
        </p:txBody>
      </p:sp>
      <p:sp>
        <p:nvSpPr>
          <p:cNvPr id="6" name="Rectangle 15"/>
          <p:cNvSpPr>
            <a:spLocks noChangeArrowheads="1"/>
          </p:cNvSpPr>
          <p:nvPr/>
        </p:nvSpPr>
        <p:spPr bwMode="auto">
          <a:xfrm>
            <a:off x="1684655" y="1723390"/>
            <a:ext cx="9546590" cy="2415540"/>
          </a:xfrm>
          <a:prstGeom prst="rect">
            <a:avLst/>
          </a:prstGeom>
          <a:solidFill>
            <a:schemeClr val="bg1"/>
          </a:solidFill>
          <a:ln w="28575">
            <a:solidFill>
              <a:schemeClr val="accent1"/>
            </a:solidFill>
            <a:miter lim="800000"/>
          </a:ln>
          <a:effectLst/>
          <a:scene3d>
            <a:camera prst="orthographicFront"/>
            <a:lightRig rig="threePt" dir="t"/>
          </a:scene3d>
          <a:sp3d>
            <a:bevelT/>
          </a:sp3d>
        </p:spPr>
        <p:txBody>
          <a:bodyPr/>
          <a:lstStyle/>
          <a:p>
            <a:pPr marL="342900" indent="-342900" defTabSz="449580">
              <a:lnSpc>
                <a:spcPct val="150000"/>
              </a:lnSpc>
              <a:buClr>
                <a:srgbClr val="2F5597"/>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在系统中若存在一个与申请分区大小相等的空闲区，</a:t>
            </a:r>
            <a:r>
              <a:rPr lang="zh-CN" altLang="en-US" sz="2400" b="1" dirty="0">
                <a:solidFill>
                  <a:srgbClr val="0000FF"/>
                </a:solidFill>
                <a:latin typeface="微软雅黑" panose="020B0503020204020204" pitchFamily="34" charset="-122"/>
                <a:ea typeface="微软雅黑" panose="020B0503020204020204" pitchFamily="34" charset="-122"/>
              </a:rPr>
              <a:t>必定会被选中</a:t>
            </a:r>
            <a:r>
              <a:rPr lang="zh-CN" altLang="en-US" sz="2400" b="1" dirty="0">
                <a:latin typeface="微软雅黑" panose="020B0503020204020204" pitchFamily="34" charset="-122"/>
                <a:ea typeface="微软雅黑" panose="020B0503020204020204" pitchFamily="34" charset="-122"/>
              </a:rPr>
              <a:t>，而首次适应法则不一定。</a:t>
            </a:r>
            <a:endParaRPr lang="zh-CN" altLang="en-US" sz="2400" b="1" dirty="0">
              <a:latin typeface="微软雅黑" panose="020B0503020204020204" pitchFamily="34" charset="-122"/>
              <a:ea typeface="微软雅黑" panose="020B0503020204020204" pitchFamily="34" charset="-122"/>
            </a:endParaRPr>
          </a:p>
          <a:p>
            <a:pPr marL="342900" indent="-342900" defTabSz="449580">
              <a:lnSpc>
                <a:spcPct val="150000"/>
              </a:lnSpc>
              <a:buClr>
                <a:srgbClr val="2F5597"/>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若系统中不存在与申请分区大小相等的空闲区，则选中的空闲区是满足要求的最小空闲区，而</a:t>
            </a:r>
            <a:r>
              <a:rPr lang="zh-CN" altLang="en-US" sz="2400" b="1" dirty="0">
                <a:solidFill>
                  <a:srgbClr val="0000FF"/>
                </a:solidFill>
                <a:latin typeface="微软雅黑" panose="020B0503020204020204" pitchFamily="34" charset="-122"/>
                <a:ea typeface="微软雅黑" panose="020B0503020204020204" pitchFamily="34" charset="-122"/>
              </a:rPr>
              <a:t>不致于毁掉较大的空闲区</a:t>
            </a:r>
            <a:r>
              <a:rPr lang="zh-CN" altLang="en-US" sz="2400" b="1" dirty="0">
                <a:latin typeface="微软雅黑" panose="020B0503020204020204" pitchFamily="34" charset="-122"/>
                <a:ea typeface="微软雅黑" panose="020B0503020204020204" pitchFamily="34" charset="-122"/>
              </a:rPr>
              <a:t>。</a:t>
            </a:r>
            <a:endParaRPr lang="zh-CN" altLang="en-US" sz="2400" b="1" dirty="0">
              <a:latin typeface="微软雅黑" panose="020B0503020204020204" pitchFamily="34" charset="-122"/>
              <a:ea typeface="微软雅黑" panose="020B0503020204020204" pitchFamily="34" charset="-122"/>
            </a:endParaRPr>
          </a:p>
        </p:txBody>
      </p:sp>
      <p:sp>
        <p:nvSpPr>
          <p:cNvPr id="7" name="Rectangle 15"/>
          <p:cNvSpPr>
            <a:spLocks noChangeArrowheads="1"/>
          </p:cNvSpPr>
          <p:nvPr/>
        </p:nvSpPr>
        <p:spPr bwMode="auto">
          <a:xfrm>
            <a:off x="872278" y="1722535"/>
            <a:ext cx="650242" cy="2415338"/>
          </a:xfrm>
          <a:prstGeom prst="rect">
            <a:avLst/>
          </a:prstGeom>
          <a:solidFill>
            <a:srgbClr val="2F5597"/>
          </a:solidFill>
          <a:ln w="28575">
            <a:solidFill>
              <a:schemeClr val="accent1"/>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优</a:t>
            </a: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点</a:t>
            </a:r>
            <a:endParaRPr lang="zh-CN" sz="2800" b="1" dirty="0">
              <a:solidFill>
                <a:srgbClr val="FFFF00"/>
              </a:solidFill>
              <a:latin typeface="微软雅黑" panose="020B0503020204020204" pitchFamily="34" charset="-122"/>
              <a:ea typeface="微软雅黑" panose="020B0503020204020204" pitchFamily="34" charset="-122"/>
            </a:endParaRPr>
          </a:p>
        </p:txBody>
      </p:sp>
      <p:sp>
        <p:nvSpPr>
          <p:cNvPr id="10" name="Rectangle 15"/>
          <p:cNvSpPr>
            <a:spLocks noChangeArrowheads="1"/>
          </p:cNvSpPr>
          <p:nvPr/>
        </p:nvSpPr>
        <p:spPr bwMode="auto">
          <a:xfrm>
            <a:off x="1684655" y="4253865"/>
            <a:ext cx="9546590" cy="2556510"/>
          </a:xfrm>
          <a:prstGeom prst="rect">
            <a:avLst/>
          </a:prstGeom>
          <a:solidFill>
            <a:schemeClr val="bg1"/>
          </a:solidFill>
          <a:ln w="28575">
            <a:solidFill>
              <a:schemeClr val="accent1"/>
            </a:solidFill>
            <a:miter lim="800000"/>
          </a:ln>
          <a:effectLst/>
          <a:scene3d>
            <a:camera prst="orthographicFront"/>
            <a:lightRig rig="threePt" dir="t"/>
          </a:scene3d>
          <a:sp3d>
            <a:bevelT/>
          </a:sp3d>
        </p:spPr>
        <p:txBody>
          <a:bodyPr/>
          <a:lstStyle/>
          <a:p>
            <a:pPr marL="342900" indent="-342900" defTabSz="449580">
              <a:lnSpc>
                <a:spcPct val="150000"/>
              </a:lnSpc>
              <a:spcBef>
                <a:spcPts val="1200"/>
              </a:spcBef>
              <a:buClr>
                <a:srgbClr val="2F5597"/>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空闲区的大小一般与申请分区大小不相等，因此将其一分为二，留下来的空闲区一般情况下是很小的，以致无法使用；</a:t>
            </a:r>
            <a:endParaRPr lang="zh-CN" altLang="en-US" sz="2400" b="1" dirty="0">
              <a:latin typeface="微软雅黑" panose="020B0503020204020204" pitchFamily="34" charset="-122"/>
              <a:ea typeface="微软雅黑" panose="020B0503020204020204" pitchFamily="34" charset="-122"/>
            </a:endParaRPr>
          </a:p>
          <a:p>
            <a:pPr marL="342900" indent="-342900" defTabSz="449580">
              <a:lnSpc>
                <a:spcPct val="150000"/>
              </a:lnSpc>
              <a:spcBef>
                <a:spcPts val="1200"/>
              </a:spcBef>
              <a:buClr>
                <a:srgbClr val="2F5597"/>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随着时间的推移，系统中的小空闲区（</a:t>
            </a:r>
            <a:r>
              <a:rPr lang="zh-CN" altLang="en-US" sz="2400" b="1" dirty="0">
                <a:solidFill>
                  <a:srgbClr val="0000FF"/>
                </a:solidFill>
                <a:latin typeface="微软雅黑" panose="020B0503020204020204" pitchFamily="34" charset="-122"/>
                <a:ea typeface="微软雅黑" panose="020B0503020204020204" pitchFamily="34" charset="-122"/>
              </a:rPr>
              <a:t>碎片</a:t>
            </a:r>
            <a:r>
              <a:rPr lang="zh-CN" altLang="en-US" sz="2400" b="1" dirty="0">
                <a:latin typeface="微软雅黑" panose="020B0503020204020204" pitchFamily="34" charset="-122"/>
                <a:ea typeface="微软雅黑" panose="020B0503020204020204" pitchFamily="34" charset="-122"/>
              </a:rPr>
              <a:t>）会越来越多，从而造成存储区的大量浪费。 </a:t>
            </a:r>
            <a:endParaRPr lang="zh-CN" altLang="en-US" sz="2400" b="1" dirty="0">
              <a:latin typeface="微软雅黑" panose="020B0503020204020204" pitchFamily="34" charset="-122"/>
              <a:ea typeface="微软雅黑" panose="020B0503020204020204" pitchFamily="34" charset="-122"/>
            </a:endParaRPr>
          </a:p>
        </p:txBody>
      </p:sp>
      <p:sp>
        <p:nvSpPr>
          <p:cNvPr id="11" name="Rectangle 15"/>
          <p:cNvSpPr>
            <a:spLocks noChangeArrowheads="1"/>
          </p:cNvSpPr>
          <p:nvPr/>
        </p:nvSpPr>
        <p:spPr bwMode="auto">
          <a:xfrm>
            <a:off x="872278" y="4253018"/>
            <a:ext cx="650242" cy="2556343"/>
          </a:xfrm>
          <a:prstGeom prst="rect">
            <a:avLst/>
          </a:prstGeom>
          <a:solidFill>
            <a:srgbClr val="2F5597"/>
          </a:solidFill>
          <a:ln w="28575">
            <a:solidFill>
              <a:schemeClr val="accent1"/>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缺</a:t>
            </a: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点</a:t>
            </a:r>
            <a:endParaRPr lang="zh-CN" sz="28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1000"/>
                                        <p:tgtEl>
                                          <p:spTgt spid="11"/>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10" grpId="0" bldLvl="0" animBg="1"/>
      <p:bldP spid="11"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830580" y="959485"/>
            <a:ext cx="1064768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有作业序列：作业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18K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25K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C</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30K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。系统中空闲区按不同算法组成的空闲区队列，如下图所示 ：</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61950" y="33655"/>
            <a:ext cx="1067879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 </a:t>
            </a:r>
            <a:r>
              <a:rPr lang="zh-CN" altLang="en-US" sz="3900" b="1" dirty="0">
                <a:latin typeface="微软雅黑" panose="020B0503020204020204" pitchFamily="34" charset="-122"/>
                <a:ea typeface="微软雅黑" panose="020B0503020204020204" pitchFamily="34" charset="-122"/>
              </a:rPr>
              <a:t>连续分配存储管理</a:t>
            </a:r>
            <a:r>
              <a:rPr lang="en-US" altLang="zh-CN" sz="3900" b="1" dirty="0">
                <a:latin typeface="微软雅黑" panose="020B0503020204020204" pitchFamily="34" charset="-122"/>
                <a:ea typeface="微软雅黑" panose="020B0503020204020204" pitchFamily="34" charset="-122"/>
              </a:rPr>
              <a:t> </a:t>
            </a:r>
            <a:r>
              <a:rPr lang="zh-CN" altLang="en-US" sz="3900" b="1" dirty="0">
                <a:solidFill>
                  <a:srgbClr val="FF0000"/>
                </a:solidFill>
                <a:latin typeface="微软雅黑" panose="020B0503020204020204" pitchFamily="34" charset="-122"/>
                <a:ea typeface="微软雅黑" panose="020B0503020204020204" pitchFamily="34" charset="-122"/>
              </a:rPr>
              <a:t>练习</a:t>
            </a:r>
            <a:r>
              <a:rPr lang="en-US" altLang="zh-CN" sz="3900" b="1" dirty="0">
                <a:solidFill>
                  <a:srgbClr val="FF0000"/>
                </a:solidFill>
                <a:latin typeface="微软雅黑" panose="020B0503020204020204" pitchFamily="34" charset="-122"/>
                <a:ea typeface="微软雅黑" panose="020B0503020204020204" pitchFamily="34" charset="-122"/>
              </a:rPr>
              <a:t>1</a:t>
            </a:r>
            <a:endParaRPr lang="zh-CN" altLang="en-US" sz="3900" b="1" dirty="0">
              <a:solidFill>
                <a:srgbClr val="FF0000"/>
              </a:solidFill>
              <a:latin typeface="微软雅黑" panose="020B0503020204020204" pitchFamily="34" charset="-122"/>
              <a:ea typeface="微软雅黑" panose="020B0503020204020204" pitchFamily="34" charset="-122"/>
            </a:endParaRPr>
          </a:p>
        </p:txBody>
      </p:sp>
      <p:pic>
        <p:nvPicPr>
          <p:cNvPr id="34" name="Picture 6" descr="os0702"/>
          <p:cNvPicPr>
            <a:picLocks noChangeAspect="1" noChangeArrowheads="1"/>
          </p:cNvPicPr>
          <p:nvPr/>
        </p:nvPicPr>
        <p:blipFill>
          <a:blip r:embed="rId1" cstate="print"/>
          <a:srcRect/>
          <a:stretch>
            <a:fillRect/>
          </a:stretch>
        </p:blipFill>
        <p:spPr bwMode="auto">
          <a:xfrm>
            <a:off x="1252855" y="2785745"/>
            <a:ext cx="8973820" cy="4077970"/>
          </a:xfrm>
          <a:prstGeom prst="rect">
            <a:avLst/>
          </a:prstGeom>
          <a:noFill/>
          <a:ln w="9525">
            <a:noFill/>
            <a:miter lim="800000"/>
            <a:headEnd/>
            <a:tailEnd/>
          </a:ln>
        </p:spPr>
      </p:pic>
      <p:sp>
        <p:nvSpPr>
          <p:cNvPr id="35" name="Rectangle 6"/>
          <p:cNvSpPr>
            <a:spLocks noChangeArrowheads="1"/>
          </p:cNvSpPr>
          <p:nvPr/>
        </p:nvSpPr>
        <p:spPr bwMode="auto">
          <a:xfrm>
            <a:off x="516890" y="2196465"/>
            <a:ext cx="11258550" cy="508635"/>
          </a:xfrm>
          <a:prstGeom prst="rect">
            <a:avLst/>
          </a:prstGeom>
          <a:solidFill>
            <a:srgbClr val="C00000"/>
          </a:solidFill>
          <a:ln w="9525">
            <a:solidFill>
              <a:srgbClr val="0000E2"/>
            </a:solidFill>
            <a:miter lim="800000"/>
          </a:ln>
          <a:effectLst/>
          <a:scene3d>
            <a:camera prst="orthographicFront"/>
            <a:lightRig rig="threePt" dir="t"/>
          </a:scene3d>
          <a:sp3d>
            <a:bevelT/>
          </a:sp3d>
        </p:spPr>
        <p:txBody>
          <a:bodyPr/>
          <a:lstStyle/>
          <a:p>
            <a:pPr marL="342900" indent="-342900" algn="ctr">
              <a:buClr>
                <a:srgbClr val="33CCFF"/>
              </a:buClr>
            </a:pPr>
            <a:r>
              <a:rPr lang="zh-CN" sz="2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最佳适应：大小递增</a:t>
            </a:r>
            <a:endParaRPr lang="zh-CN" sz="2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
          <p:cNvSpPr/>
          <p:nvPr/>
        </p:nvSpPr>
        <p:spPr>
          <a:xfrm>
            <a:off x="3696970" y="5438140"/>
            <a:ext cx="6423025" cy="126555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57200" y="959485"/>
            <a:ext cx="972312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最坏适应（</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worst fit, WF</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）算法</a:t>
            </a:r>
            <a:endPar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40665" y="33655"/>
            <a:ext cx="1080008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4.3.4 </a:t>
            </a:r>
            <a:r>
              <a:rPr lang="zh-CN" altLang="en-US" sz="3900" b="1" dirty="0">
                <a:latin typeface="微软雅黑" panose="020B0503020204020204" pitchFamily="34" charset="-122"/>
                <a:ea typeface="微软雅黑" panose="020B0503020204020204" pitchFamily="34" charset="-122"/>
              </a:rPr>
              <a:t>基于顺序搜索的动态分区分配算法</a:t>
            </a:r>
            <a:endParaRPr lang="zh-CN" altLang="en-US" sz="3900" b="1" dirty="0">
              <a:latin typeface="微软雅黑" panose="020B0503020204020204" pitchFamily="34" charset="-122"/>
              <a:ea typeface="微软雅黑" panose="020B0503020204020204" pitchFamily="34" charset="-122"/>
            </a:endParaRPr>
          </a:p>
        </p:txBody>
      </p:sp>
      <p:sp>
        <p:nvSpPr>
          <p:cNvPr id="8" name="Rectangle 15"/>
          <p:cNvSpPr>
            <a:spLocks noChangeArrowheads="1"/>
          </p:cNvSpPr>
          <p:nvPr/>
        </p:nvSpPr>
        <p:spPr bwMode="auto">
          <a:xfrm>
            <a:off x="1363345" y="1720850"/>
            <a:ext cx="10479405" cy="2964180"/>
          </a:xfrm>
          <a:prstGeom prst="rect">
            <a:avLst/>
          </a:prstGeom>
          <a:solidFill>
            <a:schemeClr val="bg1"/>
          </a:solidFill>
          <a:ln w="28575">
            <a:solidFill>
              <a:schemeClr val="accent2"/>
            </a:solidFill>
            <a:miter lim="800000"/>
          </a:ln>
          <a:effectLst/>
          <a:scene3d>
            <a:camera prst="orthographicFront"/>
            <a:lightRig rig="threePt" dir="t"/>
          </a:scene3d>
          <a:sp3d>
            <a:bevelT/>
          </a:sp3d>
        </p:spPr>
        <p:txBody>
          <a:bodyPr/>
          <a:lstStyle/>
          <a:p>
            <a:pPr marL="342900" indent="-342900" defTabSz="449580">
              <a:lnSpc>
                <a:spcPct val="200000"/>
              </a:lnSpc>
              <a:spcBef>
                <a:spcPts val="1200"/>
              </a:spcBef>
              <a:buClr>
                <a:schemeClr val="accent2"/>
              </a:buClr>
              <a:buSzPct val="100000"/>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扫描整个空闲分区表或链表，总是挑选一个</a:t>
            </a:r>
            <a:r>
              <a:rPr lang="zh-CN" altLang="en-US" sz="2000" b="1" dirty="0">
                <a:solidFill>
                  <a:srgbClr val="FF0000"/>
                </a:solidFill>
                <a:latin typeface="微软雅黑" panose="020B0503020204020204" pitchFamily="34" charset="-122"/>
                <a:ea typeface="微软雅黑" panose="020B0503020204020204" pitchFamily="34" charset="-122"/>
              </a:rPr>
              <a:t>最大的空闲区</a:t>
            </a:r>
            <a:r>
              <a:rPr lang="zh-CN" altLang="en-US" sz="2000" b="1" dirty="0">
                <a:latin typeface="微软雅黑" panose="020B0503020204020204" pitchFamily="34" charset="-122"/>
                <a:ea typeface="微软雅黑" panose="020B0503020204020204" pitchFamily="34" charset="-122"/>
              </a:rPr>
              <a:t>分割给作业使用</a:t>
            </a:r>
            <a:endParaRPr lang="en-US" altLang="zh-CN" sz="2000" b="1" dirty="0">
              <a:latin typeface="微软雅黑" panose="020B0503020204020204" pitchFamily="34" charset="-122"/>
              <a:ea typeface="微软雅黑" panose="020B0503020204020204" pitchFamily="34" charset="-122"/>
            </a:endParaRPr>
          </a:p>
          <a:p>
            <a:pPr marL="342900" indent="-342900" defTabSz="449580">
              <a:lnSpc>
                <a:spcPct val="200000"/>
              </a:lnSpc>
              <a:spcBef>
                <a:spcPts val="1200"/>
              </a:spcBef>
              <a:buClr>
                <a:schemeClr val="accent2"/>
              </a:buClr>
              <a:buSzPct val="100000"/>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空闲分区按容量</a:t>
            </a:r>
            <a:r>
              <a:rPr lang="zh-CN" altLang="en-US" sz="2000" b="1" dirty="0">
                <a:solidFill>
                  <a:srgbClr val="FF0000"/>
                </a:solidFill>
                <a:latin typeface="微软雅黑" panose="020B0503020204020204" pitchFamily="34" charset="-122"/>
                <a:ea typeface="微软雅黑" panose="020B0503020204020204" pitchFamily="34" charset="-122"/>
              </a:rPr>
              <a:t>从大到小</a:t>
            </a:r>
            <a:r>
              <a:rPr lang="zh-CN" altLang="en-US" sz="2000" b="1" dirty="0">
                <a:latin typeface="微软雅黑" panose="020B0503020204020204" pitchFamily="34" charset="-122"/>
                <a:ea typeface="微软雅黑" panose="020B0503020204020204" pitchFamily="34" charset="-122"/>
              </a:rPr>
              <a:t>的顺序形成一空闲分区链</a:t>
            </a:r>
            <a:endParaRPr lang="en-US" altLang="zh-CN" sz="2000" b="1" dirty="0">
              <a:latin typeface="微软雅黑" panose="020B0503020204020204" pitchFamily="34" charset="-122"/>
              <a:ea typeface="微软雅黑" panose="020B0503020204020204" pitchFamily="34" charset="-122"/>
            </a:endParaRPr>
          </a:p>
          <a:p>
            <a:pPr marL="342900" indent="-342900" defTabSz="449580">
              <a:lnSpc>
                <a:spcPct val="200000"/>
              </a:lnSpc>
              <a:spcBef>
                <a:spcPts val="1200"/>
              </a:spcBef>
              <a:buClr>
                <a:schemeClr val="accent2"/>
              </a:buClr>
              <a:buSzPct val="100000"/>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查找时只要检查空闲区表的</a:t>
            </a:r>
            <a:r>
              <a:rPr lang="zh-CN" altLang="en-US" sz="2000" b="1" dirty="0">
                <a:solidFill>
                  <a:srgbClr val="FF0000"/>
                </a:solidFill>
                <a:latin typeface="微软雅黑" panose="020B0503020204020204" pitchFamily="34" charset="-122"/>
                <a:ea typeface="微软雅黑" panose="020B0503020204020204" pitchFamily="34" charset="-122"/>
              </a:rPr>
              <a:t>第一个空闲区</a:t>
            </a:r>
            <a:r>
              <a:rPr lang="zh-CN" altLang="en-US" sz="2000" b="1" dirty="0">
                <a:latin typeface="微软雅黑" panose="020B0503020204020204" pitchFamily="34" charset="-122"/>
                <a:ea typeface="微软雅黑" panose="020B0503020204020204" pitchFamily="34" charset="-122"/>
              </a:rPr>
              <a:t>的大小是否大于或等于</a:t>
            </a:r>
            <a:r>
              <a:rPr lang="en-US" altLang="zh-CN" sz="2000" b="1" dirty="0">
                <a:latin typeface="微软雅黑" panose="020B0503020204020204" pitchFamily="34" charset="-122"/>
                <a:ea typeface="微软雅黑" panose="020B0503020204020204" pitchFamily="34" charset="-122"/>
              </a:rPr>
              <a:t>SIZE</a:t>
            </a:r>
            <a:r>
              <a:rPr lang="zh-CN" altLang="en-US" sz="2000" b="1" dirty="0">
                <a:latin typeface="微软雅黑" panose="020B0503020204020204" pitchFamily="34" charset="-122"/>
                <a:ea typeface="微软雅黑" panose="020B0503020204020204" pitchFamily="34" charset="-122"/>
              </a:rPr>
              <a:t>；若空闲区小于</a:t>
            </a:r>
            <a:r>
              <a:rPr lang="en-US" altLang="zh-CN" sz="2000" b="1" dirty="0">
                <a:latin typeface="微软雅黑" panose="020B0503020204020204" pitchFamily="34" charset="-122"/>
                <a:ea typeface="微软雅黑" panose="020B0503020204020204" pitchFamily="34" charset="-122"/>
              </a:rPr>
              <a:t>SIZE</a:t>
            </a:r>
            <a:r>
              <a:rPr lang="zh-CN" altLang="en-US" sz="2000" b="1" dirty="0">
                <a:latin typeface="微软雅黑" panose="020B0503020204020204" pitchFamily="34" charset="-122"/>
                <a:ea typeface="微软雅黑" panose="020B0503020204020204" pitchFamily="34" charset="-122"/>
              </a:rPr>
              <a:t>，则分配失败；否则从空闲区中分配</a:t>
            </a:r>
            <a:r>
              <a:rPr lang="en-US" altLang="zh-CN" sz="2000" b="1" dirty="0">
                <a:latin typeface="微软雅黑" panose="020B0503020204020204" pitchFamily="34" charset="-122"/>
                <a:ea typeface="微软雅黑" panose="020B0503020204020204" pitchFamily="34" charset="-122"/>
              </a:rPr>
              <a:t>SIZE</a:t>
            </a:r>
            <a:r>
              <a:rPr lang="zh-CN" altLang="en-US" sz="2000" b="1" dirty="0">
                <a:latin typeface="微软雅黑" panose="020B0503020204020204" pitchFamily="34" charset="-122"/>
                <a:ea typeface="微软雅黑" panose="020B0503020204020204" pitchFamily="34" charset="-122"/>
              </a:rPr>
              <a:t>的存储区给用户，修改和调整空闲区表。</a:t>
            </a:r>
            <a:endParaRPr lang="zh-CN" altLang="en-US" sz="2000" b="1" dirty="0">
              <a:latin typeface="微软雅黑" panose="020B0503020204020204" pitchFamily="34" charset="-122"/>
              <a:ea typeface="微软雅黑" panose="020B0503020204020204" pitchFamily="34" charset="-122"/>
            </a:endParaRPr>
          </a:p>
          <a:p>
            <a:pPr marL="342900" indent="-342900" defTabSz="449580">
              <a:lnSpc>
                <a:spcPct val="200000"/>
              </a:lnSpc>
              <a:spcBef>
                <a:spcPts val="1200"/>
              </a:spcBef>
              <a:buClr>
                <a:schemeClr val="accent2"/>
              </a:buClr>
              <a:buSzPct val="100000"/>
              <a:buFont typeface="Wingdings" panose="05000000000000000000" pitchFamily="2" charset="2"/>
              <a:buChar char="Ø"/>
            </a:pPr>
            <a:endParaRPr lang="zh-CN" altLang="en-US" sz="2000" b="1" dirty="0">
              <a:latin typeface="微软雅黑" panose="020B0503020204020204" pitchFamily="34" charset="-122"/>
              <a:ea typeface="微软雅黑" panose="020B0503020204020204" pitchFamily="34" charset="-122"/>
            </a:endParaRPr>
          </a:p>
        </p:txBody>
      </p:sp>
      <p:sp>
        <p:nvSpPr>
          <p:cNvPr id="9" name="Rectangle 15"/>
          <p:cNvSpPr>
            <a:spLocks noChangeArrowheads="1"/>
          </p:cNvSpPr>
          <p:nvPr/>
        </p:nvSpPr>
        <p:spPr bwMode="auto">
          <a:xfrm>
            <a:off x="558165" y="1720850"/>
            <a:ext cx="650240" cy="2964180"/>
          </a:xfrm>
          <a:prstGeom prst="rect">
            <a:avLst/>
          </a:prstGeom>
          <a:solidFill>
            <a:schemeClr val="accent2"/>
          </a:solidFill>
          <a:ln w="28575">
            <a:solidFill>
              <a:schemeClr val="accent2"/>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分</a:t>
            </a: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zh-CN" altLang="en-US"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配</a:t>
            </a:r>
            <a:endParaRPr lang="zh-CN" sz="2800" b="1" dirty="0">
              <a:solidFill>
                <a:srgbClr val="FFFF00"/>
              </a:solidFill>
              <a:latin typeface="微软雅黑" panose="020B0503020204020204" pitchFamily="34" charset="-122"/>
              <a:ea typeface="微软雅黑" panose="020B0503020204020204" pitchFamily="34" charset="-122"/>
            </a:endParaRPr>
          </a:p>
        </p:txBody>
      </p:sp>
      <p:sp>
        <p:nvSpPr>
          <p:cNvPr id="2" name="Rectangle 15"/>
          <p:cNvSpPr>
            <a:spLocks noChangeArrowheads="1"/>
          </p:cNvSpPr>
          <p:nvPr/>
        </p:nvSpPr>
        <p:spPr bwMode="auto">
          <a:xfrm>
            <a:off x="1363345" y="4824730"/>
            <a:ext cx="10479405" cy="1797050"/>
          </a:xfrm>
          <a:prstGeom prst="rect">
            <a:avLst/>
          </a:prstGeom>
          <a:solidFill>
            <a:schemeClr val="bg1"/>
          </a:solidFill>
          <a:ln w="28575">
            <a:solidFill>
              <a:schemeClr val="accent2"/>
            </a:solidFill>
            <a:miter lim="800000"/>
          </a:ln>
          <a:effectLst/>
          <a:scene3d>
            <a:camera prst="orthographicFront"/>
            <a:lightRig rig="threePt" dir="t"/>
          </a:scene3d>
          <a:sp3d>
            <a:bevelT/>
          </a:sp3d>
        </p:spPr>
        <p:txBody>
          <a:bodyPr/>
          <a:p>
            <a:pPr marL="342900" indent="-342900" defTabSz="449580">
              <a:lnSpc>
                <a:spcPct val="150000"/>
              </a:lnSpc>
              <a:spcBef>
                <a:spcPts val="1200"/>
              </a:spcBef>
              <a:buClr>
                <a:schemeClr val="accent2"/>
              </a:buClr>
              <a:buSzPct val="100000"/>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按释放区的首址，查询空闲区表（队列） ，若有与释放区相邻的空闲区，合并到相邻的空闲区中，修改该区的大小和首址；否则把释放区作为空闲区插入空闲区表（队列） ；</a:t>
            </a:r>
            <a:endParaRPr lang="zh-CN" altLang="en-US" sz="2000" b="1" dirty="0">
              <a:latin typeface="微软雅黑" panose="020B0503020204020204" pitchFamily="34" charset="-122"/>
              <a:ea typeface="微软雅黑" panose="020B0503020204020204" pitchFamily="34" charset="-122"/>
            </a:endParaRPr>
          </a:p>
          <a:p>
            <a:pPr marL="342900" indent="-342900" defTabSz="449580">
              <a:lnSpc>
                <a:spcPct val="150000"/>
              </a:lnSpc>
              <a:spcBef>
                <a:spcPts val="1200"/>
              </a:spcBef>
              <a:buClr>
                <a:schemeClr val="accent2"/>
              </a:buClr>
              <a:buSzPct val="100000"/>
              <a:buFont typeface="Wingdings" panose="05000000000000000000" pitchFamily="2" charset="2"/>
              <a:buChar char="Ø"/>
            </a:pPr>
            <a:r>
              <a:rPr lang="zh-CN" altLang="en-US" sz="2000" b="1" dirty="0">
                <a:latin typeface="微软雅黑" panose="020B0503020204020204" pitchFamily="34" charset="-122"/>
                <a:ea typeface="微软雅黑" panose="020B0503020204020204" pitchFamily="34" charset="-122"/>
              </a:rPr>
              <a:t>分配和回收后要对空闲区表（队列）重新排序。</a:t>
            </a:r>
            <a:endParaRPr lang="zh-CN" altLang="en-US" sz="2000" b="1" dirty="0">
              <a:latin typeface="微软雅黑" panose="020B0503020204020204" pitchFamily="34" charset="-122"/>
              <a:ea typeface="微软雅黑" panose="020B0503020204020204" pitchFamily="34" charset="-122"/>
            </a:endParaRPr>
          </a:p>
        </p:txBody>
      </p:sp>
      <p:sp>
        <p:nvSpPr>
          <p:cNvPr id="3" name="Rectangle 15"/>
          <p:cNvSpPr>
            <a:spLocks noChangeArrowheads="1"/>
          </p:cNvSpPr>
          <p:nvPr/>
        </p:nvSpPr>
        <p:spPr bwMode="auto">
          <a:xfrm>
            <a:off x="584835" y="4824730"/>
            <a:ext cx="650240" cy="1797685"/>
          </a:xfrm>
          <a:prstGeom prst="rect">
            <a:avLst/>
          </a:prstGeom>
          <a:solidFill>
            <a:schemeClr val="accent2"/>
          </a:solidFill>
          <a:ln w="28575">
            <a:solidFill>
              <a:schemeClr val="accent2"/>
            </a:solidFill>
            <a:miter lim="800000"/>
          </a:ln>
          <a:effectLst/>
          <a:scene3d>
            <a:camera prst="orthographicFront"/>
            <a:lightRig rig="threePt" dir="t"/>
          </a:scene3d>
          <a:sp3d>
            <a:bevelT/>
          </a:sp3d>
        </p:spPr>
        <p:txBody>
          <a:bodyPr/>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回</a:t>
            </a: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zh-CN" altLang="en-US"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收</a:t>
            </a:r>
            <a:endParaRPr lang="zh-CN" sz="28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2" grpId="0" bldLvl="0" animBg="1"/>
      <p:bldP spid="3"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77215" y="959485"/>
            <a:ext cx="9603105"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最坏适应（</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worst fit, WF</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）算法</a:t>
            </a:r>
            <a:endPar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68275" y="33655"/>
            <a:ext cx="1087247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4.3.4 </a:t>
            </a:r>
            <a:r>
              <a:rPr lang="zh-CN" altLang="en-US" sz="3900" b="1" dirty="0">
                <a:latin typeface="微软雅黑" panose="020B0503020204020204" pitchFamily="34" charset="-122"/>
                <a:ea typeface="微软雅黑" panose="020B0503020204020204" pitchFamily="34" charset="-122"/>
              </a:rPr>
              <a:t>基于顺序搜索的动态分区分配算法</a:t>
            </a:r>
            <a:endParaRPr lang="zh-CN" altLang="en-US" sz="3900" b="1" dirty="0">
              <a:latin typeface="微软雅黑" panose="020B0503020204020204" pitchFamily="34" charset="-122"/>
              <a:ea typeface="微软雅黑" panose="020B0503020204020204" pitchFamily="34" charset="-122"/>
            </a:endParaRPr>
          </a:p>
        </p:txBody>
      </p:sp>
      <p:sp>
        <p:nvSpPr>
          <p:cNvPr id="8" name="Rectangle 15"/>
          <p:cNvSpPr>
            <a:spLocks noChangeArrowheads="1"/>
          </p:cNvSpPr>
          <p:nvPr/>
        </p:nvSpPr>
        <p:spPr bwMode="auto">
          <a:xfrm>
            <a:off x="1885950" y="1666240"/>
            <a:ext cx="8999855" cy="4117975"/>
          </a:xfrm>
          <a:prstGeom prst="rect">
            <a:avLst/>
          </a:prstGeom>
          <a:solidFill>
            <a:schemeClr val="bg1"/>
          </a:solidFill>
          <a:ln w="28575">
            <a:solidFill>
              <a:schemeClr val="accent2"/>
            </a:solidFill>
            <a:miter lim="800000"/>
          </a:ln>
          <a:effectLst/>
          <a:scene3d>
            <a:camera prst="orthographicFront"/>
            <a:lightRig rig="threePt" dir="t"/>
          </a:scene3d>
          <a:sp3d>
            <a:bevelT/>
          </a:sp3d>
        </p:spPr>
        <p:txBody>
          <a:bodyPr/>
          <a:lstStyle/>
          <a:p>
            <a:pPr marL="342900" indent="-342900" defTabSz="449580">
              <a:lnSpc>
                <a:spcPct val="150000"/>
              </a:lnSpc>
              <a:spcBef>
                <a:spcPts val="1200"/>
              </a:spcBef>
              <a:buClr>
                <a:schemeClr val="accent2"/>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当程序装入内存中最大的空闲区后，剩下的空闲区还可能相当大，还能装下较大的程序；</a:t>
            </a:r>
            <a:endParaRPr lang="zh-CN" altLang="en-US" sz="2400" b="1" dirty="0">
              <a:latin typeface="微软雅黑" panose="020B0503020204020204" pitchFamily="34" charset="-122"/>
              <a:ea typeface="微软雅黑" panose="020B0503020204020204" pitchFamily="34" charset="-122"/>
            </a:endParaRPr>
          </a:p>
          <a:p>
            <a:pPr marL="342900" indent="-342900" defTabSz="449580">
              <a:lnSpc>
                <a:spcPct val="150000"/>
              </a:lnSpc>
              <a:spcBef>
                <a:spcPts val="1200"/>
              </a:spcBef>
              <a:buClr>
                <a:schemeClr val="accent2"/>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可使剩下的空闲区不至于太小，</a:t>
            </a:r>
            <a:r>
              <a:rPr lang="zh-CN" altLang="en-US" sz="2400" b="1" dirty="0">
                <a:solidFill>
                  <a:srgbClr val="FF0000"/>
                </a:solidFill>
                <a:latin typeface="微软雅黑" panose="020B0503020204020204" pitchFamily="34" charset="-122"/>
                <a:ea typeface="微软雅黑" panose="020B0503020204020204" pitchFamily="34" charset="-122"/>
              </a:rPr>
              <a:t>产生碎片的几率最小</a:t>
            </a:r>
            <a:r>
              <a:rPr lang="zh-CN" altLang="en-US" sz="2400" b="1" dirty="0">
                <a:latin typeface="微软雅黑" panose="020B0503020204020204" pitchFamily="34" charset="-122"/>
                <a:ea typeface="微软雅黑" panose="020B0503020204020204" pitchFamily="34" charset="-122"/>
              </a:rPr>
              <a:t>，对中、小作业有利；</a:t>
            </a:r>
            <a:endParaRPr lang="en-US" altLang="zh-CN" sz="2400" b="1" dirty="0">
              <a:latin typeface="微软雅黑" panose="020B0503020204020204" pitchFamily="34" charset="-122"/>
              <a:ea typeface="微软雅黑" panose="020B0503020204020204" pitchFamily="34" charset="-122"/>
            </a:endParaRPr>
          </a:p>
          <a:p>
            <a:pPr marL="342900" indent="-342900" defTabSz="449580">
              <a:lnSpc>
                <a:spcPct val="150000"/>
              </a:lnSpc>
              <a:spcBef>
                <a:spcPts val="1200"/>
              </a:spcBef>
              <a:buClr>
                <a:schemeClr val="accent2"/>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分配算法</a:t>
            </a:r>
            <a:r>
              <a:rPr lang="zh-CN" altLang="en-US" sz="2400" b="1" dirty="0">
                <a:solidFill>
                  <a:srgbClr val="FF0000"/>
                </a:solidFill>
                <a:latin typeface="微软雅黑" panose="020B0503020204020204" pitchFamily="34" charset="-122"/>
                <a:ea typeface="微软雅黑" panose="020B0503020204020204" pitchFamily="34" charset="-122"/>
              </a:rPr>
              <a:t>查找效率很高</a:t>
            </a:r>
            <a:r>
              <a:rPr lang="zh-CN" altLang="en-US" sz="2400" b="1" dirty="0">
                <a:latin typeface="微软雅黑" panose="020B0503020204020204" pitchFamily="34" charset="-122"/>
                <a:ea typeface="微软雅黑" panose="020B0503020204020204" pitchFamily="34" charset="-122"/>
              </a:rPr>
              <a:t>，每次仅作一次查询工作。</a:t>
            </a:r>
            <a:endParaRPr lang="en-US" altLang="zh-CN" sz="2400" b="1" dirty="0">
              <a:latin typeface="微软雅黑" panose="020B0503020204020204" pitchFamily="34" charset="-122"/>
              <a:ea typeface="微软雅黑" panose="020B0503020204020204" pitchFamily="34" charset="-122"/>
            </a:endParaRPr>
          </a:p>
          <a:p>
            <a:pPr marL="342900" indent="-342900" defTabSz="449580">
              <a:lnSpc>
                <a:spcPct val="150000"/>
              </a:lnSpc>
              <a:spcBef>
                <a:spcPts val="1200"/>
              </a:spcBef>
              <a:buClr>
                <a:schemeClr val="accent2"/>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但是，会使存储器中</a:t>
            </a:r>
            <a:r>
              <a:rPr lang="zh-CN" altLang="en-US" sz="2400" b="1" dirty="0">
                <a:solidFill>
                  <a:srgbClr val="FF0000"/>
                </a:solidFill>
                <a:latin typeface="微软雅黑" panose="020B0503020204020204" pitchFamily="34" charset="-122"/>
                <a:ea typeface="微软雅黑" panose="020B0503020204020204" pitchFamily="34" charset="-122"/>
              </a:rPr>
              <a:t>缺乏大的空闲分区</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9" name="Rectangle 15"/>
          <p:cNvSpPr>
            <a:spLocks noChangeArrowheads="1"/>
          </p:cNvSpPr>
          <p:nvPr/>
        </p:nvSpPr>
        <p:spPr bwMode="auto">
          <a:xfrm>
            <a:off x="1059603" y="1666240"/>
            <a:ext cx="650242" cy="4118187"/>
          </a:xfrm>
          <a:prstGeom prst="rect">
            <a:avLst/>
          </a:prstGeom>
          <a:solidFill>
            <a:schemeClr val="accent2"/>
          </a:solidFill>
          <a:ln w="28575">
            <a:solidFill>
              <a:schemeClr val="accent2"/>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评</a:t>
            </a: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rgbClr val="FFFF00"/>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rgbClr val="FFFF00"/>
                </a:solidFill>
                <a:latin typeface="微软雅黑" panose="020B0503020204020204" pitchFamily="34" charset="-122"/>
                <a:ea typeface="微软雅黑" panose="020B0503020204020204" pitchFamily="34" charset="-122"/>
              </a:rPr>
              <a:t>价</a:t>
            </a:r>
            <a:endParaRPr lang="zh-CN" sz="2800" b="1" dirty="0">
              <a:solidFill>
                <a:srgbClr val="FFFF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830580" y="959485"/>
            <a:ext cx="1064768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有作业序列：作业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18K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25K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C</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30K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。系统中空闲区按不同算法组成的空闲区队列，如下图所示 ：</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61950" y="33655"/>
            <a:ext cx="1067879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 </a:t>
            </a:r>
            <a:r>
              <a:rPr lang="zh-CN" altLang="en-US" sz="3900" b="1" dirty="0">
                <a:latin typeface="微软雅黑" panose="020B0503020204020204" pitchFamily="34" charset="-122"/>
                <a:ea typeface="微软雅黑" panose="020B0503020204020204" pitchFamily="34" charset="-122"/>
              </a:rPr>
              <a:t>连续分配存储管理</a:t>
            </a:r>
            <a:r>
              <a:rPr lang="en-US" altLang="zh-CN" sz="3900" b="1" dirty="0">
                <a:latin typeface="微软雅黑" panose="020B0503020204020204" pitchFamily="34" charset="-122"/>
                <a:ea typeface="微软雅黑" panose="020B0503020204020204" pitchFamily="34" charset="-122"/>
              </a:rPr>
              <a:t> </a:t>
            </a:r>
            <a:r>
              <a:rPr lang="zh-CN" altLang="en-US" sz="3900" b="1" dirty="0">
                <a:solidFill>
                  <a:srgbClr val="FF0000"/>
                </a:solidFill>
                <a:latin typeface="微软雅黑" panose="020B0503020204020204" pitchFamily="34" charset="-122"/>
                <a:ea typeface="微软雅黑" panose="020B0503020204020204" pitchFamily="34" charset="-122"/>
              </a:rPr>
              <a:t>练习</a:t>
            </a:r>
            <a:r>
              <a:rPr lang="en-US" altLang="zh-CN" sz="3900" b="1" dirty="0">
                <a:solidFill>
                  <a:srgbClr val="FF0000"/>
                </a:solidFill>
                <a:latin typeface="微软雅黑" panose="020B0503020204020204" pitchFamily="34" charset="-122"/>
                <a:ea typeface="微软雅黑" panose="020B0503020204020204" pitchFamily="34" charset="-122"/>
              </a:rPr>
              <a:t>1</a:t>
            </a:r>
            <a:endParaRPr lang="zh-CN" altLang="en-US" sz="3900" b="1" dirty="0">
              <a:solidFill>
                <a:srgbClr val="FF0000"/>
              </a:solidFill>
              <a:latin typeface="微软雅黑" panose="020B0503020204020204" pitchFamily="34" charset="-122"/>
              <a:ea typeface="微软雅黑" panose="020B0503020204020204" pitchFamily="34" charset="-122"/>
            </a:endParaRPr>
          </a:p>
        </p:txBody>
      </p:sp>
      <p:pic>
        <p:nvPicPr>
          <p:cNvPr id="34" name="Picture 6" descr="os0702"/>
          <p:cNvPicPr>
            <a:picLocks noChangeAspect="1" noChangeArrowheads="1"/>
          </p:cNvPicPr>
          <p:nvPr/>
        </p:nvPicPr>
        <p:blipFill>
          <a:blip r:embed="rId1" cstate="print"/>
          <a:srcRect/>
          <a:stretch>
            <a:fillRect/>
          </a:stretch>
        </p:blipFill>
        <p:spPr bwMode="auto">
          <a:xfrm>
            <a:off x="1252855" y="2785745"/>
            <a:ext cx="8973820" cy="4077970"/>
          </a:xfrm>
          <a:prstGeom prst="rect">
            <a:avLst/>
          </a:prstGeom>
          <a:noFill/>
          <a:ln w="9525">
            <a:noFill/>
            <a:miter lim="800000"/>
            <a:headEnd/>
            <a:tailEnd/>
          </a:ln>
        </p:spPr>
      </p:pic>
      <p:sp>
        <p:nvSpPr>
          <p:cNvPr id="35" name="Rectangle 6"/>
          <p:cNvSpPr>
            <a:spLocks noChangeArrowheads="1"/>
          </p:cNvSpPr>
          <p:nvPr/>
        </p:nvSpPr>
        <p:spPr bwMode="auto">
          <a:xfrm>
            <a:off x="516890" y="2196465"/>
            <a:ext cx="11258550" cy="508635"/>
          </a:xfrm>
          <a:prstGeom prst="rect">
            <a:avLst/>
          </a:prstGeom>
          <a:solidFill>
            <a:srgbClr val="C00000"/>
          </a:solidFill>
          <a:ln w="9525">
            <a:solidFill>
              <a:srgbClr val="0000E2"/>
            </a:solidFill>
            <a:miter lim="800000"/>
          </a:ln>
          <a:effectLst/>
          <a:scene3d>
            <a:camera prst="orthographicFront"/>
            <a:lightRig rig="threePt" dir="t"/>
          </a:scene3d>
          <a:sp3d>
            <a:bevelT/>
          </a:sp3d>
        </p:spPr>
        <p:txBody>
          <a:bodyPr/>
          <a:lstStyle/>
          <a:p>
            <a:pPr marL="342900" indent="-342900" algn="ctr">
              <a:buClr>
                <a:srgbClr val="33CCFF"/>
              </a:buClr>
            </a:pPr>
            <a:r>
              <a:rPr lang="zh-CN" sz="2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最坏适应：大小递减</a:t>
            </a:r>
            <a:r>
              <a:rPr lang="en-US" altLang="zh-CN" sz="2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sz="24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89585" y="959485"/>
            <a:ext cx="1091565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有作业序列：作业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18K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25K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C</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30K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。系统中空闲区按不同算法组成的空闲区队列，如下图所示 ：</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88290" y="33655"/>
            <a:ext cx="1075245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 </a:t>
            </a:r>
            <a:r>
              <a:rPr lang="zh-CN" altLang="en-US" sz="3900" b="1" dirty="0">
                <a:latin typeface="微软雅黑" panose="020B0503020204020204" pitchFamily="34" charset="-122"/>
                <a:ea typeface="微软雅黑" panose="020B0503020204020204" pitchFamily="34" charset="-122"/>
              </a:rPr>
              <a:t>连续分配存储管理</a:t>
            </a:r>
            <a:r>
              <a:rPr lang="en-US" altLang="zh-CN" sz="3900" b="1" dirty="0">
                <a:latin typeface="微软雅黑" panose="020B0503020204020204" pitchFamily="34" charset="-122"/>
                <a:ea typeface="微软雅黑" panose="020B0503020204020204" pitchFamily="34" charset="-122"/>
              </a:rPr>
              <a:t> </a:t>
            </a:r>
            <a:r>
              <a:rPr lang="zh-CN" altLang="en-US" sz="3900" b="1" dirty="0">
                <a:solidFill>
                  <a:srgbClr val="FF0000"/>
                </a:solidFill>
                <a:latin typeface="微软雅黑" panose="020B0503020204020204" pitchFamily="34" charset="-122"/>
                <a:ea typeface="微软雅黑" panose="020B0503020204020204" pitchFamily="34" charset="-122"/>
              </a:rPr>
              <a:t>练习</a:t>
            </a:r>
            <a:r>
              <a:rPr lang="en-US" altLang="zh-CN" sz="3900" b="1" dirty="0">
                <a:solidFill>
                  <a:srgbClr val="FF0000"/>
                </a:solidFill>
                <a:latin typeface="微软雅黑" panose="020B0503020204020204" pitchFamily="34" charset="-122"/>
                <a:ea typeface="微软雅黑" panose="020B0503020204020204" pitchFamily="34" charset="-122"/>
              </a:rPr>
              <a:t>1</a:t>
            </a:r>
            <a:endParaRPr lang="zh-CN" altLang="en-US" sz="3900" b="1" dirty="0">
              <a:solidFill>
                <a:srgbClr val="FF0000"/>
              </a:solidFill>
              <a:latin typeface="微软雅黑" panose="020B0503020204020204" pitchFamily="34" charset="-122"/>
              <a:ea typeface="微软雅黑" panose="020B0503020204020204" pitchFamily="34" charset="-122"/>
            </a:endParaRPr>
          </a:p>
        </p:txBody>
      </p:sp>
      <p:pic>
        <p:nvPicPr>
          <p:cNvPr id="34" name="Picture 6" descr="os0702"/>
          <p:cNvPicPr>
            <a:picLocks noChangeAspect="1" noChangeArrowheads="1"/>
          </p:cNvPicPr>
          <p:nvPr/>
        </p:nvPicPr>
        <p:blipFill>
          <a:blip r:embed="rId1" cstate="print"/>
          <a:srcRect/>
          <a:stretch>
            <a:fillRect/>
          </a:stretch>
        </p:blipFill>
        <p:spPr bwMode="auto">
          <a:xfrm>
            <a:off x="1908811" y="2932800"/>
            <a:ext cx="7696200" cy="3497263"/>
          </a:xfrm>
          <a:prstGeom prst="rect">
            <a:avLst/>
          </a:prstGeom>
          <a:noFill/>
          <a:ln w="9525">
            <a:noFill/>
            <a:miter lim="800000"/>
            <a:headEnd/>
            <a:tailEnd/>
          </a:ln>
        </p:spPr>
      </p:pic>
      <p:sp>
        <p:nvSpPr>
          <p:cNvPr id="6" name="Rectangle 15"/>
          <p:cNvSpPr>
            <a:spLocks noChangeArrowheads="1"/>
          </p:cNvSpPr>
          <p:nvPr/>
        </p:nvSpPr>
        <p:spPr bwMode="auto">
          <a:xfrm>
            <a:off x="1155700" y="2232660"/>
            <a:ext cx="10038715" cy="619125"/>
          </a:xfrm>
          <a:prstGeom prst="rect">
            <a:avLst/>
          </a:prstGeom>
          <a:solidFill>
            <a:srgbClr val="004080"/>
          </a:solidFill>
          <a:ln w="28575">
            <a:solidFill>
              <a:srgbClr val="004992"/>
            </a:solidFill>
            <a:miter lim="800000"/>
          </a:ln>
          <a:effectLst/>
          <a:scene3d>
            <a:camera prst="orthographicFront"/>
            <a:lightRig rig="threePt" dir="t"/>
          </a:scene3d>
          <a:sp3d>
            <a:bevelT/>
          </a:sp3d>
        </p:spPr>
        <p:txBody>
          <a:bodyPr/>
          <a:lstStyle/>
          <a:p>
            <a:pPr algn="ctr" defTabSz="449580">
              <a:lnSpc>
                <a:spcPts val="3300"/>
              </a:lnSpc>
              <a:spcBef>
                <a:spcPts val="1200"/>
              </a:spcBef>
              <a:buClr>
                <a:srgbClr val="FC6204"/>
              </a:buClr>
              <a:buSzPct val="100000"/>
            </a:pPr>
            <a:r>
              <a:rPr lang="zh-CN" altLang="en-US" sz="2400" b="1" dirty="0">
                <a:solidFill>
                  <a:schemeClr val="bg1"/>
                </a:solidFill>
                <a:latin typeface="微软雅黑" panose="020B0503020204020204" pitchFamily="34" charset="-122"/>
                <a:ea typeface="微软雅黑" panose="020B0503020204020204" pitchFamily="34" charset="-122"/>
              </a:rPr>
              <a:t>哪个算法对该作业序列是合适的？</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650240" y="959485"/>
            <a:ext cx="1110234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有作业序列：作业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18K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25K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C</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30K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。系统中空闲区按不同算法组成的空闲区队列，如下图所示 ：</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87985" y="33655"/>
            <a:ext cx="1065276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 </a:t>
            </a:r>
            <a:r>
              <a:rPr lang="zh-CN" altLang="en-US" sz="3900" b="1" dirty="0">
                <a:latin typeface="微软雅黑" panose="020B0503020204020204" pitchFamily="34" charset="-122"/>
                <a:ea typeface="微软雅黑" panose="020B0503020204020204" pitchFamily="34" charset="-122"/>
              </a:rPr>
              <a:t>连续分配存储管理</a:t>
            </a:r>
            <a:r>
              <a:rPr lang="en-US" altLang="zh-CN" sz="3900" b="1" dirty="0">
                <a:latin typeface="微软雅黑" panose="020B0503020204020204" pitchFamily="34" charset="-122"/>
                <a:ea typeface="微软雅黑" panose="020B0503020204020204" pitchFamily="34" charset="-122"/>
              </a:rPr>
              <a:t> </a:t>
            </a:r>
            <a:r>
              <a:rPr lang="zh-CN" altLang="en-US" sz="3900" b="1" dirty="0">
                <a:solidFill>
                  <a:srgbClr val="FF0000"/>
                </a:solidFill>
                <a:latin typeface="微软雅黑" panose="020B0503020204020204" pitchFamily="34" charset="-122"/>
                <a:ea typeface="微软雅黑" panose="020B0503020204020204" pitchFamily="34" charset="-122"/>
              </a:rPr>
              <a:t>练习</a:t>
            </a:r>
            <a:r>
              <a:rPr lang="en-US" altLang="zh-CN" sz="3900" b="1" dirty="0">
                <a:solidFill>
                  <a:srgbClr val="FF0000"/>
                </a:solidFill>
                <a:latin typeface="微软雅黑" panose="020B0503020204020204" pitchFamily="34" charset="-122"/>
                <a:ea typeface="微软雅黑" panose="020B0503020204020204" pitchFamily="34" charset="-122"/>
              </a:rPr>
              <a:t>1</a:t>
            </a:r>
            <a:endParaRPr lang="zh-CN" altLang="en-US" sz="3900" b="1" dirty="0">
              <a:solidFill>
                <a:srgbClr val="FF0000"/>
              </a:solidFill>
              <a:latin typeface="微软雅黑" panose="020B0503020204020204" pitchFamily="34" charset="-122"/>
              <a:ea typeface="微软雅黑" panose="020B0503020204020204" pitchFamily="34" charset="-122"/>
            </a:endParaRPr>
          </a:p>
        </p:txBody>
      </p:sp>
      <p:pic>
        <p:nvPicPr>
          <p:cNvPr id="34" name="Picture 6" descr="os0702"/>
          <p:cNvPicPr>
            <a:picLocks noChangeAspect="1" noChangeArrowheads="1"/>
          </p:cNvPicPr>
          <p:nvPr/>
        </p:nvPicPr>
        <p:blipFill>
          <a:blip r:embed="rId1" cstate="print"/>
          <a:srcRect/>
          <a:stretch>
            <a:fillRect/>
          </a:stretch>
        </p:blipFill>
        <p:spPr bwMode="auto">
          <a:xfrm>
            <a:off x="2095501" y="3073135"/>
            <a:ext cx="7696200" cy="3497263"/>
          </a:xfrm>
          <a:prstGeom prst="rect">
            <a:avLst/>
          </a:prstGeom>
          <a:noFill/>
          <a:ln w="9525">
            <a:noFill/>
            <a:miter lim="800000"/>
            <a:headEnd/>
            <a:tailEnd/>
          </a:ln>
        </p:spPr>
      </p:pic>
      <p:sp>
        <p:nvSpPr>
          <p:cNvPr id="6" name="Rectangle 15"/>
          <p:cNvSpPr>
            <a:spLocks noChangeArrowheads="1"/>
          </p:cNvSpPr>
          <p:nvPr/>
        </p:nvSpPr>
        <p:spPr bwMode="auto">
          <a:xfrm>
            <a:off x="721360" y="2160905"/>
            <a:ext cx="11222355" cy="652780"/>
          </a:xfrm>
          <a:prstGeom prst="rect">
            <a:avLst/>
          </a:prstGeom>
          <a:solidFill>
            <a:srgbClr val="004080"/>
          </a:solidFill>
          <a:ln w="28575">
            <a:solidFill>
              <a:srgbClr val="004992"/>
            </a:solidFill>
            <a:miter lim="800000"/>
          </a:ln>
          <a:effectLst/>
          <a:scene3d>
            <a:camera prst="orthographicFront"/>
            <a:lightRig rig="threePt" dir="t"/>
          </a:scene3d>
          <a:sp3d>
            <a:bevelT/>
          </a:sp3d>
        </p:spPr>
        <p:txBody>
          <a:bodyPr/>
          <a:lstStyle/>
          <a:p>
            <a:pPr algn="ctr" defTabSz="449580">
              <a:lnSpc>
                <a:spcPts val="3300"/>
              </a:lnSpc>
              <a:spcBef>
                <a:spcPts val="1200"/>
              </a:spcBef>
              <a:buClr>
                <a:srgbClr val="FC6204"/>
              </a:buClr>
              <a:buSzPct val="100000"/>
            </a:pPr>
            <a:r>
              <a:rPr lang="zh-CN" altLang="en-US" sz="2400" b="1" dirty="0">
                <a:solidFill>
                  <a:schemeClr val="bg1"/>
                </a:solidFill>
                <a:latin typeface="微软雅黑" panose="020B0503020204020204" pitchFamily="34" charset="-122"/>
                <a:ea typeface="微软雅黑" panose="020B0503020204020204" pitchFamily="34" charset="-122"/>
              </a:rPr>
              <a:t>最佳适应法对这个作业序列是合适的，    而其它算法对该作业序列是不合适的。</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650240" y="959485"/>
            <a:ext cx="1097534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有作业序列：作业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21K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30K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C</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25K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。系统中空闲区按不同算法组成的空闲区队列，如下图所示 ：</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435610" y="33655"/>
            <a:ext cx="1060513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 </a:t>
            </a:r>
            <a:r>
              <a:rPr lang="zh-CN" altLang="en-US" sz="3900" b="1" dirty="0">
                <a:latin typeface="微软雅黑" panose="020B0503020204020204" pitchFamily="34" charset="-122"/>
                <a:ea typeface="微软雅黑" panose="020B0503020204020204" pitchFamily="34" charset="-122"/>
              </a:rPr>
              <a:t>连续分配存储管理</a:t>
            </a:r>
            <a:r>
              <a:rPr lang="en-US" altLang="zh-CN" sz="3900" b="1" dirty="0">
                <a:latin typeface="微软雅黑" panose="020B0503020204020204" pitchFamily="34" charset="-122"/>
                <a:ea typeface="微软雅黑" panose="020B0503020204020204" pitchFamily="34" charset="-122"/>
              </a:rPr>
              <a:t> </a:t>
            </a:r>
            <a:r>
              <a:rPr lang="zh-CN" altLang="en-US" sz="3900" b="1" dirty="0">
                <a:solidFill>
                  <a:srgbClr val="FF0000"/>
                </a:solidFill>
                <a:latin typeface="微软雅黑" panose="020B0503020204020204" pitchFamily="34" charset="-122"/>
                <a:ea typeface="微软雅黑" panose="020B0503020204020204" pitchFamily="34" charset="-122"/>
              </a:rPr>
              <a:t>练习</a:t>
            </a:r>
            <a:r>
              <a:rPr lang="en-US" altLang="zh-CN" sz="3900" b="1" dirty="0">
                <a:solidFill>
                  <a:srgbClr val="FF0000"/>
                </a:solidFill>
                <a:latin typeface="微软雅黑" panose="020B0503020204020204" pitchFamily="34" charset="-122"/>
                <a:ea typeface="微软雅黑" panose="020B0503020204020204" pitchFamily="34" charset="-122"/>
              </a:rPr>
              <a:t>2</a:t>
            </a:r>
            <a:endParaRPr lang="zh-CN" altLang="en-US" sz="3900" b="1" dirty="0">
              <a:solidFill>
                <a:srgbClr val="FF0000"/>
              </a:solidFill>
              <a:latin typeface="微软雅黑" panose="020B0503020204020204" pitchFamily="34" charset="-122"/>
              <a:ea typeface="微软雅黑" panose="020B0503020204020204" pitchFamily="34" charset="-122"/>
            </a:endParaRPr>
          </a:p>
        </p:txBody>
      </p:sp>
      <p:pic>
        <p:nvPicPr>
          <p:cNvPr id="34" name="Picture 6" descr="os0702"/>
          <p:cNvPicPr>
            <a:picLocks noChangeAspect="1" noChangeArrowheads="1"/>
          </p:cNvPicPr>
          <p:nvPr/>
        </p:nvPicPr>
        <p:blipFill>
          <a:blip r:embed="rId1" cstate="print"/>
          <a:srcRect/>
          <a:stretch>
            <a:fillRect/>
          </a:stretch>
        </p:blipFill>
        <p:spPr bwMode="auto">
          <a:xfrm>
            <a:off x="2129156" y="3146795"/>
            <a:ext cx="7696200" cy="3497263"/>
          </a:xfrm>
          <a:prstGeom prst="rect">
            <a:avLst/>
          </a:prstGeom>
          <a:noFill/>
          <a:ln w="9525">
            <a:noFill/>
            <a:miter lim="800000"/>
            <a:headEnd/>
            <a:tailEnd/>
          </a:ln>
        </p:spPr>
      </p:pic>
      <p:sp>
        <p:nvSpPr>
          <p:cNvPr id="6" name="Rectangle 15"/>
          <p:cNvSpPr>
            <a:spLocks noChangeArrowheads="1"/>
          </p:cNvSpPr>
          <p:nvPr/>
        </p:nvSpPr>
        <p:spPr bwMode="auto">
          <a:xfrm>
            <a:off x="814070" y="2360295"/>
            <a:ext cx="10607675" cy="491490"/>
          </a:xfrm>
          <a:prstGeom prst="rect">
            <a:avLst/>
          </a:prstGeom>
          <a:solidFill>
            <a:srgbClr val="004080"/>
          </a:solidFill>
          <a:ln w="28575">
            <a:solidFill>
              <a:srgbClr val="004992"/>
            </a:solidFill>
            <a:miter lim="800000"/>
          </a:ln>
          <a:effectLst/>
          <a:scene3d>
            <a:camera prst="orthographicFront"/>
            <a:lightRig rig="threePt" dir="t"/>
          </a:scene3d>
          <a:sp3d>
            <a:bevelT/>
          </a:sp3d>
        </p:spPr>
        <p:txBody>
          <a:bodyPr/>
          <a:lstStyle/>
          <a:p>
            <a:pPr algn="ctr" defTabSz="449580">
              <a:lnSpc>
                <a:spcPts val="3300"/>
              </a:lnSpc>
              <a:spcBef>
                <a:spcPts val="1200"/>
              </a:spcBef>
              <a:buClr>
                <a:srgbClr val="FC6204"/>
              </a:buClr>
              <a:buSzPct val="100000"/>
            </a:pPr>
            <a:r>
              <a:rPr lang="zh-CN" altLang="en-US" sz="2400" b="1" dirty="0">
                <a:solidFill>
                  <a:schemeClr val="bg1"/>
                </a:solidFill>
                <a:latin typeface="微软雅黑" panose="020B0503020204020204" pitchFamily="34" charset="-122"/>
                <a:ea typeface="微软雅黑" panose="020B0503020204020204" pitchFamily="34" charset="-122"/>
              </a:rPr>
              <a:t>哪个算法对该作业序列是合适的？</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43560" y="959485"/>
            <a:ext cx="1130173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有作业序列：作业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21K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B</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30K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C</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要求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25K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。系统中空闲区按不同算法组成的空闲区队列，如下图所示 ：</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00990" y="33655"/>
            <a:ext cx="1073975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 </a:t>
            </a:r>
            <a:r>
              <a:rPr lang="zh-CN" altLang="en-US" sz="3900" b="1" dirty="0">
                <a:latin typeface="微软雅黑" panose="020B0503020204020204" pitchFamily="34" charset="-122"/>
                <a:ea typeface="微软雅黑" panose="020B0503020204020204" pitchFamily="34" charset="-122"/>
              </a:rPr>
              <a:t>连续分配存储管理</a:t>
            </a:r>
            <a:r>
              <a:rPr lang="en-US" altLang="zh-CN" sz="3900" b="1" dirty="0">
                <a:latin typeface="微软雅黑" panose="020B0503020204020204" pitchFamily="34" charset="-122"/>
                <a:ea typeface="微软雅黑" panose="020B0503020204020204" pitchFamily="34" charset="-122"/>
              </a:rPr>
              <a:t> </a:t>
            </a:r>
            <a:r>
              <a:rPr lang="zh-CN" altLang="en-US" sz="3900" b="1" dirty="0">
                <a:solidFill>
                  <a:srgbClr val="FF0000"/>
                </a:solidFill>
                <a:latin typeface="微软雅黑" panose="020B0503020204020204" pitchFamily="34" charset="-122"/>
                <a:ea typeface="微软雅黑" panose="020B0503020204020204" pitchFamily="34" charset="-122"/>
              </a:rPr>
              <a:t>练习</a:t>
            </a:r>
            <a:r>
              <a:rPr lang="en-US" altLang="zh-CN" sz="3900" b="1" dirty="0">
                <a:solidFill>
                  <a:srgbClr val="FF0000"/>
                </a:solidFill>
                <a:latin typeface="微软雅黑" panose="020B0503020204020204" pitchFamily="34" charset="-122"/>
                <a:ea typeface="微软雅黑" panose="020B0503020204020204" pitchFamily="34" charset="-122"/>
              </a:rPr>
              <a:t>2</a:t>
            </a:r>
            <a:endParaRPr lang="zh-CN" altLang="en-US" sz="3900" b="1" dirty="0">
              <a:solidFill>
                <a:srgbClr val="FF0000"/>
              </a:solidFill>
              <a:latin typeface="微软雅黑" panose="020B0503020204020204" pitchFamily="34" charset="-122"/>
              <a:ea typeface="微软雅黑" panose="020B0503020204020204" pitchFamily="34" charset="-122"/>
            </a:endParaRPr>
          </a:p>
        </p:txBody>
      </p:sp>
      <p:pic>
        <p:nvPicPr>
          <p:cNvPr id="34" name="Picture 6" descr="os0702"/>
          <p:cNvPicPr>
            <a:picLocks noChangeAspect="1" noChangeArrowheads="1"/>
          </p:cNvPicPr>
          <p:nvPr/>
        </p:nvPicPr>
        <p:blipFill>
          <a:blip r:embed="rId1" cstate="print"/>
          <a:srcRect/>
          <a:stretch>
            <a:fillRect/>
          </a:stretch>
        </p:blipFill>
        <p:spPr bwMode="auto">
          <a:xfrm>
            <a:off x="1734185" y="2926080"/>
            <a:ext cx="8020050" cy="3644900"/>
          </a:xfrm>
          <a:prstGeom prst="rect">
            <a:avLst/>
          </a:prstGeom>
          <a:noFill/>
          <a:ln w="9525">
            <a:noFill/>
            <a:miter lim="800000"/>
            <a:headEnd/>
            <a:tailEnd/>
          </a:ln>
        </p:spPr>
      </p:pic>
      <p:sp>
        <p:nvSpPr>
          <p:cNvPr id="6" name="Rectangle 15"/>
          <p:cNvSpPr>
            <a:spLocks noChangeArrowheads="1"/>
          </p:cNvSpPr>
          <p:nvPr/>
        </p:nvSpPr>
        <p:spPr bwMode="auto">
          <a:xfrm>
            <a:off x="641350" y="2160905"/>
            <a:ext cx="11154410" cy="625475"/>
          </a:xfrm>
          <a:prstGeom prst="rect">
            <a:avLst/>
          </a:prstGeom>
          <a:solidFill>
            <a:srgbClr val="004080"/>
          </a:solidFill>
          <a:ln w="28575">
            <a:solidFill>
              <a:srgbClr val="004992"/>
            </a:solidFill>
            <a:miter lim="800000"/>
          </a:ln>
          <a:effectLst/>
          <a:scene3d>
            <a:camera prst="orthographicFront"/>
            <a:lightRig rig="threePt" dir="t"/>
          </a:scene3d>
          <a:sp3d>
            <a:bevelT/>
          </a:sp3d>
        </p:spPr>
        <p:txBody>
          <a:bodyPr/>
          <a:lstStyle/>
          <a:p>
            <a:pPr algn="ctr" defTabSz="449580">
              <a:lnSpc>
                <a:spcPts val="3300"/>
              </a:lnSpc>
              <a:spcBef>
                <a:spcPts val="1200"/>
              </a:spcBef>
              <a:buClr>
                <a:srgbClr val="FC6204"/>
              </a:buClr>
              <a:buSzPct val="100000"/>
            </a:pPr>
            <a:r>
              <a:rPr lang="zh-CN" altLang="en-US" sz="2400" b="1" dirty="0">
                <a:solidFill>
                  <a:schemeClr val="bg1"/>
                </a:solidFill>
                <a:latin typeface="微软雅黑" panose="020B0503020204020204" pitchFamily="34" charset="-122"/>
                <a:ea typeface="微软雅黑" panose="020B0503020204020204" pitchFamily="34" charset="-122"/>
              </a:rPr>
              <a:t>最坏适应法对这个作业序列是合适的，而其它算法对该作业序列是不合适的。</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43230" y="959485"/>
            <a:ext cx="973709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快速适应（</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quick fit</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）算法 </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分类搜索法</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81940" y="33655"/>
            <a:ext cx="1075880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4.3.5 </a:t>
            </a:r>
            <a:r>
              <a:rPr lang="zh-CN" altLang="en-US" sz="3900" b="1" dirty="0">
                <a:latin typeface="微软雅黑" panose="020B0503020204020204" pitchFamily="34" charset="-122"/>
                <a:ea typeface="微软雅黑" panose="020B0503020204020204" pitchFamily="34" charset="-122"/>
              </a:rPr>
              <a:t>基于索引搜索的动态分区分配算法</a:t>
            </a:r>
            <a:endParaRPr lang="zh-CN" altLang="en-US" sz="3900" b="1" dirty="0">
              <a:latin typeface="微软雅黑" panose="020B0503020204020204" pitchFamily="34" charset="-122"/>
              <a:ea typeface="微软雅黑" panose="020B0503020204020204" pitchFamily="34" charset="-122"/>
            </a:endParaRPr>
          </a:p>
        </p:txBody>
      </p:sp>
      <p:sp>
        <p:nvSpPr>
          <p:cNvPr id="6" name="Rectangle 15"/>
          <p:cNvSpPr>
            <a:spLocks noChangeArrowheads="1"/>
          </p:cNvSpPr>
          <p:nvPr/>
        </p:nvSpPr>
        <p:spPr bwMode="auto">
          <a:xfrm>
            <a:off x="1376680" y="1723390"/>
            <a:ext cx="10268585" cy="4521835"/>
          </a:xfrm>
          <a:prstGeom prst="rect">
            <a:avLst/>
          </a:prstGeom>
          <a:solidFill>
            <a:schemeClr val="bg1"/>
          </a:solidFill>
          <a:ln w="28575">
            <a:solidFill>
              <a:schemeClr val="accent6">
                <a:lumMod val="50000"/>
              </a:schemeClr>
            </a:solidFill>
            <a:miter lim="800000"/>
          </a:ln>
          <a:effectLst/>
          <a:scene3d>
            <a:camera prst="orthographicFront"/>
            <a:lightRig rig="threePt" dir="t"/>
          </a:scene3d>
          <a:sp3d>
            <a:bevelT/>
          </a:sp3d>
        </p:spPr>
        <p:txBody>
          <a:bodyPr/>
          <a:lstStyle/>
          <a:p>
            <a:pPr marL="342900" indent="-342900" defTabSz="449580">
              <a:lnSpc>
                <a:spcPct val="200000"/>
              </a:lnSpc>
              <a:spcBef>
                <a:spcPts val="1200"/>
              </a:spcBef>
              <a:buClr>
                <a:schemeClr val="accent6">
                  <a:lumMod val="50000"/>
                </a:schemeClr>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将空闲分区根据其</a:t>
            </a:r>
            <a:r>
              <a:rPr lang="zh-CN" altLang="en-US" sz="2400" b="1" dirty="0">
                <a:solidFill>
                  <a:srgbClr val="0000FF"/>
                </a:solidFill>
                <a:latin typeface="微软雅黑" panose="020B0503020204020204" pitchFamily="34" charset="-122"/>
                <a:ea typeface="微软雅黑" panose="020B0503020204020204" pitchFamily="34" charset="-122"/>
              </a:rPr>
              <a:t>容量大小进行分类</a:t>
            </a:r>
            <a:r>
              <a:rPr lang="zh-CN" altLang="en-US" sz="2400" b="1" dirty="0">
                <a:latin typeface="微软雅黑" panose="020B0503020204020204" pitchFamily="34" charset="-122"/>
                <a:ea typeface="微软雅黑" panose="020B0503020204020204" pitchFamily="34" charset="-122"/>
              </a:rPr>
              <a:t>，对于每一类具有相同容量的所有空闲分区，单独设立一个空闲分区链表，系统中存在多个空闲分区链表</a:t>
            </a:r>
            <a:endParaRPr lang="en-US" altLang="zh-CN" sz="2400" b="1" dirty="0">
              <a:latin typeface="微软雅黑" panose="020B0503020204020204" pitchFamily="34" charset="-122"/>
              <a:ea typeface="微软雅黑" panose="020B0503020204020204" pitchFamily="34" charset="-122"/>
            </a:endParaRPr>
          </a:p>
          <a:p>
            <a:pPr marL="342900" indent="-342900" defTabSz="449580">
              <a:lnSpc>
                <a:spcPct val="200000"/>
              </a:lnSpc>
              <a:spcBef>
                <a:spcPts val="1200"/>
              </a:spcBef>
              <a:buClr>
                <a:schemeClr val="accent6">
                  <a:lumMod val="50000"/>
                </a:schemeClr>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在内存中设立一张管理索引表，表的每一个表项对应了一种空闲分区类型， 并记录了该类型空闲分区链表表头的指针</a:t>
            </a:r>
            <a:endParaRPr lang="en-US" altLang="zh-CN" sz="2400" b="1" dirty="0">
              <a:latin typeface="微软雅黑" panose="020B0503020204020204" pitchFamily="34" charset="-122"/>
              <a:ea typeface="微软雅黑" panose="020B0503020204020204" pitchFamily="34" charset="-122"/>
            </a:endParaRPr>
          </a:p>
          <a:p>
            <a:pPr marL="342900" indent="-342900" defTabSz="449580">
              <a:lnSpc>
                <a:spcPct val="200000"/>
              </a:lnSpc>
              <a:spcBef>
                <a:spcPts val="1200"/>
              </a:spcBef>
              <a:buClr>
                <a:schemeClr val="accent6">
                  <a:lumMod val="50000"/>
                </a:schemeClr>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空闲分区分类根据</a:t>
            </a:r>
            <a:r>
              <a:rPr lang="zh-CN" altLang="en-US" sz="2400" b="1" dirty="0">
                <a:solidFill>
                  <a:srgbClr val="0000FF"/>
                </a:solidFill>
                <a:latin typeface="微软雅黑" panose="020B0503020204020204" pitchFamily="34" charset="-122"/>
                <a:ea typeface="微软雅黑" panose="020B0503020204020204" pitchFamily="34" charset="-122"/>
              </a:rPr>
              <a:t>进程常用的空间大小</a:t>
            </a:r>
            <a:r>
              <a:rPr lang="zh-CN" altLang="en-US" sz="2400" b="1" dirty="0">
                <a:latin typeface="微软雅黑" panose="020B0503020204020204" pitchFamily="34" charset="-122"/>
                <a:ea typeface="微软雅黑" panose="020B0503020204020204" pitchFamily="34" charset="-122"/>
              </a:rPr>
              <a:t>进行划分</a:t>
            </a:r>
            <a:endParaRPr lang="zh-CN" altLang="en-US" sz="2400" b="1" dirty="0">
              <a:latin typeface="微软雅黑" panose="020B0503020204020204" pitchFamily="34" charset="-122"/>
              <a:ea typeface="微软雅黑" panose="020B0503020204020204" pitchFamily="34" charset="-122"/>
            </a:endParaRPr>
          </a:p>
        </p:txBody>
      </p:sp>
      <p:sp>
        <p:nvSpPr>
          <p:cNvPr id="7" name="Rectangle 15"/>
          <p:cNvSpPr>
            <a:spLocks noChangeArrowheads="1"/>
          </p:cNvSpPr>
          <p:nvPr/>
        </p:nvSpPr>
        <p:spPr bwMode="auto">
          <a:xfrm>
            <a:off x="517948" y="1723169"/>
            <a:ext cx="650242" cy="4521842"/>
          </a:xfrm>
          <a:prstGeom prst="rect">
            <a:avLst/>
          </a:prstGeom>
          <a:solidFill>
            <a:schemeClr val="accent6">
              <a:lumMod val="75000"/>
            </a:schemeClr>
          </a:solidFill>
          <a:ln w="28575">
            <a:solidFill>
              <a:schemeClr val="accent6">
                <a:lumMod val="50000"/>
              </a:schemeClr>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chemeClr val="bg1"/>
                </a:solidFill>
                <a:latin typeface="微软雅黑" panose="020B0503020204020204" pitchFamily="34" charset="-122"/>
                <a:ea typeface="微软雅黑" panose="020B0503020204020204" pitchFamily="34" charset="-122"/>
              </a:rPr>
              <a:t>分</a:t>
            </a: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chemeClr val="bg1"/>
                </a:solidFill>
                <a:latin typeface="微软雅黑" panose="020B0503020204020204" pitchFamily="34" charset="-122"/>
                <a:ea typeface="微软雅黑" panose="020B0503020204020204" pitchFamily="34" charset="-122"/>
              </a:rPr>
              <a:t>配</a:t>
            </a:r>
            <a:endParaRPr lang="zh-CN"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637540" y="959485"/>
            <a:ext cx="954278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快速适应（</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quick fit</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）算法 </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 </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分类搜索法</a:t>
            </a: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a:p>
            <a:pPr lvl="1">
              <a:lnSpc>
                <a:spcPct val="150000"/>
              </a:lnSpc>
              <a:buClr>
                <a:srgbClr val="0000FF"/>
              </a:buClr>
              <a:buFont typeface="Wingdings" panose="05000000000000000000" pitchFamily="2" charset="2"/>
              <a:buChar char="Ø"/>
            </a:pPr>
            <a:endParaRPr lang="zh-CN" altLang="en-US" sz="20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87476" y="158"/>
            <a:ext cx="9508215" cy="108134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4.3.5 </a:t>
            </a:r>
            <a:r>
              <a:rPr lang="zh-CN" altLang="en-US" sz="3900" b="1" dirty="0">
                <a:latin typeface="微软雅黑" panose="020B0503020204020204" pitchFamily="34" charset="-122"/>
                <a:ea typeface="微软雅黑" panose="020B0503020204020204" pitchFamily="34" charset="-122"/>
              </a:rPr>
              <a:t>基于索引搜索的动态分区分配算法</a:t>
            </a:r>
            <a:endParaRPr lang="zh-CN" altLang="en-US" sz="3900" b="1" dirty="0">
              <a:latin typeface="微软雅黑" panose="020B0503020204020204" pitchFamily="34" charset="-122"/>
              <a:ea typeface="微软雅黑" panose="020B0503020204020204" pitchFamily="34" charset="-122"/>
            </a:endParaRPr>
          </a:p>
        </p:txBody>
      </p:sp>
      <p:sp>
        <p:nvSpPr>
          <p:cNvPr id="6" name="Rectangle 15"/>
          <p:cNvSpPr>
            <a:spLocks noChangeArrowheads="1"/>
          </p:cNvSpPr>
          <p:nvPr/>
        </p:nvSpPr>
        <p:spPr bwMode="auto">
          <a:xfrm>
            <a:off x="1524635" y="1672590"/>
            <a:ext cx="9599930" cy="2334260"/>
          </a:xfrm>
          <a:prstGeom prst="rect">
            <a:avLst/>
          </a:prstGeom>
          <a:solidFill>
            <a:schemeClr val="bg1"/>
          </a:solidFill>
          <a:ln w="28575">
            <a:solidFill>
              <a:schemeClr val="accent6">
                <a:lumMod val="50000"/>
              </a:schemeClr>
            </a:solidFill>
            <a:miter lim="800000"/>
          </a:ln>
          <a:effectLst/>
          <a:scene3d>
            <a:camera prst="orthographicFront"/>
            <a:lightRig rig="threePt" dir="t"/>
          </a:scene3d>
          <a:sp3d>
            <a:bevelT/>
          </a:sp3d>
        </p:spPr>
        <p:txBody>
          <a:bodyPr/>
          <a:lstStyle/>
          <a:p>
            <a:pPr marL="342900" indent="-342900" defTabSz="449580">
              <a:lnSpc>
                <a:spcPct val="150000"/>
              </a:lnSpc>
              <a:buClr>
                <a:schemeClr val="accent6">
                  <a:lumMod val="50000"/>
                </a:schemeClr>
              </a:buClr>
              <a:buSzPct val="100000"/>
              <a:buFont typeface="Wingdings" panose="05000000000000000000" pitchFamily="2" charset="2"/>
              <a:buChar char="Ø"/>
            </a:pPr>
            <a:r>
              <a:rPr lang="zh-CN" altLang="en-US" sz="2400" b="1" dirty="0">
                <a:solidFill>
                  <a:srgbClr val="0000FF"/>
                </a:solidFill>
                <a:latin typeface="微软雅黑" panose="020B0503020204020204" pitchFamily="34" charset="-122"/>
                <a:ea typeface="微软雅黑" panose="020B0503020204020204" pitchFamily="34" charset="-122"/>
              </a:rPr>
              <a:t>查找效率高</a:t>
            </a:r>
            <a:r>
              <a:rPr lang="zh-CN" altLang="en-US" sz="2400" b="1" dirty="0">
                <a:latin typeface="微软雅黑" panose="020B0503020204020204" pitchFamily="34" charset="-122"/>
                <a:ea typeface="微软雅黑" panose="020B0503020204020204" pitchFamily="34" charset="-122"/>
              </a:rPr>
              <a:t>，仅需要根据进程长度，寻找能容纳的最小空闲区链表，并取下第一块进行分配即可</a:t>
            </a:r>
            <a:endParaRPr lang="en-US" altLang="zh-CN" sz="2400" b="1" dirty="0">
              <a:latin typeface="微软雅黑" panose="020B0503020204020204" pitchFamily="34" charset="-122"/>
              <a:ea typeface="微软雅黑" panose="020B0503020204020204" pitchFamily="34" charset="-122"/>
            </a:endParaRPr>
          </a:p>
          <a:p>
            <a:pPr marL="342900" indent="-342900" defTabSz="449580">
              <a:lnSpc>
                <a:spcPct val="150000"/>
              </a:lnSpc>
              <a:buClr>
                <a:schemeClr val="accent6">
                  <a:lumMod val="50000"/>
                </a:schemeClr>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进行空闲分区分配时不对任何分区产生分割，能保留大分区，满足大空间需求，</a:t>
            </a:r>
            <a:r>
              <a:rPr lang="zh-CN" altLang="en-US" sz="2400" b="1" dirty="0">
                <a:solidFill>
                  <a:srgbClr val="0000FF"/>
                </a:solidFill>
                <a:latin typeface="微软雅黑" panose="020B0503020204020204" pitchFamily="34" charset="-122"/>
                <a:ea typeface="微软雅黑" panose="020B0503020204020204" pitchFamily="34" charset="-122"/>
              </a:rPr>
              <a:t>不会产生碎片</a:t>
            </a:r>
            <a:endParaRPr lang="zh-CN" altLang="en-US" sz="2400" b="1" dirty="0">
              <a:solidFill>
                <a:srgbClr val="0000FF"/>
              </a:solidFill>
              <a:latin typeface="微软雅黑" panose="020B0503020204020204" pitchFamily="34" charset="-122"/>
              <a:ea typeface="微软雅黑" panose="020B0503020204020204" pitchFamily="34" charset="-122"/>
            </a:endParaRPr>
          </a:p>
        </p:txBody>
      </p:sp>
      <p:sp>
        <p:nvSpPr>
          <p:cNvPr id="7" name="Rectangle 15"/>
          <p:cNvSpPr>
            <a:spLocks noChangeArrowheads="1"/>
          </p:cNvSpPr>
          <p:nvPr/>
        </p:nvSpPr>
        <p:spPr bwMode="auto">
          <a:xfrm>
            <a:off x="738293" y="1656494"/>
            <a:ext cx="650242" cy="2334057"/>
          </a:xfrm>
          <a:prstGeom prst="rect">
            <a:avLst/>
          </a:prstGeom>
          <a:solidFill>
            <a:schemeClr val="accent6">
              <a:lumMod val="75000"/>
            </a:schemeClr>
          </a:solidFill>
          <a:ln w="28575">
            <a:solidFill>
              <a:schemeClr val="accent6">
                <a:lumMod val="50000"/>
              </a:schemeClr>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chemeClr val="bg1"/>
                </a:solidFill>
                <a:latin typeface="微软雅黑" panose="020B0503020204020204" pitchFamily="34" charset="-122"/>
                <a:ea typeface="微软雅黑" panose="020B0503020204020204" pitchFamily="34" charset="-122"/>
              </a:rPr>
              <a:t>优</a:t>
            </a: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chemeClr val="bg1"/>
                </a:solidFill>
                <a:latin typeface="微软雅黑" panose="020B0503020204020204" pitchFamily="34" charset="-122"/>
                <a:ea typeface="微软雅黑" panose="020B0503020204020204" pitchFamily="34" charset="-122"/>
              </a:rPr>
              <a:t>点</a:t>
            </a:r>
            <a:endParaRPr lang="zh-CN" sz="2800" b="1" dirty="0">
              <a:solidFill>
                <a:schemeClr val="bg1"/>
              </a:solidFill>
              <a:latin typeface="微软雅黑" panose="020B0503020204020204" pitchFamily="34" charset="-122"/>
              <a:ea typeface="微软雅黑" panose="020B0503020204020204" pitchFamily="34" charset="-122"/>
            </a:endParaRPr>
          </a:p>
        </p:txBody>
      </p:sp>
      <p:sp>
        <p:nvSpPr>
          <p:cNvPr id="8" name="Rectangle 15"/>
          <p:cNvSpPr>
            <a:spLocks noChangeArrowheads="1"/>
          </p:cNvSpPr>
          <p:nvPr/>
        </p:nvSpPr>
        <p:spPr bwMode="auto">
          <a:xfrm>
            <a:off x="1524635" y="4131310"/>
            <a:ext cx="9599930" cy="2334260"/>
          </a:xfrm>
          <a:prstGeom prst="rect">
            <a:avLst/>
          </a:prstGeom>
          <a:solidFill>
            <a:schemeClr val="bg1"/>
          </a:solidFill>
          <a:ln w="28575">
            <a:solidFill>
              <a:schemeClr val="accent6">
                <a:lumMod val="50000"/>
              </a:schemeClr>
            </a:solidFill>
            <a:miter lim="800000"/>
          </a:ln>
          <a:effectLst/>
          <a:scene3d>
            <a:camera prst="orthographicFront"/>
            <a:lightRig rig="threePt" dir="t"/>
          </a:scene3d>
          <a:sp3d>
            <a:bevelT/>
          </a:sp3d>
        </p:spPr>
        <p:txBody>
          <a:bodyPr/>
          <a:lstStyle/>
          <a:p>
            <a:pPr marL="342900" indent="-342900" defTabSz="449580">
              <a:lnSpc>
                <a:spcPct val="150000"/>
              </a:lnSpc>
              <a:buClr>
                <a:schemeClr val="accent6">
                  <a:lumMod val="50000"/>
                </a:schemeClr>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分区归还主存时算法复杂，</a:t>
            </a:r>
            <a:r>
              <a:rPr lang="zh-CN" altLang="en-US" sz="2400" b="1" dirty="0">
                <a:solidFill>
                  <a:srgbClr val="0000FF"/>
                </a:solidFill>
                <a:latin typeface="微软雅黑" panose="020B0503020204020204" pitchFamily="34" charset="-122"/>
                <a:ea typeface="微软雅黑" panose="020B0503020204020204" pitchFamily="34" charset="-122"/>
              </a:rPr>
              <a:t>系统开销较大</a:t>
            </a:r>
            <a:r>
              <a:rPr lang="zh-CN" altLang="en-US"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pPr marL="342900" indent="-342900" defTabSz="449580">
              <a:lnSpc>
                <a:spcPct val="150000"/>
              </a:lnSpc>
              <a:buClr>
                <a:schemeClr val="accent6">
                  <a:lumMod val="50000"/>
                </a:schemeClr>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分区以进程为单位，一个分区只属于一个进程，存在一定的</a:t>
            </a:r>
            <a:r>
              <a:rPr lang="zh-CN" altLang="en-US" sz="2400" b="1" dirty="0">
                <a:solidFill>
                  <a:srgbClr val="0000FF"/>
                </a:solidFill>
                <a:latin typeface="微软雅黑" panose="020B0503020204020204" pitchFamily="34" charset="-122"/>
                <a:ea typeface="微软雅黑" panose="020B0503020204020204" pitchFamily="34" charset="-122"/>
              </a:rPr>
              <a:t>浪费</a:t>
            </a:r>
            <a:r>
              <a:rPr lang="zh-CN" altLang="en-US" sz="2400" b="1" dirty="0">
                <a:latin typeface="微软雅黑" panose="020B0503020204020204" pitchFamily="34" charset="-122"/>
                <a:ea typeface="微软雅黑" panose="020B0503020204020204" pitchFamily="34" charset="-122"/>
              </a:rPr>
              <a:t>。空闲分区划分越细，浪费则越严重，会造成存储空间浪费，即</a:t>
            </a:r>
            <a:r>
              <a:rPr lang="zh-CN" altLang="en-US" sz="2400" b="1" dirty="0">
                <a:solidFill>
                  <a:srgbClr val="0000FF"/>
                </a:solidFill>
                <a:latin typeface="微软雅黑" panose="020B0503020204020204" pitchFamily="34" charset="-122"/>
                <a:ea typeface="微软雅黑" panose="020B0503020204020204" pitchFamily="34" charset="-122"/>
              </a:rPr>
              <a:t>以空间换时间</a:t>
            </a:r>
            <a:endParaRPr lang="zh-CN" altLang="en-US" sz="2400" b="1" dirty="0">
              <a:solidFill>
                <a:srgbClr val="0000FF"/>
              </a:solidFill>
              <a:latin typeface="微软雅黑" panose="020B0503020204020204" pitchFamily="34" charset="-122"/>
              <a:ea typeface="微软雅黑" panose="020B0503020204020204" pitchFamily="34" charset="-122"/>
            </a:endParaRPr>
          </a:p>
        </p:txBody>
      </p:sp>
      <p:sp>
        <p:nvSpPr>
          <p:cNvPr id="9" name="Rectangle 15"/>
          <p:cNvSpPr>
            <a:spLocks noChangeArrowheads="1"/>
          </p:cNvSpPr>
          <p:nvPr/>
        </p:nvSpPr>
        <p:spPr bwMode="auto">
          <a:xfrm>
            <a:off x="738293" y="4115535"/>
            <a:ext cx="650242" cy="2334057"/>
          </a:xfrm>
          <a:prstGeom prst="rect">
            <a:avLst/>
          </a:prstGeom>
          <a:solidFill>
            <a:schemeClr val="accent6">
              <a:lumMod val="75000"/>
            </a:schemeClr>
          </a:solidFill>
          <a:ln w="28575">
            <a:solidFill>
              <a:schemeClr val="accent6">
                <a:lumMod val="50000"/>
              </a:schemeClr>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chemeClr val="bg1"/>
                </a:solidFill>
                <a:latin typeface="微软雅黑" panose="020B0503020204020204" pitchFamily="34" charset="-122"/>
                <a:ea typeface="微软雅黑" panose="020B0503020204020204" pitchFamily="34" charset="-122"/>
              </a:rPr>
              <a:t>缺</a:t>
            </a: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chemeClr val="bg1"/>
                </a:solidFill>
                <a:latin typeface="微软雅黑" panose="020B0503020204020204" pitchFamily="34" charset="-122"/>
                <a:ea typeface="微软雅黑" panose="020B0503020204020204" pitchFamily="34" charset="-122"/>
              </a:rPr>
              <a:t>点</a:t>
            </a:r>
            <a:endParaRPr lang="zh-CN"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1000"/>
                                        <p:tgtEl>
                                          <p:spTgt spid="9"/>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9" grpId="0" bldLvl="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36880" y="959485"/>
            <a:ext cx="974344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伙伴系统（</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buddy system</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88290" y="33655"/>
            <a:ext cx="1075245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4.3.5 </a:t>
            </a:r>
            <a:r>
              <a:rPr lang="zh-CN" altLang="en-US" sz="3900" b="1" dirty="0">
                <a:latin typeface="微软雅黑" panose="020B0503020204020204" pitchFamily="34" charset="-122"/>
                <a:ea typeface="微软雅黑" panose="020B0503020204020204" pitchFamily="34" charset="-122"/>
              </a:rPr>
              <a:t>基于索引搜索的动态分区分配算法</a:t>
            </a:r>
            <a:endParaRPr lang="zh-CN" altLang="en-US" sz="3900" b="1" dirty="0">
              <a:latin typeface="微软雅黑" panose="020B0503020204020204" pitchFamily="34" charset="-122"/>
              <a:ea typeface="微软雅黑" panose="020B0503020204020204" pitchFamily="34" charset="-122"/>
            </a:endParaRPr>
          </a:p>
        </p:txBody>
      </p:sp>
      <p:sp>
        <p:nvSpPr>
          <p:cNvPr id="6" name="Rectangle 15"/>
          <p:cNvSpPr>
            <a:spLocks noChangeArrowheads="1"/>
          </p:cNvSpPr>
          <p:nvPr/>
        </p:nvSpPr>
        <p:spPr bwMode="auto">
          <a:xfrm>
            <a:off x="1310005" y="1723390"/>
            <a:ext cx="10549890" cy="4806315"/>
          </a:xfrm>
          <a:prstGeom prst="rect">
            <a:avLst/>
          </a:prstGeom>
          <a:solidFill>
            <a:schemeClr val="bg1"/>
          </a:solidFill>
          <a:ln w="28575">
            <a:solidFill>
              <a:srgbClr val="7030A0"/>
            </a:solidFill>
            <a:miter lim="800000"/>
          </a:ln>
          <a:effectLst/>
          <a:scene3d>
            <a:camera prst="orthographicFront"/>
            <a:lightRig rig="threePt" dir="t"/>
          </a:scene3d>
          <a:sp3d>
            <a:bevelT/>
          </a:sp3d>
        </p:spPr>
        <p:txBody>
          <a:bodyPr/>
          <a:lstStyle/>
          <a:p>
            <a:pPr marL="342900" indent="-342900" defTabSz="449580">
              <a:lnSpc>
                <a:spcPct val="200000"/>
              </a:lnSpc>
              <a:spcBef>
                <a:spcPts val="1200"/>
              </a:spcBef>
              <a:buClr>
                <a:srgbClr val="7030A0"/>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无论已分配分区或空闲分区，其</a:t>
            </a:r>
            <a:r>
              <a:rPr lang="zh-CN" altLang="en-US" sz="2400" b="1" dirty="0">
                <a:solidFill>
                  <a:srgbClr val="FF0000"/>
                </a:solidFill>
                <a:latin typeface="微软雅黑" panose="020B0503020204020204" pitchFamily="34" charset="-122"/>
                <a:ea typeface="微软雅黑" panose="020B0503020204020204" pitchFamily="34" charset="-122"/>
              </a:rPr>
              <a:t>大小均为 </a:t>
            </a:r>
            <a:r>
              <a:rPr lang="en-US" altLang="zh-CN" sz="2400" b="1" dirty="0">
                <a:solidFill>
                  <a:srgbClr val="FF0000"/>
                </a:solidFill>
                <a:latin typeface="微软雅黑" panose="020B0503020204020204" pitchFamily="34" charset="-122"/>
                <a:ea typeface="微软雅黑" panose="020B0503020204020204" pitchFamily="34" charset="-122"/>
              </a:rPr>
              <a:t>2 </a:t>
            </a:r>
            <a:r>
              <a:rPr lang="zh-CN" altLang="en-US" sz="2400" b="1" dirty="0">
                <a:solidFill>
                  <a:srgbClr val="FF0000"/>
                </a:solidFill>
                <a:latin typeface="微软雅黑" panose="020B0503020204020204" pitchFamily="34" charset="-122"/>
                <a:ea typeface="微软雅黑" panose="020B0503020204020204" pitchFamily="34" charset="-122"/>
              </a:rPr>
              <a:t>的 </a:t>
            </a:r>
            <a:r>
              <a:rPr lang="en-US" altLang="zh-CN" sz="2400" b="1" dirty="0">
                <a:solidFill>
                  <a:srgbClr val="FF0000"/>
                </a:solidFill>
                <a:latin typeface="微软雅黑" panose="020B0503020204020204" pitchFamily="34" charset="-122"/>
                <a:ea typeface="微软雅黑" panose="020B0503020204020204" pitchFamily="34" charset="-122"/>
              </a:rPr>
              <a:t>k </a:t>
            </a:r>
            <a:r>
              <a:rPr lang="zh-CN" altLang="en-US" sz="2400" b="1" dirty="0">
                <a:solidFill>
                  <a:srgbClr val="FF0000"/>
                </a:solidFill>
                <a:latin typeface="微软雅黑" panose="020B0503020204020204" pitchFamily="34" charset="-122"/>
                <a:ea typeface="微软雅黑" panose="020B0503020204020204" pitchFamily="34" charset="-122"/>
              </a:rPr>
              <a:t>次幂</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k </a:t>
            </a:r>
            <a:r>
              <a:rPr lang="zh-CN" altLang="en-US" sz="2400" b="1" dirty="0">
                <a:latin typeface="微软雅黑" panose="020B0503020204020204" pitchFamily="34" charset="-122"/>
                <a:ea typeface="微软雅黑" panose="020B0503020204020204" pitchFamily="34" charset="-122"/>
              </a:rPr>
              <a:t>为整数， </a:t>
            </a:r>
            <a:r>
              <a:rPr lang="en-US" altLang="zh-CN" sz="2400" b="1" dirty="0" err="1">
                <a:latin typeface="微软雅黑" panose="020B0503020204020204" pitchFamily="34" charset="-122"/>
                <a:ea typeface="微软雅黑" panose="020B0503020204020204" pitchFamily="34" charset="-122"/>
              </a:rPr>
              <a:t>l≤k≤m</a:t>
            </a:r>
            <a:r>
              <a:rPr lang="zh-CN" altLang="en-US" sz="2400" b="1" dirty="0">
                <a:latin typeface="微软雅黑" panose="020B0503020204020204" pitchFamily="34" charset="-122"/>
                <a:ea typeface="微软雅黑" panose="020B0503020204020204" pitchFamily="34" charset="-122"/>
              </a:rPr>
              <a:t>。假设系统的可利用空间容量为 </a:t>
            </a:r>
            <a:r>
              <a:rPr lang="en-US" altLang="zh-CN" sz="2400" b="1" dirty="0">
                <a:latin typeface="微软雅黑" panose="020B0503020204020204" pitchFamily="34" charset="-122"/>
                <a:ea typeface="微软雅黑" panose="020B0503020204020204" pitchFamily="34" charset="-122"/>
              </a:rPr>
              <a:t>2^m</a:t>
            </a:r>
            <a:r>
              <a:rPr lang="zh-CN" altLang="en-US" sz="2400" b="1" dirty="0">
                <a:latin typeface="微软雅黑" panose="020B0503020204020204" pitchFamily="34" charset="-122"/>
                <a:ea typeface="微软雅黑" panose="020B0503020204020204" pitchFamily="34" charset="-122"/>
              </a:rPr>
              <a:t>个字，则系统开始运行时，整个内存区是一个大小为 </a:t>
            </a:r>
            <a:r>
              <a:rPr lang="en-US" altLang="zh-CN" sz="2400" b="1" dirty="0">
                <a:latin typeface="微软雅黑" panose="020B0503020204020204" pitchFamily="34" charset="-122"/>
                <a:ea typeface="微软雅黑" panose="020B0503020204020204" pitchFamily="34" charset="-122"/>
              </a:rPr>
              <a:t>2^m </a:t>
            </a:r>
            <a:r>
              <a:rPr lang="zh-CN" altLang="en-US" sz="2400" b="1" dirty="0">
                <a:latin typeface="微软雅黑" panose="020B0503020204020204" pitchFamily="34" charset="-122"/>
                <a:ea typeface="微软雅黑" panose="020B0503020204020204" pitchFamily="34" charset="-122"/>
              </a:rPr>
              <a:t>的空闲分区。</a:t>
            </a:r>
            <a:endParaRPr lang="en-US" altLang="zh-CN" sz="2400" b="1" dirty="0">
              <a:latin typeface="微软雅黑" panose="020B0503020204020204" pitchFamily="34" charset="-122"/>
              <a:ea typeface="微软雅黑" panose="020B0503020204020204" pitchFamily="34" charset="-122"/>
            </a:endParaRPr>
          </a:p>
          <a:p>
            <a:pPr marL="342900" indent="-342900" defTabSz="449580">
              <a:lnSpc>
                <a:spcPct val="200000"/>
              </a:lnSpc>
              <a:spcBef>
                <a:spcPts val="1200"/>
              </a:spcBef>
              <a:buClr>
                <a:srgbClr val="7030A0"/>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在系统运行过程中，不断的划分会形成若干个不连续的空闲分区， 将这些空闲分区根据分区的大小进行分类，对于每一类</a:t>
            </a:r>
            <a:r>
              <a:rPr lang="zh-CN" altLang="en-US" sz="2400" b="1" dirty="0">
                <a:solidFill>
                  <a:srgbClr val="FF0000"/>
                </a:solidFill>
                <a:latin typeface="微软雅黑" panose="020B0503020204020204" pitchFamily="34" charset="-122"/>
                <a:ea typeface="微软雅黑" panose="020B0503020204020204" pitchFamily="34" charset="-122"/>
              </a:rPr>
              <a:t>具有相同大小</a:t>
            </a:r>
            <a:r>
              <a:rPr lang="zh-CN" altLang="en-US" sz="2400" b="1" dirty="0">
                <a:latin typeface="微软雅黑" panose="020B0503020204020204" pitchFamily="34" charset="-122"/>
                <a:ea typeface="微软雅黑" panose="020B0503020204020204" pitchFamily="34" charset="-122"/>
              </a:rPr>
              <a:t>的所有空闲分区，</a:t>
            </a:r>
            <a:r>
              <a:rPr lang="zh-CN" altLang="en-US" sz="2400" b="1" dirty="0">
                <a:solidFill>
                  <a:srgbClr val="FF0000"/>
                </a:solidFill>
                <a:latin typeface="微软雅黑" panose="020B0503020204020204" pitchFamily="34" charset="-122"/>
                <a:ea typeface="微软雅黑" panose="020B0503020204020204" pitchFamily="34" charset="-122"/>
              </a:rPr>
              <a:t>单独设立</a:t>
            </a:r>
            <a:r>
              <a:rPr lang="zh-CN" altLang="en-US" sz="2400" b="1" dirty="0">
                <a:latin typeface="微软雅黑" panose="020B0503020204020204" pitchFamily="34" charset="-122"/>
                <a:ea typeface="微软雅黑" panose="020B0503020204020204" pitchFamily="34" charset="-122"/>
              </a:rPr>
              <a:t>一个空闲分区</a:t>
            </a:r>
            <a:r>
              <a:rPr lang="zh-CN" altLang="en-US" sz="2400" b="1" dirty="0">
                <a:solidFill>
                  <a:srgbClr val="FF0000"/>
                </a:solidFill>
                <a:latin typeface="微软雅黑" panose="020B0503020204020204" pitchFamily="34" charset="-122"/>
                <a:ea typeface="微软雅黑" panose="020B0503020204020204" pitchFamily="34" charset="-122"/>
              </a:rPr>
              <a:t>双向链表</a:t>
            </a:r>
            <a:r>
              <a:rPr lang="zh-CN" altLang="en-US" sz="2400" b="1" dirty="0">
                <a:latin typeface="微软雅黑" panose="020B0503020204020204" pitchFamily="34" charset="-122"/>
                <a:ea typeface="微软雅黑" panose="020B0503020204020204" pitchFamily="34" charset="-122"/>
              </a:rPr>
              <a:t>。</a:t>
            </a:r>
            <a:endParaRPr lang="en-US" altLang="zh-CN" sz="2400" b="1" dirty="0">
              <a:latin typeface="微软雅黑" panose="020B0503020204020204" pitchFamily="34" charset="-122"/>
              <a:ea typeface="微软雅黑" panose="020B0503020204020204" pitchFamily="34" charset="-122"/>
            </a:endParaRPr>
          </a:p>
          <a:p>
            <a:pPr defTabSz="449580">
              <a:lnSpc>
                <a:spcPct val="200000"/>
              </a:lnSpc>
              <a:spcBef>
                <a:spcPts val="1200"/>
              </a:spcBef>
              <a:buClr>
                <a:srgbClr val="7030A0"/>
              </a:buClr>
              <a:buSzPct val="100000"/>
            </a:pPr>
            <a:endParaRPr lang="zh-CN" altLang="en-US" sz="2400" b="1" dirty="0">
              <a:latin typeface="微软雅黑" panose="020B0503020204020204" pitchFamily="34" charset="-122"/>
              <a:ea typeface="微软雅黑" panose="020B0503020204020204" pitchFamily="34" charset="-122"/>
            </a:endParaRPr>
          </a:p>
        </p:txBody>
      </p:sp>
      <p:sp>
        <p:nvSpPr>
          <p:cNvPr id="7" name="Rectangle 15"/>
          <p:cNvSpPr>
            <a:spLocks noChangeArrowheads="1"/>
          </p:cNvSpPr>
          <p:nvPr/>
        </p:nvSpPr>
        <p:spPr bwMode="auto">
          <a:xfrm>
            <a:off x="524298" y="1723169"/>
            <a:ext cx="650242" cy="4806324"/>
          </a:xfrm>
          <a:prstGeom prst="rect">
            <a:avLst/>
          </a:prstGeom>
          <a:solidFill>
            <a:srgbClr val="7030A0"/>
          </a:solidFill>
          <a:ln w="28575">
            <a:solidFill>
              <a:srgbClr val="7030A0"/>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chemeClr val="bg1"/>
                </a:solidFill>
                <a:latin typeface="微软雅黑" panose="020B0503020204020204" pitchFamily="34" charset="-122"/>
                <a:ea typeface="微软雅黑" panose="020B0503020204020204" pitchFamily="34" charset="-122"/>
              </a:rPr>
              <a:t>分</a:t>
            </a: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chemeClr val="bg1"/>
                </a:solidFill>
                <a:latin typeface="微软雅黑" panose="020B0503020204020204" pitchFamily="34" charset="-122"/>
                <a:ea typeface="微软雅黑" panose="020B0503020204020204" pitchFamily="34" charset="-122"/>
              </a:rPr>
              <a:t>配</a:t>
            </a:r>
            <a:endParaRPr lang="zh-CN"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35610" y="959485"/>
            <a:ext cx="974471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伙伴系统（</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buddy system</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74625" y="33655"/>
            <a:ext cx="1086612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4.3.5 </a:t>
            </a:r>
            <a:r>
              <a:rPr lang="zh-CN" altLang="en-US" sz="3900" b="1" dirty="0">
                <a:latin typeface="微软雅黑" panose="020B0503020204020204" pitchFamily="34" charset="-122"/>
                <a:ea typeface="微软雅黑" panose="020B0503020204020204" pitchFamily="34" charset="-122"/>
              </a:rPr>
              <a:t>基于索引搜索的动态分区分配算法</a:t>
            </a:r>
            <a:endParaRPr lang="zh-CN" altLang="en-US" sz="3900" b="1" dirty="0">
              <a:latin typeface="微软雅黑" panose="020B0503020204020204" pitchFamily="34" charset="-122"/>
              <a:ea typeface="微软雅黑" panose="020B0503020204020204" pitchFamily="34" charset="-122"/>
            </a:endParaRPr>
          </a:p>
        </p:txBody>
      </p:sp>
      <p:sp>
        <p:nvSpPr>
          <p:cNvPr id="6" name="Rectangle 15"/>
          <p:cNvSpPr>
            <a:spLocks noChangeArrowheads="1"/>
          </p:cNvSpPr>
          <p:nvPr/>
        </p:nvSpPr>
        <p:spPr bwMode="auto">
          <a:xfrm>
            <a:off x="1417320" y="1723390"/>
            <a:ext cx="10104755" cy="4839970"/>
          </a:xfrm>
          <a:prstGeom prst="rect">
            <a:avLst/>
          </a:prstGeom>
          <a:solidFill>
            <a:schemeClr val="bg1"/>
          </a:solidFill>
          <a:ln w="28575">
            <a:solidFill>
              <a:srgbClr val="7030A0"/>
            </a:solidFill>
            <a:miter lim="800000"/>
          </a:ln>
          <a:effectLst/>
          <a:scene3d>
            <a:camera prst="orthographicFront"/>
            <a:lightRig rig="threePt" dir="t"/>
          </a:scene3d>
          <a:sp3d>
            <a:bevelT/>
          </a:sp3d>
        </p:spPr>
        <p:txBody>
          <a:bodyPr/>
          <a:lstStyle/>
          <a:p>
            <a:pPr marL="342900" indent="-342900" defTabSz="449580">
              <a:lnSpc>
                <a:spcPct val="200000"/>
              </a:lnSpc>
              <a:spcBef>
                <a:spcPts val="1200"/>
              </a:spcBef>
              <a:buClr>
                <a:srgbClr val="7030A0"/>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当需要为进程分配一个长度为 </a:t>
            </a:r>
            <a:r>
              <a:rPr lang="en-US" altLang="zh-CN" sz="2400" b="1" dirty="0">
                <a:latin typeface="微软雅黑" panose="020B0503020204020204" pitchFamily="34" charset="-122"/>
                <a:ea typeface="微软雅黑" panose="020B0503020204020204" pitchFamily="34" charset="-122"/>
              </a:rPr>
              <a:t>n </a:t>
            </a:r>
            <a:r>
              <a:rPr lang="zh-CN" altLang="en-US" sz="2400" b="1" dirty="0">
                <a:latin typeface="微软雅黑" panose="020B0503020204020204" pitchFamily="34" charset="-122"/>
                <a:ea typeface="微软雅黑" panose="020B0503020204020204" pitchFamily="34" charset="-122"/>
              </a:rPr>
              <a:t>的存储空间时，首先计算一个 </a:t>
            </a:r>
            <a:r>
              <a:rPr lang="en-US" altLang="zh-CN" sz="2400" b="1" dirty="0" err="1">
                <a:latin typeface="微软雅黑" panose="020B0503020204020204" pitchFamily="34" charset="-122"/>
                <a:ea typeface="微软雅黑" panose="020B0503020204020204" pitchFamily="34" charset="-122"/>
              </a:rPr>
              <a:t>i</a:t>
            </a:r>
            <a:r>
              <a:rPr lang="en-US" altLang="zh-CN" sz="24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值，使 </a:t>
            </a:r>
            <a:r>
              <a:rPr lang="en-US" altLang="zh-CN" sz="2400" b="1" dirty="0">
                <a:solidFill>
                  <a:srgbClr val="FF0000"/>
                </a:solidFill>
                <a:latin typeface="微软雅黑" panose="020B0503020204020204" pitchFamily="34" charset="-122"/>
                <a:ea typeface="微软雅黑" panose="020B0503020204020204" pitchFamily="34" charset="-122"/>
              </a:rPr>
              <a:t>2^(</a:t>
            </a:r>
            <a:r>
              <a:rPr lang="en-US" altLang="zh-CN" sz="2400" b="1" dirty="0" err="1">
                <a:solidFill>
                  <a:srgbClr val="FF0000"/>
                </a:solidFill>
                <a:latin typeface="微软雅黑" panose="020B0503020204020204" pitchFamily="34" charset="-122"/>
                <a:ea typeface="微软雅黑" panose="020B0503020204020204" pitchFamily="34" charset="-122"/>
              </a:rPr>
              <a:t>i</a:t>
            </a:r>
            <a:r>
              <a:rPr lang="zh-CN" altLang="en-US" sz="24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FF0000"/>
                </a:solidFill>
                <a:latin typeface="微软雅黑" panose="020B0503020204020204" pitchFamily="34" charset="-122"/>
                <a:ea typeface="微软雅黑" panose="020B0503020204020204" pitchFamily="34" charset="-122"/>
              </a:rPr>
              <a:t>1)&lt;n≤2^i</a:t>
            </a:r>
            <a:r>
              <a:rPr lang="zh-CN" altLang="en-US" sz="2400" b="1" dirty="0">
                <a:latin typeface="微软雅黑" panose="020B0503020204020204" pitchFamily="34" charset="-122"/>
                <a:ea typeface="微软雅黑" panose="020B0503020204020204" pitchFamily="34" charset="-122"/>
              </a:rPr>
              <a:t>，然后在空闲分区大小为 </a:t>
            </a:r>
            <a:r>
              <a:rPr lang="en-US" altLang="zh-CN" sz="2400" b="1" dirty="0">
                <a:latin typeface="微软雅黑" panose="020B0503020204020204" pitchFamily="34" charset="-122"/>
                <a:ea typeface="微软雅黑" panose="020B0503020204020204" pitchFamily="34" charset="-122"/>
              </a:rPr>
              <a:t>2i </a:t>
            </a:r>
            <a:r>
              <a:rPr lang="zh-CN" altLang="en-US" sz="2400" b="1" dirty="0">
                <a:latin typeface="微软雅黑" panose="020B0503020204020204" pitchFamily="34" charset="-122"/>
                <a:ea typeface="微软雅黑" panose="020B0503020204020204" pitchFamily="34" charset="-122"/>
              </a:rPr>
              <a:t>的空闲分区链表中查找。若</a:t>
            </a:r>
            <a:r>
              <a:rPr lang="en-US" altLang="zh-CN" sz="2400" b="1" dirty="0">
                <a:solidFill>
                  <a:srgbClr val="FF0000"/>
                </a:solidFill>
                <a:latin typeface="微软雅黑" panose="020B0503020204020204" pitchFamily="34" charset="-122"/>
                <a:ea typeface="微软雅黑" panose="020B0503020204020204" pitchFamily="34" charset="-122"/>
              </a:rPr>
              <a:t>2i</a:t>
            </a:r>
            <a:r>
              <a:rPr lang="en-US" altLang="zh-CN" sz="2400" b="1" dirty="0">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的空闲分区已耗尽，则在</a:t>
            </a:r>
            <a:r>
              <a:rPr lang="en-US" altLang="zh-CN" sz="2400" b="1" dirty="0">
                <a:solidFill>
                  <a:srgbClr val="FF0000"/>
                </a:solidFill>
                <a:latin typeface="微软雅黑" panose="020B0503020204020204" pitchFamily="34" charset="-122"/>
                <a:ea typeface="微软雅黑" panose="020B0503020204020204" pitchFamily="34" charset="-122"/>
              </a:rPr>
              <a:t>2i</a:t>
            </a:r>
            <a:r>
              <a:rPr lang="zh-CN" altLang="en-US" sz="2400" b="1" dirty="0">
                <a:solidFill>
                  <a:srgbClr val="FF0000"/>
                </a:solidFill>
                <a:latin typeface="微软雅黑" panose="020B0503020204020204" pitchFamily="34" charset="-122"/>
                <a:ea typeface="微软雅黑" panose="020B0503020204020204" pitchFamily="34" charset="-122"/>
              </a:rPr>
              <a:t>＋</a:t>
            </a:r>
            <a:r>
              <a:rPr lang="en-US" altLang="zh-CN" sz="2400" b="1" dirty="0">
                <a:solidFill>
                  <a:srgbClr val="FF0000"/>
                </a:solidFill>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空闲分区链表中寻找。</a:t>
            </a:r>
            <a:endParaRPr lang="en-US" altLang="zh-CN" sz="2400" b="1" dirty="0">
              <a:latin typeface="微软雅黑" panose="020B0503020204020204" pitchFamily="34" charset="-122"/>
              <a:ea typeface="微软雅黑" panose="020B0503020204020204" pitchFamily="34" charset="-122"/>
            </a:endParaRPr>
          </a:p>
          <a:p>
            <a:pPr marL="342900" indent="-342900" defTabSz="449580">
              <a:lnSpc>
                <a:spcPct val="200000"/>
              </a:lnSpc>
              <a:spcBef>
                <a:spcPts val="1200"/>
              </a:spcBef>
              <a:buClr>
                <a:srgbClr val="7030A0"/>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若存在 </a:t>
            </a:r>
            <a:r>
              <a:rPr lang="en-US" altLang="zh-CN" sz="2400" b="1" dirty="0">
                <a:latin typeface="微软雅黑" panose="020B0503020204020204" pitchFamily="34" charset="-122"/>
                <a:ea typeface="微软雅黑" panose="020B0503020204020204" pitchFamily="34" charset="-122"/>
              </a:rPr>
              <a:t>2i</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的空闲分区，则把该空闲分区分为</a:t>
            </a:r>
            <a:r>
              <a:rPr lang="zh-CN" altLang="en-US" sz="2400" b="1" dirty="0">
                <a:solidFill>
                  <a:srgbClr val="FF0000"/>
                </a:solidFill>
                <a:latin typeface="微软雅黑" panose="020B0503020204020204" pitchFamily="34" charset="-122"/>
                <a:ea typeface="微软雅黑" panose="020B0503020204020204" pitchFamily="34" charset="-122"/>
              </a:rPr>
              <a:t>相等的两个分区</a:t>
            </a:r>
            <a:r>
              <a:rPr lang="zh-CN" altLang="en-US" sz="2400" b="1" dirty="0">
                <a:latin typeface="微软雅黑" panose="020B0503020204020204" pitchFamily="34" charset="-122"/>
                <a:ea typeface="微软雅黑" panose="020B0503020204020204" pitchFamily="34" charset="-122"/>
              </a:rPr>
              <a:t>，这两个分区称为一对</a:t>
            </a:r>
            <a:r>
              <a:rPr lang="zh-CN" altLang="en-US" sz="2400" b="1" dirty="0">
                <a:solidFill>
                  <a:srgbClr val="FF0000"/>
                </a:solidFill>
                <a:latin typeface="微软雅黑" panose="020B0503020204020204" pitchFamily="34" charset="-122"/>
                <a:ea typeface="微软雅黑" panose="020B0503020204020204" pitchFamily="34" charset="-122"/>
              </a:rPr>
              <a:t>伙伴</a:t>
            </a:r>
            <a:r>
              <a:rPr lang="zh-CN" altLang="en-US" sz="2400" b="1" dirty="0">
                <a:latin typeface="微软雅黑" panose="020B0503020204020204" pitchFamily="34" charset="-122"/>
                <a:ea typeface="微软雅黑" panose="020B0503020204020204" pitchFamily="34" charset="-122"/>
              </a:rPr>
              <a:t>，其中的一个分区用于分配，而把另一个加入分区大小为 </a:t>
            </a:r>
            <a:r>
              <a:rPr lang="en-US" altLang="zh-CN" sz="2400" b="1" dirty="0">
                <a:latin typeface="微软雅黑" panose="020B0503020204020204" pitchFamily="34" charset="-122"/>
                <a:ea typeface="微软雅黑" panose="020B0503020204020204" pitchFamily="34" charset="-122"/>
              </a:rPr>
              <a:t>2i </a:t>
            </a:r>
            <a:r>
              <a:rPr lang="zh-CN" altLang="en-US" sz="2400" b="1" dirty="0">
                <a:latin typeface="微软雅黑" panose="020B0503020204020204" pitchFamily="34" charset="-122"/>
                <a:ea typeface="微软雅黑" panose="020B0503020204020204" pitchFamily="34" charset="-122"/>
              </a:rPr>
              <a:t>的空闲分区链表中。</a:t>
            </a:r>
            <a:endParaRPr lang="zh-CN" altLang="en-US" sz="2400" b="1" dirty="0">
              <a:latin typeface="微软雅黑" panose="020B0503020204020204" pitchFamily="34" charset="-122"/>
              <a:ea typeface="微软雅黑" panose="020B0503020204020204" pitchFamily="34" charset="-122"/>
            </a:endParaRPr>
          </a:p>
        </p:txBody>
      </p:sp>
      <p:sp>
        <p:nvSpPr>
          <p:cNvPr id="7" name="Rectangle 15"/>
          <p:cNvSpPr>
            <a:spLocks noChangeArrowheads="1"/>
          </p:cNvSpPr>
          <p:nvPr/>
        </p:nvSpPr>
        <p:spPr bwMode="auto">
          <a:xfrm>
            <a:off x="531283" y="1723169"/>
            <a:ext cx="650242" cy="4840190"/>
          </a:xfrm>
          <a:prstGeom prst="rect">
            <a:avLst/>
          </a:prstGeom>
          <a:solidFill>
            <a:srgbClr val="7030A0"/>
          </a:solidFill>
          <a:ln w="28575">
            <a:solidFill>
              <a:srgbClr val="7030A0"/>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chemeClr val="bg1"/>
                </a:solidFill>
                <a:latin typeface="微软雅黑" panose="020B0503020204020204" pitchFamily="34" charset="-122"/>
                <a:ea typeface="微软雅黑" panose="020B0503020204020204" pitchFamily="34" charset="-122"/>
              </a:rPr>
              <a:t>分</a:t>
            </a: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chemeClr val="bg1"/>
                </a:solidFill>
                <a:latin typeface="微软雅黑" panose="020B0503020204020204" pitchFamily="34" charset="-122"/>
                <a:ea typeface="微软雅黑" panose="020B0503020204020204" pitchFamily="34" charset="-122"/>
              </a:rPr>
              <a:t>配</a:t>
            </a:r>
            <a:endParaRPr lang="zh-CN"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36880" y="959485"/>
            <a:ext cx="974344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伙伴系统（</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buddy system</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93675" y="33655"/>
            <a:ext cx="1084707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4.3.5 </a:t>
            </a:r>
            <a:r>
              <a:rPr lang="zh-CN" altLang="en-US" sz="3900" b="1" dirty="0">
                <a:latin typeface="微软雅黑" panose="020B0503020204020204" pitchFamily="34" charset="-122"/>
                <a:ea typeface="微软雅黑" panose="020B0503020204020204" pitchFamily="34" charset="-122"/>
              </a:rPr>
              <a:t>基于索引搜索的动态分区分配算法</a:t>
            </a:r>
            <a:endParaRPr lang="zh-CN" altLang="en-US" sz="3900" b="1" dirty="0">
              <a:latin typeface="微软雅黑" panose="020B0503020204020204" pitchFamily="34" charset="-122"/>
              <a:ea typeface="微软雅黑" panose="020B0503020204020204" pitchFamily="34" charset="-122"/>
            </a:endParaRPr>
          </a:p>
        </p:txBody>
      </p:sp>
      <p:sp>
        <p:nvSpPr>
          <p:cNvPr id="6" name="Rectangle 15"/>
          <p:cNvSpPr>
            <a:spLocks noChangeArrowheads="1"/>
          </p:cNvSpPr>
          <p:nvPr/>
        </p:nvSpPr>
        <p:spPr bwMode="auto">
          <a:xfrm>
            <a:off x="1350645" y="1723390"/>
            <a:ext cx="9856470" cy="4521835"/>
          </a:xfrm>
          <a:prstGeom prst="rect">
            <a:avLst/>
          </a:prstGeom>
          <a:solidFill>
            <a:schemeClr val="bg1"/>
          </a:solidFill>
          <a:ln w="28575">
            <a:solidFill>
              <a:srgbClr val="7030A0"/>
            </a:solidFill>
            <a:miter lim="800000"/>
          </a:ln>
          <a:effectLst/>
          <a:scene3d>
            <a:camera prst="orthographicFront"/>
            <a:lightRig rig="threePt" dir="t"/>
          </a:scene3d>
          <a:sp3d>
            <a:bevelT/>
          </a:sp3d>
        </p:spPr>
        <p:txBody>
          <a:bodyPr/>
          <a:lstStyle/>
          <a:p>
            <a:pPr marL="342900" indent="-342900" defTabSz="449580">
              <a:lnSpc>
                <a:spcPct val="200000"/>
              </a:lnSpc>
              <a:spcBef>
                <a:spcPts val="1200"/>
              </a:spcBef>
              <a:buClr>
                <a:srgbClr val="7030A0"/>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一次分配可能要进行多次分割一样，一次回收也可能要进行</a:t>
            </a:r>
            <a:r>
              <a:rPr lang="zh-CN" altLang="en-US" sz="2400" b="1" dirty="0">
                <a:solidFill>
                  <a:srgbClr val="FF0000"/>
                </a:solidFill>
                <a:latin typeface="微软雅黑" panose="020B0503020204020204" pitchFamily="34" charset="-122"/>
                <a:ea typeface="微软雅黑" panose="020B0503020204020204" pitchFamily="34" charset="-122"/>
              </a:rPr>
              <a:t>多次合并</a:t>
            </a:r>
            <a:endParaRPr lang="en-US" altLang="zh-CN" sz="2400" b="1" dirty="0">
              <a:solidFill>
                <a:srgbClr val="FF0000"/>
              </a:solidFill>
              <a:latin typeface="微软雅黑" panose="020B0503020204020204" pitchFamily="34" charset="-122"/>
              <a:ea typeface="微软雅黑" panose="020B0503020204020204" pitchFamily="34" charset="-122"/>
            </a:endParaRPr>
          </a:p>
          <a:p>
            <a:pPr marL="342900" indent="-342900" defTabSz="449580">
              <a:lnSpc>
                <a:spcPct val="200000"/>
              </a:lnSpc>
              <a:spcBef>
                <a:spcPts val="1200"/>
              </a:spcBef>
              <a:buClr>
                <a:srgbClr val="7030A0"/>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如回收大小为 </a:t>
            </a:r>
            <a:r>
              <a:rPr lang="en-US" altLang="zh-CN" sz="2400" b="1" dirty="0">
                <a:latin typeface="微软雅黑" panose="020B0503020204020204" pitchFamily="34" charset="-122"/>
                <a:ea typeface="微软雅黑" panose="020B0503020204020204" pitchFamily="34" charset="-122"/>
              </a:rPr>
              <a:t>2i</a:t>
            </a:r>
            <a:r>
              <a:rPr lang="zh-CN" altLang="en-US" sz="2400" b="1" dirty="0">
                <a:latin typeface="微软雅黑" panose="020B0503020204020204" pitchFamily="34" charset="-122"/>
                <a:ea typeface="微软雅黑" panose="020B0503020204020204" pitchFamily="34" charset="-122"/>
              </a:rPr>
              <a:t>的空闲分区时，若事先已存在 </a:t>
            </a:r>
            <a:r>
              <a:rPr lang="en-US" altLang="zh-CN" sz="2400" b="1" dirty="0">
                <a:latin typeface="微软雅黑" panose="020B0503020204020204" pitchFamily="34" charset="-122"/>
                <a:ea typeface="微软雅黑" panose="020B0503020204020204" pitchFamily="34" charset="-122"/>
              </a:rPr>
              <a:t>2i</a:t>
            </a:r>
            <a:r>
              <a:rPr lang="zh-CN" altLang="en-US" sz="2400" b="1" dirty="0">
                <a:latin typeface="微软雅黑" panose="020B0503020204020204" pitchFamily="34" charset="-122"/>
                <a:ea typeface="微软雅黑" panose="020B0503020204020204" pitchFamily="34" charset="-122"/>
              </a:rPr>
              <a:t>的空闲分区时，则应将其与伙伴分区合并为大小为 </a:t>
            </a:r>
            <a:r>
              <a:rPr lang="en-US" altLang="zh-CN" sz="2400" b="1" dirty="0">
                <a:latin typeface="微软雅黑" panose="020B0503020204020204" pitchFamily="34" charset="-122"/>
                <a:ea typeface="微软雅黑" panose="020B0503020204020204" pitchFamily="34" charset="-122"/>
              </a:rPr>
              <a:t>2i</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的空闲分区，若事先已存在 </a:t>
            </a:r>
            <a:r>
              <a:rPr lang="en-US" altLang="zh-CN" sz="2400" b="1" dirty="0">
                <a:latin typeface="微软雅黑" panose="020B0503020204020204" pitchFamily="34" charset="-122"/>
                <a:ea typeface="微软雅黑" panose="020B0503020204020204" pitchFamily="34" charset="-122"/>
              </a:rPr>
              <a:t>2i</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的空闲分区时，又应继续与其伙伴分区合并为大小为 </a:t>
            </a:r>
            <a:r>
              <a:rPr lang="en-US" altLang="zh-CN" sz="2400" b="1" dirty="0">
                <a:latin typeface="微软雅黑" panose="020B0503020204020204" pitchFamily="34" charset="-122"/>
                <a:ea typeface="微软雅黑" panose="020B0503020204020204" pitchFamily="34" charset="-122"/>
              </a:rPr>
              <a:t>2i</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2</a:t>
            </a:r>
            <a:r>
              <a:rPr lang="zh-CN" altLang="en-US" sz="2400" b="1" dirty="0">
                <a:latin typeface="微软雅黑" panose="020B0503020204020204" pitchFamily="34" charset="-122"/>
                <a:ea typeface="微软雅黑" panose="020B0503020204020204" pitchFamily="34" charset="-122"/>
              </a:rPr>
              <a:t>的空闲分区，依此类推。</a:t>
            </a:r>
            <a:endParaRPr lang="zh-CN" altLang="en-US" sz="2400" b="1" dirty="0">
              <a:latin typeface="微软雅黑" panose="020B0503020204020204" pitchFamily="34" charset="-122"/>
              <a:ea typeface="微软雅黑" panose="020B0503020204020204" pitchFamily="34" charset="-122"/>
            </a:endParaRPr>
          </a:p>
        </p:txBody>
      </p:sp>
      <p:sp>
        <p:nvSpPr>
          <p:cNvPr id="7" name="Rectangle 15"/>
          <p:cNvSpPr>
            <a:spLocks noChangeArrowheads="1"/>
          </p:cNvSpPr>
          <p:nvPr/>
        </p:nvSpPr>
        <p:spPr bwMode="auto">
          <a:xfrm>
            <a:off x="524298" y="1723169"/>
            <a:ext cx="650242" cy="4521842"/>
          </a:xfrm>
          <a:prstGeom prst="rect">
            <a:avLst/>
          </a:prstGeom>
          <a:solidFill>
            <a:srgbClr val="7030A0"/>
          </a:solidFill>
          <a:ln w="28575">
            <a:solidFill>
              <a:srgbClr val="7030A0"/>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chemeClr val="bg1"/>
                </a:solidFill>
                <a:latin typeface="微软雅黑" panose="020B0503020204020204" pitchFamily="34" charset="-122"/>
                <a:ea typeface="微软雅黑" panose="020B0503020204020204" pitchFamily="34" charset="-122"/>
              </a:rPr>
              <a:t>回</a:t>
            </a: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chemeClr val="bg1"/>
                </a:solidFill>
                <a:latin typeface="微软雅黑" panose="020B0503020204020204" pitchFamily="34" charset="-122"/>
                <a:ea typeface="微软雅黑" panose="020B0503020204020204" pitchFamily="34" charset="-122"/>
              </a:rPr>
              <a:t>收</a:t>
            </a:r>
            <a:endParaRPr lang="zh-CN"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57200" y="959485"/>
            <a:ext cx="972312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伙伴系统（</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buddy system</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68275" y="33655"/>
            <a:ext cx="1087247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4.3.5 </a:t>
            </a:r>
            <a:r>
              <a:rPr lang="zh-CN" altLang="en-US" sz="3900" b="1" dirty="0">
                <a:latin typeface="微软雅黑" panose="020B0503020204020204" pitchFamily="34" charset="-122"/>
                <a:ea typeface="微软雅黑" panose="020B0503020204020204" pitchFamily="34" charset="-122"/>
              </a:rPr>
              <a:t>基于索引搜索的动态分区分配算法</a:t>
            </a:r>
            <a:endParaRPr lang="zh-CN" altLang="en-US" sz="3900" b="1" dirty="0">
              <a:latin typeface="微软雅黑" panose="020B0503020204020204" pitchFamily="34" charset="-122"/>
              <a:ea typeface="微软雅黑" panose="020B0503020204020204" pitchFamily="34" charset="-122"/>
            </a:endParaRPr>
          </a:p>
        </p:txBody>
      </p:sp>
      <p:sp>
        <p:nvSpPr>
          <p:cNvPr id="6" name="Rectangle 15"/>
          <p:cNvSpPr>
            <a:spLocks noChangeArrowheads="1"/>
          </p:cNvSpPr>
          <p:nvPr/>
        </p:nvSpPr>
        <p:spPr bwMode="auto">
          <a:xfrm>
            <a:off x="1423670" y="1723390"/>
            <a:ext cx="9790430" cy="5050155"/>
          </a:xfrm>
          <a:prstGeom prst="rect">
            <a:avLst/>
          </a:prstGeom>
          <a:solidFill>
            <a:schemeClr val="bg1"/>
          </a:solidFill>
          <a:ln w="28575">
            <a:solidFill>
              <a:srgbClr val="7030A0"/>
            </a:solidFill>
            <a:miter lim="800000"/>
          </a:ln>
          <a:effectLst/>
          <a:scene3d>
            <a:camera prst="orthographicFront"/>
            <a:lightRig rig="threePt" dir="t"/>
          </a:scene3d>
          <a:sp3d>
            <a:bevelT/>
          </a:sp3d>
        </p:spPr>
        <p:txBody>
          <a:bodyPr/>
          <a:lstStyle/>
          <a:p>
            <a:pPr marL="342900" indent="-342900" defTabSz="449580">
              <a:lnSpc>
                <a:spcPct val="150000"/>
              </a:lnSpc>
              <a:spcBef>
                <a:spcPts val="1200"/>
              </a:spcBef>
              <a:buClr>
                <a:srgbClr val="7030A0"/>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分配和回收的时间性能取决于</a:t>
            </a:r>
            <a:r>
              <a:rPr lang="zh-CN" altLang="en-US" sz="2400" b="1" dirty="0">
                <a:solidFill>
                  <a:srgbClr val="FF0000"/>
                </a:solidFill>
                <a:latin typeface="微软雅黑" panose="020B0503020204020204" pitchFamily="34" charset="-122"/>
                <a:ea typeface="微软雅黑" panose="020B0503020204020204" pitchFamily="34" charset="-122"/>
              </a:rPr>
              <a:t>查找</a:t>
            </a:r>
            <a:r>
              <a:rPr lang="zh-CN" altLang="en-US" sz="2400" b="1" dirty="0">
                <a:latin typeface="微软雅黑" panose="020B0503020204020204" pitchFamily="34" charset="-122"/>
                <a:ea typeface="微软雅黑" panose="020B0503020204020204" pitchFamily="34" charset="-122"/>
              </a:rPr>
              <a:t>空闲分区的位置和</a:t>
            </a:r>
            <a:r>
              <a:rPr lang="zh-CN" altLang="en-US" sz="2400" b="1" dirty="0">
                <a:solidFill>
                  <a:srgbClr val="FF0000"/>
                </a:solidFill>
                <a:latin typeface="微软雅黑" panose="020B0503020204020204" pitchFamily="34" charset="-122"/>
                <a:ea typeface="微软雅黑" panose="020B0503020204020204" pitchFamily="34" charset="-122"/>
              </a:rPr>
              <a:t>分割、合并</a:t>
            </a:r>
            <a:r>
              <a:rPr lang="zh-CN" altLang="en-US" sz="2400" b="1" dirty="0">
                <a:latin typeface="微软雅黑" panose="020B0503020204020204" pitchFamily="34" charset="-122"/>
                <a:ea typeface="微软雅黑" panose="020B0503020204020204" pitchFamily="34" charset="-122"/>
              </a:rPr>
              <a:t>空闲分区所花费的时间。</a:t>
            </a:r>
            <a:endParaRPr lang="en-US" altLang="zh-CN" sz="2400" b="1" dirty="0">
              <a:latin typeface="微软雅黑" panose="020B0503020204020204" pitchFamily="34" charset="-122"/>
              <a:ea typeface="微软雅黑" panose="020B0503020204020204" pitchFamily="34" charset="-122"/>
            </a:endParaRPr>
          </a:p>
          <a:p>
            <a:pPr marL="342900" indent="-342900" defTabSz="449580">
              <a:lnSpc>
                <a:spcPct val="150000"/>
              </a:lnSpc>
              <a:spcBef>
                <a:spcPts val="1200"/>
              </a:spcBef>
              <a:buClr>
                <a:srgbClr val="7030A0"/>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回收空闲分区时，需要对空闲分区进行合并，所以其时间性能比快速适应算法差，但由于它采用索引搜索算法，比顺序搜索算法好。</a:t>
            </a:r>
            <a:endParaRPr lang="zh-CN" altLang="en-US" sz="2400" b="1" dirty="0">
              <a:latin typeface="微软雅黑" panose="020B0503020204020204" pitchFamily="34" charset="-122"/>
              <a:ea typeface="微软雅黑" panose="020B0503020204020204" pitchFamily="34" charset="-122"/>
            </a:endParaRPr>
          </a:p>
          <a:p>
            <a:pPr marL="342900" indent="-342900" defTabSz="449580">
              <a:lnSpc>
                <a:spcPct val="150000"/>
              </a:lnSpc>
              <a:spcBef>
                <a:spcPts val="1200"/>
              </a:spcBef>
              <a:buClr>
                <a:srgbClr val="7030A0"/>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空间性能优于快速适应算法，比顺序搜索法略差</a:t>
            </a:r>
            <a:endParaRPr lang="en-US" altLang="zh-CN" sz="2400" b="1" dirty="0">
              <a:latin typeface="微软雅黑" panose="020B0503020204020204" pitchFamily="34" charset="-122"/>
              <a:ea typeface="微软雅黑" panose="020B0503020204020204" pitchFamily="34" charset="-122"/>
            </a:endParaRPr>
          </a:p>
          <a:p>
            <a:pPr marL="342900" indent="-342900" defTabSz="449580">
              <a:lnSpc>
                <a:spcPct val="150000"/>
              </a:lnSpc>
              <a:spcBef>
                <a:spcPts val="1200"/>
              </a:spcBef>
              <a:buClr>
                <a:srgbClr val="7030A0"/>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在</a:t>
            </a:r>
            <a:r>
              <a:rPr lang="zh-CN" altLang="en-US" sz="2400" b="1" dirty="0">
                <a:solidFill>
                  <a:srgbClr val="FF0000"/>
                </a:solidFill>
                <a:latin typeface="微软雅黑" panose="020B0503020204020204" pitchFamily="34" charset="-122"/>
                <a:ea typeface="微软雅黑" panose="020B0503020204020204" pitchFamily="34" charset="-122"/>
              </a:rPr>
              <a:t>多处理机系统中</a:t>
            </a:r>
            <a:r>
              <a:rPr lang="zh-CN" altLang="en-US" sz="2400" b="1" dirty="0">
                <a:latin typeface="微软雅黑" panose="020B0503020204020204" pitchFamily="34" charset="-122"/>
                <a:ea typeface="微软雅黑" panose="020B0503020204020204" pitchFamily="34" charset="-122"/>
              </a:rPr>
              <a:t>，伙伴系统仍不失为一种有效的内存分配和释放的方法，得到了大量的应用</a:t>
            </a:r>
            <a:endParaRPr lang="zh-CN" altLang="en-US" sz="2400" b="1" dirty="0">
              <a:latin typeface="微软雅黑" panose="020B0503020204020204" pitchFamily="34" charset="-122"/>
              <a:ea typeface="微软雅黑" panose="020B0503020204020204" pitchFamily="34" charset="-122"/>
            </a:endParaRPr>
          </a:p>
        </p:txBody>
      </p:sp>
      <p:sp>
        <p:nvSpPr>
          <p:cNvPr id="7" name="Rectangle 15"/>
          <p:cNvSpPr>
            <a:spLocks noChangeArrowheads="1"/>
          </p:cNvSpPr>
          <p:nvPr/>
        </p:nvSpPr>
        <p:spPr bwMode="auto">
          <a:xfrm>
            <a:off x="544618" y="1676814"/>
            <a:ext cx="650242" cy="5050162"/>
          </a:xfrm>
          <a:prstGeom prst="rect">
            <a:avLst/>
          </a:prstGeom>
          <a:solidFill>
            <a:srgbClr val="7030A0"/>
          </a:solidFill>
          <a:ln w="28575">
            <a:solidFill>
              <a:srgbClr val="7030A0"/>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chemeClr val="bg1"/>
                </a:solidFill>
                <a:latin typeface="微软雅黑" panose="020B0503020204020204" pitchFamily="34" charset="-122"/>
                <a:ea typeface="微软雅黑" panose="020B0503020204020204" pitchFamily="34" charset="-122"/>
              </a:rPr>
              <a:t>优</a:t>
            </a: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chemeClr val="bg1"/>
                </a:solidFill>
                <a:latin typeface="微软雅黑" panose="020B0503020204020204" pitchFamily="34" charset="-122"/>
                <a:ea typeface="微软雅黑" panose="020B0503020204020204" pitchFamily="34" charset="-122"/>
              </a:rPr>
              <a:t>缺</a:t>
            </a: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chemeClr val="bg1"/>
                </a:solidFill>
                <a:latin typeface="微软雅黑" panose="020B0503020204020204" pitchFamily="34" charset="-122"/>
                <a:ea typeface="微软雅黑" panose="020B0503020204020204" pitchFamily="34" charset="-122"/>
              </a:rPr>
              <a:t>点</a:t>
            </a:r>
            <a:endParaRPr lang="zh-CN"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57200" y="959485"/>
            <a:ext cx="972312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伙伴系统（</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buddy system</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68275" y="33655"/>
            <a:ext cx="1087247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4.3.5 </a:t>
            </a:r>
            <a:r>
              <a:rPr lang="zh-CN" altLang="en-US" sz="3900" b="1" dirty="0">
                <a:latin typeface="微软雅黑" panose="020B0503020204020204" pitchFamily="34" charset="-122"/>
                <a:ea typeface="微软雅黑" panose="020B0503020204020204" pitchFamily="34" charset="-122"/>
              </a:rPr>
              <a:t>基于索引搜索的动态分区分配算法</a:t>
            </a:r>
            <a:endParaRPr lang="zh-CN" altLang="en-US" sz="3900" b="1" dirty="0">
              <a:latin typeface="微软雅黑" panose="020B0503020204020204" pitchFamily="34" charset="-122"/>
              <a:ea typeface="微软雅黑" panose="020B0503020204020204" pitchFamily="34" charset="-122"/>
            </a:endParaRPr>
          </a:p>
        </p:txBody>
      </p:sp>
      <p:pic>
        <p:nvPicPr>
          <p:cNvPr id="2" name="Picture 4" descr="f6.pdf"/>
          <p:cNvPicPr>
            <a:picLocks noChangeAspect="1"/>
          </p:cNvPicPr>
          <p:nvPr/>
        </p:nvPicPr>
        <p:blipFill>
          <a:blip r:embed="rId1"/>
          <a:srcRect t="13160" b="21858"/>
          <a:stretch>
            <a:fillRect/>
          </a:stretch>
        </p:blipFill>
        <p:spPr>
          <a:xfrm>
            <a:off x="1574165" y="1736090"/>
            <a:ext cx="9466580" cy="4753610"/>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57200" y="959485"/>
            <a:ext cx="972312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伙伴系统（</a:t>
            </a:r>
            <a:r>
              <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buddy system</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a:t>
            </a:r>
            <a:endPar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68275" y="33655"/>
            <a:ext cx="1087247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4.3.5 </a:t>
            </a:r>
            <a:r>
              <a:rPr lang="zh-CN" altLang="en-US" sz="3900" b="1" dirty="0">
                <a:latin typeface="微软雅黑" panose="020B0503020204020204" pitchFamily="34" charset="-122"/>
                <a:ea typeface="微软雅黑" panose="020B0503020204020204" pitchFamily="34" charset="-122"/>
              </a:rPr>
              <a:t>基于索引搜索的动态分区分配算法</a:t>
            </a:r>
            <a:endParaRPr lang="zh-CN" altLang="en-US" sz="3900" b="1" dirty="0">
              <a:latin typeface="微软雅黑" panose="020B0503020204020204" pitchFamily="34" charset="-122"/>
              <a:ea typeface="微软雅黑" panose="020B0503020204020204" pitchFamily="34" charset="-122"/>
            </a:endParaRPr>
          </a:p>
        </p:txBody>
      </p:sp>
      <p:pic>
        <p:nvPicPr>
          <p:cNvPr id="4" name="Picture 3" descr="f7.pdf"/>
          <p:cNvPicPr>
            <a:picLocks noChangeAspect="1"/>
          </p:cNvPicPr>
          <p:nvPr/>
        </p:nvPicPr>
        <p:blipFill>
          <a:blip r:embed="rId1"/>
          <a:srcRect t="17273" b="21162"/>
          <a:stretch>
            <a:fillRect/>
          </a:stretch>
        </p:blipFill>
        <p:spPr>
          <a:xfrm>
            <a:off x="2779395" y="1235075"/>
            <a:ext cx="6779895" cy="5401945"/>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56895" y="959485"/>
            <a:ext cx="9623425"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哈希算法</a:t>
            </a:r>
            <a:endPar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27965" y="33655"/>
            <a:ext cx="1081278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4.3.5 </a:t>
            </a:r>
            <a:r>
              <a:rPr lang="zh-CN" altLang="en-US" sz="3900" b="1" dirty="0">
                <a:latin typeface="微软雅黑" panose="020B0503020204020204" pitchFamily="34" charset="-122"/>
                <a:ea typeface="微软雅黑" panose="020B0503020204020204" pitchFamily="34" charset="-122"/>
              </a:rPr>
              <a:t>基于索引搜索的动态分区分配算法</a:t>
            </a:r>
            <a:endParaRPr lang="zh-CN" altLang="en-US" sz="3900" b="1" dirty="0">
              <a:latin typeface="微软雅黑" panose="020B0503020204020204" pitchFamily="34" charset="-122"/>
              <a:ea typeface="微软雅黑" panose="020B0503020204020204" pitchFamily="34" charset="-122"/>
            </a:endParaRPr>
          </a:p>
        </p:txBody>
      </p:sp>
      <p:sp>
        <p:nvSpPr>
          <p:cNvPr id="6" name="Rectangle 15"/>
          <p:cNvSpPr>
            <a:spLocks noChangeArrowheads="1"/>
          </p:cNvSpPr>
          <p:nvPr/>
        </p:nvSpPr>
        <p:spPr bwMode="auto">
          <a:xfrm>
            <a:off x="1450340" y="1723390"/>
            <a:ext cx="10209530" cy="4779010"/>
          </a:xfrm>
          <a:prstGeom prst="rect">
            <a:avLst/>
          </a:prstGeom>
          <a:solidFill>
            <a:schemeClr val="bg1"/>
          </a:solidFill>
          <a:ln w="28575">
            <a:solidFill>
              <a:schemeClr val="accent6">
                <a:lumMod val="50000"/>
              </a:schemeClr>
            </a:solidFill>
            <a:miter lim="800000"/>
          </a:ln>
          <a:effectLst/>
          <a:scene3d>
            <a:camera prst="orthographicFront"/>
            <a:lightRig rig="threePt" dir="t"/>
          </a:scene3d>
          <a:sp3d>
            <a:bevelT/>
          </a:sp3d>
        </p:spPr>
        <p:txBody>
          <a:bodyPr/>
          <a:lstStyle/>
          <a:p>
            <a:pPr marL="342900" indent="-342900" defTabSz="449580">
              <a:lnSpc>
                <a:spcPct val="250000"/>
              </a:lnSpc>
              <a:spcBef>
                <a:spcPts val="1200"/>
              </a:spcBef>
              <a:buClr>
                <a:schemeClr val="accent6">
                  <a:lumMod val="50000"/>
                </a:schemeClr>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哈希算法利用哈希快速查找的优点，以及空闲分区在可利用空闲区表中的分布规律，建立哈希函数，构造一张以空闲分区大小为关键字的哈希表，该表的每一个表项纪录了一个对应的空闲分区链表表头指针。</a:t>
            </a:r>
            <a:endParaRPr lang="zh-CN" altLang="en-US" sz="2400" b="1" dirty="0">
              <a:latin typeface="微软雅黑" panose="020B0503020204020204" pitchFamily="34" charset="-122"/>
              <a:ea typeface="微软雅黑" panose="020B0503020204020204" pitchFamily="34" charset="-122"/>
            </a:endParaRPr>
          </a:p>
          <a:p>
            <a:pPr marL="342900" indent="-342900" defTabSz="449580">
              <a:lnSpc>
                <a:spcPct val="250000"/>
              </a:lnSpc>
              <a:spcBef>
                <a:spcPts val="1200"/>
              </a:spcBef>
              <a:buClr>
                <a:schemeClr val="accent6">
                  <a:lumMod val="50000"/>
                </a:schemeClr>
              </a:buClr>
              <a:buSzPct val="1000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根据所需空闲分区大小，通过哈希函数计算得到在哈希表中的位置，从中得到相应的空闲分区链表，实现最佳分配策略。</a:t>
            </a:r>
            <a:endParaRPr lang="zh-CN" altLang="en-US" sz="2400" b="1" dirty="0">
              <a:latin typeface="微软雅黑" panose="020B0503020204020204" pitchFamily="34" charset="-122"/>
              <a:ea typeface="微软雅黑" panose="020B0503020204020204" pitchFamily="34" charset="-122"/>
            </a:endParaRPr>
          </a:p>
        </p:txBody>
      </p:sp>
      <p:sp>
        <p:nvSpPr>
          <p:cNvPr id="7" name="Rectangle 15"/>
          <p:cNvSpPr>
            <a:spLocks noChangeArrowheads="1"/>
          </p:cNvSpPr>
          <p:nvPr/>
        </p:nvSpPr>
        <p:spPr bwMode="auto">
          <a:xfrm>
            <a:off x="617643" y="1723169"/>
            <a:ext cx="650242" cy="4833418"/>
          </a:xfrm>
          <a:prstGeom prst="rect">
            <a:avLst/>
          </a:prstGeom>
          <a:solidFill>
            <a:schemeClr val="accent6">
              <a:lumMod val="75000"/>
            </a:schemeClr>
          </a:solidFill>
          <a:ln w="28575">
            <a:solidFill>
              <a:schemeClr val="accent6">
                <a:lumMod val="50000"/>
              </a:schemeClr>
            </a:solidFill>
            <a:miter lim="800000"/>
          </a:ln>
          <a:effectLst/>
          <a:scene3d>
            <a:camera prst="orthographicFront"/>
            <a:lightRig rig="threePt" dir="t"/>
          </a:scene3d>
          <a:sp3d>
            <a:bevelT/>
          </a:sp3d>
        </p:spPr>
        <p:txBody>
          <a:bodyPr/>
          <a:lstStyle/>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chemeClr val="bg1"/>
                </a:solidFill>
                <a:latin typeface="微软雅黑" panose="020B0503020204020204" pitchFamily="34" charset="-122"/>
                <a:ea typeface="微软雅黑" panose="020B0503020204020204" pitchFamily="34" charset="-122"/>
              </a:rPr>
              <a:t>分</a:t>
            </a:r>
            <a:endParaRPr lang="en-US" altLang="zh-CN" sz="2800" b="1" dirty="0">
              <a:solidFill>
                <a:schemeClr val="bg1"/>
              </a:solidFill>
              <a:latin typeface="微软雅黑" panose="020B0503020204020204" pitchFamily="34" charset="-122"/>
              <a:ea typeface="微软雅黑" panose="020B0503020204020204" pitchFamily="34" charset="-122"/>
            </a:endParaRPr>
          </a:p>
          <a:p>
            <a:pPr marL="228600" indent="-228600" algn="ctr" defTabSz="449580">
              <a:spcBef>
                <a:spcPts val="1200"/>
              </a:spcBef>
              <a:buClr>
                <a:srgbClr val="FC6204"/>
              </a:buClr>
              <a:buSzPct val="100000"/>
            </a:pPr>
            <a:r>
              <a:rPr lang="zh-CN" altLang="en-US" sz="2800" b="1" dirty="0">
                <a:solidFill>
                  <a:schemeClr val="bg1"/>
                </a:solidFill>
                <a:latin typeface="微软雅黑" panose="020B0503020204020204" pitchFamily="34" charset="-122"/>
                <a:ea typeface="微软雅黑" panose="020B0503020204020204" pitchFamily="34" charset="-122"/>
              </a:rPr>
              <a:t>配</a:t>
            </a:r>
            <a:endParaRPr lang="zh-CN" sz="2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35610" y="959485"/>
            <a:ext cx="10560685"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碎片问题</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由于空闲区的大小与申请内存的大小相等的情况是很少的，绝大多数情况是从一个空闲区中切去一块，剩下的部分作为一个空闲区仍留在空闲区表中，随着时间的推移，空闲区的发展趋势是越来越小，直至不能满足任何用户要求。这种不能被任何用户使用的极小的空闲区称为</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碎片</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。碎片的出现造成了存储空间的浪费。</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解决策略</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规定门限值</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（由操作系统规定，如</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1K</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），分割空闲区时，若剩余部分小于门限值，则不再分割此空闲区。</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定期压缩存储空间</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，将所有空闲区集中到内存的一端，但这种方法的系统开销太大。</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a:p>
            <a:pPr marL="457200" lvl="2" indent="0">
              <a:lnSpc>
                <a:spcPct val="150000"/>
              </a:lnSpc>
              <a:spcBef>
                <a:spcPts val="1000"/>
              </a:spcBef>
              <a:buClr>
                <a:srgbClr val="0000FF"/>
              </a:buClr>
              <a:buNone/>
            </a:pP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34315" y="33655"/>
            <a:ext cx="1080643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4.3.4 </a:t>
            </a:r>
            <a:r>
              <a:rPr lang="zh-CN" altLang="en-US" sz="3900" b="1" dirty="0">
                <a:latin typeface="微软雅黑" panose="020B0503020204020204" pitchFamily="34" charset="-122"/>
                <a:ea typeface="微软雅黑" panose="020B0503020204020204" pitchFamily="34" charset="-122"/>
              </a:rPr>
              <a:t>动态分区分配算法</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35610" y="959485"/>
            <a:ext cx="1084199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紧凑</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在连续分配方式中，必须把一个系统或用户程序装入一连续内存空间。如果在系统中只有若干个小的分区，即使它们容量的总和大于要装入的程序，但由于分区不相邻接，无法把程序装入内存</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“零头”或“碎片”：</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不能被利用的小分区</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将内存中的所有作业进行移动，使它们全都相邻接</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sym typeface="Wingdings" panose="05000000000000000000" pitchFamily="2" charset="2"/>
              </a:rPr>
              <a: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把原来分散的多个小分区拼接成一个大分区</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“拼接”或“紧凑”</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：通过移动内存中作业的位置，以把原来多个分散的小分区拼接成一个大分区的方法</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在每次“紧凑”后，都必须对移动了的程序或数据进行重定位</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01295" y="33655"/>
            <a:ext cx="1083945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4.3.6 </a:t>
            </a:r>
            <a:r>
              <a:rPr lang="zh-CN" altLang="en-US" sz="3900" b="1" dirty="0">
                <a:latin typeface="微软雅黑" panose="020B0503020204020204" pitchFamily="34" charset="-122"/>
                <a:ea typeface="微软雅黑" panose="020B0503020204020204" pitchFamily="34" charset="-122"/>
              </a:rPr>
              <a:t>动态可重定位分区分配</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63245" y="959485"/>
            <a:ext cx="1042670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紧凑</a:t>
            </a:r>
            <a:endParaRPr lang="en-US" altLang="zh-CN"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通过移动内存中作业的位置，以把原来多个分散的小分区拼接成一个大分区的方法</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21615" y="33655"/>
            <a:ext cx="1081913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4.3.6 </a:t>
            </a:r>
            <a:r>
              <a:rPr lang="zh-CN" altLang="en-US" sz="3900" b="1" dirty="0">
                <a:latin typeface="微软雅黑" panose="020B0503020204020204" pitchFamily="34" charset="-122"/>
                <a:ea typeface="微软雅黑" panose="020B0503020204020204" pitchFamily="34" charset="-122"/>
              </a:rPr>
              <a:t>动态可重定位分区分配</a:t>
            </a:r>
            <a:endParaRPr lang="zh-CN" altLang="en-US" sz="3900" b="1" dirty="0">
              <a:latin typeface="微软雅黑" panose="020B0503020204020204" pitchFamily="34" charset="-122"/>
              <a:ea typeface="微软雅黑" panose="020B0503020204020204" pitchFamily="34" charset="-122"/>
            </a:endParaRPr>
          </a:p>
        </p:txBody>
      </p:sp>
      <p:graphicFrame>
        <p:nvGraphicFramePr>
          <p:cNvPr id="7" name="Group 3"/>
          <p:cNvGraphicFramePr>
            <a:graphicFrameLocks noGrp="1"/>
          </p:cNvGraphicFramePr>
          <p:nvPr/>
        </p:nvGraphicFramePr>
        <p:xfrm>
          <a:off x="3201036" y="2369451"/>
          <a:ext cx="2209800" cy="3566160"/>
        </p:xfrm>
        <a:graphic>
          <a:graphicData uri="http://schemas.openxmlformats.org/drawingml/2006/table">
            <a:tbl>
              <a:tblPr/>
              <a:tblGrid>
                <a:gridCol w="2209800"/>
              </a:tblGrid>
              <a:tr h="381235">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anose="05000000000000000000" pitchFamily="2" charset="2"/>
                        <a:buNone/>
                      </a:pPr>
                      <a:r>
                        <a:rPr kumimoji="1" lang="en-US" altLang="zh-CN" sz="2000" b="1" i="0" u="none" strike="noStrike"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  </a:t>
                      </a:r>
                      <a:r>
                        <a:rPr kumimoji="1" lang="zh-CN" altLang="en-US" sz="2000" b="1" i="0" u="none" strike="noStrike"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操作系统</a:t>
                      </a:r>
                      <a:endParaRPr kumimoji="1" lang="zh-CN" altLang="en-US" sz="2000" b="1" i="0" u="none" strike="noStrike"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2F5597"/>
                    </a:solidFill>
                  </a:tcPr>
                </a:tc>
              </a:tr>
              <a:tr h="381235">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anose="05000000000000000000" pitchFamily="2" charset="2"/>
                        <a:buNone/>
                      </a:pPr>
                      <a:r>
                        <a:rPr kumimoji="1" lang="en-US" altLang="zh-CN" sz="2000" b="1" i="0" u="none" strike="noStrike"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  </a:t>
                      </a:r>
                      <a:r>
                        <a:rPr kumimoji="1" lang="zh-CN" altLang="en-US" sz="2000" b="1" i="0" u="none" strike="noStrike"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用户程序</a:t>
                      </a:r>
                      <a:r>
                        <a:rPr kumimoji="1" lang="en-US" altLang="zh-CN" sz="2000" b="1" i="0" u="none" strike="noStrike"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1</a:t>
                      </a:r>
                      <a:endParaRPr kumimoji="1" lang="en-US" altLang="zh-CN" sz="2000" b="1" i="0" u="none" strike="noStrike"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2F5597"/>
                    </a:solidFill>
                  </a:tcPr>
                </a:tc>
              </a:tr>
              <a:tr h="381235">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anose="05000000000000000000" pitchFamily="2" charset="2"/>
                        <a:buNone/>
                      </a:pPr>
                      <a:r>
                        <a:rPr kumimoji="1" lang="en-US" altLang="zh-CN" sz="2000" b="1" i="0" u="none" strike="noStrike" cap="none" normalizeH="0" baseline="0" dirty="0">
                          <a:ln>
                            <a:noFill/>
                          </a:ln>
                          <a:solidFill>
                            <a:srgbClr val="FF0000"/>
                          </a:solidFill>
                          <a:effectLst/>
                          <a:latin typeface="Times New Roman" panose="02020503050405090304" pitchFamily="18" charset="0"/>
                          <a:ea typeface="微软雅黑" panose="020B0503020204020204" pitchFamily="34" charset="-122"/>
                          <a:cs typeface="Times New Roman" panose="02020503050405090304" pitchFamily="18" charset="0"/>
                        </a:rPr>
                        <a:t>10KB</a:t>
                      </a:r>
                      <a:endParaRPr kumimoji="1" lang="en-US" altLang="zh-CN" sz="2000" b="1" i="0" u="none" strike="noStrike" cap="none" normalizeH="0" baseline="0" dirty="0">
                        <a:ln>
                          <a:noFill/>
                        </a:ln>
                        <a:solidFill>
                          <a:srgbClr val="FF0000"/>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r>
              <a:tr h="381235">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anose="05000000000000000000" pitchFamily="2" charset="2"/>
                        <a:buNone/>
                      </a:pPr>
                      <a:r>
                        <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   </a:t>
                      </a:r>
                      <a:r>
                        <a:rPr kumimoji="1" lang="zh-CN" altLang="en-US"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用户程序</a:t>
                      </a:r>
                      <a:r>
                        <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3</a:t>
                      </a:r>
                      <a:endPar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2F5597"/>
                    </a:solidFill>
                  </a:tcPr>
                </a:tc>
              </a:tr>
              <a:tr h="381235">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anose="05000000000000000000" pitchFamily="2" charset="2"/>
                        <a:buNone/>
                      </a:pPr>
                      <a:r>
                        <a:rPr kumimoji="1" lang="en-US" altLang="zh-CN" sz="2000" b="1" i="0" u="none" strike="noStrike" kern="1200" cap="none" normalizeH="0" baseline="0" dirty="0">
                          <a:ln>
                            <a:noFill/>
                          </a:ln>
                          <a:solidFill>
                            <a:srgbClr val="FF0000"/>
                          </a:solidFill>
                          <a:effectLst/>
                          <a:latin typeface="Times New Roman" panose="02020503050405090304" pitchFamily="18" charset="0"/>
                          <a:ea typeface="微软雅黑" panose="020B0503020204020204" pitchFamily="34" charset="-122"/>
                          <a:cs typeface="Times New Roman" panose="02020503050405090304" pitchFamily="18" charset="0"/>
                        </a:rPr>
                        <a:t>30KB</a:t>
                      </a:r>
                      <a:endParaRPr kumimoji="1" lang="en-US" altLang="zh-CN" sz="2000" b="1" i="0" u="none" strike="noStrike" kern="1200" cap="none" normalizeH="0" baseline="0" dirty="0">
                        <a:ln>
                          <a:noFill/>
                        </a:ln>
                        <a:solidFill>
                          <a:srgbClr val="FF0000"/>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r>
              <a:tr h="381235">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anose="05000000000000000000" pitchFamily="2" charset="2"/>
                        <a:buNone/>
                      </a:pPr>
                      <a:r>
                        <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   </a:t>
                      </a:r>
                      <a:r>
                        <a:rPr kumimoji="1" lang="zh-CN" altLang="en-US"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用户程序</a:t>
                      </a:r>
                      <a:r>
                        <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6</a:t>
                      </a:r>
                      <a:endPar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2F5597"/>
                    </a:solidFill>
                  </a:tcPr>
                </a:tc>
              </a:tr>
              <a:tr h="381235">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anose="05000000000000000000" pitchFamily="2" charset="2"/>
                        <a:buNone/>
                      </a:pPr>
                      <a:r>
                        <a:rPr kumimoji="1" lang="en-US" altLang="zh-CN" sz="2000" b="1" i="0" u="none" strike="noStrike" kern="1200" cap="none" normalizeH="0" baseline="0" dirty="0">
                          <a:ln>
                            <a:noFill/>
                          </a:ln>
                          <a:solidFill>
                            <a:srgbClr val="FF0000"/>
                          </a:solidFill>
                          <a:effectLst/>
                          <a:latin typeface="Times New Roman" panose="02020503050405090304" pitchFamily="18" charset="0"/>
                          <a:ea typeface="微软雅黑" panose="020B0503020204020204" pitchFamily="34" charset="-122"/>
                          <a:cs typeface="Times New Roman" panose="02020503050405090304" pitchFamily="18" charset="0"/>
                        </a:rPr>
                        <a:t>14KB</a:t>
                      </a:r>
                      <a:endParaRPr kumimoji="1" lang="en-US" altLang="zh-CN" sz="2000" b="1" i="0" u="none" strike="noStrike" kern="1200" cap="none" normalizeH="0" baseline="0" dirty="0">
                        <a:ln>
                          <a:noFill/>
                        </a:ln>
                        <a:solidFill>
                          <a:srgbClr val="FF0000"/>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bg1"/>
                    </a:solidFill>
                  </a:tcPr>
                </a:tc>
              </a:tr>
              <a:tr h="381235">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anose="05000000000000000000" pitchFamily="2" charset="2"/>
                        <a:buNone/>
                      </a:pPr>
                      <a:r>
                        <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   </a:t>
                      </a:r>
                      <a:r>
                        <a:rPr kumimoji="1" lang="zh-CN" altLang="en-US"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用户程序</a:t>
                      </a:r>
                      <a:r>
                        <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9</a:t>
                      </a:r>
                      <a:endPar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2F5597"/>
                    </a:solidFill>
                  </a:tcPr>
                </a:tc>
              </a:tr>
              <a:tr h="381235">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anose="05000000000000000000" pitchFamily="2" charset="2"/>
                        <a:buNone/>
                      </a:pPr>
                      <a:r>
                        <a:rPr kumimoji="1" lang="en-US" altLang="zh-CN" sz="2000" b="1" i="0" u="none" strike="noStrike" kern="1200" cap="none" normalizeH="0" baseline="0" dirty="0">
                          <a:ln>
                            <a:noFill/>
                          </a:ln>
                          <a:solidFill>
                            <a:srgbClr val="FF0000"/>
                          </a:solidFill>
                          <a:effectLst/>
                          <a:latin typeface="Times New Roman" panose="02020503050405090304" pitchFamily="18" charset="0"/>
                          <a:ea typeface="微软雅黑" panose="020B0503020204020204" pitchFamily="34" charset="-122"/>
                          <a:cs typeface="Times New Roman" panose="02020503050405090304" pitchFamily="18" charset="0"/>
                        </a:rPr>
                        <a:t>26KB</a:t>
                      </a:r>
                      <a:endParaRPr kumimoji="1" lang="en-US" altLang="zh-CN" sz="2000" b="1" i="0" u="none" strike="noStrike" kern="1200" cap="none" normalizeH="0" baseline="0" dirty="0">
                        <a:ln>
                          <a:noFill/>
                        </a:ln>
                        <a:solidFill>
                          <a:srgbClr val="FF0000"/>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r>
            </a:tbl>
          </a:graphicData>
        </a:graphic>
      </p:graphicFrame>
      <p:graphicFrame>
        <p:nvGraphicFramePr>
          <p:cNvPr id="8" name="Group 25"/>
          <p:cNvGraphicFramePr>
            <a:graphicFrameLocks noGrp="1"/>
          </p:cNvGraphicFramePr>
          <p:nvPr/>
        </p:nvGraphicFramePr>
        <p:xfrm>
          <a:off x="6320156" y="2369450"/>
          <a:ext cx="2209800" cy="3566162"/>
        </p:xfrm>
        <a:graphic>
          <a:graphicData uri="http://schemas.openxmlformats.org/drawingml/2006/table">
            <a:tbl>
              <a:tblPr/>
              <a:tblGrid>
                <a:gridCol w="2209800"/>
              </a:tblGrid>
              <a:tr h="513977">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anose="05000000000000000000" pitchFamily="2" charset="2"/>
                        <a:buNone/>
                      </a:pPr>
                      <a:r>
                        <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   </a:t>
                      </a:r>
                      <a:r>
                        <a:rPr kumimoji="1" lang="zh-CN" altLang="en-US"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操作系统</a:t>
                      </a:r>
                      <a:endParaRPr kumimoji="1" lang="zh-CN" altLang="en-US"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2F5597"/>
                    </a:solidFill>
                  </a:tcPr>
                </a:tc>
              </a:tr>
              <a:tr h="512537">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anose="05000000000000000000" pitchFamily="2" charset="2"/>
                        <a:buNone/>
                      </a:pPr>
                      <a:r>
                        <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   </a:t>
                      </a:r>
                      <a:r>
                        <a:rPr kumimoji="1" lang="zh-CN" altLang="en-US"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用户程序</a:t>
                      </a:r>
                      <a:r>
                        <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1</a:t>
                      </a:r>
                      <a:endPar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2F5597"/>
                    </a:solidFill>
                  </a:tcPr>
                </a:tc>
              </a:tr>
              <a:tr h="439112">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anose="05000000000000000000" pitchFamily="2" charset="2"/>
                        <a:buNone/>
                      </a:pPr>
                      <a:r>
                        <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   </a:t>
                      </a:r>
                      <a:r>
                        <a:rPr kumimoji="1" lang="zh-CN" altLang="en-US"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用户程序</a:t>
                      </a:r>
                      <a:r>
                        <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3</a:t>
                      </a:r>
                      <a:endPar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2F5597"/>
                    </a:solidFill>
                  </a:tcPr>
                </a:tc>
              </a:tr>
              <a:tr h="456387">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anose="05000000000000000000" pitchFamily="2" charset="2"/>
                        <a:buNone/>
                      </a:pPr>
                      <a:r>
                        <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   </a:t>
                      </a:r>
                      <a:r>
                        <a:rPr kumimoji="1" lang="zh-CN" altLang="en-US"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用户程序</a:t>
                      </a:r>
                      <a:r>
                        <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6</a:t>
                      </a:r>
                      <a:endPar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2F5597"/>
                    </a:solidFill>
                  </a:tcPr>
                </a:tc>
              </a:tr>
              <a:tr h="470786">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anose="05000000000000000000" pitchFamily="2" charset="2"/>
                        <a:buNone/>
                      </a:pPr>
                      <a:r>
                        <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   </a:t>
                      </a:r>
                      <a:r>
                        <a:rPr kumimoji="1" lang="zh-CN" altLang="en-US"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用户程序</a:t>
                      </a:r>
                      <a:r>
                        <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rPr>
                        <a:t>9   </a:t>
                      </a:r>
                      <a:endParaRPr kumimoji="1" lang="en-US" altLang="zh-CN" sz="2000" b="1" i="0" u="none" strike="noStrike" kern="1200" cap="none" normalizeH="0" baseline="0" dirty="0">
                        <a:ln>
                          <a:noFill/>
                        </a:ln>
                        <a:solidFill>
                          <a:schemeClr val="bg1"/>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anchor="ct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rgbClr val="2F5597"/>
                    </a:solidFill>
                  </a:tcPr>
                </a:tc>
              </a:tr>
              <a:tr h="1173363">
                <a:tc>
                  <a:txBody>
                    <a:bodyPr/>
                    <a:lstStyle/>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anose="05000000000000000000" pitchFamily="2" charset="2"/>
                        <a:buNone/>
                      </a:pPr>
                      <a:r>
                        <a:rPr kumimoji="1" lang="en-US" altLang="zh-CN" sz="2000" b="1" i="0" u="none" strike="noStrike" cap="none" normalizeH="0" baseline="0" dirty="0">
                          <a:ln>
                            <a:noFill/>
                          </a:ln>
                          <a:solidFill>
                            <a:srgbClr val="FF0000"/>
                          </a:solidFill>
                          <a:effectLst/>
                          <a:latin typeface="Times New Roman" panose="02020503050405090304" pitchFamily="18" charset="0"/>
                          <a:ea typeface="微软雅黑" panose="020B0503020204020204" pitchFamily="34" charset="-122"/>
                          <a:cs typeface="Times New Roman" panose="02020503050405090304" pitchFamily="18" charset="0"/>
                        </a:rPr>
                        <a:t>     </a:t>
                      </a:r>
                      <a:endParaRPr kumimoji="1" lang="en-US" altLang="zh-CN" sz="2000" b="1" i="0" u="none" strike="noStrike" cap="none" normalizeH="0" baseline="0" dirty="0">
                        <a:ln>
                          <a:noFill/>
                        </a:ln>
                        <a:solidFill>
                          <a:srgbClr val="FF0000"/>
                        </a:solidFill>
                        <a:effectLst/>
                        <a:latin typeface="Times New Roman" panose="02020503050405090304" pitchFamily="18" charset="0"/>
                        <a:ea typeface="微软雅黑" panose="020B0503020204020204" pitchFamily="34" charset="-122"/>
                        <a:cs typeface="Times New Roman" panose="02020503050405090304" pitchFamily="18" charset="0"/>
                      </a:endParaRPr>
                    </a:p>
                    <a:p>
                      <a:pPr marL="0" marR="0" lvl="0" indent="0" algn="ctr" defTabSz="914400" rtl="0" eaLnBrk="1" fontAlgn="base" latinLnBrk="0" hangingPunct="1">
                        <a:lnSpc>
                          <a:spcPct val="100000"/>
                        </a:lnSpc>
                        <a:spcBef>
                          <a:spcPct val="20000"/>
                        </a:spcBef>
                        <a:spcAft>
                          <a:spcPct val="0"/>
                        </a:spcAft>
                        <a:buClr>
                          <a:srgbClr val="CCFF33"/>
                        </a:buClr>
                        <a:buSzPct val="70000"/>
                        <a:buFont typeface="Wingdings" panose="05000000000000000000" pitchFamily="2" charset="2"/>
                        <a:buNone/>
                      </a:pPr>
                      <a:r>
                        <a:rPr kumimoji="1" lang="en-US" altLang="zh-CN" sz="2000" b="1" i="0" u="none" strike="noStrike" cap="none" normalizeH="0" baseline="0" dirty="0">
                          <a:ln>
                            <a:noFill/>
                          </a:ln>
                          <a:solidFill>
                            <a:srgbClr val="FF0000"/>
                          </a:solidFill>
                          <a:effectLst/>
                          <a:latin typeface="Times New Roman" panose="02020503050405090304" pitchFamily="18" charset="0"/>
                          <a:ea typeface="微软雅黑" panose="020B0503020204020204" pitchFamily="34" charset="-122"/>
                          <a:cs typeface="Times New Roman" panose="02020503050405090304" pitchFamily="18" charset="0"/>
                        </a:rPr>
                        <a:t>80KB</a:t>
                      </a:r>
                      <a:endParaRPr kumimoji="1" lang="en-US" altLang="zh-CN" sz="2000" b="1" i="0" u="none" strike="noStrike" cap="none" normalizeH="0" baseline="0" dirty="0">
                        <a:ln>
                          <a:noFill/>
                        </a:ln>
                        <a:solidFill>
                          <a:srgbClr val="FF0000"/>
                        </a:solidFill>
                        <a:effectLst/>
                        <a:latin typeface="Times New Roman" panose="02020503050405090304" pitchFamily="18" charset="0"/>
                        <a:ea typeface="微软雅黑" panose="020B0503020204020204" pitchFamily="34" charset="-122"/>
                        <a:cs typeface="Times New Roman" panose="02020503050405090304" pitchFamily="18" charset="0"/>
                      </a:endParaRP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solidFill>
                      <a:schemeClr val="bg1"/>
                    </a:solidFill>
                  </a:tcPr>
                </a:tc>
              </a:tr>
            </a:tbl>
          </a:graphicData>
        </a:graphic>
      </p:graphicFrame>
      <p:sp>
        <p:nvSpPr>
          <p:cNvPr id="9" name="Text Box 41"/>
          <p:cNvSpPr txBox="1"/>
          <p:nvPr/>
        </p:nvSpPr>
        <p:spPr>
          <a:xfrm>
            <a:off x="2621915" y="3552367"/>
            <a:ext cx="660400" cy="1198880"/>
          </a:xfrm>
          <a:prstGeom prst="rect">
            <a:avLst/>
          </a:prstGeom>
          <a:noFill/>
          <a:ln w="9525">
            <a:noFill/>
          </a:ln>
        </p:spPr>
        <p:txBody>
          <a:bodyPr wrap="square">
            <a:spAutoFit/>
          </a:bodyPr>
          <a:lstStyle/>
          <a:p>
            <a:pPr>
              <a:spcBef>
                <a:spcPct val="50000"/>
              </a:spcBef>
            </a:pPr>
            <a:r>
              <a:rPr lang="zh-CN" altLang="en-US" sz="2400" b="1" dirty="0">
                <a:latin typeface="微软雅黑" panose="020B0503020204020204" pitchFamily="34" charset="-122"/>
                <a:ea typeface="微软雅黑" panose="020B0503020204020204" pitchFamily="34" charset="-122"/>
              </a:rPr>
              <a:t>紧凑前</a:t>
            </a:r>
            <a:endParaRPr lang="zh-CN" altLang="en-US" sz="2400" b="1" dirty="0">
              <a:latin typeface="微软雅黑" panose="020B0503020204020204" pitchFamily="34" charset="-122"/>
              <a:ea typeface="微软雅黑" panose="020B0503020204020204" pitchFamily="34" charset="-122"/>
            </a:endParaRPr>
          </a:p>
        </p:txBody>
      </p:sp>
      <p:sp>
        <p:nvSpPr>
          <p:cNvPr id="10" name="Text Box 42"/>
          <p:cNvSpPr txBox="1"/>
          <p:nvPr/>
        </p:nvSpPr>
        <p:spPr>
          <a:xfrm>
            <a:off x="8613775" y="3275368"/>
            <a:ext cx="523240" cy="1476375"/>
          </a:xfrm>
          <a:prstGeom prst="rect">
            <a:avLst/>
          </a:prstGeom>
          <a:noFill/>
          <a:ln w="9525">
            <a:noFill/>
          </a:ln>
        </p:spPr>
        <p:txBody>
          <a:bodyPr wrap="square">
            <a:spAutoFit/>
          </a:bodyPr>
          <a:lstStyle/>
          <a:p>
            <a:pPr>
              <a:spcBef>
                <a:spcPct val="50000"/>
              </a:spcBef>
            </a:pPr>
            <a:r>
              <a:rPr lang="en-US" altLang="zh-CN" sz="1800" b="1" dirty="0">
                <a:solidFill>
                  <a:schemeClr val="tx1"/>
                </a:solidFill>
                <a:latin typeface="微软雅黑" panose="020B0503020204020204" pitchFamily="34" charset="-122"/>
                <a:ea typeface="微软雅黑" panose="020B0503020204020204" pitchFamily="34" charset="-122"/>
              </a:rPr>
              <a:t>          </a:t>
            </a:r>
            <a:r>
              <a:rPr lang="zh-CN" altLang="en-US" sz="2400" b="1" dirty="0">
                <a:latin typeface="微软雅黑" panose="020B0503020204020204" pitchFamily="34" charset="-122"/>
                <a:ea typeface="微软雅黑" panose="020B0503020204020204" pitchFamily="34" charset="-122"/>
              </a:rPr>
              <a:t>紧凑后</a:t>
            </a:r>
            <a:endParaRPr lang="zh-CN" altLang="en-US" sz="24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422910" y="959485"/>
            <a:ext cx="1093470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动态重定位</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在</a:t>
            </a: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动态运行时装入</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的方式中，将</a:t>
            </a:r>
            <a:r>
              <a:rPr lang="zh-CN" altLang="en-US" sz="21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相对地址转换为物理地址</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的工作，被</a:t>
            </a:r>
            <a:r>
              <a:rPr lang="zh-CN" altLang="en-US" sz="21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推迟到程序指令要真正执行时进行</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为使地址的转换不会影响到指令的执行速度，在系统中增设一个</a:t>
            </a:r>
            <a:r>
              <a:rPr lang="zh-CN" altLang="en-US" sz="21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重定位寄存器</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，用它来存放程序</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数据</a:t>
            </a:r>
            <a:r>
              <a:rPr lang="en-US" altLang="zh-CN" b="1" dirty="0">
                <a:latin typeface="Times New Roman" panose="02020503050405090304" pitchFamily="18" charset="0"/>
                <a:ea typeface="微软雅黑" panose="020B0503020204020204" pitchFamily="34" charset="-122"/>
                <a:cs typeface="Times New Roman" panose="02020503050405090304" pitchFamily="18" charset="0"/>
              </a:rPr>
              <a:t>)</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在内存中的</a:t>
            </a:r>
            <a:r>
              <a:rPr lang="zh-CN" altLang="en-US" sz="21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起始地址。</a:t>
            </a:r>
            <a:endParaRPr lang="en-US" altLang="zh-CN" sz="21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程序在执行时，真正访问的内存地址是相对地址与重定位寄存器中的地址相加而形成的。</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150000"/>
              </a:lnSpc>
              <a:spcBef>
                <a:spcPts val="1000"/>
              </a:spcBef>
              <a:buClr>
                <a:srgbClr val="0000FF"/>
              </a:buClr>
              <a:buFont typeface="Wingdings" panose="05000000000000000000" pitchFamily="2" charset="2"/>
              <a:buChar char="Ø"/>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动态重定位：</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地址变换过程在程序执行期间，随着对每条指令或数据的访问自动进行。当系统对内存进行了“紧凑”而使若干程序从内存的某处移至另一处时，</a:t>
            </a:r>
            <a:r>
              <a:rPr lang="zh-CN" altLang="en-US" sz="21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不需对程序做任何修改</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，只要用该程序在内存的</a:t>
            </a:r>
            <a:r>
              <a:rPr lang="zh-CN" altLang="en-US" sz="21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新起始地址，去置换原来的起始地址</a:t>
            </a:r>
            <a:r>
              <a:rPr lang="zh-CN" altLang="en-US" b="1" dirty="0">
                <a:latin typeface="Times New Roman" panose="02020503050405090304" pitchFamily="18" charset="0"/>
                <a:ea typeface="微软雅黑" panose="020B0503020204020204" pitchFamily="34" charset="-122"/>
                <a:cs typeface="Times New Roman" panose="02020503050405090304" pitchFamily="18" charset="0"/>
              </a:rPr>
              <a:t>即可。</a:t>
            </a:r>
            <a:endParaRPr lang="zh-CN" altLang="en-US"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187325" y="33655"/>
            <a:ext cx="1085342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4.3.6 </a:t>
            </a:r>
            <a:r>
              <a:rPr lang="zh-CN" altLang="en-US" sz="3900" b="1" dirty="0">
                <a:latin typeface="微软雅黑" panose="020B0503020204020204" pitchFamily="34" charset="-122"/>
                <a:ea typeface="微软雅黑" panose="020B0503020204020204" pitchFamily="34" charset="-122"/>
              </a:rPr>
              <a:t>动态可重定位分区分配</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717550" y="959485"/>
            <a:ext cx="946277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动态重定位</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27965" y="33655"/>
            <a:ext cx="1081278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4.3.6 </a:t>
            </a:r>
            <a:r>
              <a:rPr lang="zh-CN" altLang="en-US" sz="3900" b="1" dirty="0">
                <a:latin typeface="微软雅黑" panose="020B0503020204020204" pitchFamily="34" charset="-122"/>
                <a:ea typeface="微软雅黑" panose="020B0503020204020204" pitchFamily="34" charset="-122"/>
              </a:rPr>
              <a:t>动态可重定位分区分配</a:t>
            </a:r>
            <a:endParaRPr lang="zh-CN" altLang="en-US" sz="3900" b="1" dirty="0">
              <a:latin typeface="微软雅黑" panose="020B0503020204020204" pitchFamily="34" charset="-122"/>
              <a:ea typeface="微软雅黑" panose="020B0503020204020204" pitchFamily="34" charset="-122"/>
            </a:endParaRPr>
          </a:p>
        </p:txBody>
      </p:sp>
      <p:sp>
        <p:nvSpPr>
          <p:cNvPr id="4" name="Rectangle 4"/>
          <p:cNvSpPr>
            <a:spLocks noChangeArrowheads="1"/>
          </p:cNvSpPr>
          <p:nvPr/>
        </p:nvSpPr>
        <p:spPr bwMode="auto">
          <a:xfrm>
            <a:off x="1532076" y="1639148"/>
            <a:ext cx="9144000" cy="5046134"/>
          </a:xfrm>
          <a:prstGeom prst="rect">
            <a:avLst/>
          </a:prstGeom>
          <a:solidFill>
            <a:srgbClr val="FFFFCC"/>
          </a:solidFill>
          <a:ln w="9525">
            <a:solidFill>
              <a:schemeClr val="tx1"/>
            </a:solidFill>
            <a:miter lim="800000"/>
          </a:ln>
          <a:effectLst/>
        </p:spPr>
        <p:txBody>
          <a:bodyPr wrap="none" anchor="ctr"/>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6" name="Oval 5"/>
          <p:cNvSpPr>
            <a:spLocks noChangeArrowheads="1"/>
          </p:cNvSpPr>
          <p:nvPr/>
        </p:nvSpPr>
        <p:spPr bwMode="auto">
          <a:xfrm>
            <a:off x="6939104" y="4079028"/>
            <a:ext cx="431800" cy="431800"/>
          </a:xfrm>
          <a:prstGeom prst="ellipse">
            <a:avLst/>
          </a:prstGeom>
          <a:solidFill>
            <a:schemeClr val="accent1"/>
          </a:solidFill>
          <a:ln w="9525">
            <a:solidFill>
              <a:schemeClr val="tx1"/>
            </a:solidFill>
            <a:round/>
          </a:ln>
          <a:effectLst/>
        </p:spPr>
        <p:txBody>
          <a:bodyPr wrap="none" anchor="ctr"/>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graphicFrame>
        <p:nvGraphicFramePr>
          <p:cNvPr id="7" name="Group 64"/>
          <p:cNvGraphicFramePr>
            <a:graphicFrameLocks noGrp="1"/>
          </p:cNvGraphicFramePr>
          <p:nvPr/>
        </p:nvGraphicFramePr>
        <p:xfrm>
          <a:off x="2473467" y="2305791"/>
          <a:ext cx="2017395" cy="3728720"/>
        </p:xfrm>
        <a:graphic>
          <a:graphicData uri="http://schemas.openxmlformats.org/drawingml/2006/table">
            <a:tbl>
              <a:tblPr/>
              <a:tblGrid>
                <a:gridCol w="2017395"/>
              </a:tblGrid>
              <a:tr h="557530">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endParaRPr kumimoji="0" lang="zh-CN" sz="2800" b="0" i="0" u="none" strike="noStrike" cap="none" normalizeH="0" baseline="0">
                        <a:ln>
                          <a:noFill/>
                        </a:ln>
                        <a:solidFill>
                          <a:srgbClr val="C3320B"/>
                        </a:solidFill>
                        <a:effectLst/>
                        <a:latin typeface="楷体_GB2312" charset="-122"/>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836930">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r>
                        <a:rPr kumimoji="0" lang="en-US" altLang="zh-CN" sz="2400" b="1" i="0" u="none" strike="noStrike" cap="none" normalizeH="0" baseline="0" dirty="0">
                          <a:ln>
                            <a:noFill/>
                          </a:ln>
                          <a:solidFill>
                            <a:schemeClr val="tx2"/>
                          </a:solidFill>
                          <a:effectLst/>
                          <a:latin typeface="Verdana" panose="020B0804030504040204" pitchFamily="34" charset="0"/>
                          <a:ea typeface="楷体_GB2312" charset="-122"/>
                          <a:cs typeface="Arial" panose="020B0604020202090204" pitchFamily="34" charset="0"/>
                        </a:rPr>
                        <a:t>load 1, 2500</a:t>
                      </a:r>
                      <a:endParaRPr kumimoji="0" lang="en-US" altLang="zh-CN" sz="2400" b="1" i="0" u="none" strike="noStrike" cap="none" normalizeH="0" baseline="0" dirty="0">
                        <a:ln>
                          <a:noFill/>
                        </a:ln>
                        <a:solidFill>
                          <a:schemeClr val="tx2"/>
                        </a:solidFill>
                        <a:effectLst/>
                        <a:latin typeface="Verdana" panose="020B0804030504040204" pitchFamily="34" charset="0"/>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584200">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endParaRPr kumimoji="0" lang="zh-CN" sz="2400" b="1" i="0" u="none" strike="noStrike" cap="none" normalizeH="0" baseline="0">
                        <a:ln>
                          <a:noFill/>
                        </a:ln>
                        <a:solidFill>
                          <a:schemeClr val="tx2"/>
                        </a:solidFill>
                        <a:effectLst/>
                        <a:latin typeface="Verdana" panose="020B0804030504040204" pitchFamily="34" charset="0"/>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584835">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r>
                        <a:rPr kumimoji="0" lang="en-US" altLang="zh-CN" sz="2400" b="1" i="0" u="none" strike="noStrike" cap="none" normalizeH="0" baseline="0">
                          <a:ln>
                            <a:noFill/>
                          </a:ln>
                          <a:solidFill>
                            <a:schemeClr val="tx2"/>
                          </a:solidFill>
                          <a:effectLst/>
                          <a:latin typeface="Verdana" panose="020B0804030504040204" pitchFamily="34" charset="0"/>
                          <a:ea typeface="楷体_GB2312" charset="-122"/>
                          <a:cs typeface="Arial" panose="020B0604020202090204" pitchFamily="34" charset="0"/>
                        </a:rPr>
                        <a:t>365</a:t>
                      </a:r>
                      <a:endParaRPr kumimoji="0" lang="en-US" altLang="zh-CN" sz="2400" b="1" i="0" u="none" strike="noStrike" cap="none" normalizeH="0" baseline="0">
                        <a:ln>
                          <a:noFill/>
                        </a:ln>
                        <a:solidFill>
                          <a:schemeClr val="tx2"/>
                        </a:solidFill>
                        <a:effectLst/>
                        <a:latin typeface="Verdana" panose="020B0804030504040204" pitchFamily="34" charset="0"/>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580390">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endParaRPr kumimoji="0" lang="zh-CN" sz="2800" b="0" i="0" u="none" strike="noStrike" cap="none" normalizeH="0" baseline="0">
                        <a:ln>
                          <a:noFill/>
                        </a:ln>
                        <a:solidFill>
                          <a:srgbClr val="C3320B"/>
                        </a:solidFill>
                        <a:effectLst/>
                        <a:latin typeface="楷体_GB2312" charset="-122"/>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584835">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endParaRPr kumimoji="0" lang="zh-CN" sz="2800" b="0" i="0" u="none" strike="noStrike" cap="none" normalizeH="0" baseline="0" dirty="0">
                        <a:ln>
                          <a:noFill/>
                        </a:ln>
                        <a:solidFill>
                          <a:srgbClr val="C3320B"/>
                        </a:solidFill>
                        <a:effectLst/>
                        <a:latin typeface="楷体_GB2312" charset="-122"/>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bl>
          </a:graphicData>
        </a:graphic>
      </p:graphicFrame>
      <p:graphicFrame>
        <p:nvGraphicFramePr>
          <p:cNvPr id="8" name="Group 65"/>
          <p:cNvGraphicFramePr>
            <a:graphicFrameLocks noGrp="1"/>
          </p:cNvGraphicFramePr>
          <p:nvPr/>
        </p:nvGraphicFramePr>
        <p:xfrm>
          <a:off x="8594867" y="1849120"/>
          <a:ext cx="1944370" cy="4841240"/>
        </p:xfrm>
        <a:graphic>
          <a:graphicData uri="http://schemas.openxmlformats.org/drawingml/2006/table">
            <a:tbl>
              <a:tblPr/>
              <a:tblGrid>
                <a:gridCol w="1944370"/>
              </a:tblGrid>
              <a:tr h="526415">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endParaRPr kumimoji="0" lang="zh-CN" sz="2800" b="0" i="0" u="none" strike="noStrike" cap="none" normalizeH="0" baseline="0">
                        <a:ln>
                          <a:noFill/>
                        </a:ln>
                        <a:solidFill>
                          <a:srgbClr val="000000"/>
                        </a:solidFill>
                        <a:effectLst/>
                        <a:latin typeface="楷体_GB2312" charset="-122"/>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526415">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endParaRPr kumimoji="0" lang="zh-CN" sz="2800" b="0" i="0" u="none" strike="noStrike" cap="none" normalizeH="0" baseline="0">
                        <a:ln>
                          <a:noFill/>
                        </a:ln>
                        <a:solidFill>
                          <a:srgbClr val="000000"/>
                        </a:solidFill>
                        <a:effectLst/>
                        <a:latin typeface="楷体_GB2312" charset="-122"/>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836930">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r>
                        <a:rPr kumimoji="0" lang="en-US" altLang="zh-CN" sz="2400" b="1" i="0" u="none" strike="noStrike" cap="none" normalizeH="0" baseline="0" dirty="0">
                          <a:ln>
                            <a:noFill/>
                          </a:ln>
                          <a:solidFill>
                            <a:srgbClr val="000000"/>
                          </a:solidFill>
                          <a:effectLst/>
                          <a:latin typeface="Verdana" panose="020B0804030504040204" pitchFamily="34" charset="0"/>
                          <a:ea typeface="宋体" pitchFamily="2" charset="-122"/>
                          <a:cs typeface="Arial" panose="020B0604020202090204" pitchFamily="34" charset="0"/>
                        </a:rPr>
                        <a:t>load 1, </a:t>
                      </a:r>
                      <a:r>
                        <a:rPr kumimoji="0" lang="en-US" altLang="zh-CN" sz="2400" b="1" i="0" u="none" strike="noStrike" cap="none" normalizeH="0" baseline="0" dirty="0">
                          <a:ln>
                            <a:noFill/>
                          </a:ln>
                          <a:solidFill>
                            <a:srgbClr val="FF0000"/>
                          </a:solidFill>
                          <a:effectLst/>
                          <a:latin typeface="Verdana" panose="020B0804030504040204" pitchFamily="34" charset="0"/>
                          <a:ea typeface="宋体" pitchFamily="2" charset="-122"/>
                          <a:cs typeface="Arial" panose="020B0604020202090204" pitchFamily="34" charset="0"/>
                        </a:rPr>
                        <a:t>2500</a:t>
                      </a:r>
                      <a:endParaRPr kumimoji="0" lang="en-US" altLang="zh-CN" sz="2400" b="1" i="0" u="none" strike="noStrike" cap="none" normalizeH="0" baseline="0" dirty="0">
                        <a:ln>
                          <a:noFill/>
                        </a:ln>
                        <a:solidFill>
                          <a:srgbClr val="FF0000"/>
                        </a:solidFill>
                        <a:effectLst/>
                        <a:latin typeface="Verdana" panose="020B0804030504040204" pitchFamily="34" charset="0"/>
                        <a:ea typeface="宋体" pitchFamily="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492125">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endParaRPr kumimoji="0" lang="zh-CN" sz="2400" b="1" i="0" u="none" strike="noStrike" cap="none" normalizeH="0" baseline="0">
                        <a:ln>
                          <a:noFill/>
                        </a:ln>
                        <a:solidFill>
                          <a:srgbClr val="000000"/>
                        </a:solidFill>
                        <a:effectLst/>
                        <a:latin typeface="Verdana" panose="020B0804030504040204" pitchFamily="34" charset="0"/>
                        <a:ea typeface="宋体" pitchFamily="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491490">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r>
                        <a:rPr kumimoji="0" lang="en-US" altLang="zh-CN" sz="2400" b="1" i="0" u="none" strike="noStrike" cap="none" normalizeH="0" baseline="0">
                          <a:ln>
                            <a:noFill/>
                          </a:ln>
                          <a:solidFill>
                            <a:srgbClr val="000000"/>
                          </a:solidFill>
                          <a:effectLst/>
                          <a:latin typeface="Verdana" panose="020B0804030504040204" pitchFamily="34" charset="0"/>
                          <a:ea typeface="宋体" pitchFamily="2" charset="-122"/>
                          <a:cs typeface="Arial" panose="020B0604020202090204" pitchFamily="34" charset="0"/>
                        </a:rPr>
                        <a:t>365</a:t>
                      </a:r>
                      <a:endParaRPr kumimoji="0" lang="en-US" altLang="zh-CN" sz="2400" b="1" i="0" u="none" strike="noStrike" cap="none" normalizeH="0" baseline="0">
                        <a:ln>
                          <a:noFill/>
                        </a:ln>
                        <a:solidFill>
                          <a:srgbClr val="000000"/>
                        </a:solidFill>
                        <a:effectLst/>
                        <a:latin typeface="Verdana" panose="020B0804030504040204" pitchFamily="34" charset="0"/>
                        <a:ea typeface="宋体" pitchFamily="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984250">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endParaRPr kumimoji="0" lang="zh-CN" sz="2800" b="0" i="0" u="none" strike="noStrike" cap="none" normalizeH="0" baseline="0">
                        <a:ln>
                          <a:noFill/>
                        </a:ln>
                        <a:solidFill>
                          <a:srgbClr val="000000"/>
                        </a:solidFill>
                        <a:effectLst/>
                        <a:latin typeface="楷体_GB2312" charset="-122"/>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r h="983615">
                <a:tc>
                  <a:txBody>
                    <a:bodyPr/>
                    <a:lstStyle/>
                    <a:p>
                      <a:pPr marL="0" marR="0" lvl="0" indent="0" algn="ctr" defTabSz="914400" rtl="0" eaLnBrk="1" fontAlgn="base" latinLnBrk="0" hangingPunct="1">
                        <a:lnSpc>
                          <a:spcPct val="102000"/>
                        </a:lnSpc>
                        <a:spcBef>
                          <a:spcPts val="625"/>
                        </a:spcBef>
                        <a:spcAft>
                          <a:spcPct val="0"/>
                        </a:spcAft>
                        <a:buClr>
                          <a:srgbClr val="486AC1"/>
                        </a:buClr>
                        <a:buSzPct val="100000"/>
                        <a:buFont typeface="Wingdings" panose="05000000000000000000" pitchFamily="2" charset="2"/>
                        <a:buNone/>
                      </a:pPr>
                      <a:endParaRPr kumimoji="0" lang="zh-CN" sz="2800" b="0" i="0" u="none" strike="noStrike" cap="none" normalizeH="0" baseline="0" dirty="0">
                        <a:ln>
                          <a:noFill/>
                        </a:ln>
                        <a:solidFill>
                          <a:srgbClr val="000000"/>
                        </a:solidFill>
                        <a:effectLst/>
                        <a:latin typeface="楷体_GB2312" charset="-122"/>
                        <a:ea typeface="楷体_GB2312" charset="-122"/>
                        <a:cs typeface="Arial" panose="020B0604020202090204" pitchFamily="34" charset="0"/>
                      </a:endParaRPr>
                    </a:p>
                  </a:txBody>
                  <a:tcPr horzOverflow="overflow">
                    <a:lnL w="38100" cap="flat" cmpd="sng" algn="ctr">
                      <a:solidFill>
                        <a:srgbClr val="FF9147"/>
                      </a:solidFill>
                      <a:prstDash val="solid"/>
                      <a:round/>
                      <a:headEnd type="none" w="med" len="med"/>
                      <a:tailEnd type="none" w="med" len="med"/>
                    </a:lnL>
                    <a:lnR w="38100" cap="flat" cmpd="sng" algn="ctr">
                      <a:solidFill>
                        <a:srgbClr val="FF9147"/>
                      </a:solidFill>
                      <a:prstDash val="solid"/>
                      <a:round/>
                      <a:headEnd type="none" w="med" len="med"/>
                      <a:tailEnd type="none" w="med" len="med"/>
                    </a:lnR>
                    <a:lnT w="38100" cap="flat" cmpd="sng" algn="ctr">
                      <a:solidFill>
                        <a:srgbClr val="FF9147"/>
                      </a:solidFill>
                      <a:prstDash val="solid"/>
                      <a:round/>
                      <a:headEnd type="none" w="med" len="med"/>
                      <a:tailEnd type="none" w="med" len="med"/>
                    </a:lnT>
                    <a:lnB w="38100" cap="flat" cmpd="sng" algn="ctr">
                      <a:solidFill>
                        <a:srgbClr val="FF9147"/>
                      </a:solidFill>
                      <a:prstDash val="solid"/>
                      <a:round/>
                      <a:headEnd type="none" w="med" len="med"/>
                      <a:tailEnd type="none" w="med" len="med"/>
                    </a:lnB>
                    <a:lnTlToBr>
                      <a:noFill/>
                    </a:lnTlToBr>
                    <a:lnBlToTr>
                      <a:noFill/>
                    </a:lnBlToTr>
                    <a:noFill/>
                  </a:tcPr>
                </a:tc>
              </a:tr>
            </a:tbl>
          </a:graphicData>
        </a:graphic>
      </p:graphicFrame>
      <p:sp>
        <p:nvSpPr>
          <p:cNvPr id="9" name="Text Box 40"/>
          <p:cNvSpPr txBox="1">
            <a:spLocks noChangeArrowheads="1"/>
          </p:cNvSpPr>
          <p:nvPr/>
        </p:nvSpPr>
        <p:spPr bwMode="auto">
          <a:xfrm>
            <a:off x="1949592" y="1918441"/>
            <a:ext cx="335280" cy="460375"/>
          </a:xfrm>
          <a:prstGeom prst="rect">
            <a:avLst/>
          </a:prstGeom>
          <a:noFill/>
          <a:ln w="9525">
            <a:noFill/>
            <a:miter lim="800000"/>
          </a:ln>
          <a:effectLst/>
        </p:spPr>
        <p:txBody>
          <a:bodyPr wrap="none">
            <a:spAutoFit/>
          </a:bodyPr>
          <a:lstStyle/>
          <a:p>
            <a:pP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0</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0" name="Text Box 41"/>
          <p:cNvSpPr txBox="1">
            <a:spLocks noChangeArrowheads="1"/>
          </p:cNvSpPr>
          <p:nvPr/>
        </p:nvSpPr>
        <p:spPr bwMode="auto">
          <a:xfrm>
            <a:off x="1733692" y="2567728"/>
            <a:ext cx="640080" cy="460375"/>
          </a:xfrm>
          <a:prstGeom prst="rect">
            <a:avLst/>
          </a:prstGeom>
          <a:noFill/>
          <a:ln w="9525">
            <a:noFill/>
            <a:miter lim="800000"/>
          </a:ln>
          <a:effectLst/>
        </p:spPr>
        <p:txBody>
          <a:bodyPr wrap="none">
            <a:spAutoFit/>
          </a:bodyPr>
          <a:lstStyle/>
          <a:p>
            <a:pPr>
              <a:spcBef>
                <a:spcPct val="0"/>
              </a:spcBef>
              <a:buFontTx/>
              <a:buNone/>
            </a:pPr>
            <a:r>
              <a:rPr lang="en-US" altLang="zh-CN" sz="240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100</a:t>
            </a:r>
            <a:endParaRPr lang="en-US" altLang="zh-CN" sz="240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1" name="Text Box 42"/>
          <p:cNvSpPr txBox="1">
            <a:spLocks noChangeArrowheads="1"/>
          </p:cNvSpPr>
          <p:nvPr/>
        </p:nvSpPr>
        <p:spPr bwMode="auto">
          <a:xfrm>
            <a:off x="1646379" y="3778991"/>
            <a:ext cx="792480" cy="460375"/>
          </a:xfrm>
          <a:prstGeom prst="rect">
            <a:avLst/>
          </a:prstGeom>
          <a:noFill/>
          <a:ln w="9525">
            <a:noFill/>
            <a:miter lim="800000"/>
          </a:ln>
          <a:effectLst/>
        </p:spPr>
        <p:txBody>
          <a:bodyPr wrap="none">
            <a:spAutoFit/>
          </a:bodyPr>
          <a:lstStyle/>
          <a:p>
            <a:pP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2500</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2" name="Text Box 43"/>
          <p:cNvSpPr txBox="1">
            <a:spLocks noChangeArrowheads="1"/>
          </p:cNvSpPr>
          <p:nvPr/>
        </p:nvSpPr>
        <p:spPr bwMode="auto">
          <a:xfrm>
            <a:off x="1695592" y="5518891"/>
            <a:ext cx="792480" cy="460375"/>
          </a:xfrm>
          <a:prstGeom prst="rect">
            <a:avLst/>
          </a:prstGeom>
          <a:noFill/>
          <a:ln w="9525">
            <a:noFill/>
            <a:miter lim="800000"/>
          </a:ln>
          <a:effectLst/>
        </p:spPr>
        <p:txBody>
          <a:bodyPr wrap="none">
            <a:spAutoFit/>
          </a:bodyPr>
          <a:lstStyle/>
          <a:p>
            <a:pP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5000</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3" name="Rectangle 44"/>
          <p:cNvSpPr>
            <a:spLocks noChangeArrowheads="1"/>
          </p:cNvSpPr>
          <p:nvPr/>
        </p:nvSpPr>
        <p:spPr bwMode="auto">
          <a:xfrm>
            <a:off x="4922979" y="2278803"/>
            <a:ext cx="1079500" cy="504825"/>
          </a:xfrm>
          <a:prstGeom prst="rect">
            <a:avLst/>
          </a:prstGeom>
          <a:solidFill>
            <a:schemeClr val="accent1"/>
          </a:solidFill>
          <a:ln w="9525">
            <a:solidFill>
              <a:schemeClr val="tx1"/>
            </a:solidFill>
            <a:miter lim="800000"/>
          </a:ln>
          <a:effectLst/>
        </p:spPr>
        <p:txBody>
          <a:bodyPr wrap="none" anchor="ctr"/>
          <a:lstStyle/>
          <a:p>
            <a:pPr algn="ct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2500</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Rectangle 45"/>
          <p:cNvSpPr>
            <a:spLocks noChangeArrowheads="1"/>
          </p:cNvSpPr>
          <p:nvPr/>
        </p:nvSpPr>
        <p:spPr bwMode="auto">
          <a:xfrm>
            <a:off x="6507304" y="2278803"/>
            <a:ext cx="1079500" cy="504825"/>
          </a:xfrm>
          <a:prstGeom prst="rect">
            <a:avLst/>
          </a:prstGeom>
          <a:solidFill>
            <a:schemeClr val="accent1"/>
          </a:solidFill>
          <a:ln w="9525">
            <a:solidFill>
              <a:schemeClr val="tx1"/>
            </a:solidFill>
            <a:miter lim="800000"/>
          </a:ln>
          <a:effectLst/>
        </p:spPr>
        <p:txBody>
          <a:bodyPr wrap="none" anchor="ctr"/>
          <a:lstStyle/>
          <a:p>
            <a:pPr algn="ct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10000</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5" name="Line 46"/>
          <p:cNvSpPr>
            <a:spLocks noChangeShapeType="1"/>
          </p:cNvSpPr>
          <p:nvPr/>
        </p:nvSpPr>
        <p:spPr bwMode="auto">
          <a:xfrm>
            <a:off x="4273692" y="3143991"/>
            <a:ext cx="288925" cy="0"/>
          </a:xfrm>
          <a:prstGeom prst="line">
            <a:avLst/>
          </a:prstGeom>
          <a:noFill/>
          <a:ln w="25400" cap="rnd">
            <a:solidFill>
              <a:schemeClr val="tx1"/>
            </a:solidFill>
            <a:prstDash val="sysDot"/>
            <a:round/>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6" name="Line 47"/>
          <p:cNvSpPr>
            <a:spLocks noChangeShapeType="1"/>
          </p:cNvSpPr>
          <p:nvPr/>
        </p:nvSpPr>
        <p:spPr bwMode="auto">
          <a:xfrm flipV="1">
            <a:off x="4562617" y="2567728"/>
            <a:ext cx="0" cy="576263"/>
          </a:xfrm>
          <a:prstGeom prst="line">
            <a:avLst/>
          </a:prstGeom>
          <a:noFill/>
          <a:ln w="25400" cap="rnd">
            <a:solidFill>
              <a:schemeClr val="tx1"/>
            </a:solidFill>
            <a:prstDash val="sysDot"/>
            <a:round/>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7" name="Line 48"/>
          <p:cNvSpPr>
            <a:spLocks noChangeShapeType="1"/>
          </p:cNvSpPr>
          <p:nvPr/>
        </p:nvSpPr>
        <p:spPr bwMode="auto">
          <a:xfrm>
            <a:off x="4562617" y="2567728"/>
            <a:ext cx="360362" cy="0"/>
          </a:xfrm>
          <a:prstGeom prst="line">
            <a:avLst/>
          </a:prstGeom>
          <a:noFill/>
          <a:ln w="25400" cap="rnd">
            <a:solidFill>
              <a:schemeClr val="tx1"/>
            </a:solidFill>
            <a:prstDash val="sysDot"/>
            <a:round/>
            <a:tailEnd type="triangle" w="lg" len="lg"/>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8" name="Text Box 49"/>
          <p:cNvSpPr txBox="1">
            <a:spLocks noChangeArrowheads="1"/>
          </p:cNvSpPr>
          <p:nvPr/>
        </p:nvSpPr>
        <p:spPr bwMode="auto">
          <a:xfrm>
            <a:off x="7639192" y="1991466"/>
            <a:ext cx="944880" cy="460375"/>
          </a:xfrm>
          <a:prstGeom prst="rect">
            <a:avLst/>
          </a:prstGeom>
          <a:noFill/>
          <a:ln w="9525">
            <a:noFill/>
            <a:miter lim="800000"/>
          </a:ln>
          <a:effectLst/>
        </p:spPr>
        <p:txBody>
          <a:bodyPr wrap="none">
            <a:spAutoFit/>
          </a:bodyPr>
          <a:lstStyle/>
          <a:p>
            <a:pP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10000</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9" name="Text Box 50"/>
          <p:cNvSpPr txBox="1">
            <a:spLocks noChangeArrowheads="1"/>
          </p:cNvSpPr>
          <p:nvPr/>
        </p:nvSpPr>
        <p:spPr bwMode="auto">
          <a:xfrm>
            <a:off x="7658242" y="2626466"/>
            <a:ext cx="944880" cy="460375"/>
          </a:xfrm>
          <a:prstGeom prst="rect">
            <a:avLst/>
          </a:prstGeom>
          <a:noFill/>
          <a:ln w="9525">
            <a:noFill/>
            <a:miter lim="800000"/>
          </a:ln>
          <a:effectLst/>
        </p:spPr>
        <p:txBody>
          <a:bodyPr wrap="none">
            <a:spAutoFit/>
          </a:bodyPr>
          <a:lstStyle/>
          <a:p>
            <a:pP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10100</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0" name="Line 51"/>
          <p:cNvSpPr>
            <a:spLocks noChangeShapeType="1"/>
          </p:cNvSpPr>
          <p:nvPr/>
        </p:nvSpPr>
        <p:spPr bwMode="auto">
          <a:xfrm>
            <a:off x="5497654" y="2783628"/>
            <a:ext cx="0" cy="1511300"/>
          </a:xfrm>
          <a:prstGeom prst="line">
            <a:avLst/>
          </a:prstGeom>
          <a:noFill/>
          <a:ln w="25400" cap="rnd">
            <a:solidFill>
              <a:schemeClr val="tx1"/>
            </a:solidFill>
            <a:prstDash val="sysDot"/>
            <a:round/>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1" name="Line 52"/>
          <p:cNvSpPr>
            <a:spLocks noChangeShapeType="1"/>
          </p:cNvSpPr>
          <p:nvPr/>
        </p:nvSpPr>
        <p:spPr bwMode="auto">
          <a:xfrm>
            <a:off x="5497654" y="4294928"/>
            <a:ext cx="1441450" cy="0"/>
          </a:xfrm>
          <a:prstGeom prst="line">
            <a:avLst/>
          </a:prstGeom>
          <a:noFill/>
          <a:ln w="25400" cap="rnd">
            <a:solidFill>
              <a:schemeClr val="tx1"/>
            </a:solidFill>
            <a:prstDash val="sysDot"/>
            <a:round/>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2" name="Line 53"/>
          <p:cNvSpPr>
            <a:spLocks noChangeShapeType="1"/>
          </p:cNvSpPr>
          <p:nvPr/>
        </p:nvSpPr>
        <p:spPr bwMode="auto">
          <a:xfrm>
            <a:off x="7155004" y="2783628"/>
            <a:ext cx="0" cy="1295400"/>
          </a:xfrm>
          <a:prstGeom prst="line">
            <a:avLst/>
          </a:prstGeom>
          <a:noFill/>
          <a:ln w="25400">
            <a:solidFill>
              <a:schemeClr val="tx1"/>
            </a:solidFill>
            <a:round/>
            <a:tailEnd type="triangle" w="med" len="med"/>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3" name="Text Box 54"/>
          <p:cNvSpPr txBox="1">
            <a:spLocks noChangeArrowheads="1"/>
          </p:cNvSpPr>
          <p:nvPr/>
        </p:nvSpPr>
        <p:spPr bwMode="auto">
          <a:xfrm>
            <a:off x="6964504" y="4042516"/>
            <a:ext cx="354965" cy="460375"/>
          </a:xfrm>
          <a:prstGeom prst="rect">
            <a:avLst/>
          </a:prstGeom>
          <a:noFill/>
          <a:ln w="9525">
            <a:noFill/>
            <a:miter lim="800000"/>
          </a:ln>
          <a:effectLst/>
        </p:spPr>
        <p:txBody>
          <a:bodyPr wrap="none">
            <a:spAutoFit/>
          </a:bodyPr>
          <a:lstStyle/>
          <a:p>
            <a:pP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4" name="Line 55"/>
          <p:cNvSpPr>
            <a:spLocks noChangeShapeType="1"/>
          </p:cNvSpPr>
          <p:nvPr/>
        </p:nvSpPr>
        <p:spPr bwMode="auto">
          <a:xfrm>
            <a:off x="7370904" y="4294928"/>
            <a:ext cx="1223963" cy="0"/>
          </a:xfrm>
          <a:prstGeom prst="line">
            <a:avLst/>
          </a:prstGeom>
          <a:noFill/>
          <a:ln w="25400" cap="rnd">
            <a:solidFill>
              <a:schemeClr val="tx1"/>
            </a:solidFill>
            <a:prstDash val="sysDot"/>
            <a:round/>
            <a:tailEnd type="triangle" w="lg" len="lg"/>
          </a:ln>
          <a:effectLst/>
        </p:spPr>
        <p:txBody>
          <a:bodyPr wrap="none"/>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5" name="Text Box 56"/>
          <p:cNvSpPr txBox="1">
            <a:spLocks noChangeArrowheads="1"/>
          </p:cNvSpPr>
          <p:nvPr/>
        </p:nvSpPr>
        <p:spPr bwMode="auto">
          <a:xfrm>
            <a:off x="7639192" y="3647228"/>
            <a:ext cx="944880" cy="460375"/>
          </a:xfrm>
          <a:prstGeom prst="rect">
            <a:avLst/>
          </a:prstGeom>
          <a:noFill/>
          <a:ln w="9525">
            <a:noFill/>
            <a:miter lim="800000"/>
          </a:ln>
          <a:effectLst/>
        </p:spPr>
        <p:txBody>
          <a:bodyPr wrap="none">
            <a:spAutoFit/>
          </a:bodyPr>
          <a:lstStyle/>
          <a:p>
            <a:pP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12500</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6" name="Text Box 57"/>
          <p:cNvSpPr txBox="1">
            <a:spLocks noChangeArrowheads="1"/>
          </p:cNvSpPr>
          <p:nvPr/>
        </p:nvSpPr>
        <p:spPr bwMode="auto">
          <a:xfrm>
            <a:off x="7658242" y="5290291"/>
            <a:ext cx="944880" cy="460375"/>
          </a:xfrm>
          <a:prstGeom prst="rect">
            <a:avLst/>
          </a:prstGeom>
          <a:noFill/>
          <a:ln w="9525">
            <a:noFill/>
            <a:miter lim="800000"/>
          </a:ln>
          <a:effectLst/>
        </p:spPr>
        <p:txBody>
          <a:bodyPr wrap="none">
            <a:spAutoFit/>
          </a:bodyPr>
          <a:lstStyle/>
          <a:p>
            <a:pPr>
              <a:spcBef>
                <a:spcPct val="0"/>
              </a:spcBef>
              <a:buFontTx/>
              <a:buNone/>
            </a:pPr>
            <a:r>
              <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15000</a:t>
            </a:r>
            <a:endParaRPr lang="en-US" altLang="zh-CN" sz="240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7" name="Text Box 58"/>
          <p:cNvSpPr txBox="1">
            <a:spLocks noChangeArrowheads="1"/>
          </p:cNvSpPr>
          <p:nvPr/>
        </p:nvSpPr>
        <p:spPr bwMode="auto">
          <a:xfrm>
            <a:off x="2810493" y="6023716"/>
            <a:ext cx="1097280" cy="460375"/>
          </a:xfrm>
          <a:prstGeom prst="rect">
            <a:avLst/>
          </a:prstGeom>
          <a:noFill/>
          <a:ln w="9525">
            <a:noFill/>
            <a:miter lim="800000"/>
          </a:ln>
          <a:effectLst/>
        </p:spPr>
        <p:txBody>
          <a:bodyPr wrap="none">
            <a:spAutoFit/>
          </a:bodyPr>
          <a:lstStyle/>
          <a:p>
            <a:pPr>
              <a:spcBef>
                <a:spcPct val="0"/>
              </a:spcBef>
              <a:buFontTx/>
              <a:buNone/>
            </a:pPr>
            <a:r>
              <a:rPr lang="en-US" altLang="zh-CN" sz="24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  </a:t>
            </a:r>
            <a:r>
              <a:rPr lang="zh-CN" sz="24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作业</a:t>
            </a:r>
            <a:r>
              <a:rPr lang="en-US" altLang="zh-CN" sz="24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J</a:t>
            </a:r>
            <a:endParaRPr lang="en-US" altLang="zh-CN" sz="24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8" name="Text Box 59"/>
          <p:cNvSpPr txBox="1">
            <a:spLocks noChangeArrowheads="1"/>
          </p:cNvSpPr>
          <p:nvPr/>
        </p:nvSpPr>
        <p:spPr bwMode="auto">
          <a:xfrm>
            <a:off x="4430855" y="6071687"/>
            <a:ext cx="1706880" cy="460375"/>
          </a:xfrm>
          <a:prstGeom prst="rect">
            <a:avLst/>
          </a:prstGeom>
          <a:noFill/>
          <a:ln w="9525">
            <a:noFill/>
            <a:miter lim="800000"/>
          </a:ln>
          <a:effectLst/>
        </p:spPr>
        <p:txBody>
          <a:bodyPr wrap="none">
            <a:spAutoFit/>
          </a:bodyPr>
          <a:lstStyle/>
          <a:p>
            <a:pPr>
              <a:spcBef>
                <a:spcPct val="0"/>
              </a:spcBef>
              <a:buFontTx/>
              <a:buNone/>
            </a:pPr>
            <a:r>
              <a:rPr lang="zh-CN" sz="24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处理机一侧</a:t>
            </a:r>
            <a:endParaRPr lang="zh-CN" sz="24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9" name="Text Box 60"/>
          <p:cNvSpPr txBox="1">
            <a:spLocks noChangeArrowheads="1"/>
          </p:cNvSpPr>
          <p:nvPr/>
        </p:nvSpPr>
        <p:spPr bwMode="auto">
          <a:xfrm>
            <a:off x="6158849" y="6071687"/>
            <a:ext cx="1706880" cy="460375"/>
          </a:xfrm>
          <a:prstGeom prst="rect">
            <a:avLst/>
          </a:prstGeom>
          <a:noFill/>
          <a:ln w="9525">
            <a:noFill/>
            <a:miter lim="800000"/>
          </a:ln>
          <a:effectLst/>
        </p:spPr>
        <p:txBody>
          <a:bodyPr wrap="none">
            <a:spAutoFit/>
          </a:bodyPr>
          <a:lstStyle/>
          <a:p>
            <a:pPr>
              <a:spcBef>
                <a:spcPct val="0"/>
              </a:spcBef>
              <a:buFontTx/>
              <a:buNone/>
            </a:pPr>
            <a:r>
              <a:rPr lang="zh-CN" sz="24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存储器一侧</a:t>
            </a:r>
            <a:endParaRPr lang="zh-CN" sz="2400" b="1"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30" name="Text Box 61"/>
          <p:cNvSpPr txBox="1">
            <a:spLocks noChangeArrowheads="1"/>
          </p:cNvSpPr>
          <p:nvPr/>
        </p:nvSpPr>
        <p:spPr bwMode="auto">
          <a:xfrm>
            <a:off x="6140592" y="1704128"/>
            <a:ext cx="2011680" cy="460375"/>
          </a:xfrm>
          <a:prstGeom prst="rect">
            <a:avLst/>
          </a:prstGeom>
          <a:noFill/>
          <a:ln w="9525">
            <a:noFill/>
            <a:miter lim="800000"/>
          </a:ln>
          <a:effectLst/>
        </p:spPr>
        <p:txBody>
          <a:bodyPr wrap="none">
            <a:spAutoFit/>
          </a:bodyPr>
          <a:lstStyle/>
          <a:p>
            <a:pPr>
              <a:spcBef>
                <a:spcPct val="0"/>
              </a:spcBef>
              <a:buFontTx/>
              <a:buNone/>
            </a:pPr>
            <a:r>
              <a:rPr lang="zh-CN" sz="2400" b="1">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重定位寄存器</a:t>
            </a:r>
            <a:endParaRPr lang="zh-CN" sz="2400" b="1">
              <a:solidFill>
                <a:srgbClr val="FF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31" name="Text Box 62"/>
          <p:cNvSpPr txBox="1">
            <a:spLocks noChangeArrowheads="1"/>
          </p:cNvSpPr>
          <p:nvPr/>
        </p:nvSpPr>
        <p:spPr bwMode="auto">
          <a:xfrm>
            <a:off x="4737242" y="1704128"/>
            <a:ext cx="1402080" cy="460375"/>
          </a:xfrm>
          <a:prstGeom prst="rect">
            <a:avLst/>
          </a:prstGeom>
          <a:noFill/>
          <a:ln w="9525">
            <a:noFill/>
            <a:miter lim="800000"/>
          </a:ln>
          <a:effectLst/>
        </p:spPr>
        <p:txBody>
          <a:bodyPr wrap="none">
            <a:spAutoFit/>
          </a:bodyPr>
          <a:lstStyle/>
          <a:p>
            <a:pPr>
              <a:spcBef>
                <a:spcPct val="0"/>
              </a:spcBef>
              <a:buFontTx/>
              <a:buNone/>
            </a:pPr>
            <a:r>
              <a:rPr lang="zh-CN" sz="2400" b="1">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相对地址</a:t>
            </a:r>
            <a:endParaRPr lang="zh-CN" sz="2400" b="1">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32" name="Line 63"/>
          <p:cNvSpPr>
            <a:spLocks noChangeShapeType="1"/>
          </p:cNvSpPr>
          <p:nvPr/>
        </p:nvSpPr>
        <p:spPr bwMode="auto">
          <a:xfrm>
            <a:off x="6146941" y="1704128"/>
            <a:ext cx="11907" cy="4981148"/>
          </a:xfrm>
          <a:prstGeom prst="line">
            <a:avLst/>
          </a:prstGeom>
          <a:noFill/>
          <a:ln w="38100">
            <a:solidFill>
              <a:srgbClr val="C3320B"/>
            </a:solidFill>
            <a:prstDash val="dash"/>
            <a:round/>
          </a:ln>
          <a:effectLst/>
        </p:spPr>
        <p:txBody>
          <a:bodyPr/>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577215" y="959485"/>
            <a:ext cx="11088370" cy="5898515"/>
          </a:xfrm>
        </p:spPr>
        <p:txBody>
          <a:bodyPr vert="horz" wrap="square" lIns="91440" tIns="45720" rIns="91440" bIns="45720" anchor="t" anchorCtr="0">
            <a:normAutofit/>
          </a:bodyPr>
          <a:lstStyle/>
          <a:p>
            <a:pPr marL="457200" lvl="1" indent="-457200">
              <a:lnSpc>
                <a:spcPct val="200000"/>
              </a:lnSpc>
              <a:spcBef>
                <a:spcPts val="1000"/>
              </a:spcBef>
              <a:buClr>
                <a:srgbClr val="0000FF"/>
              </a:buClr>
              <a:buFont typeface="Wingdings" panose="05000000000000000000" pitchFamily="2" charset="2"/>
              <a:buChar char="n"/>
            </a:pPr>
            <a:r>
              <a:rPr lang="zh-CN" altLang="en-US" sz="28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动态重定位分区分配算法</a:t>
            </a:r>
            <a:endParaRPr lang="en-US" altLang="zh-CN" sz="28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20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与动态分区分配算法基本相同，差别仅在于：在这种分配算法中，增加了</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紧凑</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的功能。</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20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当该算法不能找到一个足够大的空闲分区以满足用户需求时，如果所有小的空闲分区的</a:t>
            </a:r>
            <a:r>
              <a:rPr lang="zh-CN" altLang="en-US" sz="2400"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容量总和大于用户的要求</a:t>
            </a: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，这是便须对内存进行“紧凑”，将经紧凑后多得到的大空闲分区分配给用户。</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a:p>
            <a:pPr marL="914400" lvl="2" indent="-457200">
              <a:lnSpc>
                <a:spcPct val="200000"/>
              </a:lnSpc>
              <a:spcBef>
                <a:spcPts val="1000"/>
              </a:spcBef>
              <a:buClr>
                <a:srgbClr val="0000FF"/>
              </a:buClr>
              <a:buFont typeface="Wingdings" panose="05000000000000000000" pitchFamily="2" charset="2"/>
              <a:buChar char="Ø"/>
            </a:pPr>
            <a:r>
              <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rPr>
              <a:t>如果所有小空闲分区的容量总和仍小于用户的需求，则返回分配失败信息。</a:t>
            </a:r>
            <a:endParaRPr lang="zh-CN" altLang="en-US" sz="24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281940" y="33655"/>
            <a:ext cx="10758805"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4.3.6 </a:t>
            </a:r>
            <a:r>
              <a:rPr lang="zh-CN" altLang="en-US" sz="3900" b="1" dirty="0">
                <a:latin typeface="微软雅黑" panose="020B0503020204020204" pitchFamily="34" charset="-122"/>
                <a:ea typeface="微软雅黑" panose="020B0503020204020204" pitchFamily="34" charset="-122"/>
              </a:rPr>
              <a:t>动态可重定位分区分配</a:t>
            </a:r>
            <a:endParaRPr lang="zh-CN" altLang="en-US" sz="39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p:cNvSpPr>
          <p:nvPr>
            <p:ph idx="1"/>
          </p:nvPr>
        </p:nvSpPr>
        <p:spPr>
          <a:xfrm>
            <a:off x="844550" y="959485"/>
            <a:ext cx="9335770" cy="5898515"/>
          </a:xfrm>
        </p:spPr>
        <p:txBody>
          <a:bodyPr vert="horz" wrap="square" lIns="91440" tIns="45720" rIns="91440" bIns="45720" anchor="t" anchorCtr="0">
            <a:normAutofit/>
          </a:bodyPr>
          <a:lstStyle/>
          <a:p>
            <a:pPr marL="457200" lvl="1" indent="-457200">
              <a:lnSpc>
                <a:spcPct val="150000"/>
              </a:lnSpc>
              <a:spcBef>
                <a:spcPts val="1000"/>
              </a:spcBef>
              <a:buClr>
                <a:srgbClr val="0000FF"/>
              </a:buClr>
              <a:buFont typeface="Wingdings" panose="05000000000000000000" pitchFamily="2" charset="2"/>
              <a:buChar char="n"/>
            </a:pPr>
            <a:r>
              <a:rPr lang="zh-CN" altLang="en-US" b="1" dirty="0">
                <a:solidFill>
                  <a:srgbClr val="0000FF"/>
                </a:solidFill>
                <a:latin typeface="Times New Roman" panose="02020503050405090304" pitchFamily="18" charset="0"/>
                <a:ea typeface="微软雅黑" panose="020B0503020204020204" pitchFamily="34" charset="-122"/>
                <a:cs typeface="Times New Roman" panose="02020503050405090304" pitchFamily="18" charset="0"/>
              </a:rPr>
              <a:t>动态重定位分区分配算法</a:t>
            </a:r>
            <a:endParaRPr lang="en-US" altLang="zh-CN"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5" name="标题 1"/>
          <p:cNvSpPr txBox="1"/>
          <p:nvPr/>
        </p:nvSpPr>
        <p:spPr>
          <a:xfrm>
            <a:off x="354965" y="33655"/>
            <a:ext cx="10685780" cy="10814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eaLnBrk="1" hangingPunct="1"/>
            <a:r>
              <a:rPr lang="en-US" altLang="zh-CN" sz="3900" b="1" dirty="0">
                <a:latin typeface="微软雅黑" panose="020B0503020204020204" pitchFamily="34" charset="-122"/>
                <a:ea typeface="微软雅黑" panose="020B0503020204020204" pitchFamily="34" charset="-122"/>
              </a:rPr>
              <a:t>4.3.6 </a:t>
            </a:r>
            <a:r>
              <a:rPr lang="zh-CN" altLang="en-US" sz="3900" b="1" dirty="0">
                <a:latin typeface="微软雅黑" panose="020B0503020204020204" pitchFamily="34" charset="-122"/>
                <a:ea typeface="微软雅黑" panose="020B0503020204020204" pitchFamily="34" charset="-122"/>
              </a:rPr>
              <a:t>动态可重定位分区分配</a:t>
            </a:r>
            <a:endParaRPr lang="zh-CN" altLang="en-US" sz="3900" b="1" dirty="0">
              <a:latin typeface="微软雅黑" panose="020B0503020204020204" pitchFamily="34" charset="-122"/>
              <a:ea typeface="微软雅黑" panose="020B0503020204020204" pitchFamily="34" charset="-122"/>
            </a:endParaRPr>
          </a:p>
        </p:txBody>
      </p:sp>
      <p:grpSp>
        <p:nvGrpSpPr>
          <p:cNvPr id="4" name="组合 3"/>
          <p:cNvGrpSpPr/>
          <p:nvPr/>
        </p:nvGrpSpPr>
        <p:grpSpPr>
          <a:xfrm>
            <a:off x="2134446" y="1510080"/>
            <a:ext cx="8153400" cy="4953000"/>
            <a:chOff x="596900" y="1219200"/>
            <a:chExt cx="8153400" cy="4953000"/>
          </a:xfrm>
        </p:grpSpPr>
        <p:sp>
          <p:nvSpPr>
            <p:cNvPr id="6" name="AutoShape 4"/>
            <p:cNvSpPr/>
            <p:nvPr/>
          </p:nvSpPr>
          <p:spPr>
            <a:xfrm>
              <a:off x="596900" y="2286000"/>
              <a:ext cx="1219200" cy="762000"/>
            </a:xfrm>
            <a:prstGeom prst="flowChartPreparation">
              <a:avLst/>
            </a:prstGeom>
            <a:solidFill>
              <a:schemeClr val="accent1"/>
            </a:solidFill>
            <a:ln w="19050" cap="flat" cmpd="sng">
              <a:solidFill>
                <a:schemeClr val="tx1"/>
              </a:solidFill>
              <a:prstDash val="solid"/>
              <a:miter/>
              <a:headEnd type="none" w="med" len="med"/>
              <a:tailEnd type="none" w="med" len="med"/>
            </a:ln>
          </p:spPr>
          <p:txBody>
            <a:bodyPr wrap="none" anchor="ctr" anchorCtr="0"/>
            <a:lstStyle/>
            <a:p>
              <a:pPr algn="ctr">
                <a:spcBef>
                  <a:spcPct val="20000"/>
                </a:spcBef>
              </a:pPr>
              <a:r>
                <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无法分配</a:t>
              </a:r>
              <a:endPar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a:p>
              <a:pPr algn="ctr">
                <a:spcBef>
                  <a:spcPct val="20000"/>
                </a:spcBef>
              </a:pPr>
              <a:r>
                <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返回</a:t>
              </a:r>
              <a:endPar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7" name="AutoShape 5"/>
            <p:cNvSpPr/>
            <p:nvPr/>
          </p:nvSpPr>
          <p:spPr>
            <a:xfrm>
              <a:off x="2197100" y="2133600"/>
              <a:ext cx="2057400" cy="990600"/>
            </a:xfrm>
            <a:prstGeom prst="flowChartDecision">
              <a:avLst/>
            </a:prstGeom>
            <a:solidFill>
              <a:schemeClr val="accent1"/>
            </a:solidFill>
            <a:ln w="19050" cap="flat" cmpd="sng">
              <a:solidFill>
                <a:schemeClr val="tx1"/>
              </a:solidFill>
              <a:prstDash val="solid"/>
              <a:miter/>
              <a:headEnd type="none" w="med" len="med"/>
              <a:tailEnd type="none" w="med" len="med"/>
            </a:ln>
          </p:spPr>
          <p:txBody>
            <a:bodyPr wrap="none" anchor="ctr" anchorCtr="0"/>
            <a:lstStyle/>
            <a:p>
              <a:pPr algn="ctr">
                <a:spcBef>
                  <a:spcPct val="20000"/>
                </a:spcBef>
              </a:pPr>
              <a:r>
                <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空闲分区</a:t>
              </a:r>
              <a:endPar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a:p>
              <a:pPr algn="ctr">
                <a:spcBef>
                  <a:spcPct val="20000"/>
                </a:spcBef>
              </a:pPr>
              <a:r>
                <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总和</a:t>
              </a:r>
              <a:r>
                <a:rPr lang="en-US" altLang="zh-CN"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&gt;u.xize</a:t>
              </a:r>
              <a:endParaRPr lang="en-US" altLang="zh-CN"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8" name="AutoShape 6"/>
            <p:cNvSpPr/>
            <p:nvPr/>
          </p:nvSpPr>
          <p:spPr>
            <a:xfrm>
              <a:off x="2197100" y="3733800"/>
              <a:ext cx="1981200" cy="762000"/>
            </a:xfrm>
            <a:prstGeom prst="flowChartProcess">
              <a:avLst/>
            </a:prstGeom>
            <a:solidFill>
              <a:schemeClr val="accent1"/>
            </a:solidFill>
            <a:ln w="19050" cap="flat" cmpd="sng">
              <a:solidFill>
                <a:schemeClr val="tx1"/>
              </a:solidFill>
              <a:prstDash val="solid"/>
              <a:miter/>
              <a:headEnd type="none" w="med" len="med"/>
              <a:tailEnd type="none" w="med" len="med"/>
            </a:ln>
          </p:spPr>
          <p:txBody>
            <a:bodyPr wrap="none" anchor="ctr" anchorCtr="0"/>
            <a:lstStyle/>
            <a:p>
              <a:pPr algn="ctr">
                <a:spcBef>
                  <a:spcPct val="20000"/>
                </a:spcBef>
              </a:pPr>
              <a:r>
                <a:rPr lang="zh-CN" altLang="en-US"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进行紧凑形成</a:t>
              </a:r>
              <a:endParaRPr lang="zh-CN" altLang="en-US"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a:p>
              <a:pPr algn="ctr">
                <a:spcBef>
                  <a:spcPct val="20000"/>
                </a:spcBef>
              </a:pPr>
              <a:r>
                <a:rPr lang="zh-CN" altLang="en-US"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连续空闲区</a:t>
              </a:r>
              <a:endParaRPr lang="zh-CN" altLang="en-US"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9" name="AutoShape 7"/>
            <p:cNvSpPr/>
            <p:nvPr/>
          </p:nvSpPr>
          <p:spPr>
            <a:xfrm>
              <a:off x="2197100" y="5029200"/>
              <a:ext cx="1981200" cy="762000"/>
            </a:xfrm>
            <a:prstGeom prst="flowChartProcess">
              <a:avLst/>
            </a:prstGeom>
            <a:solidFill>
              <a:schemeClr val="accent1"/>
            </a:solidFill>
            <a:ln w="19050" cap="flat" cmpd="sng">
              <a:solidFill>
                <a:schemeClr val="tx1"/>
              </a:solidFill>
              <a:prstDash val="solid"/>
              <a:miter/>
              <a:headEnd type="none" w="med" len="med"/>
              <a:tailEnd type="none" w="med" len="med"/>
            </a:ln>
          </p:spPr>
          <p:txBody>
            <a:bodyPr wrap="none" anchor="ctr" anchorCtr="0"/>
            <a:lstStyle/>
            <a:p>
              <a:pPr algn="ctr">
                <a:spcBef>
                  <a:spcPct val="20000"/>
                </a:spcBef>
              </a:pPr>
              <a:r>
                <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修改有关的</a:t>
              </a:r>
              <a:endPar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a:p>
              <a:pPr algn="ctr">
                <a:spcBef>
                  <a:spcPct val="20000"/>
                </a:spcBef>
              </a:pPr>
              <a:r>
                <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数据结构</a:t>
              </a:r>
              <a:endPar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0" name="AutoShape 8"/>
            <p:cNvSpPr/>
            <p:nvPr/>
          </p:nvSpPr>
          <p:spPr>
            <a:xfrm>
              <a:off x="5016500" y="1219200"/>
              <a:ext cx="1371600" cy="685800"/>
            </a:xfrm>
            <a:prstGeom prst="flowChartPreparation">
              <a:avLst/>
            </a:prstGeom>
            <a:solidFill>
              <a:schemeClr val="accent1"/>
            </a:solidFill>
            <a:ln w="19050" cap="flat" cmpd="sng">
              <a:solidFill>
                <a:schemeClr val="tx1"/>
              </a:solidFill>
              <a:prstDash val="solid"/>
              <a:miter/>
              <a:headEnd type="none" w="med" len="med"/>
              <a:tailEnd type="none" w="med" len="med"/>
            </a:ln>
          </p:spPr>
          <p:txBody>
            <a:bodyPr wrap="none" anchor="ctr" anchorCtr="0"/>
            <a:lstStyle/>
            <a:p>
              <a:pPr algn="ctr">
                <a:spcBef>
                  <a:spcPct val="20000"/>
                </a:spcBef>
              </a:pPr>
              <a:r>
                <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请求分配</a:t>
              </a:r>
              <a:endPar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a:p>
              <a:pPr algn="ctr">
                <a:spcBef>
                  <a:spcPct val="20000"/>
                </a:spcBef>
              </a:pPr>
              <a:r>
                <a:rPr lang="en-US" altLang="zh-CN"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u.xize</a:t>
              </a:r>
              <a:r>
                <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分区</a:t>
              </a:r>
              <a:endPar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1" name="AutoShape 9"/>
            <p:cNvSpPr/>
            <p:nvPr/>
          </p:nvSpPr>
          <p:spPr>
            <a:xfrm>
              <a:off x="4864100" y="2133600"/>
              <a:ext cx="1828800" cy="304800"/>
            </a:xfrm>
            <a:prstGeom prst="flowChartProcess">
              <a:avLst/>
            </a:prstGeom>
            <a:solidFill>
              <a:schemeClr val="accent1"/>
            </a:solidFill>
            <a:ln w="19050" cap="flat" cmpd="sng">
              <a:solidFill>
                <a:schemeClr val="tx1"/>
              </a:solidFill>
              <a:prstDash val="solid"/>
              <a:miter/>
              <a:headEnd type="none" w="med" len="med"/>
              <a:tailEnd type="none" w="med" len="med"/>
            </a:ln>
          </p:spPr>
          <p:txBody>
            <a:bodyPr wrap="none" anchor="ctr" anchorCtr="0"/>
            <a:lstStyle/>
            <a:p>
              <a:pPr algn="ctr">
                <a:spcBef>
                  <a:spcPct val="20000"/>
                </a:spcBef>
              </a:pPr>
              <a:r>
                <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检索空闲分区链</a:t>
              </a:r>
              <a:endPar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2" name="AutoShape 10"/>
            <p:cNvSpPr/>
            <p:nvPr/>
          </p:nvSpPr>
          <p:spPr>
            <a:xfrm>
              <a:off x="4559300" y="2743200"/>
              <a:ext cx="2286000" cy="990600"/>
            </a:xfrm>
            <a:prstGeom prst="flowChartDecision">
              <a:avLst/>
            </a:prstGeom>
            <a:solidFill>
              <a:schemeClr val="accent1"/>
            </a:solidFill>
            <a:ln w="19050" cap="flat" cmpd="sng">
              <a:solidFill>
                <a:schemeClr val="tx1"/>
              </a:solidFill>
              <a:prstDash val="solid"/>
              <a:miter/>
              <a:headEnd type="none" w="med" len="med"/>
              <a:tailEnd type="none" w="med" len="med"/>
            </a:ln>
          </p:spPr>
          <p:txBody>
            <a:bodyPr wrap="none" anchor="ctr" anchorCtr="0"/>
            <a:lstStyle/>
            <a:p>
              <a:pPr algn="ctr">
                <a:spcBef>
                  <a:spcPct val="20000"/>
                </a:spcBef>
              </a:pPr>
              <a:r>
                <a:rPr lang="en-US" altLang="zh-CN" sz="16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  </a:t>
              </a:r>
              <a:endParaRPr lang="en-US" altLang="zh-CN" sz="16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a:p>
              <a:pPr algn="ctr">
                <a:spcBef>
                  <a:spcPct val="20000"/>
                </a:spcBef>
              </a:pPr>
              <a:r>
                <a:rPr lang="zh-CN" altLang="en-US" sz="16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找到大于</a:t>
              </a:r>
              <a:endParaRPr lang="zh-CN" altLang="en-US" sz="16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a:p>
              <a:pPr algn="ctr">
                <a:spcBef>
                  <a:spcPct val="20000"/>
                </a:spcBef>
              </a:pPr>
              <a:r>
                <a:rPr lang="en-US" altLang="zh-CN" sz="16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u.xize</a:t>
              </a:r>
              <a:r>
                <a:rPr lang="zh-CN" altLang="en-US" sz="16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的可用区否？</a:t>
              </a:r>
              <a:endParaRPr lang="zh-CN" altLang="en-US" sz="16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a:p>
              <a:pPr algn="ctr">
                <a:spcBef>
                  <a:spcPct val="20000"/>
                </a:spcBef>
              </a:pPr>
              <a:endParaRPr lang="en-US" altLang="zh-CN" sz="16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3" name="AutoShape 11"/>
            <p:cNvSpPr/>
            <p:nvPr/>
          </p:nvSpPr>
          <p:spPr>
            <a:xfrm>
              <a:off x="4711700" y="4114800"/>
              <a:ext cx="1981200" cy="685800"/>
            </a:xfrm>
            <a:prstGeom prst="flowChartProcess">
              <a:avLst/>
            </a:prstGeom>
            <a:solidFill>
              <a:schemeClr val="accent1"/>
            </a:solidFill>
            <a:ln w="19050" cap="flat" cmpd="sng">
              <a:solidFill>
                <a:schemeClr val="tx1"/>
              </a:solidFill>
              <a:prstDash val="solid"/>
              <a:miter/>
              <a:headEnd type="none" w="med" len="med"/>
              <a:tailEnd type="none" w="med" len="med"/>
            </a:ln>
          </p:spPr>
          <p:txBody>
            <a:bodyPr wrap="none" anchor="ctr" anchorCtr="0"/>
            <a:lstStyle/>
            <a:p>
              <a:pPr algn="ctr">
                <a:spcBef>
                  <a:spcPct val="20000"/>
                </a:spcBef>
              </a:pPr>
              <a:r>
                <a:rPr lang="zh-CN" altLang="en-US" sz="18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按动态分区方式</a:t>
              </a:r>
              <a:endParaRPr lang="zh-CN" altLang="en-US" sz="18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a:p>
              <a:pPr algn="ctr">
                <a:spcBef>
                  <a:spcPct val="20000"/>
                </a:spcBef>
              </a:pPr>
              <a:r>
                <a:rPr lang="zh-CN" altLang="en-US" sz="18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rPr>
                <a:t>进行分配</a:t>
              </a:r>
              <a:endParaRPr lang="zh-CN" altLang="en-US" sz="1800" b="1" dirty="0">
                <a:solidFill>
                  <a:schemeClr val="bg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 name="AutoShape 12"/>
            <p:cNvSpPr/>
            <p:nvPr/>
          </p:nvSpPr>
          <p:spPr>
            <a:xfrm>
              <a:off x="4711700" y="5181600"/>
              <a:ext cx="1981200" cy="685800"/>
            </a:xfrm>
            <a:prstGeom prst="flowChartProcess">
              <a:avLst/>
            </a:prstGeom>
            <a:solidFill>
              <a:schemeClr val="accent1"/>
            </a:solidFill>
            <a:ln w="19050" cap="flat" cmpd="sng">
              <a:solidFill>
                <a:schemeClr val="tx1"/>
              </a:solidFill>
              <a:prstDash val="solid"/>
              <a:miter/>
              <a:headEnd type="none" w="med" len="med"/>
              <a:tailEnd type="none" w="med" len="med"/>
            </a:ln>
          </p:spPr>
          <p:txBody>
            <a:bodyPr wrap="none" anchor="ctr" anchorCtr="0"/>
            <a:lstStyle/>
            <a:p>
              <a:pPr algn="ctr">
                <a:spcBef>
                  <a:spcPct val="20000"/>
                </a:spcBef>
              </a:pPr>
              <a:r>
                <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修改有关的</a:t>
              </a:r>
              <a:endPar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a:p>
              <a:pPr algn="ctr">
                <a:spcBef>
                  <a:spcPct val="20000"/>
                </a:spcBef>
              </a:pPr>
              <a:r>
                <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数据结构</a:t>
              </a:r>
              <a:endPar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5" name="AutoShape 13"/>
            <p:cNvSpPr/>
            <p:nvPr/>
          </p:nvSpPr>
          <p:spPr>
            <a:xfrm>
              <a:off x="7531100" y="5181600"/>
              <a:ext cx="1219200" cy="685800"/>
            </a:xfrm>
            <a:prstGeom prst="flowChartAlternateProcess">
              <a:avLst/>
            </a:prstGeom>
            <a:solidFill>
              <a:schemeClr val="accent1"/>
            </a:solidFill>
            <a:ln w="19050" cap="flat" cmpd="sng">
              <a:solidFill>
                <a:schemeClr val="tx1"/>
              </a:solidFill>
              <a:prstDash val="solid"/>
              <a:miter/>
              <a:headEnd type="none" w="med" len="med"/>
              <a:tailEnd type="none" w="med" len="med"/>
            </a:ln>
          </p:spPr>
          <p:txBody>
            <a:bodyPr wrap="none" anchor="ctr" anchorCtr="0"/>
            <a:lstStyle/>
            <a:p>
              <a:pPr algn="ctr">
                <a:spcBef>
                  <a:spcPct val="20000"/>
                </a:spcBef>
              </a:pPr>
              <a:r>
                <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返回分区</a:t>
              </a:r>
              <a:endPar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a:p>
              <a:pPr algn="ctr">
                <a:spcBef>
                  <a:spcPct val="20000"/>
                </a:spcBef>
              </a:pPr>
              <a:r>
                <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rPr>
                <a:t>号及首址</a:t>
              </a:r>
              <a:endParaRPr lang="zh-CN" altLang="en-US" sz="1800" b="0" dirty="0">
                <a:solidFill>
                  <a:schemeClr val="tx1"/>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6" name="Line 14"/>
            <p:cNvSpPr/>
            <p:nvPr/>
          </p:nvSpPr>
          <p:spPr>
            <a:xfrm flipH="1">
              <a:off x="1816100" y="2667000"/>
              <a:ext cx="381000" cy="0"/>
            </a:xfrm>
            <a:prstGeom prst="line">
              <a:avLst/>
            </a:prstGeom>
            <a:ln w="19050" cap="flat" cmpd="sng">
              <a:solidFill>
                <a:schemeClr val="tx1"/>
              </a:solidFill>
              <a:prstDash val="solid"/>
              <a:miter/>
              <a:headEnd type="none" w="med" len="med"/>
              <a:tailEnd type="triangle" w="med" len="med"/>
            </a:ln>
          </p:spPr>
        </p:sp>
        <p:sp>
          <p:nvSpPr>
            <p:cNvPr id="17" name="Line 15"/>
            <p:cNvSpPr/>
            <p:nvPr/>
          </p:nvSpPr>
          <p:spPr>
            <a:xfrm>
              <a:off x="3263900" y="3124200"/>
              <a:ext cx="0" cy="609600"/>
            </a:xfrm>
            <a:prstGeom prst="line">
              <a:avLst/>
            </a:prstGeom>
            <a:ln w="19050" cap="flat" cmpd="sng">
              <a:solidFill>
                <a:schemeClr val="tx1"/>
              </a:solidFill>
              <a:prstDash val="solid"/>
              <a:miter/>
              <a:headEnd type="none" w="med" len="med"/>
              <a:tailEnd type="triangle" w="med" len="med"/>
            </a:ln>
          </p:spPr>
        </p:sp>
        <p:sp>
          <p:nvSpPr>
            <p:cNvPr id="18" name="Line 16"/>
            <p:cNvSpPr/>
            <p:nvPr/>
          </p:nvSpPr>
          <p:spPr>
            <a:xfrm>
              <a:off x="3187700" y="4495800"/>
              <a:ext cx="0" cy="533400"/>
            </a:xfrm>
            <a:prstGeom prst="line">
              <a:avLst/>
            </a:prstGeom>
            <a:ln w="19050" cap="flat" cmpd="sng">
              <a:solidFill>
                <a:schemeClr val="tx1"/>
              </a:solidFill>
              <a:prstDash val="solid"/>
              <a:miter/>
              <a:headEnd type="none" w="med" len="med"/>
              <a:tailEnd type="triangle" w="med" len="med"/>
            </a:ln>
          </p:spPr>
        </p:sp>
        <p:sp>
          <p:nvSpPr>
            <p:cNvPr id="19" name="Line 17"/>
            <p:cNvSpPr/>
            <p:nvPr/>
          </p:nvSpPr>
          <p:spPr>
            <a:xfrm>
              <a:off x="3187700" y="5791200"/>
              <a:ext cx="0" cy="381000"/>
            </a:xfrm>
            <a:prstGeom prst="line">
              <a:avLst/>
            </a:prstGeom>
            <a:ln w="19050" cap="flat" cmpd="sng">
              <a:solidFill>
                <a:schemeClr val="tx1"/>
              </a:solidFill>
              <a:prstDash val="solid"/>
              <a:miter/>
              <a:headEnd type="none" w="med" len="med"/>
              <a:tailEnd type="none" w="med" len="med"/>
            </a:ln>
          </p:spPr>
        </p:sp>
        <p:sp>
          <p:nvSpPr>
            <p:cNvPr id="20" name="Line 18"/>
            <p:cNvSpPr/>
            <p:nvPr/>
          </p:nvSpPr>
          <p:spPr>
            <a:xfrm>
              <a:off x="3187700" y="6172200"/>
              <a:ext cx="1143000" cy="0"/>
            </a:xfrm>
            <a:prstGeom prst="line">
              <a:avLst/>
            </a:prstGeom>
            <a:ln w="19050" cap="flat" cmpd="sng">
              <a:solidFill>
                <a:schemeClr val="tx1"/>
              </a:solidFill>
              <a:prstDash val="solid"/>
              <a:miter/>
              <a:headEnd type="none" w="med" len="med"/>
              <a:tailEnd type="none" w="med" len="med"/>
            </a:ln>
          </p:spPr>
        </p:sp>
        <p:sp>
          <p:nvSpPr>
            <p:cNvPr id="21" name="Line 19"/>
            <p:cNvSpPr/>
            <p:nvPr/>
          </p:nvSpPr>
          <p:spPr>
            <a:xfrm flipV="1">
              <a:off x="4330700" y="3886200"/>
              <a:ext cx="0" cy="2286000"/>
            </a:xfrm>
            <a:prstGeom prst="line">
              <a:avLst/>
            </a:prstGeom>
            <a:ln w="19050" cap="flat" cmpd="sng">
              <a:solidFill>
                <a:schemeClr val="tx1"/>
              </a:solidFill>
              <a:prstDash val="solid"/>
              <a:miter/>
              <a:headEnd type="none" w="med" len="med"/>
              <a:tailEnd type="none" w="med" len="med"/>
            </a:ln>
          </p:spPr>
        </p:sp>
        <p:sp>
          <p:nvSpPr>
            <p:cNvPr id="22" name="Line 20"/>
            <p:cNvSpPr/>
            <p:nvPr/>
          </p:nvSpPr>
          <p:spPr>
            <a:xfrm>
              <a:off x="5702300" y="1905000"/>
              <a:ext cx="0" cy="228600"/>
            </a:xfrm>
            <a:prstGeom prst="line">
              <a:avLst/>
            </a:prstGeom>
            <a:ln w="19050" cap="flat" cmpd="sng">
              <a:solidFill>
                <a:schemeClr val="tx1"/>
              </a:solidFill>
              <a:prstDash val="solid"/>
              <a:miter/>
              <a:headEnd type="none" w="med" len="med"/>
              <a:tailEnd type="triangle" w="med" len="med"/>
            </a:ln>
          </p:spPr>
        </p:sp>
        <p:sp>
          <p:nvSpPr>
            <p:cNvPr id="23" name="Line 21"/>
            <p:cNvSpPr/>
            <p:nvPr/>
          </p:nvSpPr>
          <p:spPr>
            <a:xfrm>
              <a:off x="5702300" y="2438400"/>
              <a:ext cx="0" cy="304800"/>
            </a:xfrm>
            <a:prstGeom prst="line">
              <a:avLst/>
            </a:prstGeom>
            <a:ln w="19050" cap="flat" cmpd="sng">
              <a:solidFill>
                <a:schemeClr val="tx1"/>
              </a:solidFill>
              <a:prstDash val="solid"/>
              <a:miter/>
              <a:headEnd type="none" w="med" len="med"/>
              <a:tailEnd type="triangle" w="med" len="med"/>
            </a:ln>
          </p:spPr>
        </p:sp>
        <p:sp>
          <p:nvSpPr>
            <p:cNvPr id="24" name="Line 22"/>
            <p:cNvSpPr/>
            <p:nvPr/>
          </p:nvSpPr>
          <p:spPr>
            <a:xfrm>
              <a:off x="5702300" y="3733800"/>
              <a:ext cx="0" cy="381000"/>
            </a:xfrm>
            <a:prstGeom prst="line">
              <a:avLst/>
            </a:prstGeom>
            <a:ln w="19050" cap="flat" cmpd="sng">
              <a:solidFill>
                <a:schemeClr val="tx1"/>
              </a:solidFill>
              <a:prstDash val="solid"/>
              <a:miter/>
              <a:headEnd type="none" w="med" len="med"/>
              <a:tailEnd type="triangle" w="med" len="med"/>
            </a:ln>
          </p:spPr>
        </p:sp>
        <p:sp>
          <p:nvSpPr>
            <p:cNvPr id="25" name="Line 23"/>
            <p:cNvSpPr/>
            <p:nvPr/>
          </p:nvSpPr>
          <p:spPr>
            <a:xfrm>
              <a:off x="5702300" y="4800600"/>
              <a:ext cx="0" cy="381000"/>
            </a:xfrm>
            <a:prstGeom prst="line">
              <a:avLst/>
            </a:prstGeom>
            <a:ln w="19050" cap="flat" cmpd="sng">
              <a:solidFill>
                <a:schemeClr val="tx1"/>
              </a:solidFill>
              <a:prstDash val="solid"/>
              <a:miter/>
              <a:headEnd type="none" w="med" len="med"/>
              <a:tailEnd type="triangle" w="med" len="med"/>
            </a:ln>
          </p:spPr>
        </p:sp>
        <p:sp>
          <p:nvSpPr>
            <p:cNvPr id="26" name="Line 24"/>
            <p:cNvSpPr/>
            <p:nvPr/>
          </p:nvSpPr>
          <p:spPr>
            <a:xfrm>
              <a:off x="6692900" y="5562600"/>
              <a:ext cx="838200" cy="0"/>
            </a:xfrm>
            <a:prstGeom prst="line">
              <a:avLst/>
            </a:prstGeom>
            <a:ln w="19050" cap="flat" cmpd="sng">
              <a:solidFill>
                <a:schemeClr val="tx1"/>
              </a:solidFill>
              <a:prstDash val="solid"/>
              <a:miter/>
              <a:headEnd type="none" w="med" len="med"/>
              <a:tailEnd type="triangle" w="med" len="med"/>
            </a:ln>
          </p:spPr>
        </p:sp>
        <p:sp>
          <p:nvSpPr>
            <p:cNvPr id="27" name="Line 25"/>
            <p:cNvSpPr/>
            <p:nvPr/>
          </p:nvSpPr>
          <p:spPr>
            <a:xfrm>
              <a:off x="4330700" y="3886200"/>
              <a:ext cx="1371600" cy="0"/>
            </a:xfrm>
            <a:prstGeom prst="line">
              <a:avLst/>
            </a:prstGeom>
            <a:ln w="19050" cap="flat" cmpd="sng">
              <a:solidFill>
                <a:schemeClr val="tx1"/>
              </a:solidFill>
              <a:prstDash val="solid"/>
              <a:miter/>
              <a:headEnd type="none" w="med" len="med"/>
              <a:tailEnd type="triangle" w="med" len="med"/>
            </a:ln>
          </p:spPr>
        </p:sp>
        <p:sp>
          <p:nvSpPr>
            <p:cNvPr id="28" name="Line 26"/>
            <p:cNvSpPr/>
            <p:nvPr/>
          </p:nvSpPr>
          <p:spPr>
            <a:xfrm flipV="1">
              <a:off x="4559300" y="2590800"/>
              <a:ext cx="0" cy="609600"/>
            </a:xfrm>
            <a:prstGeom prst="line">
              <a:avLst/>
            </a:prstGeom>
            <a:ln w="19050" cap="flat" cmpd="sng">
              <a:solidFill>
                <a:schemeClr val="tx1"/>
              </a:solidFill>
              <a:prstDash val="solid"/>
              <a:miter/>
              <a:headEnd type="none" w="med" len="med"/>
              <a:tailEnd type="none" w="med" len="med"/>
            </a:ln>
          </p:spPr>
        </p:sp>
        <p:sp>
          <p:nvSpPr>
            <p:cNvPr id="29" name="Line 27"/>
            <p:cNvSpPr/>
            <p:nvPr/>
          </p:nvSpPr>
          <p:spPr>
            <a:xfrm flipH="1">
              <a:off x="4254500" y="2590800"/>
              <a:ext cx="304800" cy="0"/>
            </a:xfrm>
            <a:prstGeom prst="line">
              <a:avLst/>
            </a:prstGeom>
            <a:ln w="19050" cap="flat" cmpd="sng">
              <a:solidFill>
                <a:schemeClr val="tx1"/>
              </a:solidFill>
              <a:prstDash val="solid"/>
              <a:miter/>
              <a:headEnd type="none" w="med" len="med"/>
              <a:tailEnd type="triangle" w="med" len="med"/>
            </a:ln>
          </p:spPr>
        </p:sp>
        <p:sp>
          <p:nvSpPr>
            <p:cNvPr id="30" name="Text Box 28"/>
            <p:cNvSpPr txBox="1"/>
            <p:nvPr/>
          </p:nvSpPr>
          <p:spPr>
            <a:xfrm>
              <a:off x="1892300" y="2286000"/>
              <a:ext cx="1143000" cy="368300"/>
            </a:xfrm>
            <a:prstGeom prst="rect">
              <a:avLst/>
            </a:prstGeom>
            <a:noFill/>
            <a:ln w="19050">
              <a:noFill/>
            </a:ln>
          </p:spPr>
          <p:txBody>
            <a:bodyPr>
              <a:spAutoFit/>
            </a:bodyPr>
            <a:lstStyle/>
            <a:p>
              <a:pPr>
                <a:spcBef>
                  <a:spcPct val="50000"/>
                </a:spcBef>
              </a:pP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否</a:t>
              </a:r>
              <a:endPar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31" name="Text Box 29"/>
            <p:cNvSpPr txBox="1"/>
            <p:nvPr/>
          </p:nvSpPr>
          <p:spPr>
            <a:xfrm>
              <a:off x="4483100" y="2743200"/>
              <a:ext cx="1143000" cy="368300"/>
            </a:xfrm>
            <a:prstGeom prst="rect">
              <a:avLst/>
            </a:prstGeom>
            <a:noFill/>
            <a:ln w="19050">
              <a:noFill/>
            </a:ln>
          </p:spPr>
          <p:txBody>
            <a:bodyPr>
              <a:spAutoFit/>
            </a:bodyPr>
            <a:lstStyle/>
            <a:p>
              <a:pPr>
                <a:spcBef>
                  <a:spcPct val="50000"/>
                </a:spcBef>
              </a:pP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否</a:t>
              </a:r>
              <a:endPar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32" name="Text Box 30"/>
            <p:cNvSpPr txBox="1"/>
            <p:nvPr/>
          </p:nvSpPr>
          <p:spPr>
            <a:xfrm>
              <a:off x="3263900" y="3124200"/>
              <a:ext cx="914400" cy="368300"/>
            </a:xfrm>
            <a:prstGeom prst="rect">
              <a:avLst/>
            </a:prstGeom>
            <a:noFill/>
            <a:ln w="19050">
              <a:noFill/>
            </a:ln>
          </p:spPr>
          <p:txBody>
            <a:bodyPr>
              <a:spAutoFit/>
            </a:bodyPr>
            <a:lstStyle/>
            <a:p>
              <a:pPr>
                <a:spcBef>
                  <a:spcPct val="50000"/>
                </a:spcBef>
              </a:pP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是</a:t>
              </a:r>
              <a:endPar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33" name="Text Box 31"/>
            <p:cNvSpPr txBox="1"/>
            <p:nvPr/>
          </p:nvSpPr>
          <p:spPr>
            <a:xfrm>
              <a:off x="5702300" y="3733800"/>
              <a:ext cx="914400" cy="368300"/>
            </a:xfrm>
            <a:prstGeom prst="rect">
              <a:avLst/>
            </a:prstGeom>
            <a:noFill/>
            <a:ln w="19050">
              <a:noFill/>
            </a:ln>
          </p:spPr>
          <p:txBody>
            <a:bodyPr>
              <a:spAutoFit/>
            </a:bodyPr>
            <a:lstStyle/>
            <a:p>
              <a:pPr>
                <a:spcBef>
                  <a:spcPct val="50000"/>
                </a:spcBef>
              </a:pPr>
              <a:r>
                <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rPr>
                <a:t>是</a:t>
              </a:r>
              <a:endParaRPr lang="zh-CN" altLang="en-US" sz="1800" b="1" dirty="0">
                <a:latin typeface="Times New Roman" panose="02020503050405090304" pitchFamily="18" charset="0"/>
                <a:ea typeface="微软雅黑" panose="020B0503020204020204" pitchFamily="34" charset="-122"/>
                <a:cs typeface="Times New Roman" panose="02020503050405090304" pitchFamily="18" charset="0"/>
              </a:endParaRPr>
            </a:p>
          </p:txBody>
        </p:sp>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0" y="-48895"/>
            <a:ext cx="12192000" cy="6906895"/>
            <a:chOff x="390232" y="286325"/>
            <a:chExt cx="11411536" cy="5973226"/>
          </a:xfrm>
        </p:grpSpPr>
        <p:pic>
          <p:nvPicPr>
            <p:cNvPr id="3074" name="Picture 2" descr="Practical or Theory: What Makes You Pro After Bachelor in Technology? -  Sharda University Blo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flipH="1">
              <a:off x="390232" y="286325"/>
              <a:ext cx="11411536" cy="5973226"/>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p:cNvPicPr>
              <a:picLocks noChangeAspect="1"/>
            </p:cNvPicPr>
            <p:nvPr/>
          </p:nvPicPr>
          <p:blipFill>
            <a:blip r:embed="rId2"/>
            <a:stretch>
              <a:fillRect/>
            </a:stretch>
          </p:blipFill>
          <p:spPr>
            <a:xfrm>
              <a:off x="1465573" y="954843"/>
              <a:ext cx="2822522" cy="989089"/>
            </a:xfrm>
            <a:prstGeom prst="rect">
              <a:avLst/>
            </a:prstGeom>
          </p:spPr>
        </p:pic>
        <p:pic>
          <p:nvPicPr>
            <p:cNvPr id="6" name="图片 5"/>
            <p:cNvPicPr>
              <a:picLocks noChangeAspect="1"/>
            </p:cNvPicPr>
            <p:nvPr/>
          </p:nvPicPr>
          <p:blipFill>
            <a:blip r:embed="rId3"/>
            <a:stretch>
              <a:fillRect/>
            </a:stretch>
          </p:blipFill>
          <p:spPr>
            <a:xfrm>
              <a:off x="7684258" y="873125"/>
              <a:ext cx="3677984" cy="1267909"/>
            </a:xfrm>
            <a:prstGeom prst="rect">
              <a:avLst/>
            </a:prstGeom>
          </p:spPr>
        </p:pic>
        <p:sp>
          <p:nvSpPr>
            <p:cNvPr id="7" name="文本框 6"/>
            <p:cNvSpPr txBox="1"/>
            <p:nvPr/>
          </p:nvSpPr>
          <p:spPr>
            <a:xfrm>
              <a:off x="1316039" y="1369568"/>
              <a:ext cx="3162739" cy="611216"/>
            </a:xfrm>
            <a:prstGeom prst="rect">
              <a:avLst/>
            </a:prstGeom>
            <a:noFill/>
          </p:spPr>
          <p:txBody>
            <a:bodyPr wrap="square" rtlCol="0">
              <a:spAutoFit/>
            </a:bodyPr>
            <a:lstStyle/>
            <a:p>
              <a:r>
                <a:rPr lang="en-US" altLang="zh-CN" sz="4000" b="1" dirty="0">
                  <a:solidFill>
                    <a:srgbClr val="FFDB53"/>
                  </a:solidFill>
                  <a:latin typeface="Arial Black" panose="020B0A04020102020204" pitchFamily="34" charset="0"/>
                  <a:cs typeface="Times New Roman" panose="02020503050405090304" pitchFamily="18" charset="0"/>
                </a:rPr>
                <a:t>THEORY</a:t>
              </a:r>
              <a:endParaRPr lang="zh-CN" altLang="en-US" sz="4000" b="1" dirty="0">
                <a:solidFill>
                  <a:srgbClr val="FFDB53"/>
                </a:solidFill>
                <a:latin typeface="Arial Black" panose="020B0A04020102020204" pitchFamily="34" charset="0"/>
                <a:cs typeface="Times New Roman" panose="02020503050405090304" pitchFamily="18" charset="0"/>
              </a:endParaRPr>
            </a:p>
          </p:txBody>
        </p:sp>
        <p:sp>
          <p:nvSpPr>
            <p:cNvPr id="10" name="文本框 9"/>
            <p:cNvSpPr txBox="1"/>
            <p:nvPr/>
          </p:nvSpPr>
          <p:spPr>
            <a:xfrm>
              <a:off x="7491854" y="1369568"/>
              <a:ext cx="4273779" cy="611216"/>
            </a:xfrm>
            <a:prstGeom prst="rect">
              <a:avLst/>
            </a:prstGeom>
            <a:noFill/>
          </p:spPr>
          <p:txBody>
            <a:bodyPr wrap="square" rtlCol="0">
              <a:spAutoFit/>
            </a:bodyPr>
            <a:lstStyle/>
            <a:p>
              <a:r>
                <a:rPr lang="en-US" altLang="zh-CN" sz="4000" b="1" dirty="0">
                  <a:solidFill>
                    <a:srgbClr val="FFDB53"/>
                  </a:solidFill>
                  <a:latin typeface="Arial Black" panose="020B0A04020102020204" pitchFamily="34" charset="0"/>
                  <a:cs typeface="Times New Roman" panose="02020503050405090304" pitchFamily="18" charset="0"/>
                </a:rPr>
                <a:t>PRACTICAL</a:t>
              </a:r>
              <a:endParaRPr lang="zh-CN" altLang="en-US" sz="4000" b="1" dirty="0">
                <a:solidFill>
                  <a:srgbClr val="FFDB53"/>
                </a:solidFill>
                <a:latin typeface="Arial Black" panose="020B0A04020102020204" pitchFamily="34" charset="0"/>
                <a:cs typeface="Times New Roman" panose="02020503050405090304" pitchFamily="18" charset="0"/>
              </a:endParaRPr>
            </a:p>
          </p:txBody>
        </p:sp>
      </p:grpSp>
      <p:sp>
        <p:nvSpPr>
          <p:cNvPr id="2" name="灯片编号占位符 1"/>
          <p:cNvSpPr>
            <a:spLocks noGrp="1"/>
          </p:cNvSpPr>
          <p:nvPr>
            <p:ph type="sldNum" sz="quarter" idx="12"/>
          </p:nvPr>
        </p:nvSpPr>
        <p:spPr/>
        <p:txBody>
          <a:bodyPr/>
          <a:lstStyle/>
          <a:p>
            <a:fld id="{0D4EF626-F2E7-47E8-A3E5-EAE9C4555C6D}" type="slidenum">
              <a:rPr lang="zh-CN" altLang="en-US" smtClean="0"/>
            </a:fld>
            <a:endParaRPr lang="zh-CN" alt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4" descr="“data”的图片搜索结果"/>
          <p:cNvSpPr>
            <a:spLocks noChangeAspect="1" noChangeArrowheads="1"/>
          </p:cNvSpPr>
          <p:nvPr/>
        </p:nvSpPr>
        <p:spPr bwMode="auto">
          <a:xfrm>
            <a:off x="1492251"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00" name="文本框 99"/>
          <p:cNvSpPr txBox="1"/>
          <p:nvPr/>
        </p:nvSpPr>
        <p:spPr>
          <a:xfrm>
            <a:off x="281940" y="55880"/>
            <a:ext cx="11628120" cy="2515235"/>
          </a:xfrm>
          <a:prstGeom prst="rect">
            <a:avLst/>
          </a:prstGeom>
          <a:noFill/>
          <a:ln w="9525">
            <a:noFill/>
          </a:ln>
        </p:spPr>
        <p:txBody>
          <a:bodyPr wrap="square">
            <a:spAutoFit/>
          </a:bodyPr>
          <a:p>
            <a:pPr indent="0" fontAlgn="auto">
              <a:lnSpc>
                <a:spcPct val="125000"/>
              </a:lnSpc>
            </a:pPr>
            <a:r>
              <a:rPr lang="zh-CN" b="0">
                <a:latin typeface="Times New Roman" panose="02020503050405090304" pitchFamily="18" charset="0"/>
                <a:ea typeface="微软雅黑" panose="020B0503020204020204" pitchFamily="34" charset="-122"/>
                <a:cs typeface="Times New Roman" panose="02020503050405090304" pitchFamily="18" charset="0"/>
              </a:rPr>
              <a:t>一个具有</a:t>
            </a:r>
            <a:r>
              <a:rPr lang="zh-CN" b="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两道作业</a:t>
            </a:r>
            <a:r>
              <a:rPr lang="zh-CN" b="0">
                <a:latin typeface="Times New Roman" panose="02020503050405090304" pitchFamily="18" charset="0"/>
                <a:ea typeface="微软雅黑" panose="020B0503020204020204" pitchFamily="34" charset="-122"/>
                <a:cs typeface="Times New Roman" panose="02020503050405090304" pitchFamily="18" charset="0"/>
              </a:rPr>
              <a:t>的批处理系统，</a:t>
            </a:r>
            <a:r>
              <a:rPr lang="zh-CN" b="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作业调度</a:t>
            </a:r>
            <a:r>
              <a:rPr lang="zh-CN" b="0">
                <a:latin typeface="Times New Roman" panose="02020503050405090304" pitchFamily="18" charset="0"/>
                <a:ea typeface="微软雅黑" panose="020B0503020204020204" pitchFamily="34" charset="-122"/>
                <a:cs typeface="Times New Roman" panose="02020503050405090304" pitchFamily="18" charset="0"/>
              </a:rPr>
              <a:t>采用</a:t>
            </a:r>
            <a:r>
              <a:rPr lang="zh-CN" b="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最高响应比优先</a:t>
            </a:r>
            <a:r>
              <a:rPr lang="zh-CN" b="0">
                <a:latin typeface="Times New Roman" panose="02020503050405090304" pitchFamily="18" charset="0"/>
                <a:ea typeface="微软雅黑" panose="020B0503020204020204" pitchFamily="34" charset="-122"/>
                <a:cs typeface="Times New Roman" panose="02020503050405090304" pitchFamily="18" charset="0"/>
              </a:rPr>
              <a:t>的调度算法，</a:t>
            </a:r>
            <a:r>
              <a:rPr lang="zh-CN" b="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进程调度</a:t>
            </a:r>
            <a:r>
              <a:rPr lang="zh-CN" b="0">
                <a:latin typeface="Times New Roman" panose="02020503050405090304" pitchFamily="18" charset="0"/>
                <a:ea typeface="微软雅黑" panose="020B0503020204020204" pitchFamily="34" charset="-122"/>
                <a:cs typeface="Times New Roman" panose="02020503050405090304" pitchFamily="18" charset="0"/>
              </a:rPr>
              <a:t>采用以</a:t>
            </a:r>
            <a:r>
              <a:rPr lang="zh-CN" b="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短进程优先</a:t>
            </a:r>
            <a:r>
              <a:rPr lang="zh-CN" b="0">
                <a:latin typeface="Times New Roman" panose="02020503050405090304" pitchFamily="18" charset="0"/>
                <a:ea typeface="微软雅黑" panose="020B0503020204020204" pitchFamily="34" charset="-122"/>
                <a:cs typeface="Times New Roman" panose="02020503050405090304" pitchFamily="18" charset="0"/>
              </a:rPr>
              <a:t>的</a:t>
            </a:r>
            <a:r>
              <a:rPr lang="zh-CN" b="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剥夺式调度</a:t>
            </a:r>
            <a:r>
              <a:rPr lang="zh-CN" b="0">
                <a:latin typeface="Times New Roman" panose="02020503050405090304" pitchFamily="18" charset="0"/>
                <a:ea typeface="微软雅黑" panose="020B0503020204020204" pitchFamily="34" charset="-122"/>
                <a:cs typeface="Times New Roman" panose="02020503050405090304" pitchFamily="18" charset="0"/>
              </a:rPr>
              <a:t>算法，作业的序列如下，试算出作业的</a:t>
            </a:r>
            <a:r>
              <a:rPr lang="zh-CN" b="1">
                <a:solidFill>
                  <a:srgbClr val="C00000"/>
                </a:solidFill>
                <a:latin typeface="Times New Roman" panose="02020503050405090304" pitchFamily="18" charset="0"/>
                <a:ea typeface="微软雅黑" panose="020B0503020204020204" pitchFamily="34" charset="-122"/>
                <a:cs typeface="Times New Roman" panose="02020503050405090304" pitchFamily="18" charset="0"/>
              </a:rPr>
              <a:t>平均周转时间</a:t>
            </a:r>
            <a:r>
              <a:rPr lang="zh-CN" b="0">
                <a:latin typeface="Times New Roman" panose="02020503050405090304" pitchFamily="18" charset="0"/>
                <a:ea typeface="微软雅黑" panose="020B0503020204020204" pitchFamily="34" charset="-122"/>
                <a:cs typeface="Times New Roman" panose="02020503050405090304" pitchFamily="18" charset="0"/>
              </a:rPr>
              <a:t>。（要求给出必要的步骤）。</a:t>
            </a:r>
            <a:endParaRPr lang="zh-CN" b="0">
              <a:latin typeface="Times New Roman" panose="02020503050405090304" pitchFamily="18" charset="0"/>
              <a:ea typeface="微软雅黑" panose="020B0503020204020204" pitchFamily="34" charset="-122"/>
              <a:cs typeface="Times New Roman" panose="02020503050405090304" pitchFamily="18" charset="0"/>
            </a:endParaRPr>
          </a:p>
          <a:p>
            <a:pPr indent="0" fontAlgn="auto">
              <a:lnSpc>
                <a:spcPct val="125000"/>
              </a:lnSpc>
            </a:pPr>
            <a:r>
              <a:rPr lang="en-US" altLang="zh-CN" b="0">
                <a:latin typeface="Times New Roman" panose="02020503050405090304" pitchFamily="18" charset="0"/>
                <a:ea typeface="微软雅黑" panose="020B0503020204020204" pitchFamily="34" charset="-122"/>
                <a:cs typeface="Times New Roman" panose="02020503050405090304" pitchFamily="18" charset="0"/>
              </a:rPr>
              <a:t>	</a:t>
            </a:r>
            <a:r>
              <a:rPr lang="zh-CN" b="0">
                <a:latin typeface="Times New Roman" panose="02020503050405090304" pitchFamily="18" charset="0"/>
                <a:ea typeface="微软雅黑" panose="020B0503020204020204" pitchFamily="34" charset="-122"/>
                <a:cs typeface="Times New Roman" panose="02020503050405090304" pitchFamily="18" charset="0"/>
              </a:rPr>
              <a:t>作业名</a:t>
            </a:r>
            <a:r>
              <a:rPr lang="en-US" b="0">
                <a:latin typeface="Times New Roman" panose="02020503050405090304" pitchFamily="18" charset="0"/>
                <a:ea typeface="微软雅黑" panose="020B0503020204020204" pitchFamily="34" charset="-122"/>
                <a:cs typeface="Times New Roman" panose="02020503050405090304" pitchFamily="18" charset="0"/>
              </a:rPr>
              <a:t>			</a:t>
            </a:r>
            <a:r>
              <a:rPr lang="zh-CN" b="0">
                <a:latin typeface="Times New Roman" panose="02020503050405090304" pitchFamily="18" charset="0"/>
                <a:ea typeface="微软雅黑" panose="020B0503020204020204" pitchFamily="34" charset="-122"/>
                <a:cs typeface="Times New Roman" panose="02020503050405090304" pitchFamily="18" charset="0"/>
              </a:rPr>
              <a:t>到达时间</a:t>
            </a:r>
            <a:r>
              <a:rPr lang="en-US" b="0">
                <a:latin typeface="Times New Roman" panose="02020503050405090304" pitchFamily="18" charset="0"/>
                <a:ea typeface="微软雅黑" panose="020B0503020204020204" pitchFamily="34" charset="-122"/>
                <a:cs typeface="Times New Roman" panose="02020503050405090304" pitchFamily="18" charset="0"/>
              </a:rPr>
              <a:t>		</a:t>
            </a:r>
            <a:r>
              <a:rPr lang="zh-CN" b="0">
                <a:latin typeface="Times New Roman" panose="02020503050405090304" pitchFamily="18" charset="0"/>
                <a:ea typeface="微软雅黑" panose="020B0503020204020204" pitchFamily="34" charset="-122"/>
                <a:cs typeface="Times New Roman" panose="02020503050405090304" pitchFamily="18" charset="0"/>
              </a:rPr>
              <a:t>估计运行时间</a:t>
            </a:r>
            <a:r>
              <a:rPr lang="en-US" b="0">
                <a:latin typeface="Times New Roman" panose="02020503050405090304" pitchFamily="18" charset="0"/>
                <a:ea typeface="微软雅黑" panose="020B0503020204020204" pitchFamily="34" charset="-122"/>
                <a:cs typeface="Times New Roman" panose="02020503050405090304" pitchFamily="18" charset="0"/>
              </a:rPr>
              <a:t>	    A			   10</a:t>
            </a:r>
            <a:r>
              <a:rPr lang="zh-CN" b="0">
                <a:latin typeface="Times New Roman" panose="02020503050405090304" pitchFamily="18" charset="0"/>
                <a:ea typeface="微软雅黑" panose="020B0503020204020204" pitchFamily="34" charset="-122"/>
                <a:cs typeface="Times New Roman" panose="02020503050405090304" pitchFamily="18" charset="0"/>
              </a:rPr>
              <a:t>：</a:t>
            </a:r>
            <a:r>
              <a:rPr lang="en-US" b="0">
                <a:latin typeface="Times New Roman" panose="02020503050405090304" pitchFamily="18" charset="0"/>
                <a:ea typeface="微软雅黑" panose="020B0503020204020204" pitchFamily="34" charset="-122"/>
                <a:cs typeface="Times New Roman" panose="02020503050405090304" pitchFamily="18" charset="0"/>
              </a:rPr>
              <a:t>00			          40</a:t>
            </a:r>
            <a:r>
              <a:rPr lang="zh-CN" b="0">
                <a:latin typeface="Times New Roman" panose="02020503050405090304" pitchFamily="18" charset="0"/>
                <a:ea typeface="微软雅黑" panose="020B0503020204020204" pitchFamily="34" charset="-122"/>
                <a:cs typeface="Times New Roman" panose="02020503050405090304" pitchFamily="18" charset="0"/>
              </a:rPr>
              <a:t>分</a:t>
            </a:r>
            <a:r>
              <a:rPr lang="en-US" b="0">
                <a:latin typeface="Times New Roman" panose="02020503050405090304" pitchFamily="18" charset="0"/>
                <a:ea typeface="微软雅黑" panose="020B0503020204020204" pitchFamily="34" charset="-122"/>
                <a:cs typeface="Times New Roman" panose="02020503050405090304" pitchFamily="18" charset="0"/>
              </a:rPr>
              <a:t>	    B			   10</a:t>
            </a:r>
            <a:r>
              <a:rPr lang="zh-CN" b="0">
                <a:latin typeface="Times New Roman" panose="02020503050405090304" pitchFamily="18" charset="0"/>
                <a:ea typeface="微软雅黑" panose="020B0503020204020204" pitchFamily="34" charset="-122"/>
                <a:cs typeface="Times New Roman" panose="02020503050405090304" pitchFamily="18" charset="0"/>
              </a:rPr>
              <a:t>：</a:t>
            </a:r>
            <a:r>
              <a:rPr lang="en-US" b="0">
                <a:latin typeface="Times New Roman" panose="02020503050405090304" pitchFamily="18" charset="0"/>
                <a:ea typeface="微软雅黑" panose="020B0503020204020204" pitchFamily="34" charset="-122"/>
                <a:cs typeface="Times New Roman" panose="02020503050405090304" pitchFamily="18" charset="0"/>
              </a:rPr>
              <a:t>20			</a:t>
            </a: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          </a:t>
            </a:r>
            <a:r>
              <a:rPr lang="en-US" b="0">
                <a:latin typeface="Times New Roman" panose="02020503050405090304" pitchFamily="18" charset="0"/>
                <a:ea typeface="微软雅黑" panose="020B0503020204020204" pitchFamily="34" charset="-122"/>
                <a:cs typeface="Times New Roman" panose="02020503050405090304" pitchFamily="18" charset="0"/>
              </a:rPr>
              <a:t>30</a:t>
            </a:r>
            <a:r>
              <a:rPr lang="zh-CN" b="0">
                <a:latin typeface="Times New Roman" panose="02020503050405090304" pitchFamily="18" charset="0"/>
                <a:ea typeface="微软雅黑" panose="020B0503020204020204" pitchFamily="34" charset="-122"/>
                <a:cs typeface="Times New Roman" panose="02020503050405090304" pitchFamily="18" charset="0"/>
              </a:rPr>
              <a:t>分</a:t>
            </a:r>
            <a:r>
              <a:rPr lang="en-US" b="0">
                <a:latin typeface="Times New Roman" panose="02020503050405090304" pitchFamily="18" charset="0"/>
                <a:ea typeface="微软雅黑" panose="020B0503020204020204" pitchFamily="34" charset="-122"/>
                <a:cs typeface="Times New Roman" panose="02020503050405090304" pitchFamily="18" charset="0"/>
              </a:rPr>
              <a:t>	    C			   10</a:t>
            </a:r>
            <a:r>
              <a:rPr lang="zh-CN" b="0">
                <a:latin typeface="Times New Roman" panose="02020503050405090304" pitchFamily="18" charset="0"/>
                <a:ea typeface="微软雅黑" panose="020B0503020204020204" pitchFamily="34" charset="-122"/>
                <a:cs typeface="Times New Roman" panose="02020503050405090304" pitchFamily="18" charset="0"/>
              </a:rPr>
              <a:t>：</a:t>
            </a:r>
            <a:r>
              <a:rPr lang="en-US" b="0">
                <a:latin typeface="Times New Roman" panose="02020503050405090304" pitchFamily="18" charset="0"/>
                <a:ea typeface="微软雅黑" panose="020B0503020204020204" pitchFamily="34" charset="-122"/>
                <a:cs typeface="Times New Roman" panose="02020503050405090304" pitchFamily="18" charset="0"/>
              </a:rPr>
              <a:t>30			</a:t>
            </a: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          </a:t>
            </a:r>
            <a:r>
              <a:rPr lang="en-US" b="0">
                <a:latin typeface="Times New Roman" panose="02020503050405090304" pitchFamily="18" charset="0"/>
                <a:ea typeface="微软雅黑" panose="020B0503020204020204" pitchFamily="34" charset="-122"/>
                <a:cs typeface="Times New Roman" panose="02020503050405090304" pitchFamily="18" charset="0"/>
              </a:rPr>
              <a:t>50</a:t>
            </a:r>
            <a:r>
              <a:rPr lang="zh-CN" b="0">
                <a:latin typeface="Times New Roman" panose="02020503050405090304" pitchFamily="18" charset="0"/>
                <a:ea typeface="微软雅黑" panose="020B0503020204020204" pitchFamily="34" charset="-122"/>
                <a:cs typeface="Times New Roman" panose="02020503050405090304" pitchFamily="18" charset="0"/>
              </a:rPr>
              <a:t>分</a:t>
            </a:r>
            <a:r>
              <a:rPr lang="en-US" b="0">
                <a:latin typeface="Times New Roman" panose="02020503050405090304" pitchFamily="18" charset="0"/>
                <a:ea typeface="微软雅黑" panose="020B0503020204020204" pitchFamily="34" charset="-122"/>
                <a:cs typeface="Times New Roman" panose="02020503050405090304" pitchFamily="18" charset="0"/>
              </a:rPr>
              <a:t>	    D			   10</a:t>
            </a:r>
            <a:r>
              <a:rPr lang="zh-CN" b="0">
                <a:latin typeface="Times New Roman" panose="02020503050405090304" pitchFamily="18" charset="0"/>
                <a:ea typeface="微软雅黑" panose="020B0503020204020204" pitchFamily="34" charset="-122"/>
                <a:cs typeface="Times New Roman" panose="02020503050405090304" pitchFamily="18" charset="0"/>
              </a:rPr>
              <a:t>：</a:t>
            </a:r>
            <a:r>
              <a:rPr lang="en-US" b="0">
                <a:latin typeface="Times New Roman" panose="02020503050405090304" pitchFamily="18" charset="0"/>
                <a:ea typeface="微软雅黑" panose="020B0503020204020204" pitchFamily="34" charset="-122"/>
                <a:cs typeface="Times New Roman" panose="02020503050405090304" pitchFamily="18" charset="0"/>
              </a:rPr>
              <a:t>40			</a:t>
            </a: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          </a:t>
            </a:r>
            <a:r>
              <a:rPr lang="en-US" b="0">
                <a:latin typeface="Times New Roman" panose="02020503050405090304" pitchFamily="18" charset="0"/>
                <a:ea typeface="微软雅黑" panose="020B0503020204020204" pitchFamily="34" charset="-122"/>
                <a:cs typeface="Times New Roman" panose="02020503050405090304" pitchFamily="18" charset="0"/>
              </a:rPr>
              <a:t>20</a:t>
            </a:r>
            <a:r>
              <a:rPr lang="zh-CN" b="0">
                <a:latin typeface="Times New Roman" panose="02020503050405090304" pitchFamily="18" charset="0"/>
                <a:ea typeface="微软雅黑" panose="020B0503020204020204" pitchFamily="34" charset="-122"/>
                <a:cs typeface="Times New Roman" panose="02020503050405090304" pitchFamily="18" charset="0"/>
              </a:rPr>
              <a:t>分</a:t>
            </a:r>
            <a:endParaRPr lang="zh-CN" altLang="en-US" b="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2" name="文本框 1"/>
          <p:cNvSpPr txBox="1"/>
          <p:nvPr/>
        </p:nvSpPr>
        <p:spPr>
          <a:xfrm>
            <a:off x="368935" y="6051550"/>
            <a:ext cx="11541125" cy="460375"/>
          </a:xfrm>
          <a:prstGeom prst="rect">
            <a:avLst/>
          </a:prstGeom>
          <a:noFill/>
          <a:ln w="9525">
            <a:noFill/>
          </a:ln>
        </p:spPr>
        <p:txBody>
          <a:bodyPr wrap="square">
            <a:spAutoFit/>
          </a:bodyPr>
          <a:p>
            <a:pPr indent="0" fontAlgn="auto"/>
            <a:r>
              <a:rPr lang="zh-CN"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平均周转时间</a:t>
            </a:r>
            <a:r>
              <a:rPr lang="en-US" altLang="zh-CN"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=（40+50+110+50）/</a:t>
            </a:r>
            <a:r>
              <a:rPr lang="en-US" altLang="zh-CN"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4</a:t>
            </a:r>
            <a:r>
              <a:rPr lang="en-US" altLang="zh-CN"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62.5</a:t>
            </a:r>
            <a:endParaRPr lang="zh-CN" altLang="en-US" sz="24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4" name="直接箭头连接符 3"/>
          <p:cNvCxnSpPr/>
          <p:nvPr/>
        </p:nvCxnSpPr>
        <p:spPr>
          <a:xfrm>
            <a:off x="369570" y="5547995"/>
            <a:ext cx="11704320" cy="2603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rot="16200000">
            <a:off x="-986155" y="4156710"/>
            <a:ext cx="2746800" cy="3556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109220" y="554799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0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7" name="文本框 6"/>
          <p:cNvSpPr txBox="1"/>
          <p:nvPr/>
        </p:nvSpPr>
        <p:spPr>
          <a:xfrm>
            <a:off x="985520" y="554799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10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9" name="文本框 8"/>
          <p:cNvSpPr txBox="1"/>
          <p:nvPr/>
        </p:nvSpPr>
        <p:spPr>
          <a:xfrm>
            <a:off x="1861820" y="554799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20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0" name="文本框 9"/>
          <p:cNvSpPr txBox="1"/>
          <p:nvPr/>
        </p:nvSpPr>
        <p:spPr>
          <a:xfrm>
            <a:off x="2738120" y="554799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30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1" name="文本框 10"/>
          <p:cNvSpPr txBox="1"/>
          <p:nvPr/>
        </p:nvSpPr>
        <p:spPr>
          <a:xfrm>
            <a:off x="3614420" y="554799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40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2" name="文本框 11"/>
          <p:cNvSpPr txBox="1"/>
          <p:nvPr/>
        </p:nvSpPr>
        <p:spPr>
          <a:xfrm>
            <a:off x="4490720" y="554799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50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3" name="文本框 12"/>
          <p:cNvSpPr txBox="1"/>
          <p:nvPr/>
        </p:nvSpPr>
        <p:spPr>
          <a:xfrm>
            <a:off x="5367020" y="554799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60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5" name="文本框 14"/>
          <p:cNvSpPr txBox="1"/>
          <p:nvPr/>
        </p:nvSpPr>
        <p:spPr>
          <a:xfrm>
            <a:off x="6243320" y="554799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70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6" name="文本框 15"/>
          <p:cNvSpPr txBox="1"/>
          <p:nvPr/>
        </p:nvSpPr>
        <p:spPr>
          <a:xfrm>
            <a:off x="7119620" y="554799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80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7" name="文本框 16"/>
          <p:cNvSpPr txBox="1"/>
          <p:nvPr/>
        </p:nvSpPr>
        <p:spPr>
          <a:xfrm>
            <a:off x="7995920" y="554799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90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9" name="文本框 18"/>
          <p:cNvSpPr txBox="1"/>
          <p:nvPr/>
        </p:nvSpPr>
        <p:spPr>
          <a:xfrm>
            <a:off x="8719820" y="556069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100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20" name="文本框 19"/>
          <p:cNvSpPr txBox="1"/>
          <p:nvPr/>
        </p:nvSpPr>
        <p:spPr>
          <a:xfrm>
            <a:off x="9436100" y="556069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110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21" name="文本框 20"/>
          <p:cNvSpPr txBox="1"/>
          <p:nvPr/>
        </p:nvSpPr>
        <p:spPr>
          <a:xfrm>
            <a:off x="2540" y="305625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A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22" name="文本框 21"/>
          <p:cNvSpPr txBox="1"/>
          <p:nvPr/>
        </p:nvSpPr>
        <p:spPr>
          <a:xfrm>
            <a:off x="2540" y="372300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B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23" name="文本框 22"/>
          <p:cNvSpPr txBox="1"/>
          <p:nvPr/>
        </p:nvSpPr>
        <p:spPr>
          <a:xfrm>
            <a:off x="2540" y="438975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C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24" name="文本框 23"/>
          <p:cNvSpPr txBox="1"/>
          <p:nvPr/>
        </p:nvSpPr>
        <p:spPr>
          <a:xfrm>
            <a:off x="2540" y="505650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D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25" name="矩形 24"/>
          <p:cNvSpPr/>
          <p:nvPr/>
        </p:nvSpPr>
        <p:spPr>
          <a:xfrm>
            <a:off x="405130" y="3150870"/>
            <a:ext cx="870585" cy="174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6" name="矩形 25"/>
          <p:cNvSpPr/>
          <p:nvPr/>
        </p:nvSpPr>
        <p:spPr>
          <a:xfrm>
            <a:off x="1275715" y="3150870"/>
            <a:ext cx="870585" cy="174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矩形 26"/>
          <p:cNvSpPr/>
          <p:nvPr/>
        </p:nvSpPr>
        <p:spPr>
          <a:xfrm>
            <a:off x="3900805" y="3806190"/>
            <a:ext cx="870585" cy="174625"/>
          </a:xfrm>
          <a:prstGeom prst="rect">
            <a:avLst/>
          </a:prstGeom>
          <a:solidFill>
            <a:schemeClr val="accent6"/>
          </a:solidFill>
          <a:ln>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
        <p:nvSpPr>
          <p:cNvPr id="28" name="矩形 27"/>
          <p:cNvSpPr/>
          <p:nvPr/>
        </p:nvSpPr>
        <p:spPr>
          <a:xfrm>
            <a:off x="4771390" y="3806825"/>
            <a:ext cx="870585" cy="174625"/>
          </a:xfrm>
          <a:prstGeom prst="rect">
            <a:avLst/>
          </a:prstGeom>
          <a:solidFill>
            <a:schemeClr val="accent6"/>
          </a:solidFill>
          <a:ln>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
        <p:nvSpPr>
          <p:cNvPr id="29" name="矩形 28"/>
          <p:cNvSpPr/>
          <p:nvPr/>
        </p:nvSpPr>
        <p:spPr>
          <a:xfrm>
            <a:off x="2146300" y="3151505"/>
            <a:ext cx="870585" cy="174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矩形 29"/>
          <p:cNvSpPr/>
          <p:nvPr/>
        </p:nvSpPr>
        <p:spPr>
          <a:xfrm>
            <a:off x="3016885" y="3151505"/>
            <a:ext cx="870585" cy="1746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1" name="文本框 30"/>
          <p:cNvSpPr txBox="1"/>
          <p:nvPr/>
        </p:nvSpPr>
        <p:spPr>
          <a:xfrm>
            <a:off x="8465820" y="1226820"/>
            <a:ext cx="3288665" cy="1240790"/>
          </a:xfrm>
          <a:prstGeom prst="rect">
            <a:avLst/>
          </a:prstGeom>
          <a:solidFill>
            <a:srgbClr val="C00000"/>
          </a:solidFill>
        </p:spPr>
        <p:txBody>
          <a:bodyPr wrap="square" rtlCol="0" anchor="t">
            <a:noAutofit/>
          </a:bodyPr>
          <a:p>
            <a:r>
              <a:rPr lang="zh-CN" altLang="en-US" b="1">
                <a:solidFill>
                  <a:schemeClr val="bg1"/>
                </a:solidFill>
                <a:latin typeface="微软雅黑" panose="020B0503020204020204" pitchFamily="34" charset="-122"/>
                <a:ea typeface="微软雅黑" panose="020B0503020204020204" pitchFamily="34" charset="-122"/>
              </a:rPr>
              <a:t>两道作业：内存中同时放两个，但是每次只能有一个运行。运行哪一个是根据作业剩余时间判断，进程越短，优先级</a:t>
            </a:r>
            <a:r>
              <a:rPr lang="zh-CN" altLang="en-US" b="1">
                <a:solidFill>
                  <a:schemeClr val="bg1"/>
                </a:solidFill>
                <a:latin typeface="微软雅黑" panose="020B0503020204020204" pitchFamily="34" charset="-122"/>
                <a:ea typeface="微软雅黑" panose="020B0503020204020204" pitchFamily="34" charset="-122"/>
              </a:rPr>
              <a:t>越高。</a:t>
            </a:r>
            <a:endParaRPr lang="zh-CN" altLang="en-US" b="1">
              <a:solidFill>
                <a:schemeClr val="bg1"/>
              </a:solidFill>
              <a:latin typeface="微软雅黑" panose="020B0503020204020204" pitchFamily="34" charset="-122"/>
              <a:ea typeface="微软雅黑" panose="020B0503020204020204" pitchFamily="34" charset="-122"/>
            </a:endParaRPr>
          </a:p>
        </p:txBody>
      </p:sp>
      <p:sp>
        <p:nvSpPr>
          <p:cNvPr id="32" name="矩形 31"/>
          <p:cNvSpPr/>
          <p:nvPr/>
        </p:nvSpPr>
        <p:spPr>
          <a:xfrm>
            <a:off x="5641975" y="3806825"/>
            <a:ext cx="870585" cy="174625"/>
          </a:xfrm>
          <a:prstGeom prst="rect">
            <a:avLst/>
          </a:prstGeom>
          <a:solidFill>
            <a:schemeClr val="accent6"/>
          </a:solidFill>
          <a:ln>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cxnSp>
        <p:nvCxnSpPr>
          <p:cNvPr id="33" name="直接箭头连接符 32"/>
          <p:cNvCxnSpPr/>
          <p:nvPr/>
        </p:nvCxnSpPr>
        <p:spPr>
          <a:xfrm flipV="1">
            <a:off x="2110635" y="3327930"/>
            <a:ext cx="27305" cy="2219960"/>
          </a:xfrm>
          <a:prstGeom prst="straightConnector1">
            <a:avLst/>
          </a:prstGeom>
          <a:ln w="1270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4" name="文本框 33"/>
          <p:cNvSpPr txBox="1"/>
          <p:nvPr/>
        </p:nvSpPr>
        <p:spPr>
          <a:xfrm>
            <a:off x="481330" y="3427730"/>
            <a:ext cx="1624330" cy="93218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nchor="t">
            <a:noAutofit/>
          </a:bodyPr>
          <a:p>
            <a:r>
              <a:rPr lang="en-US" altLang="zh-CN" sz="1400">
                <a:solidFill>
                  <a:schemeClr val="bg1"/>
                </a:solidFill>
                <a:latin typeface="微软雅黑" panose="020B0503020204020204" pitchFamily="34" charset="-122"/>
                <a:ea typeface="微软雅黑" panose="020B0503020204020204" pitchFamily="34" charset="-122"/>
              </a:rPr>
              <a:t>B</a:t>
            </a:r>
            <a:r>
              <a:rPr lang="zh-CN" altLang="en-US" sz="1400">
                <a:solidFill>
                  <a:schemeClr val="bg1"/>
                </a:solidFill>
                <a:latin typeface="微软雅黑" panose="020B0503020204020204" pitchFamily="34" charset="-122"/>
                <a:ea typeface="微软雅黑" panose="020B0503020204020204" pitchFamily="34" charset="-122"/>
              </a:rPr>
              <a:t>于</a:t>
            </a:r>
            <a:r>
              <a:rPr lang="en-US" altLang="zh-CN" sz="1400">
                <a:solidFill>
                  <a:schemeClr val="bg1"/>
                </a:solidFill>
                <a:latin typeface="微软雅黑" panose="020B0503020204020204" pitchFamily="34" charset="-122"/>
                <a:ea typeface="微软雅黑" panose="020B0503020204020204" pitchFamily="34" charset="-122"/>
              </a:rPr>
              <a:t>20</a:t>
            </a:r>
            <a:r>
              <a:rPr lang="zh-CN" altLang="en-US" sz="1400">
                <a:solidFill>
                  <a:schemeClr val="bg1"/>
                </a:solidFill>
                <a:latin typeface="微软雅黑" panose="020B0503020204020204" pitchFamily="34" charset="-122"/>
                <a:ea typeface="微软雅黑" panose="020B0503020204020204" pitchFamily="34" charset="-122"/>
              </a:rPr>
              <a:t>到达，可装入内存，但是</a:t>
            </a:r>
            <a:r>
              <a:rPr lang="en-US" altLang="zh-CN" sz="1400">
                <a:solidFill>
                  <a:schemeClr val="bg1"/>
                </a:solidFill>
                <a:latin typeface="微软雅黑" panose="020B0503020204020204" pitchFamily="34" charset="-122"/>
                <a:ea typeface="微软雅黑" panose="020B0503020204020204" pitchFamily="34" charset="-122"/>
              </a:rPr>
              <a:t>A</a:t>
            </a:r>
            <a:r>
              <a:rPr lang="zh-CN" altLang="en-US" sz="1400">
                <a:solidFill>
                  <a:schemeClr val="bg1"/>
                </a:solidFill>
                <a:latin typeface="微软雅黑" panose="020B0503020204020204" pitchFamily="34" charset="-122"/>
                <a:ea typeface="微软雅黑" panose="020B0503020204020204" pitchFamily="34" charset="-122"/>
              </a:rPr>
              <a:t>还剩</a:t>
            </a:r>
            <a:r>
              <a:rPr lang="en-US" altLang="zh-CN" sz="1400">
                <a:solidFill>
                  <a:schemeClr val="bg1"/>
                </a:solidFill>
                <a:latin typeface="微软雅黑" panose="020B0503020204020204" pitchFamily="34" charset="-122"/>
                <a:ea typeface="微软雅黑" panose="020B0503020204020204" pitchFamily="34" charset="-122"/>
              </a:rPr>
              <a:t>20</a:t>
            </a:r>
            <a:r>
              <a:rPr lang="zh-CN" altLang="en-US" sz="1400">
                <a:solidFill>
                  <a:schemeClr val="bg1"/>
                </a:solidFill>
                <a:latin typeface="微软雅黑" panose="020B0503020204020204" pitchFamily="34" charset="-122"/>
                <a:ea typeface="微软雅黑" panose="020B0503020204020204" pitchFamily="34" charset="-122"/>
              </a:rPr>
              <a:t>分</a:t>
            </a:r>
            <a:r>
              <a:rPr lang="en-US" altLang="zh-CN" sz="1400">
                <a:solidFill>
                  <a:schemeClr val="bg1"/>
                </a:solidFill>
                <a:latin typeface="微软雅黑" panose="020B0503020204020204" pitchFamily="34" charset="-122"/>
                <a:ea typeface="微软雅黑" panose="020B0503020204020204" pitchFamily="34" charset="-122"/>
              </a:rPr>
              <a:t>&lt;30</a:t>
            </a:r>
            <a:r>
              <a:rPr lang="zh-CN" altLang="en-US" sz="1400">
                <a:solidFill>
                  <a:schemeClr val="bg1"/>
                </a:solidFill>
                <a:latin typeface="微软雅黑" panose="020B0503020204020204" pitchFamily="34" charset="-122"/>
                <a:ea typeface="微软雅黑" panose="020B0503020204020204" pitchFamily="34" charset="-122"/>
              </a:rPr>
              <a:t>分，继续运行</a:t>
            </a:r>
            <a:r>
              <a:rPr lang="en-US" altLang="zh-CN" sz="1400">
                <a:solidFill>
                  <a:schemeClr val="bg1"/>
                </a:solidFill>
                <a:latin typeface="微软雅黑" panose="020B0503020204020204" pitchFamily="34" charset="-122"/>
                <a:ea typeface="微软雅黑" panose="020B0503020204020204" pitchFamily="34" charset="-122"/>
              </a:rPr>
              <a:t>A</a:t>
            </a:r>
            <a:endParaRPr lang="en-US" altLang="zh-CN" sz="1400">
              <a:solidFill>
                <a:schemeClr val="bg1"/>
              </a:solidFill>
              <a:latin typeface="微软雅黑" panose="020B0503020204020204" pitchFamily="34" charset="-122"/>
              <a:ea typeface="微软雅黑" panose="020B0503020204020204" pitchFamily="34" charset="-122"/>
            </a:endParaRPr>
          </a:p>
        </p:txBody>
      </p:sp>
      <p:cxnSp>
        <p:nvCxnSpPr>
          <p:cNvPr id="36" name="直接箭头连接符 35"/>
          <p:cNvCxnSpPr/>
          <p:nvPr/>
        </p:nvCxnSpPr>
        <p:spPr>
          <a:xfrm flipV="1">
            <a:off x="2989475" y="3325390"/>
            <a:ext cx="27305" cy="2219960"/>
          </a:xfrm>
          <a:prstGeom prst="straightConnector1">
            <a:avLst/>
          </a:prstGeom>
          <a:ln w="1270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453390" y="4406265"/>
            <a:ext cx="2535555" cy="522605"/>
          </a:xfrm>
          <a:prstGeom prst="rect">
            <a:avLst/>
          </a:prstGeom>
        </p:spPr>
        <p:style>
          <a:lnRef idx="3">
            <a:schemeClr val="lt1"/>
          </a:lnRef>
          <a:fillRef idx="1">
            <a:schemeClr val="accent2"/>
          </a:fillRef>
          <a:effectRef idx="1">
            <a:schemeClr val="accent2"/>
          </a:effectRef>
          <a:fontRef idx="minor">
            <a:schemeClr val="lt1"/>
          </a:fontRef>
        </p:style>
        <p:txBody>
          <a:bodyPr wrap="square" rtlCol="0" anchor="t">
            <a:noAutofit/>
          </a:bodyPr>
          <a:p>
            <a:r>
              <a:rPr lang="en-US" altLang="zh-CN" sz="1400">
                <a:solidFill>
                  <a:schemeClr val="bg1"/>
                </a:solidFill>
                <a:latin typeface="微软雅黑" panose="020B0503020204020204" pitchFamily="34" charset="-122"/>
                <a:ea typeface="微软雅黑" panose="020B0503020204020204" pitchFamily="34" charset="-122"/>
              </a:rPr>
              <a:t>C</a:t>
            </a:r>
            <a:r>
              <a:rPr lang="zh-CN" altLang="en-US" sz="1400">
                <a:solidFill>
                  <a:schemeClr val="bg1"/>
                </a:solidFill>
                <a:latin typeface="微软雅黑" panose="020B0503020204020204" pitchFamily="34" charset="-122"/>
                <a:ea typeface="微软雅黑" panose="020B0503020204020204" pitchFamily="34" charset="-122"/>
              </a:rPr>
              <a:t>于</a:t>
            </a:r>
            <a:r>
              <a:rPr lang="en-US" altLang="zh-CN" sz="1400">
                <a:solidFill>
                  <a:schemeClr val="bg1"/>
                </a:solidFill>
                <a:latin typeface="微软雅黑" panose="020B0503020204020204" pitchFamily="34" charset="-122"/>
                <a:ea typeface="微软雅黑" panose="020B0503020204020204" pitchFamily="34" charset="-122"/>
              </a:rPr>
              <a:t>30</a:t>
            </a:r>
            <a:r>
              <a:rPr lang="zh-CN" altLang="en-US" sz="1400">
                <a:solidFill>
                  <a:schemeClr val="bg1"/>
                </a:solidFill>
                <a:latin typeface="微软雅黑" panose="020B0503020204020204" pitchFamily="34" charset="-122"/>
                <a:ea typeface="微软雅黑" panose="020B0503020204020204" pitchFamily="34" charset="-122"/>
              </a:rPr>
              <a:t>到达，内存空间不够，需等</a:t>
            </a:r>
            <a:r>
              <a:rPr lang="en-US" altLang="zh-CN" sz="1400">
                <a:solidFill>
                  <a:schemeClr val="bg1"/>
                </a:solidFill>
                <a:latin typeface="微软雅黑" panose="020B0503020204020204" pitchFamily="34" charset="-122"/>
                <a:ea typeface="微软雅黑" panose="020B0503020204020204" pitchFamily="34" charset="-122"/>
              </a:rPr>
              <a:t>A</a:t>
            </a:r>
            <a:r>
              <a:rPr lang="zh-CN" altLang="en-US" sz="1400">
                <a:solidFill>
                  <a:schemeClr val="bg1"/>
                </a:solidFill>
                <a:latin typeface="微软雅黑" panose="020B0503020204020204" pitchFamily="34" charset="-122"/>
                <a:ea typeface="微软雅黑" panose="020B0503020204020204" pitchFamily="34" charset="-122"/>
              </a:rPr>
              <a:t>运行完，才能装入内存</a:t>
            </a:r>
            <a:endParaRPr lang="zh-CN" altLang="en-US" sz="1400">
              <a:solidFill>
                <a:schemeClr val="bg1"/>
              </a:solidFill>
              <a:latin typeface="微软雅黑" panose="020B0503020204020204" pitchFamily="34" charset="-122"/>
              <a:ea typeface="微软雅黑" panose="020B0503020204020204" pitchFamily="34" charset="-122"/>
            </a:endParaRPr>
          </a:p>
        </p:txBody>
      </p:sp>
      <p:cxnSp>
        <p:nvCxnSpPr>
          <p:cNvPr id="38" name="直接箭头连接符 37"/>
          <p:cNvCxnSpPr/>
          <p:nvPr/>
        </p:nvCxnSpPr>
        <p:spPr>
          <a:xfrm flipV="1">
            <a:off x="3860060" y="2776750"/>
            <a:ext cx="45085" cy="2771140"/>
          </a:xfrm>
          <a:prstGeom prst="straightConnector1">
            <a:avLst/>
          </a:prstGeom>
          <a:ln w="1270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440690" y="4977130"/>
            <a:ext cx="3419475" cy="522605"/>
          </a:xfrm>
          <a:prstGeom prst="rect">
            <a:avLst/>
          </a:prstGeom>
        </p:spPr>
        <p:style>
          <a:lnRef idx="3">
            <a:schemeClr val="lt1"/>
          </a:lnRef>
          <a:fillRef idx="1">
            <a:schemeClr val="accent4"/>
          </a:fillRef>
          <a:effectRef idx="1">
            <a:schemeClr val="accent4"/>
          </a:effectRef>
          <a:fontRef idx="minor">
            <a:schemeClr val="lt1"/>
          </a:fontRef>
        </p:style>
        <p:txBody>
          <a:bodyPr wrap="square" rtlCol="0" anchor="t">
            <a:noAutofit/>
          </a:bodyPr>
          <a:p>
            <a:r>
              <a:rPr lang="en-US" altLang="zh-CN" sz="1400">
                <a:solidFill>
                  <a:schemeClr val="bg1"/>
                </a:solidFill>
                <a:latin typeface="微软雅黑" panose="020B0503020204020204" pitchFamily="34" charset="-122"/>
                <a:ea typeface="微软雅黑" panose="020B0503020204020204" pitchFamily="34" charset="-122"/>
              </a:rPr>
              <a:t>D</a:t>
            </a:r>
            <a:r>
              <a:rPr lang="zh-CN" altLang="en-US" sz="1400">
                <a:solidFill>
                  <a:schemeClr val="bg1"/>
                </a:solidFill>
                <a:latin typeface="微软雅黑" panose="020B0503020204020204" pitchFamily="34" charset="-122"/>
                <a:ea typeface="微软雅黑" panose="020B0503020204020204" pitchFamily="34" charset="-122"/>
              </a:rPr>
              <a:t>于</a:t>
            </a:r>
            <a:r>
              <a:rPr lang="en-US" altLang="zh-CN" sz="1400">
                <a:solidFill>
                  <a:schemeClr val="bg1"/>
                </a:solidFill>
                <a:latin typeface="微软雅黑" panose="020B0503020204020204" pitchFamily="34" charset="-122"/>
                <a:ea typeface="微软雅黑" panose="020B0503020204020204" pitchFamily="34" charset="-122"/>
              </a:rPr>
              <a:t>40</a:t>
            </a:r>
            <a:r>
              <a:rPr lang="zh-CN" altLang="en-US" sz="1400">
                <a:solidFill>
                  <a:schemeClr val="bg1"/>
                </a:solidFill>
                <a:latin typeface="微软雅黑" panose="020B0503020204020204" pitchFamily="34" charset="-122"/>
                <a:ea typeface="微软雅黑" panose="020B0503020204020204" pitchFamily="34" charset="-122"/>
              </a:rPr>
              <a:t>到达，内存空出一个作业，</a:t>
            </a:r>
            <a:r>
              <a:rPr lang="en-US" altLang="zh-CN" sz="1400">
                <a:solidFill>
                  <a:schemeClr val="bg1"/>
                </a:solidFill>
                <a:latin typeface="微软雅黑" panose="020B0503020204020204" pitchFamily="34" charset="-122"/>
                <a:ea typeface="微软雅黑" panose="020B0503020204020204" pitchFamily="34" charset="-122"/>
              </a:rPr>
              <a:t>H</a:t>
            </a:r>
            <a:r>
              <a:rPr lang="zh-CN" altLang="en-US" sz="1400">
                <a:solidFill>
                  <a:schemeClr val="bg1"/>
                </a:solidFill>
                <a:latin typeface="微软雅黑" panose="020B0503020204020204" pitchFamily="34" charset="-122"/>
                <a:ea typeface="微软雅黑" panose="020B0503020204020204" pitchFamily="34" charset="-122"/>
              </a:rPr>
              <a:t>（</a:t>
            </a:r>
            <a:r>
              <a:rPr lang="en-US" altLang="zh-CN" sz="1400">
                <a:solidFill>
                  <a:schemeClr val="bg1"/>
                </a:solidFill>
                <a:latin typeface="微软雅黑" panose="020B0503020204020204" pitchFamily="34" charset="-122"/>
                <a:ea typeface="微软雅黑" panose="020B0503020204020204" pitchFamily="34" charset="-122"/>
              </a:rPr>
              <a:t>C</a:t>
            </a:r>
            <a:r>
              <a:rPr lang="zh-CN" altLang="en-US" sz="1400">
                <a:solidFill>
                  <a:schemeClr val="bg1"/>
                </a:solidFill>
                <a:latin typeface="微软雅黑" panose="020B0503020204020204" pitchFamily="34" charset="-122"/>
                <a:ea typeface="微软雅黑" panose="020B0503020204020204" pitchFamily="34" charset="-122"/>
              </a:rPr>
              <a:t>）</a:t>
            </a:r>
            <a:r>
              <a:rPr lang="en-US" altLang="zh-CN" sz="1400">
                <a:solidFill>
                  <a:schemeClr val="bg1"/>
                </a:solidFill>
                <a:latin typeface="微软雅黑" panose="020B0503020204020204" pitchFamily="34" charset="-122"/>
                <a:ea typeface="微软雅黑" panose="020B0503020204020204" pitchFamily="34" charset="-122"/>
              </a:rPr>
              <a:t>=</a:t>
            </a:r>
            <a:r>
              <a:rPr lang="zh-CN" altLang="en-US" sz="1400">
                <a:solidFill>
                  <a:schemeClr val="bg1"/>
                </a:solidFill>
                <a:latin typeface="微软雅黑" panose="020B0503020204020204" pitchFamily="34" charset="-122"/>
                <a:ea typeface="微软雅黑" panose="020B0503020204020204" pitchFamily="34" charset="-122"/>
              </a:rPr>
              <a:t>（</a:t>
            </a:r>
            <a:r>
              <a:rPr lang="en-US" altLang="zh-CN" sz="1400">
                <a:solidFill>
                  <a:schemeClr val="bg1"/>
                </a:solidFill>
                <a:latin typeface="微软雅黑" panose="020B0503020204020204" pitchFamily="34" charset="-122"/>
                <a:ea typeface="微软雅黑" panose="020B0503020204020204" pitchFamily="34" charset="-122"/>
              </a:rPr>
              <a:t>10+50</a:t>
            </a:r>
            <a:r>
              <a:rPr lang="zh-CN" altLang="en-US" sz="1400">
                <a:solidFill>
                  <a:schemeClr val="bg1"/>
                </a:solidFill>
                <a:latin typeface="微软雅黑" panose="020B0503020204020204" pitchFamily="34" charset="-122"/>
                <a:ea typeface="微软雅黑" panose="020B0503020204020204" pitchFamily="34" charset="-122"/>
              </a:rPr>
              <a:t>）</a:t>
            </a:r>
            <a:r>
              <a:rPr lang="en-US" altLang="zh-CN" sz="1400">
                <a:solidFill>
                  <a:schemeClr val="bg1"/>
                </a:solidFill>
                <a:latin typeface="微软雅黑" panose="020B0503020204020204" pitchFamily="34" charset="-122"/>
                <a:ea typeface="微软雅黑" panose="020B0503020204020204" pitchFamily="34" charset="-122"/>
              </a:rPr>
              <a:t>/50=1.2</a:t>
            </a:r>
            <a:r>
              <a:rPr lang="zh-CN" altLang="en-US" sz="1400">
                <a:solidFill>
                  <a:schemeClr val="bg1"/>
                </a:solidFill>
                <a:latin typeface="微软雅黑" panose="020B0503020204020204" pitchFamily="34" charset="-122"/>
                <a:ea typeface="微软雅黑" panose="020B0503020204020204" pitchFamily="34" charset="-122"/>
              </a:rPr>
              <a:t>，</a:t>
            </a:r>
            <a:r>
              <a:rPr lang="en-US" altLang="zh-CN" sz="1400">
                <a:solidFill>
                  <a:schemeClr val="bg1"/>
                </a:solidFill>
                <a:latin typeface="微软雅黑" panose="020B0503020204020204" pitchFamily="34" charset="-122"/>
                <a:ea typeface="微软雅黑" panose="020B0503020204020204" pitchFamily="34" charset="-122"/>
              </a:rPr>
              <a:t>H</a:t>
            </a:r>
            <a:r>
              <a:rPr lang="zh-CN" altLang="en-US" sz="1400">
                <a:solidFill>
                  <a:schemeClr val="bg1"/>
                </a:solidFill>
                <a:latin typeface="微软雅黑" panose="020B0503020204020204" pitchFamily="34" charset="-122"/>
                <a:ea typeface="微软雅黑" panose="020B0503020204020204" pitchFamily="34" charset="-122"/>
              </a:rPr>
              <a:t>（</a:t>
            </a:r>
            <a:r>
              <a:rPr lang="en-US" altLang="zh-CN" sz="1400">
                <a:solidFill>
                  <a:schemeClr val="bg1"/>
                </a:solidFill>
                <a:latin typeface="微软雅黑" panose="020B0503020204020204" pitchFamily="34" charset="-122"/>
                <a:ea typeface="微软雅黑" panose="020B0503020204020204" pitchFamily="34" charset="-122"/>
              </a:rPr>
              <a:t>D</a:t>
            </a:r>
            <a:r>
              <a:rPr lang="zh-CN" altLang="en-US" sz="1400">
                <a:solidFill>
                  <a:schemeClr val="bg1"/>
                </a:solidFill>
                <a:latin typeface="微软雅黑" panose="020B0503020204020204" pitchFamily="34" charset="-122"/>
                <a:ea typeface="微软雅黑" panose="020B0503020204020204" pitchFamily="34" charset="-122"/>
              </a:rPr>
              <a:t>）</a:t>
            </a:r>
            <a:r>
              <a:rPr lang="en-US" altLang="zh-CN" sz="1400">
                <a:solidFill>
                  <a:schemeClr val="bg1"/>
                </a:solidFill>
                <a:latin typeface="微软雅黑" panose="020B0503020204020204" pitchFamily="34" charset="-122"/>
                <a:ea typeface="微软雅黑" panose="020B0503020204020204" pitchFamily="34" charset="-122"/>
              </a:rPr>
              <a:t>=1</a:t>
            </a:r>
            <a:r>
              <a:rPr lang="zh-CN" altLang="en-US" sz="1400">
                <a:solidFill>
                  <a:schemeClr val="bg1"/>
                </a:solidFill>
                <a:latin typeface="微软雅黑" panose="020B0503020204020204" pitchFamily="34" charset="-122"/>
                <a:ea typeface="微软雅黑" panose="020B0503020204020204" pitchFamily="34" charset="-122"/>
              </a:rPr>
              <a:t>，选</a:t>
            </a:r>
            <a:r>
              <a:rPr lang="en-US" altLang="zh-CN" sz="1400">
                <a:solidFill>
                  <a:schemeClr val="bg1"/>
                </a:solidFill>
                <a:latin typeface="微软雅黑" panose="020B0503020204020204" pitchFamily="34" charset="-122"/>
                <a:ea typeface="微软雅黑" panose="020B0503020204020204" pitchFamily="34" charset="-122"/>
              </a:rPr>
              <a:t>C</a:t>
            </a:r>
            <a:endParaRPr lang="en-US" altLang="zh-CN" sz="1400">
              <a:solidFill>
                <a:schemeClr val="bg1"/>
              </a:solidFill>
              <a:latin typeface="微软雅黑" panose="020B0503020204020204" pitchFamily="34" charset="-122"/>
              <a:ea typeface="微软雅黑" panose="020B0503020204020204" pitchFamily="34" charset="-122"/>
            </a:endParaRPr>
          </a:p>
        </p:txBody>
      </p:sp>
      <p:sp>
        <p:nvSpPr>
          <p:cNvPr id="43" name="文本框 42"/>
          <p:cNvSpPr txBox="1"/>
          <p:nvPr/>
        </p:nvSpPr>
        <p:spPr>
          <a:xfrm>
            <a:off x="3900805" y="4003675"/>
            <a:ext cx="2550160" cy="295910"/>
          </a:xfrm>
          <a:prstGeom prst="rect">
            <a:avLst/>
          </a:prstGeom>
          <a:noFill/>
          <a:ln w="28575">
            <a:noFill/>
          </a:ln>
          <a:extLst>
            <a:ext uri="{909E8E84-426E-40DD-AFC4-6F175D3DCCD1}">
              <a14:hiddenFill xmlns:a14="http://schemas.microsoft.com/office/drawing/2010/main">
                <a:solidFill>
                  <a:schemeClr val="bg1"/>
                </a:solidFill>
              </a14:hiddenFill>
            </a:ext>
          </a:extLst>
        </p:spPr>
        <p:style>
          <a:lnRef idx="2">
            <a:schemeClr val="accent6">
              <a:shade val="50000"/>
            </a:schemeClr>
          </a:lnRef>
          <a:fillRef idx="1">
            <a:schemeClr val="accent6"/>
          </a:fillRef>
          <a:effectRef idx="0">
            <a:schemeClr val="accent6"/>
          </a:effectRef>
          <a:fontRef idx="minor">
            <a:schemeClr val="lt1"/>
          </a:fontRef>
        </p:style>
        <p:txBody>
          <a:bodyPr wrap="square" rtlCol="0" anchor="t">
            <a:noAutofit/>
          </a:bodyPr>
          <a:p>
            <a:pPr algn="ctr"/>
            <a:r>
              <a:rPr lang="en-US" sz="1400">
                <a:solidFill>
                  <a:schemeClr val="tx1"/>
                </a:solidFill>
                <a:latin typeface="宋体" pitchFamily="2" charset="-122"/>
                <a:ea typeface="宋体" pitchFamily="2" charset="-122"/>
                <a:cs typeface="宋体" pitchFamily="2" charset="-122"/>
              </a:rPr>
              <a:t>B</a:t>
            </a:r>
            <a:r>
              <a:rPr lang="zh-CN" altLang="en-US" sz="1400">
                <a:solidFill>
                  <a:schemeClr val="tx1"/>
                </a:solidFill>
                <a:latin typeface="宋体" pitchFamily="2" charset="-122"/>
                <a:ea typeface="宋体" pitchFamily="2" charset="-122"/>
                <a:cs typeface="宋体" pitchFamily="2" charset="-122"/>
              </a:rPr>
              <a:t>进程短于</a:t>
            </a:r>
            <a:r>
              <a:rPr lang="en-US" altLang="zh-CN" sz="1400">
                <a:solidFill>
                  <a:schemeClr val="tx1"/>
                </a:solidFill>
                <a:latin typeface="宋体" pitchFamily="2" charset="-122"/>
                <a:ea typeface="宋体" pitchFamily="2" charset="-122"/>
                <a:cs typeface="宋体" pitchFamily="2" charset="-122"/>
              </a:rPr>
              <a:t>C</a:t>
            </a:r>
            <a:r>
              <a:rPr lang="zh-CN" altLang="en-US" sz="1400">
                <a:solidFill>
                  <a:schemeClr val="tx1"/>
                </a:solidFill>
                <a:latin typeface="宋体" pitchFamily="2" charset="-122"/>
                <a:ea typeface="宋体" pitchFamily="2" charset="-122"/>
                <a:cs typeface="宋体" pitchFamily="2" charset="-122"/>
              </a:rPr>
              <a:t>，因此运行</a:t>
            </a:r>
            <a:r>
              <a:rPr lang="en-US" altLang="zh-CN" sz="1400">
                <a:solidFill>
                  <a:schemeClr val="tx1"/>
                </a:solidFill>
                <a:latin typeface="宋体" pitchFamily="2" charset="-122"/>
                <a:ea typeface="宋体" pitchFamily="2" charset="-122"/>
                <a:cs typeface="宋体" pitchFamily="2" charset="-122"/>
              </a:rPr>
              <a:t>B</a:t>
            </a:r>
            <a:endParaRPr lang="en-US" altLang="zh-CN" sz="1400">
              <a:solidFill>
                <a:schemeClr val="tx1"/>
              </a:solidFill>
              <a:latin typeface="宋体" pitchFamily="2" charset="-122"/>
              <a:ea typeface="宋体" pitchFamily="2" charset="-122"/>
              <a:cs typeface="宋体" pitchFamily="2" charset="-122"/>
            </a:endParaRPr>
          </a:p>
        </p:txBody>
      </p:sp>
      <p:sp>
        <p:nvSpPr>
          <p:cNvPr id="44" name="矩形 43"/>
          <p:cNvSpPr/>
          <p:nvPr/>
        </p:nvSpPr>
        <p:spPr>
          <a:xfrm>
            <a:off x="6493510" y="5260340"/>
            <a:ext cx="870585" cy="17462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45" name="矩形 44"/>
          <p:cNvSpPr/>
          <p:nvPr/>
        </p:nvSpPr>
        <p:spPr>
          <a:xfrm>
            <a:off x="7364095" y="5260975"/>
            <a:ext cx="870585" cy="17462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cxnSp>
        <p:nvCxnSpPr>
          <p:cNvPr id="47" name="直接箭头连接符 46"/>
          <p:cNvCxnSpPr/>
          <p:nvPr/>
        </p:nvCxnSpPr>
        <p:spPr>
          <a:xfrm flipV="1">
            <a:off x="6503565" y="3427625"/>
            <a:ext cx="17145" cy="1116965"/>
          </a:xfrm>
          <a:prstGeom prst="straightConnector1">
            <a:avLst/>
          </a:prstGeom>
          <a:ln w="1270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8368030" y="4925695"/>
            <a:ext cx="2748280" cy="509270"/>
          </a:xfrm>
          <a:prstGeom prst="rect">
            <a:avLst/>
          </a:prstGeom>
          <a:solidFill>
            <a:schemeClr val="bg1"/>
          </a:solidFill>
          <a:ln w="28575">
            <a:noFill/>
          </a:ln>
        </p:spPr>
        <p:style>
          <a:lnRef idx="3">
            <a:schemeClr val="lt1"/>
          </a:lnRef>
          <a:fillRef idx="1">
            <a:schemeClr val="accent2"/>
          </a:fillRef>
          <a:effectRef idx="1">
            <a:schemeClr val="accent2"/>
          </a:effectRef>
          <a:fontRef idx="minor">
            <a:schemeClr val="lt1"/>
          </a:fontRef>
        </p:style>
        <p:txBody>
          <a:bodyPr wrap="square" rtlCol="0" anchor="t">
            <a:noAutofit/>
          </a:bodyPr>
          <a:p>
            <a:r>
              <a:rPr lang="en-US" sz="1400">
                <a:solidFill>
                  <a:schemeClr val="tx1"/>
                </a:solidFill>
                <a:latin typeface="宋体" pitchFamily="2" charset="-122"/>
                <a:ea typeface="宋体" pitchFamily="2" charset="-122"/>
                <a:cs typeface="宋体" pitchFamily="2" charset="-122"/>
              </a:rPr>
              <a:t>B</a:t>
            </a:r>
            <a:r>
              <a:rPr lang="zh-CN" altLang="en-US" sz="1400">
                <a:solidFill>
                  <a:schemeClr val="tx1"/>
                </a:solidFill>
                <a:latin typeface="宋体" pitchFamily="2" charset="-122"/>
                <a:ea typeface="宋体" pitchFamily="2" charset="-122"/>
                <a:cs typeface="宋体" pitchFamily="2" charset="-122"/>
              </a:rPr>
              <a:t>运行完后，</a:t>
            </a:r>
            <a:r>
              <a:rPr lang="en-US" altLang="zh-CN" sz="1400">
                <a:solidFill>
                  <a:schemeClr val="tx1"/>
                </a:solidFill>
                <a:latin typeface="宋体" pitchFamily="2" charset="-122"/>
                <a:ea typeface="宋体" pitchFamily="2" charset="-122"/>
                <a:cs typeface="宋体" pitchFamily="2" charset="-122"/>
              </a:rPr>
              <a:t>D</a:t>
            </a:r>
            <a:r>
              <a:rPr lang="zh-CN" altLang="en-US" sz="1400">
                <a:solidFill>
                  <a:schemeClr val="tx1"/>
                </a:solidFill>
                <a:latin typeface="宋体" pitchFamily="2" charset="-122"/>
                <a:ea typeface="宋体" pitchFamily="2" charset="-122"/>
                <a:cs typeface="宋体" pitchFamily="2" charset="-122"/>
              </a:rPr>
              <a:t>作业也装入内存，</a:t>
            </a:r>
            <a:r>
              <a:rPr lang="en-US" altLang="zh-CN" sz="1400">
                <a:solidFill>
                  <a:schemeClr val="tx1"/>
                </a:solidFill>
                <a:latin typeface="宋体" pitchFamily="2" charset="-122"/>
                <a:ea typeface="宋体" pitchFamily="2" charset="-122"/>
                <a:cs typeface="宋体" pitchFamily="2" charset="-122"/>
              </a:rPr>
              <a:t>D</a:t>
            </a:r>
            <a:r>
              <a:rPr lang="zh-CN" altLang="en-US" sz="1400">
                <a:solidFill>
                  <a:schemeClr val="tx1"/>
                </a:solidFill>
                <a:latin typeface="宋体" pitchFamily="2" charset="-122"/>
                <a:ea typeface="宋体" pitchFamily="2" charset="-122"/>
                <a:cs typeface="宋体" pitchFamily="2" charset="-122"/>
              </a:rPr>
              <a:t>进程短于</a:t>
            </a:r>
            <a:r>
              <a:rPr lang="en-US" altLang="zh-CN" sz="1400">
                <a:solidFill>
                  <a:schemeClr val="tx1"/>
                </a:solidFill>
                <a:latin typeface="宋体" pitchFamily="2" charset="-122"/>
                <a:ea typeface="宋体" pitchFamily="2" charset="-122"/>
                <a:cs typeface="宋体" pitchFamily="2" charset="-122"/>
              </a:rPr>
              <a:t>C</a:t>
            </a:r>
            <a:r>
              <a:rPr lang="zh-CN" altLang="en-US" sz="1400">
                <a:solidFill>
                  <a:schemeClr val="tx1"/>
                </a:solidFill>
                <a:latin typeface="宋体" pitchFamily="2" charset="-122"/>
                <a:ea typeface="宋体" pitchFamily="2" charset="-122"/>
                <a:cs typeface="宋体" pitchFamily="2" charset="-122"/>
              </a:rPr>
              <a:t>，因此先运行</a:t>
            </a:r>
            <a:r>
              <a:rPr lang="en-US" altLang="zh-CN" sz="1400">
                <a:solidFill>
                  <a:schemeClr val="tx1"/>
                </a:solidFill>
                <a:latin typeface="宋体" pitchFamily="2" charset="-122"/>
                <a:ea typeface="宋体" pitchFamily="2" charset="-122"/>
                <a:cs typeface="宋体" pitchFamily="2" charset="-122"/>
              </a:rPr>
              <a:t>D</a:t>
            </a:r>
            <a:r>
              <a:rPr lang="zh-CN" altLang="en-US" sz="1400">
                <a:solidFill>
                  <a:schemeClr val="tx1"/>
                </a:solidFill>
                <a:latin typeface="宋体" pitchFamily="2" charset="-122"/>
                <a:ea typeface="宋体" pitchFamily="2" charset="-122"/>
                <a:cs typeface="宋体" pitchFamily="2" charset="-122"/>
              </a:rPr>
              <a:t>作业</a:t>
            </a:r>
            <a:endParaRPr lang="zh-CN" altLang="en-US" sz="1400">
              <a:solidFill>
                <a:schemeClr val="tx1"/>
              </a:solidFill>
              <a:latin typeface="宋体" pitchFamily="2" charset="-122"/>
              <a:ea typeface="宋体" pitchFamily="2" charset="-122"/>
              <a:cs typeface="宋体" pitchFamily="2" charset="-122"/>
            </a:endParaRPr>
          </a:p>
        </p:txBody>
      </p:sp>
      <p:sp>
        <p:nvSpPr>
          <p:cNvPr id="49" name="矩形 48"/>
          <p:cNvSpPr/>
          <p:nvPr/>
        </p:nvSpPr>
        <p:spPr>
          <a:xfrm>
            <a:off x="8235950" y="4491355"/>
            <a:ext cx="720000" cy="17462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50" name="矩形 49"/>
          <p:cNvSpPr/>
          <p:nvPr/>
        </p:nvSpPr>
        <p:spPr>
          <a:xfrm>
            <a:off x="8956040" y="4491990"/>
            <a:ext cx="720000" cy="17462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51" name="矩形 50"/>
          <p:cNvSpPr/>
          <p:nvPr/>
        </p:nvSpPr>
        <p:spPr>
          <a:xfrm>
            <a:off x="9676130" y="4491990"/>
            <a:ext cx="720000" cy="17462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52" name="矩形 51"/>
          <p:cNvSpPr/>
          <p:nvPr/>
        </p:nvSpPr>
        <p:spPr>
          <a:xfrm>
            <a:off x="10396220" y="4491355"/>
            <a:ext cx="720000" cy="17462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53" name="矩形 52"/>
          <p:cNvSpPr/>
          <p:nvPr/>
        </p:nvSpPr>
        <p:spPr>
          <a:xfrm>
            <a:off x="11116310" y="4491990"/>
            <a:ext cx="720000" cy="17462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cxnSp>
        <p:nvCxnSpPr>
          <p:cNvPr id="60" name="直接箭头连接符 59"/>
          <p:cNvCxnSpPr/>
          <p:nvPr/>
        </p:nvCxnSpPr>
        <p:spPr>
          <a:xfrm flipH="1" flipV="1">
            <a:off x="8225685" y="4925590"/>
            <a:ext cx="8890" cy="657860"/>
          </a:xfrm>
          <a:prstGeom prst="straightConnector1">
            <a:avLst/>
          </a:prstGeom>
          <a:ln w="1270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a:xfrm>
            <a:off x="10152380" y="556069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120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62" name="文本框 61"/>
          <p:cNvSpPr txBox="1"/>
          <p:nvPr/>
        </p:nvSpPr>
        <p:spPr>
          <a:xfrm>
            <a:off x="10868660" y="556069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130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63" name="文本框 62"/>
          <p:cNvSpPr txBox="1"/>
          <p:nvPr/>
        </p:nvSpPr>
        <p:spPr>
          <a:xfrm>
            <a:off x="11584940" y="556069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140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cxnSp>
        <p:nvCxnSpPr>
          <p:cNvPr id="67" name="直接箭头连接符 66"/>
          <p:cNvCxnSpPr/>
          <p:nvPr/>
        </p:nvCxnSpPr>
        <p:spPr>
          <a:xfrm flipV="1">
            <a:off x="430530" y="2944495"/>
            <a:ext cx="3451860" cy="22860"/>
          </a:xfrm>
          <a:prstGeom prst="straightConnector1">
            <a:avLst/>
          </a:prstGeom>
          <a:ln w="19050">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文本框 65"/>
          <p:cNvSpPr txBox="1"/>
          <p:nvPr/>
        </p:nvSpPr>
        <p:spPr>
          <a:xfrm>
            <a:off x="1088390" y="2800985"/>
            <a:ext cx="1929130" cy="295910"/>
          </a:xfrm>
          <a:prstGeom prst="rect">
            <a:avLst/>
          </a:prstGeom>
          <a:solidFill>
            <a:schemeClr val="bg1"/>
          </a:solidFill>
          <a:ln w="28575">
            <a:noFill/>
          </a:ln>
        </p:spPr>
        <p:style>
          <a:lnRef idx="2">
            <a:schemeClr val="accent6">
              <a:shade val="50000"/>
            </a:schemeClr>
          </a:lnRef>
          <a:fillRef idx="1">
            <a:schemeClr val="accent6"/>
          </a:fillRef>
          <a:effectRef idx="0">
            <a:schemeClr val="accent6"/>
          </a:effectRef>
          <a:fontRef idx="minor">
            <a:schemeClr val="lt1"/>
          </a:fontRef>
        </p:style>
        <p:txBody>
          <a:bodyPr wrap="square" rtlCol="0" anchor="t">
            <a:noAutofit/>
          </a:bodyPr>
          <a:p>
            <a:pPr algn="ctr"/>
            <a:r>
              <a:rPr lang="en-US" altLang="zh-CN" sz="1400" b="1">
                <a:solidFill>
                  <a:srgbClr val="FF0000"/>
                </a:solidFill>
                <a:latin typeface="微软雅黑" panose="020B0503020204020204" pitchFamily="34" charset="-122"/>
                <a:ea typeface="微软雅黑" panose="020B0503020204020204" pitchFamily="34" charset="-122"/>
              </a:rPr>
              <a:t>A</a:t>
            </a:r>
            <a:r>
              <a:rPr lang="zh-CN" altLang="en-US" sz="1400" b="1">
                <a:solidFill>
                  <a:srgbClr val="FF0000"/>
                </a:solidFill>
                <a:latin typeface="微软雅黑" panose="020B0503020204020204" pitchFamily="34" charset="-122"/>
                <a:ea typeface="微软雅黑" panose="020B0503020204020204" pitchFamily="34" charset="-122"/>
              </a:rPr>
              <a:t>周转时间</a:t>
            </a:r>
            <a:r>
              <a:rPr lang="en-US" altLang="zh-CN" sz="1400" b="1">
                <a:solidFill>
                  <a:srgbClr val="FF0000"/>
                </a:solidFill>
                <a:latin typeface="微软雅黑" panose="020B0503020204020204" pitchFamily="34" charset="-122"/>
                <a:ea typeface="微软雅黑" panose="020B0503020204020204" pitchFamily="34" charset="-122"/>
              </a:rPr>
              <a:t>=40-0=40</a:t>
            </a:r>
            <a:endParaRPr lang="en-US" altLang="zh-CN" sz="1400" b="1">
              <a:solidFill>
                <a:srgbClr val="FF0000"/>
              </a:solidFill>
              <a:latin typeface="微软雅黑" panose="020B0503020204020204" pitchFamily="34" charset="-122"/>
              <a:ea typeface="微软雅黑" panose="020B0503020204020204" pitchFamily="34" charset="-122"/>
            </a:endParaRPr>
          </a:p>
        </p:txBody>
      </p:sp>
      <p:cxnSp>
        <p:nvCxnSpPr>
          <p:cNvPr id="68" name="直接箭头连接符 67"/>
          <p:cNvCxnSpPr/>
          <p:nvPr/>
        </p:nvCxnSpPr>
        <p:spPr>
          <a:xfrm flipV="1">
            <a:off x="2110740" y="3622675"/>
            <a:ext cx="4415790" cy="27940"/>
          </a:xfrm>
          <a:prstGeom prst="straightConnector1">
            <a:avLst/>
          </a:prstGeom>
          <a:ln w="19050">
            <a:solidFill>
              <a:schemeClr val="accent6"/>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9" name="文本框 68"/>
          <p:cNvSpPr txBox="1"/>
          <p:nvPr/>
        </p:nvSpPr>
        <p:spPr>
          <a:xfrm>
            <a:off x="3214370" y="3484245"/>
            <a:ext cx="2024380" cy="295910"/>
          </a:xfrm>
          <a:prstGeom prst="rect">
            <a:avLst/>
          </a:prstGeom>
          <a:solidFill>
            <a:schemeClr val="bg1"/>
          </a:solidFill>
          <a:ln w="28575">
            <a:noFill/>
          </a:ln>
        </p:spPr>
        <p:style>
          <a:lnRef idx="2">
            <a:schemeClr val="accent6">
              <a:shade val="50000"/>
            </a:schemeClr>
          </a:lnRef>
          <a:fillRef idx="1">
            <a:schemeClr val="accent6"/>
          </a:fillRef>
          <a:effectRef idx="0">
            <a:schemeClr val="accent6"/>
          </a:effectRef>
          <a:fontRef idx="minor">
            <a:schemeClr val="lt1"/>
          </a:fontRef>
        </p:style>
        <p:txBody>
          <a:bodyPr wrap="square" rtlCol="0" anchor="t">
            <a:noAutofit/>
          </a:bodyPr>
          <a:p>
            <a:pPr algn="ctr"/>
            <a:r>
              <a:rPr lang="en-US" altLang="zh-CN" sz="1400" b="1">
                <a:solidFill>
                  <a:srgbClr val="FF0000"/>
                </a:solidFill>
                <a:latin typeface="微软雅黑" panose="020B0503020204020204" pitchFamily="34" charset="-122"/>
                <a:ea typeface="微软雅黑" panose="020B0503020204020204" pitchFamily="34" charset="-122"/>
              </a:rPr>
              <a:t>B</a:t>
            </a:r>
            <a:r>
              <a:rPr lang="zh-CN" altLang="en-US" sz="1400" b="1">
                <a:solidFill>
                  <a:srgbClr val="FF0000"/>
                </a:solidFill>
                <a:latin typeface="微软雅黑" panose="020B0503020204020204" pitchFamily="34" charset="-122"/>
                <a:ea typeface="微软雅黑" panose="020B0503020204020204" pitchFamily="34" charset="-122"/>
              </a:rPr>
              <a:t>周转时间</a:t>
            </a:r>
            <a:r>
              <a:rPr lang="en-US" altLang="zh-CN" sz="1400" b="1">
                <a:solidFill>
                  <a:srgbClr val="FF0000"/>
                </a:solidFill>
                <a:latin typeface="微软雅黑" panose="020B0503020204020204" pitchFamily="34" charset="-122"/>
                <a:ea typeface="微软雅黑" panose="020B0503020204020204" pitchFamily="34" charset="-122"/>
              </a:rPr>
              <a:t>=70-20=50</a:t>
            </a:r>
            <a:endParaRPr lang="en-US" altLang="zh-CN" sz="1400" b="1">
              <a:solidFill>
                <a:srgbClr val="FF0000"/>
              </a:solidFill>
              <a:latin typeface="微软雅黑" panose="020B0503020204020204" pitchFamily="34" charset="-122"/>
              <a:ea typeface="微软雅黑" panose="020B0503020204020204" pitchFamily="34" charset="-122"/>
            </a:endParaRPr>
          </a:p>
        </p:txBody>
      </p:sp>
      <p:cxnSp>
        <p:nvCxnSpPr>
          <p:cNvPr id="70" name="直接箭头连接符 69"/>
          <p:cNvCxnSpPr/>
          <p:nvPr/>
        </p:nvCxnSpPr>
        <p:spPr>
          <a:xfrm flipV="1">
            <a:off x="2950845" y="4380230"/>
            <a:ext cx="8885555" cy="50800"/>
          </a:xfrm>
          <a:prstGeom prst="straightConnector1">
            <a:avLst/>
          </a:prstGeom>
          <a:ln w="19050">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1" name="文本框 70"/>
          <p:cNvSpPr txBox="1"/>
          <p:nvPr/>
        </p:nvSpPr>
        <p:spPr>
          <a:xfrm>
            <a:off x="5559425" y="4244975"/>
            <a:ext cx="2313305" cy="295910"/>
          </a:xfrm>
          <a:prstGeom prst="rect">
            <a:avLst/>
          </a:prstGeom>
          <a:solidFill>
            <a:schemeClr val="bg1"/>
          </a:solidFill>
          <a:ln w="28575">
            <a:noFill/>
          </a:ln>
        </p:spPr>
        <p:style>
          <a:lnRef idx="2">
            <a:schemeClr val="accent6">
              <a:shade val="50000"/>
            </a:schemeClr>
          </a:lnRef>
          <a:fillRef idx="1">
            <a:schemeClr val="accent6"/>
          </a:fillRef>
          <a:effectRef idx="0">
            <a:schemeClr val="accent6"/>
          </a:effectRef>
          <a:fontRef idx="minor">
            <a:schemeClr val="lt1"/>
          </a:fontRef>
        </p:style>
        <p:txBody>
          <a:bodyPr wrap="square" rtlCol="0" anchor="t">
            <a:noAutofit/>
          </a:bodyPr>
          <a:p>
            <a:pPr algn="ctr"/>
            <a:r>
              <a:rPr lang="en-US" altLang="zh-CN" sz="1400" b="1">
                <a:solidFill>
                  <a:srgbClr val="FF0000"/>
                </a:solidFill>
                <a:latin typeface="微软雅黑" panose="020B0503020204020204" pitchFamily="34" charset="-122"/>
                <a:ea typeface="微软雅黑" panose="020B0503020204020204" pitchFamily="34" charset="-122"/>
              </a:rPr>
              <a:t>C</a:t>
            </a:r>
            <a:r>
              <a:rPr lang="zh-CN" altLang="en-US" sz="1400" b="1">
                <a:solidFill>
                  <a:srgbClr val="FF0000"/>
                </a:solidFill>
                <a:latin typeface="微软雅黑" panose="020B0503020204020204" pitchFamily="34" charset="-122"/>
                <a:ea typeface="微软雅黑" panose="020B0503020204020204" pitchFamily="34" charset="-122"/>
              </a:rPr>
              <a:t>周转时间</a:t>
            </a:r>
            <a:r>
              <a:rPr lang="en-US" altLang="zh-CN" sz="1400" b="1">
                <a:solidFill>
                  <a:srgbClr val="FF0000"/>
                </a:solidFill>
                <a:latin typeface="微软雅黑" panose="020B0503020204020204" pitchFamily="34" charset="-122"/>
                <a:ea typeface="微软雅黑" panose="020B0503020204020204" pitchFamily="34" charset="-122"/>
              </a:rPr>
              <a:t>=140-30=110</a:t>
            </a:r>
            <a:endParaRPr lang="en-US" altLang="zh-CN" sz="1400" b="1">
              <a:solidFill>
                <a:srgbClr val="FF0000"/>
              </a:solidFill>
              <a:latin typeface="微软雅黑" panose="020B0503020204020204" pitchFamily="34" charset="-122"/>
              <a:ea typeface="微软雅黑" panose="020B0503020204020204" pitchFamily="34" charset="-122"/>
            </a:endParaRPr>
          </a:p>
        </p:txBody>
      </p:sp>
      <p:cxnSp>
        <p:nvCxnSpPr>
          <p:cNvPr id="72" name="直接箭头连接符 71"/>
          <p:cNvCxnSpPr/>
          <p:nvPr/>
        </p:nvCxnSpPr>
        <p:spPr>
          <a:xfrm flipV="1">
            <a:off x="3860165" y="5078095"/>
            <a:ext cx="4368165" cy="27940"/>
          </a:xfrm>
          <a:prstGeom prst="straightConnector1">
            <a:avLst/>
          </a:prstGeom>
          <a:ln w="19050">
            <a:solidFill>
              <a:schemeClr val="accent2"/>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 name="文本框 72"/>
          <p:cNvSpPr txBox="1"/>
          <p:nvPr/>
        </p:nvSpPr>
        <p:spPr>
          <a:xfrm>
            <a:off x="4608830" y="4932680"/>
            <a:ext cx="2091690" cy="295910"/>
          </a:xfrm>
          <a:prstGeom prst="rect">
            <a:avLst/>
          </a:prstGeom>
          <a:solidFill>
            <a:schemeClr val="bg1"/>
          </a:solidFill>
          <a:ln w="28575">
            <a:noFill/>
          </a:ln>
        </p:spPr>
        <p:style>
          <a:lnRef idx="2">
            <a:schemeClr val="accent6">
              <a:shade val="50000"/>
            </a:schemeClr>
          </a:lnRef>
          <a:fillRef idx="1">
            <a:schemeClr val="accent6"/>
          </a:fillRef>
          <a:effectRef idx="0">
            <a:schemeClr val="accent6"/>
          </a:effectRef>
          <a:fontRef idx="minor">
            <a:schemeClr val="lt1"/>
          </a:fontRef>
        </p:style>
        <p:txBody>
          <a:bodyPr wrap="square" rtlCol="0" anchor="t">
            <a:noAutofit/>
          </a:bodyPr>
          <a:p>
            <a:pPr algn="ctr"/>
            <a:r>
              <a:rPr lang="en-US" altLang="zh-CN" sz="1400" b="1">
                <a:solidFill>
                  <a:srgbClr val="FF0000"/>
                </a:solidFill>
                <a:latin typeface="微软雅黑" panose="020B0503020204020204" pitchFamily="34" charset="-122"/>
                <a:ea typeface="微软雅黑" panose="020B0503020204020204" pitchFamily="34" charset="-122"/>
              </a:rPr>
              <a:t>D</a:t>
            </a:r>
            <a:r>
              <a:rPr lang="zh-CN" altLang="en-US" sz="1400" b="1">
                <a:solidFill>
                  <a:srgbClr val="FF0000"/>
                </a:solidFill>
                <a:latin typeface="微软雅黑" panose="020B0503020204020204" pitchFamily="34" charset="-122"/>
                <a:ea typeface="微软雅黑" panose="020B0503020204020204" pitchFamily="34" charset="-122"/>
              </a:rPr>
              <a:t>周转时间</a:t>
            </a:r>
            <a:r>
              <a:rPr lang="en-US" altLang="zh-CN" sz="1400" b="1">
                <a:solidFill>
                  <a:srgbClr val="FF0000"/>
                </a:solidFill>
                <a:latin typeface="微软雅黑" panose="020B0503020204020204" pitchFamily="34" charset="-122"/>
                <a:ea typeface="微软雅黑" panose="020B0503020204020204" pitchFamily="34" charset="-122"/>
              </a:rPr>
              <a:t>=90-40=50</a:t>
            </a:r>
            <a:endParaRPr lang="en-US" altLang="zh-CN" sz="1400" b="1">
              <a:solidFill>
                <a:srgbClr val="FF0000"/>
              </a:solidFill>
              <a:latin typeface="微软雅黑" panose="020B0503020204020204" pitchFamily="34" charset="-122"/>
              <a:ea typeface="微软雅黑" panose="020B0503020204020204" pitchFamily="34" charset="-122"/>
            </a:endParaRPr>
          </a:p>
        </p:txBody>
      </p:sp>
      <p:cxnSp>
        <p:nvCxnSpPr>
          <p:cNvPr id="74" name="直接箭头连接符 73"/>
          <p:cNvCxnSpPr/>
          <p:nvPr/>
        </p:nvCxnSpPr>
        <p:spPr>
          <a:xfrm flipH="1" flipV="1">
            <a:off x="11852805" y="4232170"/>
            <a:ext cx="635" cy="1328420"/>
          </a:xfrm>
          <a:prstGeom prst="straightConnector1">
            <a:avLst/>
          </a:prstGeom>
          <a:ln w="1270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73660" y="78105"/>
            <a:ext cx="11975465" cy="645160"/>
          </a:xfrm>
          <a:prstGeom prst="rect">
            <a:avLst/>
          </a:prstGeom>
          <a:noFill/>
          <a:ln w="9525">
            <a:noFill/>
          </a:ln>
        </p:spPr>
        <p:txBody>
          <a:bodyPr wrap="square">
            <a:spAutoFit/>
          </a:bodyPr>
          <a:p>
            <a:pPr indent="0"/>
            <a:r>
              <a:rPr lang="zh-CN">
                <a:latin typeface="微软雅黑" panose="020B0503020204020204" pitchFamily="34" charset="-122"/>
                <a:ea typeface="微软雅黑" panose="020B0503020204020204" pitchFamily="34" charset="-122"/>
                <a:cs typeface="微软雅黑" panose="020B0503020204020204" pitchFamily="34" charset="-122"/>
              </a:rPr>
              <a:t>假设下面的几个进程是系统中仅有的进程，并且都没有</a:t>
            </a:r>
            <a:r>
              <a:rPr lang="en-US">
                <a:latin typeface="微软雅黑" panose="020B0503020204020204" pitchFamily="34" charset="-122"/>
                <a:ea typeface="微软雅黑" panose="020B0503020204020204" pitchFamily="34" charset="-122"/>
                <a:cs typeface="微软雅黑" panose="020B0503020204020204" pitchFamily="34" charset="-122"/>
              </a:rPr>
              <a:t>I/O</a:t>
            </a:r>
            <a:r>
              <a:rPr lang="zh-CN">
                <a:latin typeface="微软雅黑" panose="020B0503020204020204" pitchFamily="34" charset="-122"/>
                <a:ea typeface="微软雅黑" panose="020B0503020204020204" pitchFamily="34" charset="-122"/>
                <a:cs typeface="微软雅黑" panose="020B0503020204020204" pitchFamily="34" charset="-122"/>
              </a:rPr>
              <a:t>请求，给定的达到时间和</a:t>
            </a:r>
            <a:r>
              <a:rPr lang="en-US">
                <a:latin typeface="微软雅黑" panose="020B0503020204020204" pitchFamily="34" charset="-122"/>
                <a:ea typeface="微软雅黑" panose="020B0503020204020204" pitchFamily="34" charset="-122"/>
                <a:cs typeface="微软雅黑" panose="020B0503020204020204" pitchFamily="34" charset="-122"/>
              </a:rPr>
              <a:t>CPU</a:t>
            </a:r>
            <a:r>
              <a:rPr lang="zh-CN">
                <a:latin typeface="微软雅黑" panose="020B0503020204020204" pitchFamily="34" charset="-122"/>
                <a:ea typeface="微软雅黑" panose="020B0503020204020204" pitchFamily="34" charset="-122"/>
                <a:cs typeface="微软雅黑" panose="020B0503020204020204" pitchFamily="34" charset="-122"/>
              </a:rPr>
              <a:t>区间长度（</a:t>
            </a:r>
            <a:r>
              <a:rPr lang="en-US">
                <a:latin typeface="微软雅黑" panose="020B0503020204020204" pitchFamily="34" charset="-122"/>
                <a:ea typeface="微软雅黑" panose="020B0503020204020204" pitchFamily="34" charset="-122"/>
                <a:cs typeface="微软雅黑" panose="020B0503020204020204" pitchFamily="34" charset="-122"/>
              </a:rPr>
              <a:t>CPU burst time</a:t>
            </a:r>
            <a:r>
              <a:rPr lang="zh-CN">
                <a:latin typeface="微软雅黑" panose="020B0503020204020204" pitchFamily="34" charset="-122"/>
                <a:ea typeface="微软雅黑" panose="020B0503020204020204" pitchFamily="34" charset="-122"/>
                <a:cs typeface="微软雅黑" panose="020B0503020204020204" pitchFamily="34" charset="-122"/>
              </a:rPr>
              <a:t>），回答下面的问题</a:t>
            </a:r>
            <a:r>
              <a:rPr lang="en-US">
                <a:latin typeface="微软雅黑" panose="020B0503020204020204" pitchFamily="34" charset="-122"/>
                <a:ea typeface="微软雅黑" panose="020B0503020204020204" pitchFamily="34" charset="-122"/>
                <a:cs typeface="微软雅黑" panose="020B0503020204020204" pitchFamily="34" charset="-122"/>
              </a:rPr>
              <a:t>	</a:t>
            </a:r>
            <a:endParaRPr lang="en-US" altLang="en-US">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表格 4"/>
          <p:cNvGraphicFramePr/>
          <p:nvPr>
            <p:custDataLst>
              <p:tags r:id="rId1"/>
            </p:custDataLst>
          </p:nvPr>
        </p:nvGraphicFramePr>
        <p:xfrm>
          <a:off x="195580" y="798195"/>
          <a:ext cx="3696970" cy="1478280"/>
        </p:xfrm>
        <a:graphic>
          <a:graphicData uri="http://schemas.openxmlformats.org/drawingml/2006/table">
            <a:tbl>
              <a:tblPr firstRow="1" bandRow="1">
                <a:tableStyleId>{793D81CF-94F2-401A-BA57-92F5A7B2D0C5}</a:tableStyleId>
              </a:tblPr>
              <a:tblGrid>
                <a:gridCol w="786765"/>
                <a:gridCol w="1156335"/>
                <a:gridCol w="1753870"/>
              </a:tblGrid>
              <a:tr h="381000">
                <a:tc>
                  <a:txBody>
                    <a:bodyPr/>
                    <a:p>
                      <a:pPr indent="0" algn="ctr">
                        <a:buNone/>
                      </a:pPr>
                      <a:r>
                        <a:rPr lang="en-US" sz="1800">
                          <a:latin typeface="Times New Roman" panose="02020503050405090304" pitchFamily="18" charset="0"/>
                          <a:ea typeface="微软雅黑" panose="020B0503020204020204" pitchFamily="34" charset="-122"/>
                        </a:rPr>
                        <a:t>进程</a:t>
                      </a:r>
                      <a:endParaRPr lang="en-US" altLang="en-US" sz="1800">
                        <a:latin typeface="Times New Roman" panose="02020503050405090304" pitchFamily="18" charset="0"/>
                        <a:ea typeface="微软雅黑" panose="020B0503020204020204" pitchFamily="34" charset="-122"/>
                      </a:endParaRPr>
                    </a:p>
                  </a:txBody>
                  <a:tcPr marL="68580" marR="68580" marT="0" marB="0" vert="horz"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rPr>
                        <a:t>到达时间</a:t>
                      </a:r>
                      <a:endParaRPr lang="en-US" altLang="en-US" sz="1800">
                        <a:latin typeface="Times New Roman" panose="02020503050405090304" pitchFamily="18" charset="0"/>
                        <a:ea typeface="微软雅黑" panose="020B0503020204020204" pitchFamily="34" charset="-122"/>
                      </a:endParaRPr>
                    </a:p>
                  </a:txBody>
                  <a:tcPr marL="68580" marR="68580" marT="0" marB="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CPU区间长度</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74320">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P1</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0</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10</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74320">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P2</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2</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6</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74320">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P3</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3</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1</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74320">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P4</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5</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3</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6" name="文本框 5"/>
          <p:cNvSpPr txBox="1"/>
          <p:nvPr/>
        </p:nvSpPr>
        <p:spPr>
          <a:xfrm>
            <a:off x="3994785" y="798195"/>
            <a:ext cx="7960360" cy="1476375"/>
          </a:xfrm>
          <a:prstGeom prst="rect">
            <a:avLst/>
          </a:prstGeom>
          <a:noFill/>
          <a:ln w="9525">
            <a:noFill/>
          </a:ln>
        </p:spPr>
        <p:txBody>
          <a:bodyPr wrap="square">
            <a:spAutoFit/>
          </a:bodyPr>
          <a:p>
            <a:pPr indent="0">
              <a:lnSpc>
                <a:spcPct val="125000"/>
              </a:lnSpc>
              <a:spcBef>
                <a:spcPts val="0"/>
              </a:spcBef>
              <a:spcAft>
                <a:spcPts val="0"/>
              </a:spcAft>
            </a:pPr>
            <a:r>
              <a:rPr lang="zh-CN" b="0">
                <a:latin typeface="Times New Roman" panose="02020503050405090304" pitchFamily="18" charset="0"/>
                <a:ea typeface="微软雅黑" panose="020B0503020204020204" pitchFamily="34" charset="-122"/>
                <a:cs typeface="Times New Roman" panose="02020503050405090304" pitchFamily="18" charset="0"/>
              </a:rPr>
              <a:t>针对下面三种调度算法，分别画出甘特图，计算平均周转时间。</a:t>
            </a:r>
            <a:r>
              <a:rPr lang="en-US" b="0">
                <a:latin typeface="Times New Roman" panose="02020503050405090304" pitchFamily="18" charset="0"/>
                <a:ea typeface="微软雅黑" panose="020B0503020204020204" pitchFamily="34" charset="-122"/>
                <a:cs typeface="Times New Roman" panose="02020503050405090304" pitchFamily="18" charset="0"/>
              </a:rPr>
              <a:t>a)  </a:t>
            </a:r>
            <a:r>
              <a:rPr lang="zh-CN" b="0">
                <a:latin typeface="Times New Roman" panose="02020503050405090304" pitchFamily="18" charset="0"/>
                <a:ea typeface="微软雅黑" panose="020B0503020204020204" pitchFamily="34" charset="-122"/>
                <a:cs typeface="Times New Roman" panose="02020503050405090304" pitchFamily="18" charset="0"/>
              </a:rPr>
              <a:t>先来先服务（</a:t>
            </a:r>
            <a:r>
              <a:rPr lang="en-US" b="0">
                <a:latin typeface="Times New Roman" panose="02020503050405090304" pitchFamily="18" charset="0"/>
                <a:ea typeface="微软雅黑" panose="020B0503020204020204" pitchFamily="34" charset="-122"/>
                <a:cs typeface="Times New Roman" panose="02020503050405090304" pitchFamily="18" charset="0"/>
              </a:rPr>
              <a:t>FCFS</a:t>
            </a:r>
            <a:r>
              <a:rPr lang="zh-CN" b="0">
                <a:latin typeface="Times New Roman" panose="02020503050405090304" pitchFamily="18" charset="0"/>
                <a:ea typeface="微软雅黑" panose="020B0503020204020204" pitchFamily="34" charset="-122"/>
                <a:cs typeface="Times New Roman" panose="02020503050405090304" pitchFamily="18" charset="0"/>
              </a:rPr>
              <a:t>）</a:t>
            </a:r>
            <a:r>
              <a:rPr lang="en-US" b="0">
                <a:latin typeface="Times New Roman" panose="02020503050405090304" pitchFamily="18" charset="0"/>
                <a:ea typeface="微软雅黑" panose="020B0503020204020204" pitchFamily="34" charset="-122"/>
                <a:cs typeface="Times New Roman" panose="02020503050405090304" pitchFamily="18" charset="0"/>
              </a:rPr>
              <a:t>b)  </a:t>
            </a:r>
            <a:r>
              <a:rPr lang="zh-CN" b="0">
                <a:latin typeface="Times New Roman" panose="02020503050405090304" pitchFamily="18" charset="0"/>
                <a:ea typeface="微软雅黑" panose="020B0503020204020204" pitchFamily="34" charset="-122"/>
                <a:cs typeface="Times New Roman" panose="02020503050405090304" pitchFamily="18" charset="0"/>
              </a:rPr>
              <a:t>抢占的最短剩余时间优先（</a:t>
            </a:r>
            <a:r>
              <a:rPr lang="en-US" b="0">
                <a:latin typeface="Times New Roman" panose="02020503050405090304" pitchFamily="18" charset="0"/>
                <a:ea typeface="微软雅黑" panose="020B0503020204020204" pitchFamily="34" charset="-122"/>
                <a:cs typeface="Times New Roman" panose="02020503050405090304" pitchFamily="18" charset="0"/>
              </a:rPr>
              <a:t>SJF</a:t>
            </a:r>
            <a:r>
              <a:rPr lang="zh-CN" b="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b="1">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(20+10+1+3) </a:t>
            </a:r>
            <a:r>
              <a:rPr lang="en-US" altLang="zh-CN" b="1">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 4 = 8.5</a:t>
            </a:r>
            <a:r>
              <a:rPr lang="en-US" b="0">
                <a:latin typeface="Times New Roman" panose="02020503050405090304" pitchFamily="18" charset="0"/>
                <a:ea typeface="微软雅黑" panose="020B0503020204020204" pitchFamily="34" charset="-122"/>
                <a:cs typeface="Times New Roman" panose="02020503050405090304" pitchFamily="18" charset="0"/>
              </a:rPr>
              <a:t>c</a:t>
            </a: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  </a:t>
            </a:r>
            <a:r>
              <a:rPr lang="zh-CN" b="0">
                <a:latin typeface="Times New Roman" panose="02020503050405090304" pitchFamily="18" charset="0"/>
                <a:ea typeface="微软雅黑" panose="020B0503020204020204" pitchFamily="34" charset="-122"/>
                <a:cs typeface="Times New Roman" panose="02020503050405090304" pitchFamily="18" charset="0"/>
              </a:rPr>
              <a:t>时间片为</a:t>
            </a:r>
            <a:r>
              <a:rPr lang="en-US" b="0">
                <a:latin typeface="Times New Roman" panose="02020503050405090304" pitchFamily="18" charset="0"/>
                <a:ea typeface="微软雅黑" panose="020B0503020204020204" pitchFamily="34" charset="-122"/>
                <a:cs typeface="Times New Roman" panose="02020503050405090304" pitchFamily="18" charset="0"/>
              </a:rPr>
              <a:t>4</a:t>
            </a:r>
            <a:r>
              <a:rPr lang="zh-CN" b="0">
                <a:latin typeface="Times New Roman" panose="02020503050405090304" pitchFamily="18" charset="0"/>
                <a:ea typeface="微软雅黑" panose="020B0503020204020204" pitchFamily="34" charset="-122"/>
                <a:cs typeface="Times New Roman" panose="02020503050405090304" pitchFamily="18" charset="0"/>
              </a:rPr>
              <a:t>的轮转调度（假设新进程会被添加到就绪队列的尾部）</a:t>
            </a:r>
            <a:endParaRPr lang="zh-CN" altLang="en-US" b="0">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3" name="文本框 142"/>
          <p:cNvSpPr txBox="1"/>
          <p:nvPr/>
        </p:nvSpPr>
        <p:spPr>
          <a:xfrm>
            <a:off x="4366260" y="2134235"/>
            <a:ext cx="6096000" cy="368300"/>
          </a:xfrm>
          <a:prstGeom prst="rect">
            <a:avLst/>
          </a:prstGeom>
          <a:noFill/>
        </p:spPr>
        <p:txBody>
          <a:bodyPr wrap="square" rtlCol="0" anchor="t">
            <a:spAutoFit/>
          </a:bodyPr>
          <a:p>
            <a:r>
              <a:rPr lang="en-US" altLang="zh-CN">
                <a:latin typeface="Times New Roman" panose="02020503050405090304" pitchFamily="18" charset="0"/>
                <a:ea typeface="微软雅黑" panose="020B0503020204020204" pitchFamily="34" charset="-122"/>
                <a:cs typeface="Times New Roman" panose="02020503050405090304" pitchFamily="18" charset="0"/>
                <a:sym typeface="+mn-ea"/>
              </a:rPr>
              <a:t>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 name="文本框 99"/>
          <p:cNvSpPr txBox="1"/>
          <p:nvPr/>
        </p:nvSpPr>
        <p:spPr>
          <a:xfrm>
            <a:off x="73660" y="78105"/>
            <a:ext cx="11975465" cy="645160"/>
          </a:xfrm>
          <a:prstGeom prst="rect">
            <a:avLst/>
          </a:prstGeom>
          <a:noFill/>
          <a:ln w="9525">
            <a:noFill/>
          </a:ln>
        </p:spPr>
        <p:txBody>
          <a:bodyPr wrap="square">
            <a:spAutoFit/>
          </a:bodyPr>
          <a:p>
            <a:pPr indent="0"/>
            <a:r>
              <a:rPr lang="zh-CN">
                <a:latin typeface="微软雅黑" panose="020B0503020204020204" pitchFamily="34" charset="-122"/>
                <a:ea typeface="微软雅黑" panose="020B0503020204020204" pitchFamily="34" charset="-122"/>
                <a:cs typeface="微软雅黑" panose="020B0503020204020204" pitchFamily="34" charset="-122"/>
              </a:rPr>
              <a:t>假设下面的几个进程是系统中仅有的进程，并且都没有</a:t>
            </a:r>
            <a:r>
              <a:rPr lang="en-US">
                <a:latin typeface="微软雅黑" panose="020B0503020204020204" pitchFamily="34" charset="-122"/>
                <a:ea typeface="微软雅黑" panose="020B0503020204020204" pitchFamily="34" charset="-122"/>
                <a:cs typeface="微软雅黑" panose="020B0503020204020204" pitchFamily="34" charset="-122"/>
              </a:rPr>
              <a:t>I/O</a:t>
            </a:r>
            <a:r>
              <a:rPr lang="zh-CN">
                <a:latin typeface="微软雅黑" panose="020B0503020204020204" pitchFamily="34" charset="-122"/>
                <a:ea typeface="微软雅黑" panose="020B0503020204020204" pitchFamily="34" charset="-122"/>
                <a:cs typeface="微软雅黑" panose="020B0503020204020204" pitchFamily="34" charset="-122"/>
              </a:rPr>
              <a:t>请求，给定的达到时间和</a:t>
            </a:r>
            <a:r>
              <a:rPr lang="en-US">
                <a:latin typeface="微软雅黑" panose="020B0503020204020204" pitchFamily="34" charset="-122"/>
                <a:ea typeface="微软雅黑" panose="020B0503020204020204" pitchFamily="34" charset="-122"/>
                <a:cs typeface="微软雅黑" panose="020B0503020204020204" pitchFamily="34" charset="-122"/>
              </a:rPr>
              <a:t>CPU</a:t>
            </a:r>
            <a:r>
              <a:rPr lang="zh-CN">
                <a:latin typeface="微软雅黑" panose="020B0503020204020204" pitchFamily="34" charset="-122"/>
                <a:ea typeface="微软雅黑" panose="020B0503020204020204" pitchFamily="34" charset="-122"/>
                <a:cs typeface="微软雅黑" panose="020B0503020204020204" pitchFamily="34" charset="-122"/>
              </a:rPr>
              <a:t>区间长度（</a:t>
            </a:r>
            <a:r>
              <a:rPr lang="en-US">
                <a:latin typeface="微软雅黑" panose="020B0503020204020204" pitchFamily="34" charset="-122"/>
                <a:ea typeface="微软雅黑" panose="020B0503020204020204" pitchFamily="34" charset="-122"/>
                <a:cs typeface="微软雅黑" panose="020B0503020204020204" pitchFamily="34" charset="-122"/>
              </a:rPr>
              <a:t>CPU burst time</a:t>
            </a:r>
            <a:r>
              <a:rPr lang="zh-CN">
                <a:latin typeface="微软雅黑" panose="020B0503020204020204" pitchFamily="34" charset="-122"/>
                <a:ea typeface="微软雅黑" panose="020B0503020204020204" pitchFamily="34" charset="-122"/>
                <a:cs typeface="微软雅黑" panose="020B0503020204020204" pitchFamily="34" charset="-122"/>
              </a:rPr>
              <a:t>），回答下面的问题</a:t>
            </a:r>
            <a:r>
              <a:rPr lang="en-US">
                <a:latin typeface="微软雅黑" panose="020B0503020204020204" pitchFamily="34" charset="-122"/>
                <a:ea typeface="微软雅黑" panose="020B0503020204020204" pitchFamily="34" charset="-122"/>
                <a:cs typeface="微软雅黑" panose="020B0503020204020204" pitchFamily="34" charset="-122"/>
              </a:rPr>
              <a:t>	</a:t>
            </a:r>
            <a:endParaRPr lang="en-US" altLang="en-US">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 name="表格 4"/>
          <p:cNvGraphicFramePr/>
          <p:nvPr>
            <p:custDataLst>
              <p:tags r:id="rId1"/>
            </p:custDataLst>
          </p:nvPr>
        </p:nvGraphicFramePr>
        <p:xfrm>
          <a:off x="195580" y="798195"/>
          <a:ext cx="3696970" cy="1478280"/>
        </p:xfrm>
        <a:graphic>
          <a:graphicData uri="http://schemas.openxmlformats.org/drawingml/2006/table">
            <a:tbl>
              <a:tblPr firstRow="1" bandRow="1">
                <a:tableStyleId>{793D81CF-94F2-401A-BA57-92F5A7B2D0C5}</a:tableStyleId>
              </a:tblPr>
              <a:tblGrid>
                <a:gridCol w="786765"/>
                <a:gridCol w="1156335"/>
                <a:gridCol w="1753870"/>
              </a:tblGrid>
              <a:tr h="381000">
                <a:tc>
                  <a:txBody>
                    <a:bodyPr/>
                    <a:p>
                      <a:pPr indent="0" algn="ctr">
                        <a:buNone/>
                      </a:pPr>
                      <a:r>
                        <a:rPr lang="en-US" sz="1800">
                          <a:latin typeface="Times New Roman" panose="02020503050405090304" pitchFamily="18" charset="0"/>
                          <a:ea typeface="微软雅黑" panose="020B0503020204020204" pitchFamily="34" charset="-122"/>
                        </a:rPr>
                        <a:t>进程</a:t>
                      </a:r>
                      <a:endParaRPr lang="en-US" altLang="en-US" sz="1800">
                        <a:latin typeface="Times New Roman" panose="02020503050405090304" pitchFamily="18" charset="0"/>
                        <a:ea typeface="微软雅黑" panose="020B0503020204020204" pitchFamily="34" charset="-122"/>
                      </a:endParaRPr>
                    </a:p>
                  </a:txBody>
                  <a:tcPr marL="68580" marR="68580" marT="0" marB="0" vert="horz"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rPr>
                        <a:t>到达时间</a:t>
                      </a:r>
                      <a:endParaRPr lang="en-US" altLang="en-US" sz="1800">
                        <a:latin typeface="Times New Roman" panose="02020503050405090304" pitchFamily="18" charset="0"/>
                        <a:ea typeface="微软雅黑" panose="020B0503020204020204" pitchFamily="34" charset="-122"/>
                      </a:endParaRPr>
                    </a:p>
                  </a:txBody>
                  <a:tcPr marL="68580" marR="68580" marT="0" marB="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CPU区间长度</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74320">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P1</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0</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10</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74320">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P2</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2</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6</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74320">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P3</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3</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1</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r h="274320">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P4</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cmpd="sng">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5</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a:solidFill>
                        <a:schemeClr val="tx1"/>
                      </a:solidFill>
                      <a:prstDash val="solid"/>
                    </a:lnL>
                    <a:lnR w="12700">
                      <a:solidFill>
                        <a:schemeClr val="tx1"/>
                      </a:solidFill>
                      <a:prstDash val="solid"/>
                    </a:lnR>
                    <a:lnT w="12700" cmpd="sng">
                      <a:solidFill>
                        <a:schemeClr val="tx1"/>
                      </a:solidFill>
                      <a:prstDash val="solid"/>
                    </a:lnT>
                    <a:lnB w="12700" cmpd="sng">
                      <a:solidFill>
                        <a:schemeClr val="tx1"/>
                      </a:solidFill>
                      <a:prstDash val="solid"/>
                    </a:lnB>
                  </a:tcPr>
                </a:tc>
                <a:tc>
                  <a:txBody>
                    <a:bodyPr/>
                    <a:p>
                      <a:pPr indent="0" algn="ctr">
                        <a:buNone/>
                      </a:pPr>
                      <a:r>
                        <a:rPr lang="en-US" sz="1800">
                          <a:latin typeface="Times New Roman" panose="02020503050405090304" pitchFamily="18" charset="0"/>
                          <a:ea typeface="微软雅黑" panose="020B0503020204020204" pitchFamily="34" charset="-122"/>
                          <a:cs typeface="Times New Roman" panose="02020503050405090304" pitchFamily="18" charset="0"/>
                        </a:rPr>
                        <a:t>3</a:t>
                      </a:r>
                      <a:endParaRPr lang="en-US" altLang="en-US" sz="1800">
                        <a:latin typeface="Times New Roman" panose="02020503050405090304" pitchFamily="18" charset="0"/>
                        <a:ea typeface="微软雅黑" panose="020B0503020204020204" pitchFamily="34" charset="-122"/>
                        <a:cs typeface="Times New Roman" panose="02020503050405090304" pitchFamily="18" charset="0"/>
                      </a:endParaRPr>
                    </a:p>
                  </a:txBody>
                  <a:tcPr marL="68580" marR="68580" marT="0" marB="0" vert="horz" anchor="ctr" anchorCtr="0">
                    <a:lnL w="12700">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tr>
            </a:tbl>
          </a:graphicData>
        </a:graphic>
      </p:graphicFrame>
      <p:sp>
        <p:nvSpPr>
          <p:cNvPr id="6" name="文本框 5"/>
          <p:cNvSpPr txBox="1"/>
          <p:nvPr/>
        </p:nvSpPr>
        <p:spPr>
          <a:xfrm>
            <a:off x="3994785" y="798195"/>
            <a:ext cx="7960360" cy="1476375"/>
          </a:xfrm>
          <a:prstGeom prst="rect">
            <a:avLst/>
          </a:prstGeom>
          <a:noFill/>
          <a:ln w="9525">
            <a:noFill/>
          </a:ln>
        </p:spPr>
        <p:txBody>
          <a:bodyPr wrap="square">
            <a:spAutoFit/>
          </a:bodyPr>
          <a:p>
            <a:pPr indent="0">
              <a:lnSpc>
                <a:spcPct val="125000"/>
              </a:lnSpc>
              <a:spcBef>
                <a:spcPts val="0"/>
              </a:spcBef>
              <a:spcAft>
                <a:spcPts val="0"/>
              </a:spcAft>
            </a:pPr>
            <a:r>
              <a:rPr lang="zh-CN" b="0">
                <a:latin typeface="Times New Roman" panose="02020503050405090304" pitchFamily="18" charset="0"/>
                <a:ea typeface="微软雅黑" panose="020B0503020204020204" pitchFamily="34" charset="-122"/>
                <a:cs typeface="Times New Roman" panose="02020503050405090304" pitchFamily="18" charset="0"/>
              </a:rPr>
              <a:t>针对下面三种调度算法，分别画出甘特图，计算平均周转时间。</a:t>
            </a:r>
            <a:r>
              <a:rPr lang="en-US" b="0">
                <a:latin typeface="Times New Roman" panose="02020503050405090304" pitchFamily="18" charset="0"/>
                <a:ea typeface="微软雅黑" panose="020B0503020204020204" pitchFamily="34" charset="-122"/>
                <a:cs typeface="Times New Roman" panose="02020503050405090304" pitchFamily="18" charset="0"/>
              </a:rPr>
              <a:t>a)  </a:t>
            </a:r>
            <a:r>
              <a:rPr lang="zh-CN" b="0">
                <a:latin typeface="Times New Roman" panose="02020503050405090304" pitchFamily="18" charset="0"/>
                <a:ea typeface="微软雅黑" panose="020B0503020204020204" pitchFamily="34" charset="-122"/>
                <a:cs typeface="Times New Roman" panose="02020503050405090304" pitchFamily="18" charset="0"/>
              </a:rPr>
              <a:t>先来先服务（</a:t>
            </a:r>
            <a:r>
              <a:rPr lang="en-US" b="0">
                <a:latin typeface="Times New Roman" panose="02020503050405090304" pitchFamily="18" charset="0"/>
                <a:ea typeface="微软雅黑" panose="020B0503020204020204" pitchFamily="34" charset="-122"/>
                <a:cs typeface="Times New Roman" panose="02020503050405090304" pitchFamily="18" charset="0"/>
              </a:rPr>
              <a:t>FCFS</a:t>
            </a:r>
            <a:r>
              <a:rPr lang="zh-CN" b="0">
                <a:latin typeface="Times New Roman" panose="02020503050405090304" pitchFamily="18" charset="0"/>
                <a:ea typeface="微软雅黑" panose="020B0503020204020204" pitchFamily="34" charset="-122"/>
                <a:cs typeface="Times New Roman" panose="02020503050405090304" pitchFamily="18" charset="0"/>
              </a:rPr>
              <a:t>）</a:t>
            </a:r>
            <a:r>
              <a:rPr lang="en-US" b="0">
                <a:latin typeface="Times New Roman" panose="02020503050405090304" pitchFamily="18" charset="0"/>
                <a:ea typeface="微软雅黑" panose="020B0503020204020204" pitchFamily="34" charset="-122"/>
                <a:cs typeface="Times New Roman" panose="02020503050405090304" pitchFamily="18" charset="0"/>
              </a:rPr>
              <a:t>b)  </a:t>
            </a:r>
            <a:r>
              <a:rPr lang="zh-CN" b="0">
                <a:latin typeface="Times New Roman" panose="02020503050405090304" pitchFamily="18" charset="0"/>
                <a:ea typeface="微软雅黑" panose="020B0503020204020204" pitchFamily="34" charset="-122"/>
                <a:cs typeface="Times New Roman" panose="02020503050405090304" pitchFamily="18" charset="0"/>
              </a:rPr>
              <a:t>抢占的最短剩余时间优先（</a:t>
            </a:r>
            <a:r>
              <a:rPr lang="en-US" b="0">
                <a:latin typeface="Times New Roman" panose="02020503050405090304" pitchFamily="18" charset="0"/>
                <a:ea typeface="微软雅黑" panose="020B0503020204020204" pitchFamily="34" charset="-122"/>
                <a:cs typeface="Times New Roman" panose="02020503050405090304" pitchFamily="18" charset="0"/>
              </a:rPr>
              <a:t>SJF</a:t>
            </a:r>
            <a:r>
              <a:rPr lang="zh-CN" b="0">
                <a:latin typeface="Times New Roman" panose="02020503050405090304" pitchFamily="18" charset="0"/>
                <a:ea typeface="微软雅黑" panose="020B0503020204020204" pitchFamily="34" charset="-122"/>
                <a:cs typeface="Times New Roman" panose="02020503050405090304" pitchFamily="18" charset="0"/>
              </a:rPr>
              <a:t>）</a:t>
            </a:r>
            <a:r>
              <a:rPr lang="en-US" altLang="zh-CN" b="0">
                <a:latin typeface="Times New Roman" panose="02020503050405090304" pitchFamily="18" charset="0"/>
                <a:ea typeface="微软雅黑" panose="020B0503020204020204" pitchFamily="34" charset="-122"/>
                <a:cs typeface="Times New Roman" panose="02020503050405090304" pitchFamily="18" charset="0"/>
              </a:rPr>
              <a:t>= </a:t>
            </a:r>
            <a:r>
              <a:rPr lang="en-US" altLang="zh-CN" b="1">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(20+10+1+3) </a:t>
            </a:r>
            <a:r>
              <a:rPr lang="en-US" altLang="zh-CN" b="1">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 4 = 8.5</a:t>
            </a:r>
            <a:r>
              <a:rPr lang="en-US" b="0">
                <a:latin typeface="Times New Roman" panose="02020503050405090304" pitchFamily="18" charset="0"/>
                <a:ea typeface="微软雅黑" panose="020B0503020204020204" pitchFamily="34" charset="-122"/>
                <a:cs typeface="Times New Roman" panose="02020503050405090304" pitchFamily="18" charset="0"/>
              </a:rPr>
              <a:t>c</a:t>
            </a: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  </a:t>
            </a:r>
            <a:r>
              <a:rPr lang="zh-CN" b="0">
                <a:latin typeface="Times New Roman" panose="02020503050405090304" pitchFamily="18" charset="0"/>
                <a:ea typeface="微软雅黑" panose="020B0503020204020204" pitchFamily="34" charset="-122"/>
                <a:cs typeface="Times New Roman" panose="02020503050405090304" pitchFamily="18" charset="0"/>
              </a:rPr>
              <a:t>时间片为</a:t>
            </a:r>
            <a:r>
              <a:rPr lang="en-US" b="0">
                <a:latin typeface="Times New Roman" panose="02020503050405090304" pitchFamily="18" charset="0"/>
                <a:ea typeface="微软雅黑" panose="020B0503020204020204" pitchFamily="34" charset="-122"/>
                <a:cs typeface="Times New Roman" panose="02020503050405090304" pitchFamily="18" charset="0"/>
              </a:rPr>
              <a:t>4</a:t>
            </a:r>
            <a:r>
              <a:rPr lang="zh-CN" b="0">
                <a:latin typeface="Times New Roman" panose="02020503050405090304" pitchFamily="18" charset="0"/>
                <a:ea typeface="微软雅黑" panose="020B0503020204020204" pitchFamily="34" charset="-122"/>
                <a:cs typeface="Times New Roman" panose="02020503050405090304" pitchFamily="18" charset="0"/>
              </a:rPr>
              <a:t>的轮转调度（假设新进程会被添加到就绪队列的尾部）</a:t>
            </a:r>
            <a:endParaRPr lang="zh-CN" altLang="en-US" b="0">
              <a:latin typeface="Times New Roman" panose="02020503050405090304" pitchFamily="18" charset="0"/>
              <a:ea typeface="微软雅黑" panose="020B0503020204020204" pitchFamily="34" charset="-122"/>
              <a:cs typeface="Times New Roman" panose="02020503050405090304" pitchFamily="18" charset="0"/>
            </a:endParaRPr>
          </a:p>
        </p:txBody>
      </p:sp>
      <p:cxnSp>
        <p:nvCxnSpPr>
          <p:cNvPr id="7" name="直接箭头连接符 6"/>
          <p:cNvCxnSpPr/>
          <p:nvPr/>
        </p:nvCxnSpPr>
        <p:spPr>
          <a:xfrm flipV="1">
            <a:off x="446935" y="2496080"/>
            <a:ext cx="11430" cy="161036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8288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0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9" name="文本框 8"/>
          <p:cNvSpPr txBox="1"/>
          <p:nvPr/>
        </p:nvSpPr>
        <p:spPr>
          <a:xfrm>
            <a:off x="75057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0" name="文本框 9"/>
          <p:cNvSpPr txBox="1"/>
          <p:nvPr/>
        </p:nvSpPr>
        <p:spPr>
          <a:xfrm>
            <a:off x="131826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2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1" name="文本框 10"/>
          <p:cNvSpPr txBox="1"/>
          <p:nvPr/>
        </p:nvSpPr>
        <p:spPr>
          <a:xfrm>
            <a:off x="188595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3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2" name="文本框 11"/>
          <p:cNvSpPr txBox="1"/>
          <p:nvPr/>
        </p:nvSpPr>
        <p:spPr>
          <a:xfrm>
            <a:off x="245364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4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3" name="文本框 12"/>
          <p:cNvSpPr txBox="1"/>
          <p:nvPr/>
        </p:nvSpPr>
        <p:spPr>
          <a:xfrm>
            <a:off x="302133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5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4" name="文本框 13"/>
          <p:cNvSpPr txBox="1"/>
          <p:nvPr/>
        </p:nvSpPr>
        <p:spPr>
          <a:xfrm>
            <a:off x="358902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6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5" name="文本框 14"/>
          <p:cNvSpPr txBox="1"/>
          <p:nvPr/>
        </p:nvSpPr>
        <p:spPr>
          <a:xfrm>
            <a:off x="415671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7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6" name="文本框 15"/>
          <p:cNvSpPr txBox="1"/>
          <p:nvPr/>
        </p:nvSpPr>
        <p:spPr>
          <a:xfrm>
            <a:off x="472440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8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7" name="文本框 16"/>
          <p:cNvSpPr txBox="1"/>
          <p:nvPr/>
        </p:nvSpPr>
        <p:spPr>
          <a:xfrm>
            <a:off x="529209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9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9" name="文本框 18"/>
          <p:cNvSpPr txBox="1"/>
          <p:nvPr/>
        </p:nvSpPr>
        <p:spPr>
          <a:xfrm>
            <a:off x="756285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13</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20" name="文本框 19"/>
          <p:cNvSpPr txBox="1"/>
          <p:nvPr/>
        </p:nvSpPr>
        <p:spPr>
          <a:xfrm>
            <a:off x="983361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17</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21" name="文本框 20"/>
          <p:cNvSpPr txBox="1"/>
          <p:nvPr/>
        </p:nvSpPr>
        <p:spPr>
          <a:xfrm>
            <a:off x="7620" y="2626360"/>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P1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61" name="文本框 60"/>
          <p:cNvSpPr txBox="1"/>
          <p:nvPr/>
        </p:nvSpPr>
        <p:spPr>
          <a:xfrm>
            <a:off x="1040130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18</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62" name="文本框 61"/>
          <p:cNvSpPr txBox="1"/>
          <p:nvPr/>
        </p:nvSpPr>
        <p:spPr>
          <a:xfrm>
            <a:off x="1096899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19</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63" name="文本框 62"/>
          <p:cNvSpPr txBox="1"/>
          <p:nvPr/>
        </p:nvSpPr>
        <p:spPr>
          <a:xfrm>
            <a:off x="1153668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20</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cxnSp>
        <p:nvCxnSpPr>
          <p:cNvPr id="18" name="直接箭头连接符 17"/>
          <p:cNvCxnSpPr/>
          <p:nvPr/>
        </p:nvCxnSpPr>
        <p:spPr>
          <a:xfrm>
            <a:off x="427990" y="4115435"/>
            <a:ext cx="11704320" cy="2603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7620" y="295846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P2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26" name="文本框 25"/>
          <p:cNvSpPr txBox="1"/>
          <p:nvPr/>
        </p:nvSpPr>
        <p:spPr>
          <a:xfrm>
            <a:off x="7620" y="3290570"/>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P3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27" name="文本框 26"/>
          <p:cNvSpPr txBox="1"/>
          <p:nvPr/>
        </p:nvSpPr>
        <p:spPr>
          <a:xfrm>
            <a:off x="7620" y="362267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P4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28" name="文本框 27"/>
          <p:cNvSpPr txBox="1"/>
          <p:nvPr/>
        </p:nvSpPr>
        <p:spPr>
          <a:xfrm>
            <a:off x="585978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10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29" name="文本框 28"/>
          <p:cNvSpPr txBox="1"/>
          <p:nvPr/>
        </p:nvSpPr>
        <p:spPr>
          <a:xfrm>
            <a:off x="813054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14</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30" name="文本框 29"/>
          <p:cNvSpPr txBox="1"/>
          <p:nvPr/>
        </p:nvSpPr>
        <p:spPr>
          <a:xfrm>
            <a:off x="642747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11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31" name="文本框 30"/>
          <p:cNvSpPr txBox="1"/>
          <p:nvPr/>
        </p:nvSpPr>
        <p:spPr>
          <a:xfrm>
            <a:off x="869823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15</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32" name="文本框 31"/>
          <p:cNvSpPr txBox="1"/>
          <p:nvPr/>
        </p:nvSpPr>
        <p:spPr>
          <a:xfrm>
            <a:off x="699516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12</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33" name="文本框 32"/>
          <p:cNvSpPr txBox="1"/>
          <p:nvPr/>
        </p:nvSpPr>
        <p:spPr>
          <a:xfrm>
            <a:off x="9265920" y="414464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16</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34" name="矩形 33"/>
          <p:cNvSpPr/>
          <p:nvPr/>
        </p:nvSpPr>
        <p:spPr>
          <a:xfrm>
            <a:off x="465455" y="2779395"/>
            <a:ext cx="576000" cy="7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5" name="矩形 34"/>
          <p:cNvSpPr/>
          <p:nvPr/>
        </p:nvSpPr>
        <p:spPr>
          <a:xfrm>
            <a:off x="1601470" y="3111500"/>
            <a:ext cx="576000" cy="72000"/>
          </a:xfrm>
          <a:prstGeom prst="rect">
            <a:avLst/>
          </a:prstGeom>
          <a:solidFill>
            <a:schemeClr val="accent6"/>
          </a:solidFill>
          <a:ln>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
        <p:nvSpPr>
          <p:cNvPr id="44" name="矩形 43"/>
          <p:cNvSpPr/>
          <p:nvPr/>
        </p:nvSpPr>
        <p:spPr>
          <a:xfrm>
            <a:off x="2154555" y="3444240"/>
            <a:ext cx="576000" cy="720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49" name="矩形 48"/>
          <p:cNvSpPr/>
          <p:nvPr/>
        </p:nvSpPr>
        <p:spPr>
          <a:xfrm>
            <a:off x="3297555" y="3775710"/>
            <a:ext cx="576000" cy="72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36" name="矩形 35"/>
          <p:cNvSpPr/>
          <p:nvPr/>
        </p:nvSpPr>
        <p:spPr>
          <a:xfrm>
            <a:off x="1033145" y="2779395"/>
            <a:ext cx="576000" cy="7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7" name="矩形 36"/>
          <p:cNvSpPr/>
          <p:nvPr/>
        </p:nvSpPr>
        <p:spPr>
          <a:xfrm>
            <a:off x="2740660" y="3111500"/>
            <a:ext cx="576000" cy="72000"/>
          </a:xfrm>
          <a:prstGeom prst="rect">
            <a:avLst/>
          </a:prstGeom>
          <a:solidFill>
            <a:schemeClr val="accent6"/>
          </a:solidFill>
          <a:ln>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cxnSp>
        <p:nvCxnSpPr>
          <p:cNvPr id="38" name="直接箭头连接符 37"/>
          <p:cNvCxnSpPr/>
          <p:nvPr/>
        </p:nvCxnSpPr>
        <p:spPr>
          <a:xfrm flipV="1">
            <a:off x="102986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flipV="1">
            <a:off x="159628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flipV="1">
            <a:off x="216270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flipV="1">
            <a:off x="272912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flipV="1">
            <a:off x="329554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flipV="1">
            <a:off x="442838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flipV="1">
            <a:off x="499480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V="1">
            <a:off x="556122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flipV="1">
            <a:off x="612764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直接箭头连接符 47"/>
          <p:cNvCxnSpPr/>
          <p:nvPr/>
        </p:nvCxnSpPr>
        <p:spPr>
          <a:xfrm flipV="1">
            <a:off x="669406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flipV="1">
            <a:off x="726048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直接箭头连接符 50"/>
          <p:cNvCxnSpPr/>
          <p:nvPr/>
        </p:nvCxnSpPr>
        <p:spPr>
          <a:xfrm flipV="1">
            <a:off x="782690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直接箭头连接符 51"/>
          <p:cNvCxnSpPr/>
          <p:nvPr/>
        </p:nvCxnSpPr>
        <p:spPr>
          <a:xfrm flipV="1">
            <a:off x="839332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flipV="1">
            <a:off x="895974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flipV="1">
            <a:off x="952616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flipV="1">
            <a:off x="1009258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flipV="1">
            <a:off x="1065900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flipV="1">
            <a:off x="1122542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nvCxnSpPr>
        <p:spPr>
          <a:xfrm flipV="1">
            <a:off x="1179184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p:nvPr/>
        </p:nvCxnSpPr>
        <p:spPr>
          <a:xfrm flipV="1">
            <a:off x="3861965" y="250179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9" name="矩形 68"/>
          <p:cNvSpPr/>
          <p:nvPr/>
        </p:nvSpPr>
        <p:spPr>
          <a:xfrm>
            <a:off x="3873500" y="3775710"/>
            <a:ext cx="576000" cy="72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70" name="矩形 69"/>
          <p:cNvSpPr/>
          <p:nvPr/>
        </p:nvSpPr>
        <p:spPr>
          <a:xfrm>
            <a:off x="4439920" y="3775710"/>
            <a:ext cx="576000" cy="72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71" name="矩形 70"/>
          <p:cNvSpPr/>
          <p:nvPr/>
        </p:nvSpPr>
        <p:spPr>
          <a:xfrm>
            <a:off x="4994910" y="3111500"/>
            <a:ext cx="2304000" cy="72000"/>
          </a:xfrm>
          <a:prstGeom prst="rect">
            <a:avLst/>
          </a:prstGeom>
          <a:solidFill>
            <a:schemeClr val="accent6"/>
          </a:solidFill>
          <a:ln>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
        <p:nvSpPr>
          <p:cNvPr id="72" name="矩形 71"/>
          <p:cNvSpPr/>
          <p:nvPr/>
        </p:nvSpPr>
        <p:spPr>
          <a:xfrm>
            <a:off x="7260590" y="2779395"/>
            <a:ext cx="4536000" cy="7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73" name="直接箭头连接符 72"/>
          <p:cNvCxnSpPr/>
          <p:nvPr/>
        </p:nvCxnSpPr>
        <p:spPr>
          <a:xfrm flipV="1">
            <a:off x="446935" y="4733820"/>
            <a:ext cx="11430" cy="161036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4" name="文本框 73"/>
          <p:cNvSpPr txBox="1"/>
          <p:nvPr/>
        </p:nvSpPr>
        <p:spPr>
          <a:xfrm>
            <a:off x="18288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0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75" name="文本框 74"/>
          <p:cNvSpPr txBox="1"/>
          <p:nvPr/>
        </p:nvSpPr>
        <p:spPr>
          <a:xfrm>
            <a:off x="75057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76" name="文本框 75"/>
          <p:cNvSpPr txBox="1"/>
          <p:nvPr/>
        </p:nvSpPr>
        <p:spPr>
          <a:xfrm>
            <a:off x="131826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2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77" name="文本框 76"/>
          <p:cNvSpPr txBox="1"/>
          <p:nvPr/>
        </p:nvSpPr>
        <p:spPr>
          <a:xfrm>
            <a:off x="188595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3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78" name="文本框 77"/>
          <p:cNvSpPr txBox="1"/>
          <p:nvPr/>
        </p:nvSpPr>
        <p:spPr>
          <a:xfrm>
            <a:off x="245364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4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79" name="文本框 78"/>
          <p:cNvSpPr txBox="1"/>
          <p:nvPr/>
        </p:nvSpPr>
        <p:spPr>
          <a:xfrm>
            <a:off x="302133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5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80" name="文本框 79"/>
          <p:cNvSpPr txBox="1"/>
          <p:nvPr/>
        </p:nvSpPr>
        <p:spPr>
          <a:xfrm>
            <a:off x="358902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6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81" name="文本框 80"/>
          <p:cNvSpPr txBox="1"/>
          <p:nvPr/>
        </p:nvSpPr>
        <p:spPr>
          <a:xfrm>
            <a:off x="415671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7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82" name="文本框 81"/>
          <p:cNvSpPr txBox="1"/>
          <p:nvPr/>
        </p:nvSpPr>
        <p:spPr>
          <a:xfrm>
            <a:off x="472440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8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83" name="文本框 82"/>
          <p:cNvSpPr txBox="1"/>
          <p:nvPr/>
        </p:nvSpPr>
        <p:spPr>
          <a:xfrm>
            <a:off x="529209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9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84" name="文本框 83"/>
          <p:cNvSpPr txBox="1"/>
          <p:nvPr/>
        </p:nvSpPr>
        <p:spPr>
          <a:xfrm>
            <a:off x="756285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13</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85" name="文本框 84"/>
          <p:cNvSpPr txBox="1"/>
          <p:nvPr/>
        </p:nvSpPr>
        <p:spPr>
          <a:xfrm>
            <a:off x="983361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17</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86" name="文本框 85"/>
          <p:cNvSpPr txBox="1"/>
          <p:nvPr/>
        </p:nvSpPr>
        <p:spPr>
          <a:xfrm>
            <a:off x="7620" y="4864100"/>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P1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87" name="文本框 86"/>
          <p:cNvSpPr txBox="1"/>
          <p:nvPr/>
        </p:nvSpPr>
        <p:spPr>
          <a:xfrm>
            <a:off x="1040130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18</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88" name="文本框 87"/>
          <p:cNvSpPr txBox="1"/>
          <p:nvPr/>
        </p:nvSpPr>
        <p:spPr>
          <a:xfrm>
            <a:off x="1096899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19</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89" name="文本框 88"/>
          <p:cNvSpPr txBox="1"/>
          <p:nvPr/>
        </p:nvSpPr>
        <p:spPr>
          <a:xfrm>
            <a:off x="1153668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20</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cxnSp>
        <p:nvCxnSpPr>
          <p:cNvPr id="90" name="直接箭头连接符 89"/>
          <p:cNvCxnSpPr/>
          <p:nvPr/>
        </p:nvCxnSpPr>
        <p:spPr>
          <a:xfrm>
            <a:off x="427990" y="6353175"/>
            <a:ext cx="11704320" cy="2603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1" name="文本框 90"/>
          <p:cNvSpPr txBox="1"/>
          <p:nvPr/>
        </p:nvSpPr>
        <p:spPr>
          <a:xfrm>
            <a:off x="7620" y="519620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P2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92" name="文本框 91"/>
          <p:cNvSpPr txBox="1"/>
          <p:nvPr/>
        </p:nvSpPr>
        <p:spPr>
          <a:xfrm>
            <a:off x="7620" y="5528310"/>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P3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93" name="文本框 92"/>
          <p:cNvSpPr txBox="1"/>
          <p:nvPr/>
        </p:nvSpPr>
        <p:spPr>
          <a:xfrm>
            <a:off x="7620" y="586041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P4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94" name="文本框 93"/>
          <p:cNvSpPr txBox="1"/>
          <p:nvPr/>
        </p:nvSpPr>
        <p:spPr>
          <a:xfrm>
            <a:off x="585978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10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95" name="文本框 94"/>
          <p:cNvSpPr txBox="1"/>
          <p:nvPr/>
        </p:nvSpPr>
        <p:spPr>
          <a:xfrm>
            <a:off x="813054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14</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96" name="文本框 95"/>
          <p:cNvSpPr txBox="1"/>
          <p:nvPr/>
        </p:nvSpPr>
        <p:spPr>
          <a:xfrm>
            <a:off x="642747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11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97" name="文本框 96"/>
          <p:cNvSpPr txBox="1"/>
          <p:nvPr/>
        </p:nvSpPr>
        <p:spPr>
          <a:xfrm>
            <a:off x="869823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15</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98" name="文本框 97"/>
          <p:cNvSpPr txBox="1"/>
          <p:nvPr/>
        </p:nvSpPr>
        <p:spPr>
          <a:xfrm>
            <a:off x="699516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12</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99" name="文本框 98"/>
          <p:cNvSpPr txBox="1"/>
          <p:nvPr/>
        </p:nvSpPr>
        <p:spPr>
          <a:xfrm>
            <a:off x="9265920" y="6382385"/>
            <a:ext cx="527685" cy="378460"/>
          </a:xfrm>
          <a:prstGeom prst="rect">
            <a:avLst/>
          </a:prstGeom>
          <a:noFill/>
        </p:spPr>
        <p:txBody>
          <a:bodyPr wrap="square" rtlCol="0" anchor="t">
            <a:noAutofit/>
          </a:bodyPr>
          <a:p>
            <a:pPr algn="ctr"/>
            <a:r>
              <a:rPr lang="en-US">
                <a:latin typeface="Times New Roman" panose="02020503050405090304" pitchFamily="18" charset="0"/>
                <a:ea typeface="微软雅黑" panose="020B0503020204020204" pitchFamily="34" charset="-122"/>
                <a:cs typeface="Times New Roman" panose="02020503050405090304" pitchFamily="18" charset="0"/>
                <a:sym typeface="+mn-ea"/>
              </a:rPr>
              <a:t>16</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01" name="矩形 100"/>
          <p:cNvSpPr/>
          <p:nvPr/>
        </p:nvSpPr>
        <p:spPr>
          <a:xfrm>
            <a:off x="465455" y="5017135"/>
            <a:ext cx="576000" cy="7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3" name="矩形 102"/>
          <p:cNvSpPr/>
          <p:nvPr/>
        </p:nvSpPr>
        <p:spPr>
          <a:xfrm>
            <a:off x="4996815" y="5681345"/>
            <a:ext cx="576000" cy="720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endParaRPr lang="zh-CN" altLang="en-US"/>
          </a:p>
        </p:txBody>
      </p:sp>
      <p:sp>
        <p:nvSpPr>
          <p:cNvPr id="104" name="矩形 103"/>
          <p:cNvSpPr/>
          <p:nvPr/>
        </p:nvSpPr>
        <p:spPr>
          <a:xfrm>
            <a:off x="7827010" y="6014085"/>
            <a:ext cx="576000" cy="72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105" name="矩形 104"/>
          <p:cNvSpPr/>
          <p:nvPr/>
        </p:nvSpPr>
        <p:spPr>
          <a:xfrm>
            <a:off x="1033145" y="5017135"/>
            <a:ext cx="576000" cy="7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cxnSp>
        <p:nvCxnSpPr>
          <p:cNvPr id="107" name="直接箭头连接符 106"/>
          <p:cNvCxnSpPr/>
          <p:nvPr/>
        </p:nvCxnSpPr>
        <p:spPr>
          <a:xfrm flipV="1">
            <a:off x="102986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p:nvPr/>
        </p:nvCxnSpPr>
        <p:spPr>
          <a:xfrm flipV="1">
            <a:off x="159628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9" name="直接箭头连接符 108"/>
          <p:cNvCxnSpPr/>
          <p:nvPr/>
        </p:nvCxnSpPr>
        <p:spPr>
          <a:xfrm flipV="1">
            <a:off x="216270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p:nvPr/>
        </p:nvCxnSpPr>
        <p:spPr>
          <a:xfrm flipV="1">
            <a:off x="272912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1" name="直接箭头连接符 110"/>
          <p:cNvCxnSpPr/>
          <p:nvPr/>
        </p:nvCxnSpPr>
        <p:spPr>
          <a:xfrm flipV="1">
            <a:off x="329554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2" name="直接箭头连接符 111"/>
          <p:cNvCxnSpPr/>
          <p:nvPr/>
        </p:nvCxnSpPr>
        <p:spPr>
          <a:xfrm flipV="1">
            <a:off x="442838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3" name="直接箭头连接符 112"/>
          <p:cNvCxnSpPr/>
          <p:nvPr/>
        </p:nvCxnSpPr>
        <p:spPr>
          <a:xfrm flipV="1">
            <a:off x="499480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4" name="直接箭头连接符 113"/>
          <p:cNvCxnSpPr/>
          <p:nvPr/>
        </p:nvCxnSpPr>
        <p:spPr>
          <a:xfrm flipV="1">
            <a:off x="556122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5" name="直接箭头连接符 114"/>
          <p:cNvCxnSpPr/>
          <p:nvPr/>
        </p:nvCxnSpPr>
        <p:spPr>
          <a:xfrm flipV="1">
            <a:off x="612764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6" name="直接箭头连接符 115"/>
          <p:cNvCxnSpPr/>
          <p:nvPr/>
        </p:nvCxnSpPr>
        <p:spPr>
          <a:xfrm flipV="1">
            <a:off x="669406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7" name="直接箭头连接符 116"/>
          <p:cNvCxnSpPr/>
          <p:nvPr/>
        </p:nvCxnSpPr>
        <p:spPr>
          <a:xfrm flipV="1">
            <a:off x="726048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8" name="直接箭头连接符 117"/>
          <p:cNvCxnSpPr/>
          <p:nvPr/>
        </p:nvCxnSpPr>
        <p:spPr>
          <a:xfrm flipV="1">
            <a:off x="782690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9" name="直接箭头连接符 118"/>
          <p:cNvCxnSpPr/>
          <p:nvPr/>
        </p:nvCxnSpPr>
        <p:spPr>
          <a:xfrm flipV="1">
            <a:off x="839332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20" name="直接箭头连接符 119"/>
          <p:cNvCxnSpPr/>
          <p:nvPr/>
        </p:nvCxnSpPr>
        <p:spPr>
          <a:xfrm flipV="1">
            <a:off x="895974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21" name="直接箭头连接符 120"/>
          <p:cNvCxnSpPr/>
          <p:nvPr/>
        </p:nvCxnSpPr>
        <p:spPr>
          <a:xfrm flipV="1">
            <a:off x="952616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22" name="直接箭头连接符 121"/>
          <p:cNvCxnSpPr/>
          <p:nvPr/>
        </p:nvCxnSpPr>
        <p:spPr>
          <a:xfrm flipV="1">
            <a:off x="1009258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23" name="直接箭头连接符 122"/>
          <p:cNvCxnSpPr/>
          <p:nvPr/>
        </p:nvCxnSpPr>
        <p:spPr>
          <a:xfrm flipV="1">
            <a:off x="1065900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24" name="直接箭头连接符 123"/>
          <p:cNvCxnSpPr/>
          <p:nvPr/>
        </p:nvCxnSpPr>
        <p:spPr>
          <a:xfrm flipV="1">
            <a:off x="1122542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25" name="直接箭头连接符 124"/>
          <p:cNvCxnSpPr/>
          <p:nvPr/>
        </p:nvCxnSpPr>
        <p:spPr>
          <a:xfrm flipV="1">
            <a:off x="1179184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26" name="直接箭头连接符 125"/>
          <p:cNvCxnSpPr/>
          <p:nvPr/>
        </p:nvCxnSpPr>
        <p:spPr>
          <a:xfrm flipV="1">
            <a:off x="3861965" y="4739535"/>
            <a:ext cx="11430" cy="1610360"/>
          </a:xfrm>
          <a:prstGeom prst="straightConnector1">
            <a:avLst/>
          </a:prstGeom>
          <a:ln w="19050">
            <a:solidFill>
              <a:schemeClr val="tx1"/>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7" name="矩形 126"/>
          <p:cNvSpPr/>
          <p:nvPr/>
        </p:nvSpPr>
        <p:spPr>
          <a:xfrm>
            <a:off x="8402955" y="6014085"/>
            <a:ext cx="576000" cy="72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128" name="矩形 127"/>
          <p:cNvSpPr/>
          <p:nvPr/>
        </p:nvSpPr>
        <p:spPr>
          <a:xfrm>
            <a:off x="8969375" y="6014085"/>
            <a:ext cx="576000" cy="72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endParaRPr lang="zh-CN" altLang="en-US"/>
          </a:p>
        </p:txBody>
      </p:sp>
      <p:sp>
        <p:nvSpPr>
          <p:cNvPr id="129" name="矩形 128"/>
          <p:cNvSpPr/>
          <p:nvPr/>
        </p:nvSpPr>
        <p:spPr>
          <a:xfrm>
            <a:off x="2740660" y="5349875"/>
            <a:ext cx="2268000" cy="72000"/>
          </a:xfrm>
          <a:prstGeom prst="rect">
            <a:avLst/>
          </a:prstGeom>
          <a:solidFill>
            <a:schemeClr val="accent6"/>
          </a:solidFill>
          <a:ln>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
        <p:nvSpPr>
          <p:cNvPr id="133" name="矩形 132"/>
          <p:cNvSpPr/>
          <p:nvPr/>
        </p:nvSpPr>
        <p:spPr>
          <a:xfrm>
            <a:off x="1606550" y="5017770"/>
            <a:ext cx="576000" cy="7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4" name="矩形 133"/>
          <p:cNvSpPr/>
          <p:nvPr/>
        </p:nvSpPr>
        <p:spPr>
          <a:xfrm>
            <a:off x="2174240" y="5017770"/>
            <a:ext cx="576000" cy="7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6" name="矩形 135"/>
          <p:cNvSpPr/>
          <p:nvPr/>
        </p:nvSpPr>
        <p:spPr>
          <a:xfrm>
            <a:off x="5572760" y="5017135"/>
            <a:ext cx="576000" cy="7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7" name="矩形 136"/>
          <p:cNvSpPr/>
          <p:nvPr/>
        </p:nvSpPr>
        <p:spPr>
          <a:xfrm>
            <a:off x="6140450" y="5017135"/>
            <a:ext cx="576000" cy="7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8" name="矩形 137"/>
          <p:cNvSpPr/>
          <p:nvPr/>
        </p:nvSpPr>
        <p:spPr>
          <a:xfrm>
            <a:off x="6713855" y="5017770"/>
            <a:ext cx="576000" cy="7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9" name="矩形 138"/>
          <p:cNvSpPr/>
          <p:nvPr/>
        </p:nvSpPr>
        <p:spPr>
          <a:xfrm>
            <a:off x="7281545" y="5017770"/>
            <a:ext cx="576000" cy="7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0" name="矩形 139"/>
          <p:cNvSpPr/>
          <p:nvPr/>
        </p:nvSpPr>
        <p:spPr>
          <a:xfrm>
            <a:off x="9537700" y="5349875"/>
            <a:ext cx="1132840" cy="76200"/>
          </a:xfrm>
          <a:prstGeom prst="rect">
            <a:avLst/>
          </a:prstGeom>
          <a:solidFill>
            <a:schemeClr val="accent6"/>
          </a:solidFill>
          <a:ln>
            <a:solidFill>
              <a:schemeClr val="accent6">
                <a:lumMod val="50000"/>
              </a:schemeClr>
            </a:solidFill>
          </a:ln>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
        <p:nvSpPr>
          <p:cNvPr id="141" name="矩形 140"/>
          <p:cNvSpPr/>
          <p:nvPr/>
        </p:nvSpPr>
        <p:spPr>
          <a:xfrm>
            <a:off x="10661015" y="5017135"/>
            <a:ext cx="576000" cy="7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2" name="矩形 141"/>
          <p:cNvSpPr/>
          <p:nvPr/>
        </p:nvSpPr>
        <p:spPr>
          <a:xfrm>
            <a:off x="11228705" y="5017135"/>
            <a:ext cx="576000" cy="7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3" name="文本框 142"/>
          <p:cNvSpPr txBox="1"/>
          <p:nvPr/>
        </p:nvSpPr>
        <p:spPr>
          <a:xfrm>
            <a:off x="4366260" y="2134235"/>
            <a:ext cx="6096000" cy="368300"/>
          </a:xfrm>
          <a:prstGeom prst="rect">
            <a:avLst/>
          </a:prstGeom>
          <a:noFill/>
        </p:spPr>
        <p:txBody>
          <a:bodyPr wrap="square" rtlCol="0" anchor="t">
            <a:spAutoFit/>
          </a:bodyPr>
          <a:p>
            <a:r>
              <a:rPr lang="en-US" altLang="zh-CN">
                <a:latin typeface="Times New Roman" panose="02020503050405090304" pitchFamily="18" charset="0"/>
                <a:ea typeface="微软雅黑" panose="020B0503020204020204" pitchFamily="34" charset="-122"/>
                <a:cs typeface="Times New Roman" panose="02020503050405090304" pitchFamily="18" charset="0"/>
                <a:sym typeface="+mn-ea"/>
              </a:rPr>
              <a:t> </a:t>
            </a:r>
            <a:endParaRPr lang="en-US" altLang="en-US">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
        <p:nvSpPr>
          <p:cNvPr id="144" name="矩形标注 143"/>
          <p:cNvSpPr/>
          <p:nvPr/>
        </p:nvSpPr>
        <p:spPr>
          <a:xfrm>
            <a:off x="2729230" y="5528310"/>
            <a:ext cx="2155190" cy="557530"/>
          </a:xfrm>
          <a:prstGeom prst="wedgeRectCallout">
            <a:avLst>
              <a:gd name="adj1" fmla="val -49558"/>
              <a:gd name="adj2" fmla="val 100434"/>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p>
            <a:pPr algn="ctr"/>
            <a:r>
              <a:rPr lang="zh-CN" altLang="en-US" sz="160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此时</a:t>
            </a:r>
            <a:r>
              <a:rPr lang="en-US" altLang="zh-CN" sz="160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P4</a:t>
            </a:r>
            <a:r>
              <a:rPr lang="zh-CN" altLang="en-US" sz="160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进程还未到，队列排序为</a:t>
            </a:r>
            <a:r>
              <a:rPr lang="en-US" altLang="zh-CN" sz="160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2-&gt;3-&gt;1</a:t>
            </a:r>
            <a:endParaRPr lang="en-US" altLang="zh-CN" sz="160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5" name="矩形标注 144"/>
          <p:cNvSpPr/>
          <p:nvPr/>
        </p:nvSpPr>
        <p:spPr>
          <a:xfrm>
            <a:off x="5640705" y="5528310"/>
            <a:ext cx="2087245" cy="557530"/>
          </a:xfrm>
          <a:prstGeom prst="wedgeRectCallout">
            <a:avLst>
              <a:gd name="adj1" fmla="val -51734"/>
              <a:gd name="adj2" fmla="val 96355"/>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p>
            <a:pPr algn="ctr"/>
            <a:r>
              <a:rPr lang="en-US" altLang="zh-CN" sz="160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mn-ea"/>
              </a:rPr>
              <a:t>2-&gt;3-&gt;1-&gt;4</a:t>
            </a:r>
            <a:r>
              <a:rPr lang="zh-CN" altLang="en-US" sz="160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mn-ea"/>
              </a:rPr>
              <a:t>，</a:t>
            </a:r>
            <a:r>
              <a:rPr lang="en-US" altLang="zh-CN" sz="160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mn-ea"/>
              </a:rPr>
              <a:t>P</a:t>
            </a:r>
            <a:r>
              <a:rPr lang="en-US" altLang="zh-CN" sz="160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3</a:t>
            </a:r>
            <a:r>
              <a:rPr lang="zh-CN" altLang="en-US" sz="160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结束后调度</a:t>
            </a:r>
            <a:r>
              <a:rPr lang="en-US" altLang="zh-CN" sz="160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P1</a:t>
            </a:r>
            <a:r>
              <a:rPr lang="zh-CN" altLang="en-US" sz="160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，而不是</a:t>
            </a:r>
            <a:r>
              <a:rPr lang="en-US" altLang="zh-CN" sz="160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rPr>
              <a:t>P4</a:t>
            </a:r>
            <a:endParaRPr lang="en-US" altLang="zh-CN" sz="1600">
              <a:solidFill>
                <a:srgbClr val="FF0000"/>
              </a:solidFill>
              <a:latin typeface="Times New Roman" panose="02020503050405090304" pitchFamily="18" charset="0"/>
              <a:ea typeface="微软雅黑" panose="020B0503020204020204" pitchFamily="34" charset="-122"/>
              <a:cs typeface="Times New Roman" panose="02020503050405090304" pitchFamily="18" charset="0"/>
            </a:endParaRPr>
          </a:p>
        </p:txBody>
      </p:sp>
      <p:sp>
        <p:nvSpPr>
          <p:cNvPr id="146" name="文本框 145"/>
          <p:cNvSpPr txBox="1"/>
          <p:nvPr/>
        </p:nvSpPr>
        <p:spPr>
          <a:xfrm>
            <a:off x="2863850" y="4523105"/>
            <a:ext cx="6096000" cy="368300"/>
          </a:xfrm>
          <a:prstGeom prst="rect">
            <a:avLst/>
          </a:prstGeom>
          <a:solidFill>
            <a:schemeClr val="bg1"/>
          </a:solidFill>
        </p:spPr>
        <p:txBody>
          <a:bodyPr wrap="square" rtlCol="0" anchor="t">
            <a:spAutoFit/>
          </a:bodyPr>
          <a:p>
            <a:pPr algn="ctr"/>
            <a:r>
              <a:rPr lang="en-US" altLang="zh-CN" b="1">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mn-ea"/>
              </a:rPr>
              <a:t>c) </a:t>
            </a:r>
            <a:r>
              <a:rPr lang="zh-CN" altLang="en-US" b="1">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mn-ea"/>
              </a:rPr>
              <a:t>平均周转时间</a:t>
            </a:r>
            <a:r>
              <a:rPr lang="en-US" altLang="zh-CN" b="1">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mn-ea"/>
              </a:rPr>
              <a:t>= (20+16+6+11) / 4 = 53/4 = 13.25</a:t>
            </a:r>
            <a:endParaRPr lang="en-US" altLang="zh-CN" b="1">
              <a:solidFill>
                <a:srgbClr val="FF0000"/>
              </a:solidFill>
              <a:latin typeface="Times New Roman" panose="02020503050405090304" pitchFamily="18" charset="0"/>
              <a:ea typeface="微软雅黑" panose="020B0503020204020204" pitchFamily="34" charset="-122"/>
              <a:cs typeface="Times New Roman" panose="02020503050405090304" pitchFamily="18" charset="0"/>
              <a:sym typeface="+mn-ea"/>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476250" y="737235"/>
            <a:ext cx="10798810" cy="2252345"/>
          </a:xfrm>
          <a:prstGeom prst="rect">
            <a:avLst/>
          </a:prstGeom>
        </p:spPr>
      </p:pic>
      <p:sp>
        <p:nvSpPr>
          <p:cNvPr id="6" name="文本框 5"/>
          <p:cNvSpPr txBox="1"/>
          <p:nvPr/>
        </p:nvSpPr>
        <p:spPr>
          <a:xfrm>
            <a:off x="476084" y="210518"/>
            <a:ext cx="912495" cy="299085"/>
          </a:xfrm>
          <a:prstGeom prst="rect">
            <a:avLst/>
          </a:prstGeom>
          <a:noFill/>
        </p:spPr>
        <p:txBody>
          <a:bodyPr wrap="none" rtlCol="0">
            <a:spAutoFit/>
          </a:bodyPr>
          <a:lstStyle/>
          <a:p>
            <a:r>
              <a:rPr lang="en-US" altLang="zh-CN" sz="1350" dirty="0">
                <a:solidFill>
                  <a:srgbClr val="FF0000"/>
                </a:solidFill>
              </a:rPr>
              <a:t>2018 </a:t>
            </a:r>
            <a:r>
              <a:rPr lang="zh-CN" altLang="en-US" sz="1350" dirty="0"/>
              <a:t>考研</a:t>
            </a:r>
            <a:endParaRPr lang="zh-CN" altLang="en-US" sz="1350" dirty="0"/>
          </a:p>
        </p:txBody>
      </p:sp>
      <p:pic>
        <p:nvPicPr>
          <p:cNvPr id="8" name="图片 7"/>
          <p:cNvPicPr>
            <a:picLocks noChangeAspect="1"/>
          </p:cNvPicPr>
          <p:nvPr/>
        </p:nvPicPr>
        <p:blipFill>
          <a:blip r:embed="rId2"/>
          <a:stretch>
            <a:fillRect/>
          </a:stretch>
        </p:blipFill>
        <p:spPr>
          <a:xfrm>
            <a:off x="429895" y="2989580"/>
            <a:ext cx="8592820" cy="362966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txBox="1">
            <a:spLocks noChangeArrowheads="1"/>
          </p:cNvSpPr>
          <p:nvPr/>
        </p:nvSpPr>
        <p:spPr>
          <a:xfrm>
            <a:off x="534035" y="328930"/>
            <a:ext cx="11042015" cy="1000125"/>
          </a:xfrm>
          <a:prstGeom prst="rect">
            <a:avLst/>
          </a:prstGeom>
        </p:spPr>
        <p:txBody>
          <a:bodyPr/>
          <a:lstStyle/>
          <a:p>
            <a:pPr marL="342900" lvl="1" indent="-342900" algn="l" eaLnBrk="0" hangingPunct="0">
              <a:lnSpc>
                <a:spcPts val="3200"/>
              </a:lnSpc>
              <a:spcBef>
                <a:spcPts val="600"/>
              </a:spcBef>
              <a:buClr>
                <a:srgbClr val="C00000"/>
              </a:buClr>
              <a:buSzPct val="70000"/>
              <a:buFont typeface="Wingdings" panose="05000000000000000000" pitchFamily="2" charset="2"/>
              <a:buChar char="n"/>
            </a:pPr>
            <a:r>
              <a:rPr lang="zh-CN" altLang="en-US" sz="2400" b="1" kern="0" dirty="0">
                <a:latin typeface="微软雅黑" panose="020B0503020204020204" pitchFamily="34" charset="-122"/>
                <a:ea typeface="微软雅黑" panose="020B0503020204020204" pitchFamily="34" charset="-122"/>
                <a:cs typeface="微软雅黑" panose="020B0503020204020204" pitchFamily="34" charset="-122"/>
              </a:rPr>
              <a:t>已知主存有</a:t>
            </a:r>
            <a:r>
              <a:rPr lang="en-US" altLang="zh-CN" sz="2400" b="1" kern="0" dirty="0">
                <a:latin typeface="微软雅黑" panose="020B0503020204020204" pitchFamily="34" charset="-122"/>
                <a:ea typeface="微软雅黑" panose="020B0503020204020204" pitchFamily="34" charset="-122"/>
                <a:cs typeface="微软雅黑" panose="020B0503020204020204" pitchFamily="34" charset="-122"/>
              </a:rPr>
              <a:t>256KB</a:t>
            </a:r>
            <a:r>
              <a:rPr lang="zh-CN" altLang="en-US" sz="2400" b="1" kern="0" dirty="0">
                <a:latin typeface="微软雅黑" panose="020B0503020204020204" pitchFamily="34" charset="-122"/>
                <a:ea typeface="微软雅黑" panose="020B0503020204020204" pitchFamily="34" charset="-122"/>
                <a:cs typeface="微软雅黑" panose="020B0503020204020204" pitchFamily="34" charset="-122"/>
              </a:rPr>
              <a:t>容量，其中</a:t>
            </a:r>
            <a:r>
              <a:rPr lang="en-US" altLang="zh-CN" sz="2400" b="1" kern="0" dirty="0">
                <a:latin typeface="微软雅黑" panose="020B0503020204020204" pitchFamily="34" charset="-122"/>
                <a:ea typeface="微软雅黑" panose="020B0503020204020204" pitchFamily="34" charset="-122"/>
                <a:cs typeface="微软雅黑" panose="020B0503020204020204" pitchFamily="34" charset="-122"/>
              </a:rPr>
              <a:t>OS</a:t>
            </a:r>
            <a:r>
              <a:rPr lang="zh-CN" altLang="en-US" sz="2400" b="1" kern="0" dirty="0">
                <a:latin typeface="微软雅黑" panose="020B0503020204020204" pitchFamily="34" charset="-122"/>
                <a:ea typeface="微软雅黑" panose="020B0503020204020204" pitchFamily="34" charset="-122"/>
                <a:cs typeface="微软雅黑" panose="020B0503020204020204" pitchFamily="34" charset="-122"/>
              </a:rPr>
              <a:t>占用低址</a:t>
            </a:r>
            <a:r>
              <a:rPr lang="en-US" altLang="zh-CN" sz="2400" b="1" kern="0" dirty="0">
                <a:latin typeface="微软雅黑" panose="020B0503020204020204" pitchFamily="34" charset="-122"/>
                <a:ea typeface="微软雅黑" panose="020B0503020204020204" pitchFamily="34" charset="-122"/>
                <a:cs typeface="微软雅黑" panose="020B0503020204020204" pitchFamily="34" charset="-122"/>
              </a:rPr>
              <a:t>20KB</a:t>
            </a:r>
            <a:r>
              <a:rPr lang="zh-CN" altLang="en-US" sz="2400" b="1" kern="0" dirty="0">
                <a:latin typeface="微软雅黑" panose="020B0503020204020204" pitchFamily="34" charset="-122"/>
                <a:ea typeface="微软雅黑" panose="020B0503020204020204" pitchFamily="34" charset="-122"/>
                <a:cs typeface="微软雅黑" panose="020B0503020204020204" pitchFamily="34" charset="-122"/>
              </a:rPr>
              <a:t>，有这样的一个作业序列：</a:t>
            </a:r>
            <a:endParaRPr lang="zh-CN" altLang="en-US" sz="2400" b="1" kern="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Rectangle 15"/>
          <p:cNvSpPr>
            <a:spLocks noChangeArrowheads="1"/>
          </p:cNvSpPr>
          <p:nvPr/>
        </p:nvSpPr>
        <p:spPr bwMode="auto">
          <a:xfrm>
            <a:off x="534035" y="1329690"/>
            <a:ext cx="2214880" cy="4917440"/>
          </a:xfrm>
          <a:prstGeom prst="rect">
            <a:avLst/>
          </a:prstGeom>
          <a:solidFill>
            <a:srgbClr val="004080"/>
          </a:solidFill>
          <a:ln w="28575">
            <a:solidFill>
              <a:srgbClr val="004992"/>
            </a:solidFill>
            <a:miter lim="800000"/>
          </a:ln>
          <a:effectLst/>
          <a:scene3d>
            <a:camera prst="orthographicFront"/>
            <a:lightRig rig="threePt" dir="t"/>
          </a:scene3d>
          <a:sp3d>
            <a:bevelT/>
          </a:sp3d>
        </p:spPr>
        <p:txBody>
          <a:bodyPr/>
          <a:lstStyle/>
          <a:p>
            <a:pPr algn="l" defTabSz="449580">
              <a:lnSpc>
                <a:spcPct val="200000"/>
              </a:lnSpc>
              <a:spcBef>
                <a:spcPts val="600"/>
              </a:spcBef>
              <a:buClr>
                <a:srgbClr val="FC6204"/>
              </a:buClr>
              <a:buSzPct val="100000"/>
            </a:pPr>
            <a:r>
              <a:rPr lang="zh-CN" altLang="en-US"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作业</a:t>
            </a:r>
            <a:r>
              <a:rPr lang="en-US" altLang="zh-CN"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要求 </a:t>
            </a:r>
            <a:r>
              <a:rPr lang="en-US" altLang="zh-CN"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80KB</a:t>
            </a:r>
            <a:endParaRPr lang="en-US" altLang="zh-CN"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449580">
              <a:lnSpc>
                <a:spcPct val="200000"/>
              </a:lnSpc>
              <a:spcBef>
                <a:spcPts val="600"/>
              </a:spcBef>
              <a:buClr>
                <a:srgbClr val="FC6204"/>
              </a:buClr>
              <a:buSzPct val="100000"/>
            </a:pPr>
            <a:r>
              <a:rPr lang="zh-CN" altLang="en-US"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作业</a:t>
            </a:r>
            <a:r>
              <a:rPr lang="en-US" altLang="zh-CN"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要求</a:t>
            </a:r>
            <a:r>
              <a:rPr lang="en-US" altLang="zh-CN"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16KB</a:t>
            </a:r>
            <a:endParaRPr lang="en-US" altLang="zh-CN"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449580">
              <a:lnSpc>
                <a:spcPct val="200000"/>
              </a:lnSpc>
              <a:spcBef>
                <a:spcPts val="600"/>
              </a:spcBef>
              <a:buClr>
                <a:srgbClr val="FC6204"/>
              </a:buClr>
              <a:buSzPct val="100000"/>
            </a:pPr>
            <a:r>
              <a:rPr lang="zh-CN" altLang="en-US"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作业</a:t>
            </a:r>
            <a:r>
              <a:rPr lang="en-US" altLang="zh-CN"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要求</a:t>
            </a:r>
            <a:r>
              <a:rPr lang="en-US" altLang="zh-CN"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140KB</a:t>
            </a:r>
            <a:endParaRPr lang="en-US" altLang="zh-CN"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449580">
              <a:lnSpc>
                <a:spcPct val="200000"/>
              </a:lnSpc>
              <a:spcBef>
                <a:spcPts val="600"/>
              </a:spcBef>
              <a:buClr>
                <a:srgbClr val="FC6204"/>
              </a:buClr>
              <a:buSzPct val="100000"/>
            </a:pPr>
            <a:r>
              <a:rPr lang="zh-CN" altLang="en-US"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作业</a:t>
            </a:r>
            <a:r>
              <a:rPr lang="en-US" altLang="zh-CN"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完成</a:t>
            </a:r>
            <a:endParaRPr lang="zh-CN" altLang="en-US"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449580">
              <a:lnSpc>
                <a:spcPct val="200000"/>
              </a:lnSpc>
              <a:spcBef>
                <a:spcPts val="600"/>
              </a:spcBef>
              <a:buClr>
                <a:srgbClr val="FC6204"/>
              </a:buClr>
              <a:buSzPct val="100000"/>
            </a:pPr>
            <a:r>
              <a:rPr lang="zh-CN" altLang="en-US"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作业</a:t>
            </a:r>
            <a:r>
              <a:rPr lang="en-US" altLang="zh-CN"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完成</a:t>
            </a:r>
            <a:endParaRPr lang="zh-CN" altLang="en-US"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449580">
              <a:lnSpc>
                <a:spcPct val="200000"/>
              </a:lnSpc>
              <a:spcBef>
                <a:spcPts val="600"/>
              </a:spcBef>
              <a:buClr>
                <a:srgbClr val="FC6204"/>
              </a:buClr>
              <a:buSzPct val="100000"/>
            </a:pPr>
            <a:r>
              <a:rPr lang="zh-CN" altLang="en-US"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作业</a:t>
            </a:r>
            <a:r>
              <a:rPr lang="en-US" altLang="zh-CN"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要求  </a:t>
            </a:r>
            <a:r>
              <a:rPr lang="en-US" altLang="zh-CN"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80KB</a:t>
            </a:r>
            <a:endParaRPr lang="en-US" altLang="zh-CN"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449580">
              <a:lnSpc>
                <a:spcPct val="200000"/>
              </a:lnSpc>
              <a:spcBef>
                <a:spcPts val="600"/>
              </a:spcBef>
              <a:buClr>
                <a:srgbClr val="FC6204"/>
              </a:buClr>
              <a:buSzPct val="100000"/>
            </a:pPr>
            <a:r>
              <a:rPr lang="zh-CN" altLang="en-US"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作业</a:t>
            </a:r>
            <a:r>
              <a:rPr lang="en-US" altLang="zh-CN"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要求</a:t>
            </a:r>
            <a:r>
              <a:rPr lang="en-US" altLang="zh-CN"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120KB</a:t>
            </a:r>
            <a:endParaRPr lang="en-US" altLang="zh-CN" sz="20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4" name="Rectangle 15"/>
          <p:cNvSpPr>
            <a:spLocks noChangeArrowheads="1"/>
          </p:cNvSpPr>
          <p:nvPr/>
        </p:nvSpPr>
        <p:spPr bwMode="auto">
          <a:xfrm>
            <a:off x="2980055" y="1329055"/>
            <a:ext cx="8948420" cy="4918075"/>
          </a:xfrm>
          <a:prstGeom prst="rect">
            <a:avLst/>
          </a:prstGeom>
          <a:solidFill>
            <a:srgbClr val="FFFFCC"/>
          </a:solidFill>
          <a:ln w="28575">
            <a:solidFill>
              <a:srgbClr val="004992"/>
            </a:solidFill>
            <a:miter lim="800000"/>
          </a:ln>
          <a:effectLst/>
          <a:scene3d>
            <a:camera prst="orthographicFront"/>
            <a:lightRig rig="threePt" dir="t"/>
          </a:scene3d>
          <a:sp3d>
            <a:bevelT/>
          </a:sp3d>
        </p:spPr>
        <p:txBody>
          <a:bodyPr/>
          <a:lstStyle/>
          <a:p>
            <a:pPr algn="l" defTabSz="449580">
              <a:lnSpc>
                <a:spcPct val="150000"/>
              </a:lnSpc>
              <a:spcBef>
                <a:spcPts val="600"/>
              </a:spcBef>
              <a:buClr>
                <a:srgbClr val="FC6204"/>
              </a:buClr>
              <a:buSzPct val="100000"/>
            </a:pPr>
            <a:r>
              <a:rPr lang="zh-CN" altLang="en-US"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试用首次适应算法和最佳适应算法分别处理上述作业序列</a:t>
            </a:r>
            <a:r>
              <a:rPr lang="en-US" altLang="zh-CN"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在存储分配时，从空白区高址处分割作为已分配区</a:t>
            </a:r>
            <a:r>
              <a:rPr lang="en-US" altLang="zh-CN"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，并完成以下各步：</a:t>
            </a:r>
            <a:endParaRPr lang="zh-CN" altLang="en-US"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449580">
              <a:lnSpc>
                <a:spcPct val="150000"/>
              </a:lnSpc>
              <a:spcBef>
                <a:spcPts val="600"/>
              </a:spcBef>
              <a:buClr>
                <a:srgbClr val="FC6204"/>
              </a:buClr>
              <a:buSzPct val="70000"/>
              <a:buFont typeface="华文楷体" panose="02010600040101010101" charset="-122"/>
              <a:buChar char="−"/>
            </a:pPr>
            <a:r>
              <a:rPr lang="zh-CN" altLang="en-US"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 画出作业</a:t>
            </a:r>
            <a:r>
              <a:rPr lang="en-US" altLang="zh-CN"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进入主存后，主存的分配情况；</a:t>
            </a:r>
            <a:endParaRPr lang="en-US" altLang="zh-CN"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449580">
              <a:lnSpc>
                <a:spcPct val="150000"/>
              </a:lnSpc>
              <a:spcBef>
                <a:spcPts val="600"/>
              </a:spcBef>
              <a:buClr>
                <a:srgbClr val="FC6204"/>
              </a:buClr>
              <a:buSzPct val="70000"/>
              <a:buFont typeface="华文楷体" panose="02010600040101010101" charset="-122"/>
              <a:buChar char="−"/>
            </a:pPr>
            <a:r>
              <a:rPr lang="en-US" altLang="zh-CN"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作业</a:t>
            </a:r>
            <a:r>
              <a:rPr lang="en-US" altLang="zh-CN"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完成后，画出主存分配情况；</a:t>
            </a:r>
            <a:endParaRPr lang="en-US" altLang="zh-CN"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449580">
              <a:lnSpc>
                <a:spcPct val="150000"/>
              </a:lnSpc>
              <a:spcBef>
                <a:spcPts val="600"/>
              </a:spcBef>
              <a:buClr>
                <a:srgbClr val="FC6204"/>
              </a:buClr>
              <a:buSzPct val="70000"/>
              <a:buFont typeface="华文楷体" panose="02010600040101010101" charset="-122"/>
              <a:buChar char="−"/>
            </a:pPr>
            <a:r>
              <a:rPr lang="en-US" altLang="zh-CN"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画出两种算法中空白区的分区描述器信息</a:t>
            </a:r>
            <a:r>
              <a:rPr lang="en-US" altLang="zh-CN"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假定分区描述器所需占用字节数已包含在作业所要求的主存容量中</a:t>
            </a:r>
            <a:r>
              <a:rPr lang="en-US" altLang="zh-CN"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及空白区链接情况；</a:t>
            </a:r>
            <a:endParaRPr lang="en-US" altLang="zh-CN"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449580">
              <a:lnSpc>
                <a:spcPct val="150000"/>
              </a:lnSpc>
              <a:spcBef>
                <a:spcPts val="600"/>
              </a:spcBef>
              <a:buClr>
                <a:srgbClr val="FC6204"/>
              </a:buClr>
              <a:buSzPct val="70000"/>
              <a:buFont typeface="华文楷体" panose="02010600040101010101" charset="-122"/>
              <a:buChar char="−"/>
            </a:pPr>
            <a:r>
              <a:rPr lang="en-US" altLang="zh-CN"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rPr>
              <a:t>哪种算法对该作业序列而言是适合的？</a:t>
            </a:r>
            <a:endParaRPr lang="zh-CN" altLang="en-US" sz="2400" b="1" dirty="0">
              <a:solidFill>
                <a:srgbClr val="00408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P spid="14" grpId="0" bldLvl="0" animBg="1"/>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TABLE_ENDDRAG_ORIGIN_RECT" val="291*122"/>
  <p:tag name="TABLE_ENDDRAG_RECT" val="19*56*291*122"/>
</p:tagLst>
</file>

<file path=ppt/tags/tag69.xml><?xml version="1.0" encoding="utf-8"?>
<p:tagLst xmlns:p="http://schemas.openxmlformats.org/presentationml/2006/main">
  <p:tag name="TABLE_ENDDRAG_ORIGIN_RECT" val="291*122"/>
  <p:tag name="TABLE_ENDDRAG_RECT" val="19*56*291*122"/>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16532</Words>
  <Application>WPS 演示</Application>
  <PresentationFormat>全屏显示(4:3)</PresentationFormat>
  <Paragraphs>1638</Paragraphs>
  <Slides>101</Slides>
  <Notes>130</Notes>
  <HiddenSlides>0</HiddenSlides>
  <MMClips>0</MMClips>
  <ScaleCrop>false</ScaleCrop>
  <HeadingPairs>
    <vt:vector size="8" baseType="variant">
      <vt:variant>
        <vt:lpstr>已用的字体</vt:lpstr>
      </vt:variant>
      <vt:variant>
        <vt:i4>42</vt:i4>
      </vt:variant>
      <vt:variant>
        <vt:lpstr>主题</vt:lpstr>
      </vt:variant>
      <vt:variant>
        <vt:i4>2</vt:i4>
      </vt:variant>
      <vt:variant>
        <vt:lpstr>嵌入 OLE 服务器</vt:lpstr>
      </vt:variant>
      <vt:variant>
        <vt:i4>4</vt:i4>
      </vt:variant>
      <vt:variant>
        <vt:lpstr>幻灯片标题</vt:lpstr>
      </vt:variant>
      <vt:variant>
        <vt:i4>101</vt:i4>
      </vt:variant>
    </vt:vector>
  </HeadingPairs>
  <TitlesOfParts>
    <vt:vector size="149" baseType="lpstr">
      <vt:lpstr>Arial</vt:lpstr>
      <vt:lpstr>宋体</vt:lpstr>
      <vt:lpstr>Wingdings</vt:lpstr>
      <vt:lpstr>微软雅黑</vt:lpstr>
      <vt:lpstr>汉仪旗黑</vt:lpstr>
      <vt:lpstr>Times New Roman</vt:lpstr>
      <vt:lpstr>华文楷体</vt:lpstr>
      <vt:lpstr>楷体_GB2312</vt:lpstr>
      <vt:lpstr>Hiragino Sans GB W3</vt:lpstr>
      <vt:lpstr>Wingdings</vt:lpstr>
      <vt:lpstr>Calibri</vt:lpstr>
      <vt:lpstr>Helvetica Neue</vt:lpstr>
      <vt:lpstr>宋体</vt:lpstr>
      <vt:lpstr>Arial Unicode MS</vt:lpstr>
      <vt:lpstr>等线 Light</vt:lpstr>
      <vt:lpstr>汉仪中等线KW</vt:lpstr>
      <vt:lpstr>Calibri Light</vt:lpstr>
      <vt:lpstr>等线</vt:lpstr>
      <vt:lpstr>Vani</vt:lpstr>
      <vt:lpstr>苹方-简</vt:lpstr>
      <vt:lpstr>楷体</vt:lpstr>
      <vt:lpstr>Gulim</vt:lpstr>
      <vt:lpstr>隶书</vt:lpstr>
      <vt:lpstr>幼圆</vt:lpstr>
      <vt:lpstr>华文宋体</vt:lpstr>
      <vt:lpstr>楷体_GB2312</vt:lpstr>
      <vt:lpstr>Verdana</vt:lpstr>
      <vt:lpstr>汉仪书宋二KW</vt:lpstr>
      <vt:lpstr>黑体</vt:lpstr>
      <vt:lpstr>Arial Black</vt:lpstr>
      <vt:lpstr>汉仪楷体简</vt:lpstr>
      <vt:lpstr>汉仪楷体KW</vt:lpstr>
      <vt:lpstr>Apple SD Gothic Neo</vt:lpstr>
      <vt:lpstr>报隶-简</vt:lpstr>
      <vt:lpstr>汉仪中黑KW</vt:lpstr>
      <vt:lpstr>Gulim</vt:lpstr>
      <vt:lpstr>幼圆</vt:lpstr>
      <vt:lpstr>微软雅黑</vt:lpstr>
      <vt:lpstr>楷体</vt:lpstr>
      <vt:lpstr>隶书</vt:lpstr>
      <vt:lpstr>黑体</vt:lpstr>
      <vt:lpstr>宋体-简</vt:lpstr>
      <vt:lpstr>Office 主题​​</vt:lpstr>
      <vt:lpstr>Office 主题</vt:lpstr>
      <vt:lpstr>Visio.Drawing.11</vt:lpstr>
      <vt:lpstr>Visio.Drawing.11</vt:lpstr>
      <vt:lpstr>Visio.Drawing.11</vt:lpstr>
      <vt:lpstr>Visio.Drawing.11</vt:lpstr>
      <vt:lpstr>操作系统 Operating  System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Is Data Science Used?</dc:title>
  <dc:creator>liu chuan</dc:creator>
  <cp:lastModifiedBy>汤臣薇</cp:lastModifiedBy>
  <cp:revision>450</cp:revision>
  <dcterms:created xsi:type="dcterms:W3CDTF">2026-04-22T02:05:02Z</dcterms:created>
  <dcterms:modified xsi:type="dcterms:W3CDTF">2026-04-22T02:05:02Z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FC8EF876519BA480E429E86955904306_43</vt:lpwstr>
  </property>
  <property fmtid="{D5CDD505-2E9C-101B-9397-08002B2CF9AE}" pid="3" name="KSOProductBuildVer">
    <vt:lpwstr>2052-12.1.23540.23540</vt:lpwstr>
  </property>
</Properties>
</file>